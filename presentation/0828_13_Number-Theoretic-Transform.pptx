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3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규빈 박" initials="규박" lastIdx="12" clrIdx="0">
    <p:extLst>
      <p:ext uri="{19B8F6BF-5375-455C-9EA6-DF929625EA0E}">
        <p15:presenceInfo xmlns:p15="http://schemas.microsoft.com/office/powerpoint/2012/main" userId="b405f47f44f6c53f" providerId="Windows Liv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스타일 없음, 눈금 없음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3C2FFA5D-87B4-456A-9821-1D502468CF0F}" styleName="테마 스타일 1 - 강조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C083E6E3-FA7D-4D7B-A595-EF9225AFEA82}" styleName="밝은 스타일 1 - 강조 3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  <a:tblStyle styleId="{F2DE63D5-997A-4646-A377-4702673A728D}" styleName="밝은 스타일 2 - 강조 3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</a:tcStyle>
    </a:band1H>
    <a:band1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1V>
    <a:band2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3"/>
        </a:fillRef>
      </a:tcStyle>
    </a:firstRow>
  </a:tblStyle>
  <a:tblStyle styleId="{073A0DAA-6AF3-43AB-8588-CEC1D06C72B9}" styleName="보통 스타일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9D7B26C5-4107-4FEC-AEDC-1716B250A1EF}" styleName="밝은 스타일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7E9639D4-E3E2-4D34-9284-5A2195B3D0D7}" styleName="밝은 스타일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  <a:tblStyle styleId="{F5AB1C69-6EDB-4FF4-983F-18BD219EF322}" styleName="보통 스타일 2 - 강조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5FD0F851-EC5A-4D38-B0AD-8093EC10F338}" styleName="밝은 스타일 1 - 강조 5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  <a:tblStyle styleId="{5A111915-BE36-4E01-A7E5-04B1672EAD32}" styleName="밝은 스타일 2 - 강조 5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</a:tcBdr>
      </a:tcStyle>
    </a:band1H>
    <a:band1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1V>
    <a:band2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5"/>
        </a:fillRef>
      </a:tcStyle>
    </a:firstRow>
  </a:tblStyle>
  <a:tblStyle styleId="{69012ECD-51FC-41F1-AA8D-1B2483CD663E}" styleName="밝은 스타일 2 - 강조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3B4B98B0-60AC-42C2-AFA5-B58CD77FA1E5}" styleName="밝은 스타일 1 - 강조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FABFCF23-3B69-468F-B69F-88F6DE6A72F2}" styleName="보통 스타일 1 - 강조 5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5">
              <a:tint val="20000"/>
            </a:schemeClr>
          </a:solidFill>
        </a:fill>
      </a:tcStyle>
    </a:band1H>
    <a:band1V>
      <a:tcStyle>
        <a:tcBdr/>
        <a:fill>
          <a:solidFill>
            <a:schemeClr val="accent5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48" d="100"/>
          <a:sy n="48" d="100"/>
        </p:scale>
        <p:origin x="67" y="763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>
      <p:cViewPr varScale="1">
        <p:scale>
          <a:sx n="64" d="100"/>
          <a:sy n="64" d="100"/>
        </p:scale>
        <p:origin x="3192" y="86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commentAuthors" Target="commentAuthor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 dirty="0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52B40C2-3351-40A2-B46D-4B4F877A79B2}" type="datetimeFigureOut">
              <a:rPr lang="ko-KR" altLang="en-US" smtClean="0"/>
              <a:t>2026-08-27</a:t>
            </a:fld>
            <a:endParaRPr lang="ko-KR" altLang="en-US" dirty="0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 dirty="0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 dirty="0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13BC5EA-D886-4875-B891-B25A6CC49088}" type="slidenum">
              <a:rPr lang="ko-KR" altLang="en-US" smtClean="0"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87552875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다항식 합</a:t>
            </a:r>
            <a:r>
              <a:rPr lang="en-US" altLang="ko-KR" dirty="0"/>
              <a:t>, </a:t>
            </a:r>
            <a:r>
              <a:rPr lang="ko-KR" altLang="en-US" dirty="0"/>
              <a:t>곱 예제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13BC5EA-D886-4875-B891-B25A6CC49088}" type="slidenum">
              <a:rPr lang="ko-KR" altLang="en-US" smtClean="0"/>
              <a:t>3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7919997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푸리에</a:t>
            </a:r>
            <a:r>
              <a:rPr lang="en-US" altLang="ko-KR" dirty="0"/>
              <a:t>, DFT </a:t>
            </a:r>
            <a:r>
              <a:rPr lang="ko-KR" altLang="en-US" dirty="0" err="1"/>
              <a:t>다룰지말지</a:t>
            </a:r>
            <a:r>
              <a:rPr lang="en-US" altLang="ko-KR" dirty="0"/>
              <a:t>..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13BC5EA-D886-4875-B891-B25A6CC49088}" type="slidenum">
              <a:rPr lang="ko-KR" altLang="en-US" smtClean="0"/>
              <a:t>4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67907452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동그라미 뭐라고 부를지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13BC5EA-D886-4875-B891-B25A6CC49088}" type="slidenum">
              <a:rPr lang="ko-KR" altLang="en-US" smtClean="0"/>
              <a:t>5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71249191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E38C119-E53F-2DA2-3F3A-62BF807009B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>
            <a:normAutofit/>
          </a:bodyPr>
          <a:lstStyle>
            <a:lvl1pPr algn="ctr">
              <a:defRPr sz="4000"/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34BB6797-A87E-4BFE-C9F3-8C995A67440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>
            <a:normAutofit/>
          </a:bodyPr>
          <a:lstStyle>
            <a:lvl1pPr marL="0" indent="0" algn="ctr">
              <a:buNone/>
              <a:defRPr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endParaRPr lang="en-US" altLang="ko-KR" dirty="0"/>
          </a:p>
          <a:p>
            <a:r>
              <a:rPr lang="ko-KR" altLang="en-US" dirty="0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12FD1BD7-7E65-3772-3007-1F34DBA0FA4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DF637E-82D6-4563-BCF0-C9101F2B5148}" type="datetime1">
              <a:rPr lang="ko-KR" altLang="en-US" smtClean="0"/>
              <a:t>2026-08-27</a:t>
            </a:fld>
            <a:endParaRPr lang="ko-KR" altLang="en-US" dirty="0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28CF5ED1-6997-CD09-21BF-44F1DD2397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F040E17D-D377-3A02-4E70-6AAE5C12D4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86773594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031FD09-61A8-64FE-609A-5BC9FD80E7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36525"/>
            <a:ext cx="10515600" cy="753141"/>
          </a:xfrm>
        </p:spPr>
        <p:txBody>
          <a:bodyPr>
            <a:normAutofit/>
          </a:bodyPr>
          <a:lstStyle>
            <a:lvl1pPr algn="ctr">
              <a:defRPr sz="3200"/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2C7A10CA-AA0F-BD51-5B8E-5AE0726F06E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295322"/>
            <a:ext cx="10515600" cy="4701089"/>
          </a:xfrm>
        </p:spPr>
        <p:txBody>
          <a:bodyPr anchor="t">
            <a:normAutofit/>
          </a:bodyPr>
          <a:lstStyle>
            <a:lvl1pPr>
              <a:lnSpc>
                <a:spcPct val="150000"/>
              </a:lnSpc>
              <a:defRPr sz="1800"/>
            </a:lvl1pPr>
            <a:lvl2pPr>
              <a:lnSpc>
                <a:spcPct val="150000"/>
              </a:lnSpc>
              <a:defRPr sz="1800"/>
            </a:lvl2pPr>
            <a:lvl3pPr>
              <a:lnSpc>
                <a:spcPct val="150000"/>
              </a:lnSpc>
              <a:defRPr sz="1800"/>
            </a:lvl3pPr>
            <a:lvl4pPr>
              <a:lnSpc>
                <a:spcPct val="150000"/>
              </a:lnSpc>
              <a:defRPr sz="1800"/>
            </a:lvl4pPr>
            <a:lvl5pPr>
              <a:lnSpc>
                <a:spcPct val="150000"/>
              </a:lnSpc>
              <a:defRPr sz="1800"/>
            </a:lvl5pPr>
          </a:lstStyle>
          <a:p>
            <a:pPr lvl="0"/>
            <a:r>
              <a:rPr lang="ko-KR" altLang="en-US" dirty="0"/>
              <a:t>마스터 텍스트 스타일을 편집하려면 클릭</a:t>
            </a:r>
          </a:p>
          <a:p>
            <a:pPr lvl="1"/>
            <a:r>
              <a:rPr lang="ko-KR" altLang="en-US" dirty="0"/>
              <a:t>두 번째 수준</a:t>
            </a:r>
          </a:p>
          <a:p>
            <a:pPr lvl="2"/>
            <a:r>
              <a:rPr lang="ko-KR" altLang="en-US" dirty="0"/>
              <a:t>세 번째 수준</a:t>
            </a:r>
          </a:p>
          <a:p>
            <a:pPr lvl="3"/>
            <a:r>
              <a:rPr lang="ko-KR" altLang="en-US" dirty="0"/>
              <a:t>네 번째 수준</a:t>
            </a:r>
          </a:p>
          <a:p>
            <a:pPr lvl="4"/>
            <a:r>
              <a:rPr lang="ko-KR" altLang="en-US" dirty="0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2444F1B2-7ED6-C36F-405B-74D10A46692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58CD677-7AD2-4A27-94BD-C65458D22428}" type="datetime1">
              <a:rPr lang="ko-KR" altLang="en-US" smtClean="0"/>
              <a:t>2026-08-27</a:t>
            </a:fld>
            <a:endParaRPr lang="ko-KR" altLang="en-US" dirty="0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75B54CE5-BA49-9B1F-44F6-BB68039676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0CCEF06-AF2C-16E5-D994-94762FCED6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‹#›</a:t>
            </a:fld>
            <a:endParaRPr lang="ko-KR" altLang="en-US" dirty="0"/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5D5B8A52-06C2-8583-0C1B-A817C4737BF0}"/>
              </a:ext>
            </a:extLst>
          </p:cNvPr>
          <p:cNvSpPr/>
          <p:nvPr userDrawn="1"/>
        </p:nvSpPr>
        <p:spPr>
          <a:xfrm flipV="1">
            <a:off x="405063" y="889665"/>
            <a:ext cx="11381873" cy="4571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83497497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21E2741-8F1E-BB08-8064-ABB3B51724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9FE217DB-F68B-0B02-0EE9-FC6D375A399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76F4ECD6-4F10-FAB4-9EC7-0A9BDDBBF58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EF52EC-B397-4D0A-AE91-E0D6840C85A1}" type="datetime1">
              <a:rPr lang="ko-KR" altLang="en-US" smtClean="0"/>
              <a:t>2026-08-27</a:t>
            </a:fld>
            <a:endParaRPr lang="ko-KR" altLang="en-US" dirty="0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B089ED4-E191-9BE2-6362-00E940AF74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AF322432-D7EA-093F-001B-BC7E0D49E1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4473029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962A7E8-82BA-7B6E-F6E9-A98D3ECFFB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6CAEFAB5-2BD5-B266-2B90-5DF6C6BE75F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EDC97A80-9CA9-6C9D-98D1-D8A829894B9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503A760F-4119-02E0-9047-FD4EFB030E0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DD6007-6A42-4C9B-B218-6A32B3A38C67}" type="datetime1">
              <a:rPr lang="ko-KR" altLang="en-US" smtClean="0"/>
              <a:t>2026-08-27</a:t>
            </a:fld>
            <a:endParaRPr lang="ko-KR" altLang="en-US" dirty="0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699B3A7E-6DE5-9DF0-CCF3-4E15062167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E6664016-7B2A-6313-FDC2-8FA33EAC93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73708777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6D54C69-8E55-E9AE-CBD6-A0F2276D9E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D0B86DB8-CC8D-914E-CEFA-5DF480196E6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0B176446-C17B-7FD5-8DB2-B982801142E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95D4D2A-9477-8669-492E-C33F3E9CD49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91BF0716-4A26-4EAB-6A93-C6203A80724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C0F37FBA-7D77-22F4-B534-1653B07ADB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6658DF-8B5F-4351-A42C-BF3495DE7ABE}" type="datetime1">
              <a:rPr lang="ko-KR" altLang="en-US" smtClean="0"/>
              <a:t>2026-08-27</a:t>
            </a:fld>
            <a:endParaRPr lang="ko-KR" altLang="en-US" dirty="0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E8DA361B-5E51-3A84-F540-036EB166C1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DAD90B8D-AC97-0E06-ED03-C9645D4A46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62787751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F5235F-156B-75D6-B91A-2D25D5F318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70398CE0-1B1D-EF93-936A-A286EA5776E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359C48-8150-4FAB-8BEF-6AD61CFC9BBE}" type="datetime1">
              <a:rPr lang="ko-KR" altLang="en-US" smtClean="0"/>
              <a:t>2026-08-27</a:t>
            </a:fld>
            <a:endParaRPr lang="ko-KR" altLang="en-US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7F4DC0FF-921E-80C0-450A-7B405750E8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A8CF709D-D3DC-4D1F-45FC-9F2F2C1808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71298803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1E4D47D0-9EAC-3C67-62F1-6CC1BEC6FC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41DBCF-1091-470D-AC72-5CF3D00280AC}" type="datetime1">
              <a:rPr lang="ko-KR" altLang="en-US" smtClean="0"/>
              <a:t>2026-08-27</a:t>
            </a:fld>
            <a:endParaRPr lang="ko-KR" altLang="en-US" dirty="0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AA75CACA-850A-EA99-2A04-D33838FCCA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504249E-807B-C0AC-5C11-E3AD439D7F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96909581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AEF82BF-B27F-0EAB-B809-971BA3CE89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1C4868F8-4EB2-B804-3AD6-7256AF1C68F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4C3E5F92-B2C2-8AB1-01C1-ED72DF18A60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0243173C-11BF-A2F6-F013-59378849A4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24AE7C-57FB-4DBB-B90C-59145D637BF6}" type="datetime1">
              <a:rPr lang="ko-KR" altLang="en-US" smtClean="0"/>
              <a:t>2026-08-27</a:t>
            </a:fld>
            <a:endParaRPr lang="ko-KR" altLang="en-US" dirty="0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13D47E49-717B-A5BA-FB22-E4F74A03BD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6C7ED0F3-0EAE-43B7-F5D2-9F776B23F7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39231987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C3DE7BB-65A1-98A0-61B2-9BA86EB8B4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3393FC40-79A0-A826-1CA9-EE7B1B8BF9E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 dirty="0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BEB9879E-8AC3-D682-707C-4CCA3AC04C7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1C97A2B9-9192-6241-C6C5-2D7D678EEC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D92253-43A0-46E3-918E-3929407A8C01}" type="datetime1">
              <a:rPr lang="ko-KR" altLang="en-US" smtClean="0"/>
              <a:t>2026-08-27</a:t>
            </a:fld>
            <a:endParaRPr lang="ko-KR" altLang="en-US" dirty="0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6B7311CB-F5C2-2F43-5CDB-47B621DB11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3B7E252D-5421-B82E-B9DC-97D8A4F118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27434508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CA5921C-217D-706E-B4C1-8C4B415A85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0FA49194-22FD-90CC-72D7-93BB89EBF3C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CE3072F4-8B76-D6AF-7D51-73F3466137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178607-39E6-4CB2-B3CB-AB428B3B6195}" type="datetime1">
              <a:rPr lang="ko-KR" altLang="en-US" smtClean="0"/>
              <a:t>2026-08-27</a:t>
            </a:fld>
            <a:endParaRPr lang="ko-KR" altLang="en-US" dirty="0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4903EEA5-CFF1-3A25-3757-289E51F270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0CA5D0D-C1A0-3A92-3E15-E7442EE12D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71984547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544A25BF-197E-B63E-7A73-089055E7BC9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A1D6C20F-2716-6230-FC15-8E28D820B1B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832C15CE-BE12-96E8-58E3-B89CE71B76D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78A2F2-325F-46A6-8956-F2A49A35BAF8}" type="datetime1">
              <a:rPr lang="ko-KR" altLang="en-US" smtClean="0"/>
              <a:t>2026-08-27</a:t>
            </a:fld>
            <a:endParaRPr lang="ko-KR" altLang="en-US" dirty="0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483C669E-1E2D-2737-7F44-4EF88AEE2E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F1D9548-61EF-5EA9-3163-3C25E9287A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29979052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33AFC0F6-4140-2489-D0A3-0A632697E4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26866"/>
            <a:ext cx="10515600" cy="662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A5E886E5-5DD8-BA48-583F-AAA217E8DD2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423922"/>
            <a:ext cx="10515600" cy="475304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 dirty="0"/>
              <a:t>마스터 텍스트 스타일을 편집하려면 클릭</a:t>
            </a:r>
          </a:p>
          <a:p>
            <a:pPr lvl="1"/>
            <a:r>
              <a:rPr lang="ko-KR" altLang="en-US" dirty="0"/>
              <a:t>두 번째 수준</a:t>
            </a:r>
          </a:p>
          <a:p>
            <a:pPr lvl="2"/>
            <a:r>
              <a:rPr lang="ko-KR" altLang="en-US" dirty="0"/>
              <a:t>세 번째 수준</a:t>
            </a:r>
          </a:p>
          <a:p>
            <a:pPr lvl="3"/>
            <a:r>
              <a:rPr lang="ko-KR" altLang="en-US" dirty="0"/>
              <a:t>네 번째 수준</a:t>
            </a:r>
          </a:p>
          <a:p>
            <a:pPr lvl="4"/>
            <a:r>
              <a:rPr lang="ko-KR" altLang="en-US" dirty="0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269862E1-2ECD-F622-0F74-FDC2E7199A9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5D61A29-800E-482A-B0FD-5A04401ECD92}" type="datetime1">
              <a:rPr lang="ko-KR" altLang="en-US" smtClean="0"/>
              <a:t>2026-08-27</a:t>
            </a:fld>
            <a:endParaRPr lang="ko-KR" altLang="en-US" dirty="0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0F2E1796-7D1E-1254-446E-8BAA61680C2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 dirty="0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4EB692A8-3D04-14CA-0956-516C70492AA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438A2D4-3867-488E-A04E-7BFFCAED45A6}" type="slidenum">
              <a:rPr lang="ko-KR" altLang="en-US" smtClean="0"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7461339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ctr" defTabSz="914400" rtl="0" eaLnBrk="1" latinLnBrk="1" hangingPunct="1">
        <a:lnSpc>
          <a:spcPct val="90000"/>
        </a:lnSpc>
        <a:spcBef>
          <a:spcPct val="0"/>
        </a:spcBef>
        <a:buNone/>
        <a:defRPr sz="32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80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0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0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dirty="0"/>
              <a:t>Post-Quantum Cryptography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dirty="0"/>
          </a:p>
          <a:p>
            <a:r>
              <a:rPr dirty="0"/>
              <a:t>13. Number-Theoretic Transform (NTT)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136525"/>
            <a:ext cx="10515600" cy="753141"/>
          </a:xfrm>
        </p:spPr>
        <p:txBody>
          <a:bodyPr/>
          <a:lstStyle/>
          <a:p>
            <a:r>
              <a:rPr dirty="0"/>
              <a:t>Plan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295322"/>
            <a:ext cx="10515600" cy="4701089"/>
          </a:xfrm>
        </p:spPr>
        <p:txBody>
          <a:bodyPr wrap="square"/>
          <a:lstStyle/>
          <a:p>
            <a:pPr marL="342900" indent="-342900">
              <a:buFont typeface="+mj-lt"/>
              <a:buAutoNum type="arabicPeriod"/>
            </a:pPr>
            <a:r>
              <a:rPr dirty="0"/>
              <a:t>다항식 곱셈 병목과 고전 알고리즘</a:t>
            </a:r>
          </a:p>
          <a:p>
            <a:pPr marL="342900" indent="-342900">
              <a:buFont typeface="+mj-lt"/>
              <a:buAutoNum type="arabicPeriod"/>
            </a:pPr>
            <a:r>
              <a:rPr dirty="0"/>
              <a:t>NTT 정의와 대수적 성질</a:t>
            </a:r>
          </a:p>
          <a:p>
            <a:pPr marL="342900" indent="-342900">
              <a:buFont typeface="+mj-lt"/>
              <a:buAutoNum type="arabicPeriod"/>
            </a:pPr>
            <a:r>
              <a:rPr dirty="0"/>
              <a:t>NTT의 재귀적 계산과 수치</a:t>
            </a:r>
          </a:p>
          <a:p>
            <a:pPr marL="342900" indent="-342900">
              <a:buFont typeface="+mj-lt"/>
              <a:buAutoNum type="arabicPeriod"/>
            </a:pPr>
            <a:r>
              <a:rPr dirty="0"/>
              <a:t>Dilithium NTT</a:t>
            </a:r>
          </a:p>
          <a:p>
            <a:pPr marL="342900" indent="-342900">
              <a:buFont typeface="+mj-lt"/>
              <a:buAutoNum type="arabicPeriod"/>
            </a:pPr>
            <a:r>
              <a:rPr dirty="0"/>
              <a:t>Kyber NTT</a:t>
            </a:r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0CCEF06-AF2C-16E5-D994-94762FCED6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2</a:t>
            </a:fld>
            <a:endParaRPr lang="ko-KR" altLang="en-US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136525"/>
            <a:ext cx="10515600" cy="753141"/>
          </a:xfrm>
        </p:spPr>
        <p:txBody>
          <a:bodyPr/>
          <a:lstStyle/>
          <a:p>
            <a:r>
              <a:rPr dirty="0"/>
              <a:t>R</a:t>
            </a:r>
            <a:r>
              <a:rPr baseline="-25000" dirty="0"/>
              <a:t>q</a:t>
            </a:r>
            <a:r>
              <a:rPr dirty="0"/>
              <a:t>에서의 다항식 곱셈이 병목인 이유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838200" y="1295322"/>
                <a:ext cx="10515600" cy="4701089"/>
              </a:xfrm>
            </p:spPr>
            <p:txBody>
              <a:bodyPr wrap="square"/>
              <a:lstStyle/>
              <a:p>
                <a:r>
                  <a:rPr dirty="0"/>
                  <a:t>Kyber와 Dilithium의 지배적 연산은 다항식 링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𝑅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𝑞</m:t>
                        </m:r>
                      </m:sub>
                    </m:sSub>
                    <m:r>
                      <a:rPr lang="en-US" i="1">
                        <a:latin typeface="Cambria Math"/>
                      </a:rPr>
                      <m:t>=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ℤ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𝑞</m:t>
                        </m:r>
                      </m:sub>
                    </m:sSub>
                    <m:r>
                      <a:rPr lang="en-US" i="1">
                        <a:latin typeface="Cambria Math"/>
                      </a:rPr>
                      <m:t>[</m:t>
                    </m:r>
                    <m:r>
                      <a:rPr lang="en-US" i="1">
                        <a:latin typeface="Cambria Math"/>
                      </a:rPr>
                      <m:t>𝑥</m:t>
                    </m:r>
                    <m:r>
                      <a:rPr lang="en-US" i="1">
                        <a:latin typeface="Cambria Math"/>
                      </a:rPr>
                      <m:t>]/(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/>
                          </a:rPr>
                          <m:t>𝑥</m:t>
                        </m:r>
                      </m:e>
                      <m:sup>
                        <m:r>
                          <a:rPr lang="en-US" i="1">
                            <a:latin typeface="Cambria Math"/>
                          </a:rPr>
                          <m:t>𝑛</m:t>
                        </m:r>
                      </m:sup>
                    </m:sSup>
                    <m:r>
                      <a:rPr lang="en-US" i="1">
                        <a:latin typeface="Cambria Math"/>
                      </a:rPr>
                      <m:t>+1)</m:t>
                    </m:r>
                  </m:oMath>
                </a14:m>
                <a:r>
                  <a:rPr dirty="0"/>
                  <a:t>에서의 곱셈이다</a:t>
                </a:r>
              </a:p>
              <a:p>
                <a:r>
                  <a:rPr dirty="0"/>
                  <a:t>두 스킴 모두 n=256을 쓴다 — Dilithium은 23비트 소수 q, Kyber는 12비트 소수 q</a:t>
                </a:r>
              </a:p>
              <a:p>
                <a:r>
                  <a:rPr dirty="0"/>
                  <a:t>목표: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/>
                      </a:rPr>
                      <m:t>𝑎</m:t>
                    </m:r>
                    <m:r>
                      <a:rPr lang="en-US" i="1">
                        <a:latin typeface="Cambria Math"/>
                      </a:rPr>
                      <m:t>,</m:t>
                    </m:r>
                    <m:r>
                      <a:rPr lang="en-US" i="1">
                        <a:latin typeface="Cambria Math"/>
                      </a:rPr>
                      <m:t>𝑏</m:t>
                    </m:r>
                    <m:r>
                      <a:rPr lang="en-US" i="1">
                        <a:latin typeface="Cambria Math"/>
                      </a:rPr>
                      <m:t>∈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𝑅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𝑞</m:t>
                        </m:r>
                      </m:sub>
                    </m:sSub>
                  </m:oMath>
                </a14:m>
                <a:r>
                  <a:rPr dirty="0"/>
                  <a:t>에 대해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/>
                      </a:rPr>
                      <m:t>𝑐</m:t>
                    </m:r>
                    <m:r>
                      <a:rPr lang="en-US" i="1">
                        <a:latin typeface="Cambria Math"/>
                      </a:rPr>
                      <m:t>(</m:t>
                    </m:r>
                    <m:r>
                      <a:rPr lang="en-US" i="1">
                        <a:latin typeface="Cambria Math"/>
                      </a:rPr>
                      <m:t>𝑥</m:t>
                    </m:r>
                    <m:r>
                      <a:rPr lang="en-US" i="1">
                        <a:latin typeface="Cambria Math"/>
                      </a:rPr>
                      <m:t>)=</m:t>
                    </m:r>
                    <m:r>
                      <a:rPr lang="en-US" i="1">
                        <a:latin typeface="Cambria Math"/>
                      </a:rPr>
                      <m:t>𝑎</m:t>
                    </m:r>
                    <m:r>
                      <a:rPr lang="en-US" i="1">
                        <a:latin typeface="Cambria Math"/>
                      </a:rPr>
                      <m:t>(</m:t>
                    </m:r>
                    <m:r>
                      <a:rPr lang="en-US" i="1">
                        <a:latin typeface="Cambria Math"/>
                      </a:rPr>
                      <m:t>𝑥</m:t>
                    </m:r>
                    <m:r>
                      <a:rPr lang="en-US" i="1">
                        <a:latin typeface="Cambria Math"/>
                      </a:rPr>
                      <m:t>)</m:t>
                    </m:r>
                    <m:r>
                      <a:rPr lang="en-US" i="1">
                        <a:latin typeface="Cambria Math"/>
                      </a:rPr>
                      <m:t>𝑏</m:t>
                    </m:r>
                    <m:r>
                      <a:rPr lang="en-US" i="1">
                        <a:latin typeface="Cambria Math"/>
                      </a:rPr>
                      <m:t>(</m:t>
                    </m:r>
                    <m:r>
                      <a:rPr lang="en-US" i="1">
                        <a:latin typeface="Cambria Math"/>
                      </a:rPr>
                      <m:t>𝑥</m:t>
                    </m:r>
                    <m:r>
                      <a:rPr lang="en-US" i="1">
                        <a:latin typeface="Cambria Math"/>
                      </a:rPr>
                      <m:t>)</m:t>
                    </m:r>
                    <m:r>
                      <m:rPr>
                        <m:nor/>
                      </m:rPr>
                      <a:rPr lang="en-US" i="1">
                        <a:latin typeface="Cambria Math"/>
                      </a:rPr>
                      <m:t> </m:t>
                    </m:r>
                    <m:r>
                      <m:rPr>
                        <m:sty m:val="p"/>
                      </m:rPr>
                      <a:rPr lang="en-US" i="1">
                        <a:latin typeface="Cambria Math"/>
                      </a:rPr>
                      <m:t>mod</m:t>
                    </m:r>
                    <m:r>
                      <m:rPr>
                        <m:nor/>
                      </m:rPr>
                      <a:rPr lang="en-US" i="1">
                        <a:latin typeface="Cambria Math"/>
                      </a:rPr>
                      <m:t> </m:t>
                    </m:r>
                    <m:r>
                      <a:rPr lang="en-US" i="1">
                        <a:latin typeface="Cambria Math"/>
                      </a:rPr>
                      <m:t>(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/>
                          </a:rPr>
                          <m:t>𝑥</m:t>
                        </m:r>
                      </m:e>
                      <m:sup>
                        <m:r>
                          <a:rPr lang="en-US" i="1">
                            <a:latin typeface="Cambria Math"/>
                          </a:rPr>
                          <m:t>𝑛</m:t>
                        </m:r>
                      </m:sup>
                    </m:sSup>
                    <m:r>
                      <a:rPr lang="en-US" i="1">
                        <a:latin typeface="Cambria Math"/>
                      </a:rPr>
                      <m:t>+1)</m:t>
                    </m:r>
                  </m:oMath>
                </a14:m>
                <a:r>
                  <a:rPr dirty="0"/>
                  <a:t>을 빠르게 계산</a:t>
                </a:r>
              </a:p>
              <a:p>
                <a:r>
                  <a:rPr dirty="0"/>
                  <a:t>NTT를 쓰면 O(n log n), 고전 알고리즘은 O(n²)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295322"/>
                <a:ext cx="10515600" cy="4701089"/>
              </a:xfrm>
              <a:blipFill>
                <a:blip r:embed="rId3"/>
                <a:stretch>
                  <a:fillRect l="-406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0CCEF06-AF2C-16E5-D994-94762FCED6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3</a:t>
            </a:fld>
            <a:endParaRPr lang="ko-KR" altLang="en-US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136525"/>
            <a:ext cx="10515600" cy="753141"/>
          </a:xfrm>
        </p:spPr>
        <p:txBody>
          <a:bodyPr/>
          <a:lstStyle/>
          <a:p>
            <a:r>
              <a:rPr dirty="0"/>
              <a:t>고전(schoolbook) 곱셈 알고리즘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838200" y="1295322"/>
                <a:ext cx="10515600" cy="4701089"/>
              </a:xfrm>
            </p:spPr>
            <p:txBody>
              <a:bodyPr wrap="square"/>
              <a:lstStyle/>
              <a:p>
                <a:r>
                  <a:rPr dirty="0"/>
                  <a:t>두 단계로 구성된다 — 곱을 구한 뒤 x</a:t>
                </a:r>
                <a:r>
                  <a:rPr baseline="30000" dirty="0"/>
                  <a:t>n</a:t>
                </a:r>
                <a:r>
                  <a:rPr dirty="0"/>
                  <a:t>+1로 리덕션</a:t>
                </a:r>
              </a:p>
              <a:p>
                <a:r>
                  <a:rPr dirty="0"/>
                  <a:t>리덕션은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/>
                          </a:rPr>
                          <m:t>𝑥</m:t>
                        </m:r>
                      </m:e>
                      <m:sup>
                        <m:r>
                          <a:rPr lang="en-US" i="1">
                            <a:latin typeface="Cambria Math"/>
                          </a:rPr>
                          <m:t>𝑛</m:t>
                        </m:r>
                      </m:sup>
                    </m:sSup>
                    <m:r>
                      <a:rPr lang="en-US" i="1">
                        <a:latin typeface="Cambria Math"/>
                      </a:rPr>
                      <m:t>→−1,</m:t>
                    </m:r>
                    <m:r>
                      <m:rPr>
                        <m:nor/>
                      </m:rPr>
                      <a:rPr lang="en-US" i="1">
                        <a:latin typeface="Cambria Math"/>
                      </a:rPr>
                      <m:t> 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/>
                          </a:rPr>
                          <m:t>𝑥</m:t>
                        </m:r>
                      </m:e>
                      <m:sup>
                        <m:r>
                          <a:rPr lang="en-US" i="1">
                            <a:latin typeface="Cambria Math"/>
                          </a:rPr>
                          <m:t>𝑛</m:t>
                        </m:r>
                        <m:r>
                          <a:rPr lang="en-US" i="1">
                            <a:latin typeface="Cambria Math"/>
                          </a:rPr>
                          <m:t>+1</m:t>
                        </m:r>
                      </m:sup>
                    </m:sSup>
                    <m:r>
                      <a:rPr lang="en-US" i="1">
                        <a:latin typeface="Cambria Math"/>
                      </a:rPr>
                      <m:t>→−</m:t>
                    </m:r>
                    <m:r>
                      <a:rPr lang="en-US" i="1">
                        <a:latin typeface="Cambria Math"/>
                      </a:rPr>
                      <m:t>𝑥</m:t>
                    </m:r>
                    <m:r>
                      <a:rPr lang="en-US" i="1">
                        <a:latin typeface="Cambria Math"/>
                      </a:rPr>
                      <m:t>,</m:t>
                    </m:r>
                    <m:r>
                      <m:rPr>
                        <m:nor/>
                      </m:rPr>
                      <a:rPr lang="en-US" i="1">
                        <a:latin typeface="Cambria Math"/>
                      </a:rPr>
                      <m:t> </m:t>
                    </m:r>
                    <m:r>
                      <a:rPr lang="en-US" i="1">
                        <a:latin typeface="Cambria Math"/>
                      </a:rPr>
                      <m:t>…,</m:t>
                    </m:r>
                    <m:r>
                      <m:rPr>
                        <m:nor/>
                      </m:rPr>
                      <a:rPr lang="en-US" i="1">
                        <a:latin typeface="Cambria Math"/>
                      </a:rPr>
                      <m:t> 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/>
                          </a:rPr>
                          <m:t>𝑥</m:t>
                        </m:r>
                      </m:e>
                      <m:sup>
                        <m:r>
                          <a:rPr lang="en-US" i="1">
                            <a:latin typeface="Cambria Math"/>
                          </a:rPr>
                          <m:t>2</m:t>
                        </m:r>
                        <m:r>
                          <a:rPr lang="en-US" i="1">
                            <a:latin typeface="Cambria Math"/>
                          </a:rPr>
                          <m:t>𝑛</m:t>
                        </m:r>
                        <m:r>
                          <a:rPr lang="en-US" i="1">
                            <a:latin typeface="Cambria Math"/>
                          </a:rPr>
                          <m:t>−2</m:t>
                        </m:r>
                      </m:sup>
                    </m:sSup>
                    <m:r>
                      <a:rPr lang="en-US" i="1">
                        <a:latin typeface="Cambria Math"/>
                      </a:rPr>
                      <m:t>→−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/>
                          </a:rPr>
                          <m:t>𝑥</m:t>
                        </m:r>
                      </m:e>
                      <m:sup>
                        <m:r>
                          <a:rPr lang="en-US" i="1">
                            <a:latin typeface="Cambria Math"/>
                          </a:rPr>
                          <m:t>𝑛</m:t>
                        </m:r>
                        <m:r>
                          <a:rPr lang="en-US" i="1">
                            <a:latin typeface="Cambria Math"/>
                          </a:rPr>
                          <m:t>−2</m:t>
                        </m:r>
                      </m:sup>
                    </m:sSup>
                  </m:oMath>
                </a14:m>
                <a:r>
                  <a:rPr dirty="0"/>
                  <a:t>로 치환하는 것과 같다</a:t>
                </a:r>
              </a:p>
              <a:p>
                <a:r>
                  <a:rPr dirty="0"/>
                  <a:t>전체 실행시간: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/>
                      </a:rPr>
                      <m:t>𝑂</m:t>
                    </m:r>
                    <m:r>
                      <a:rPr lang="en-US" i="1">
                        <a:latin typeface="Cambria Math"/>
                      </a:rPr>
                      <m:t>(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/>
                          </a:rPr>
                          <m:t>𝑛</m:t>
                        </m:r>
                      </m:e>
                      <m:sup>
                        <m:r>
                          <a:rPr lang="en-US" i="1">
                            <a:latin typeface="Cambria Math"/>
                          </a:rPr>
                          <m:t>2</m:t>
                        </m:r>
                      </m:sup>
                    </m:sSup>
                    <m:r>
                      <a:rPr lang="en-US" i="1">
                        <a:latin typeface="Cambria Math"/>
                      </a:rPr>
                      <m:t>)</m:t>
                    </m:r>
                  </m:oMath>
                </a14:m>
                <a:r>
                  <a:rPr dirty="0"/>
                  <a:t> Z</a:t>
                </a:r>
                <a:r>
                  <a:rPr baseline="-25000" dirty="0"/>
                  <a:t>q</a:t>
                </a:r>
                <a:r>
                  <a:rPr dirty="0"/>
                  <a:t>-연산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295322"/>
                <a:ext cx="10515600" cy="4701089"/>
              </a:xfrm>
              <a:blipFill>
                <a:blip r:embed="rId3"/>
                <a:stretch>
                  <a:fillRect l="-406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0CCEF06-AF2C-16E5-D994-94762FCED6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4</a:t>
            </a:fld>
            <a:endParaRPr lang="ko-KR" altLang="en-US" dirty="0"/>
          </a:p>
        </p:txBody>
      </p:sp>
      <p:graphicFrame>
        <p:nvGraphicFramePr>
          <p:cNvPr id="7" name="Table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14630837"/>
              </p:ext>
            </p:extLst>
          </p:nvPr>
        </p:nvGraphicFramePr>
        <p:xfrm>
          <a:off x="838200" y="3150000"/>
          <a:ext cx="10515600" cy="1800000"/>
        </p:xfrm>
        <a:graphic>
          <a:graphicData uri="http://schemas.openxmlformats.org/drawingml/2006/table">
            <a:tbl>
              <a:tblPr firstRow="1" bandRow="1">
                <a:tableStyleId>{5A111915-BE36-4E01-A7E5-04B1672EAD32}</a:tableStyleId>
              </a:tblPr>
              <a:tblGrid>
                <a:gridCol w="120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815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00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50000">
                <a:tc>
                  <a:txBody>
                    <a:bodyPr/>
                    <a:lstStyle/>
                    <a:p>
                      <a:pPr algn="ctr"/>
                      <a:r>
                        <a:rPr sz="1800" b="1" dirty="0"/>
                        <a:t>단계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dirty="0"/>
                        <a:t>연산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dirty="0"/>
                        <a:t>시간복잡도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0000"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d(x)=a(x)b(x) 계산 (차수 ≤ 2n−2)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O(n²)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0000"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x</a:t>
                      </a:r>
                      <a:r>
                        <a:rPr sz="1800" baseline="30000" dirty="0"/>
                        <a:t>n</a:t>
                      </a:r>
                      <a:r>
                        <a:rPr sz="1800" dirty="0"/>
                        <a:t>+1로 리덕션 (위 치환)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O(n)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0000"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두 다항식을 더해 c(x) 도출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O(n)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136525"/>
            <a:ext cx="10515600" cy="753141"/>
          </a:xfrm>
        </p:spPr>
        <p:txBody>
          <a:bodyPr/>
          <a:lstStyle/>
          <a:p>
            <a:r>
              <a:rPr dirty="0"/>
              <a:t>NTT를 이용한 곱셈 개요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838200" y="1295322"/>
                <a:ext cx="10515600" cy="4701089"/>
              </a:xfrm>
            </p:spPr>
            <p:txBody>
              <a:bodyPr wrap="square"/>
              <a:lstStyle/>
              <a:p>
                <a:r>
                  <a:rPr dirty="0"/>
                  <a:t>NTT: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𝑅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𝑞</m:t>
                        </m:r>
                      </m:sub>
                    </m:sSub>
                    <m:r>
                      <a:rPr lang="en-US" i="1">
                        <a:latin typeface="Cambria Math"/>
                      </a:rPr>
                      <m:t>⟶</m:t>
                    </m:r>
                    <m:sSubSup>
                      <m:sSub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i="1">
                            <a:latin typeface="Cambria Math"/>
                          </a:rPr>
                          <m:t>ℤ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𝑞</m:t>
                        </m:r>
                      </m:sub>
                      <m:sup>
                        <m:r>
                          <a:rPr lang="en-US" i="1">
                            <a:latin typeface="Cambria Math"/>
                          </a:rPr>
                          <m:t>𝑛</m:t>
                        </m:r>
                      </m:sup>
                    </m:sSubSup>
                  </m:oMath>
                </a14:m>
                <a:r>
                  <a:rPr dirty="0"/>
                  <a:t>은 가역함수이며, 역함수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m:rPr>
                            <m:sty m:val="p"/>
                          </m:rPr>
                          <a:rPr lang="en-US" i="1">
                            <a:latin typeface="Cambria Math"/>
                          </a:rPr>
                          <m:t>NTT</m:t>
                        </m:r>
                      </m:e>
                      <m:sup>
                        <m:r>
                          <a:rPr lang="en-US" i="1">
                            <a:latin typeface="Cambria Math"/>
                          </a:rPr>
                          <m:t>−1</m:t>
                        </m:r>
                      </m:sup>
                    </m:sSup>
                  </m:oMath>
                </a14:m>
                <a:r>
                  <a:rPr dirty="0"/>
                  <a:t>가 존재한다</a:t>
                </a:r>
              </a:p>
              <a:p>
                <a:r>
                  <a:rPr dirty="0"/>
                  <a:t>a,b∈R</a:t>
                </a:r>
                <a:r>
                  <a:rPr baseline="-25000" dirty="0"/>
                  <a:t>q</a:t>
                </a:r>
                <a:r>
                  <a:rPr dirty="0"/>
                  <a:t>의 곱 c(x)=a(x)b(x) mod (x</a:t>
                </a:r>
                <a:r>
                  <a:rPr baseline="30000" dirty="0"/>
                  <a:t>n</a:t>
                </a:r>
                <a:r>
                  <a:rPr dirty="0"/>
                  <a:t>+1)은 다음 3단계로 계산된다</a:t>
                </a:r>
              </a:p>
              <a:p>
                <a:r>
                  <a:rPr dirty="0"/>
                  <a:t>전체 실행시간: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/>
                      </a:rPr>
                      <m:t>𝑂</m:t>
                    </m:r>
                    <m:r>
                      <a:rPr lang="en-US" i="1">
                        <a:latin typeface="Cambria Math"/>
                      </a:rPr>
                      <m:t>(</m:t>
                    </m:r>
                    <m:r>
                      <a:rPr lang="en-US" i="1">
                        <a:latin typeface="Cambria Math"/>
                      </a:rPr>
                      <m:t>𝑛</m:t>
                    </m:r>
                    <m:r>
                      <m:rPr>
                        <m:nor/>
                      </m:rPr>
                      <a:rPr lang="en-US" i="1">
                        <a:latin typeface="Cambria Math"/>
                      </a:rPr>
                      <m:t> </m:t>
                    </m:r>
                    <m:r>
                      <m:rPr>
                        <m:sty m:val="p"/>
                      </m:rPr>
                      <a:rPr lang="en-US" i="1">
                        <a:latin typeface="Cambria Math"/>
                      </a:rPr>
                      <m:t>log</m:t>
                    </m:r>
                    <m:r>
                      <m:rPr>
                        <m:nor/>
                      </m:rPr>
                      <a:rPr lang="en-US" i="1">
                        <a:latin typeface="Cambria Math"/>
                      </a:rPr>
                      <m:t> </m:t>
                    </m:r>
                    <m:r>
                      <a:rPr lang="en-US" i="1">
                        <a:latin typeface="Cambria Math"/>
                      </a:rPr>
                      <m:t>𝑛</m:t>
                    </m:r>
                    <m:r>
                      <a:rPr lang="en-US" i="1">
                        <a:latin typeface="Cambria Math"/>
                      </a:rPr>
                      <m:t>)</m:t>
                    </m:r>
                  </m:oMath>
                </a14:m>
                <a:r>
                  <a:rPr dirty="0"/>
                  <a:t> — 고전 알고리즘 대비 큰 개선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295322"/>
                <a:ext cx="10515600" cy="4701089"/>
              </a:xfrm>
              <a:blipFill>
                <a:blip r:embed="rId3"/>
                <a:stretch>
                  <a:fillRect l="-406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0CCEF06-AF2C-16E5-D994-94762FCED6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5</a:t>
            </a:fld>
            <a:endParaRPr lang="ko-KR" altLang="en-US" dirty="0"/>
          </a:p>
        </p:txBody>
      </p:sp>
      <p:graphicFrame>
        <p:nvGraphicFramePr>
          <p:cNvPr id="7" name="Table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09664928"/>
              </p:ext>
            </p:extLst>
          </p:nvPr>
        </p:nvGraphicFramePr>
        <p:xfrm>
          <a:off x="838200" y="3157175"/>
          <a:ext cx="10515600" cy="1800000"/>
        </p:xfrm>
        <a:graphic>
          <a:graphicData uri="http://schemas.openxmlformats.org/drawingml/2006/table">
            <a:tbl>
              <a:tblPr firstRow="1" bandRow="1">
                <a:tableStyleId>{5A111915-BE36-4E01-A7E5-04B1672EAD32}</a:tableStyleId>
              </a:tblPr>
              <a:tblGrid>
                <a:gridCol w="120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815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00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50000">
                <a:tc>
                  <a:txBody>
                    <a:bodyPr/>
                    <a:lstStyle/>
                    <a:p>
                      <a:pPr algn="ctr"/>
                      <a:r>
                        <a:rPr sz="1800" b="1" dirty="0"/>
                        <a:t>단계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dirty="0"/>
                        <a:t>연산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dirty="0"/>
                        <a:t>시간복잡도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0000"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â=NTT(a), b̂=NTT(b) 계산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O(n log n)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0000"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ĉ = â∘b̂ (성분별 곱, Z</a:t>
                      </a:r>
                      <a:r>
                        <a:rPr sz="1800" baseline="-25000" dirty="0"/>
                        <a:t>q</a:t>
                      </a:r>
                      <a:r>
                        <a:rPr sz="1800" baseline="30000" dirty="0"/>
                        <a:t>n</a:t>
                      </a:r>
                      <a:r>
                        <a:rPr sz="1800" dirty="0"/>
                        <a:t>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O(n)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0000"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c = NTT⁻¹(ĉ) 계산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O(n log n)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136525"/>
            <a:ext cx="10515600" cy="753141"/>
          </a:xfrm>
        </p:spPr>
        <p:txBody>
          <a:bodyPr/>
          <a:lstStyle/>
          <a:p>
            <a:r>
              <a:rPr dirty="0"/>
              <a:t>NTT의 정의 (Dilithium 형태)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838200" y="1295322"/>
                <a:ext cx="10515600" cy="4701089"/>
              </a:xfrm>
            </p:spPr>
            <p:txBody>
              <a:bodyPr wrap="square"/>
              <a:lstStyle/>
              <a:p>
                <a:r>
                  <a:rPr dirty="0"/>
                  <a:t>n=2</a:t>
                </a:r>
                <a:r>
                  <a:rPr baseline="30000" dirty="0"/>
                  <a:t>k</a:t>
                </a:r>
                <a:r>
                  <a:rPr dirty="0"/>
                  <a:t>, q는 q−1이 2n으로 나누어지는 소수</a:t>
                </a:r>
              </a:p>
              <a:p>
                <a:pPr lvl="1"/>
                <a:r>
                  <a:rPr dirty="0"/>
                  <a:t>Dilithium: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/>
                      </a:rPr>
                      <m:t>𝑛</m:t>
                    </m:r>
                    <m:r>
                      <a:rPr lang="en-US" i="1">
                        <a:latin typeface="Cambria Math"/>
                      </a:rPr>
                      <m:t>=256=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/>
                          </a:rPr>
                          <m:t>2</m:t>
                        </m:r>
                      </m:e>
                      <m:sup>
                        <m:r>
                          <a:rPr lang="en-US" i="1">
                            <a:latin typeface="Cambria Math"/>
                          </a:rPr>
                          <m:t>8</m:t>
                        </m:r>
                      </m:sup>
                    </m:sSup>
                    <m:r>
                      <a:rPr lang="en-US" i="1">
                        <a:latin typeface="Cambria Math"/>
                      </a:rPr>
                      <m:t>,</m:t>
                    </m:r>
                    <m:r>
                      <m:rPr>
                        <m:nor/>
                      </m:rPr>
                      <a:rPr lang="en-US" i="1">
                        <a:latin typeface="Cambria Math"/>
                      </a:rPr>
                      <m:t> </m:t>
                    </m:r>
                    <m:r>
                      <a:rPr lang="en-US" i="1">
                        <a:latin typeface="Cambria Math"/>
                      </a:rPr>
                      <m:t>𝑞</m:t>
                    </m:r>
                    <m:r>
                      <a:rPr lang="en-US" i="1">
                        <a:latin typeface="Cambria Math"/>
                      </a:rPr>
                      <m:t>=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/>
                          </a:rPr>
                          <m:t>2</m:t>
                        </m:r>
                      </m:e>
                      <m:sup>
                        <m:r>
                          <a:rPr lang="en-US" i="1">
                            <a:latin typeface="Cambria Math"/>
                          </a:rPr>
                          <m:t>23</m:t>
                        </m:r>
                      </m:sup>
                    </m:sSup>
                    <m:r>
                      <a:rPr lang="en-US" i="1">
                        <a:latin typeface="Cambria Math"/>
                      </a:rPr>
                      <m:t>−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/>
                          </a:rPr>
                          <m:t>2</m:t>
                        </m:r>
                      </m:e>
                      <m:sup>
                        <m:r>
                          <a:rPr lang="en-US" i="1">
                            <a:latin typeface="Cambria Math"/>
                          </a:rPr>
                          <m:t>13</m:t>
                        </m:r>
                      </m:sup>
                    </m:sSup>
                    <m:r>
                      <a:rPr lang="en-US" i="1">
                        <a:latin typeface="Cambria Math"/>
                      </a:rPr>
                      <m:t>+1,</m:t>
                    </m:r>
                    <m:r>
                      <m:rPr>
                        <m:nor/>
                      </m:rPr>
                      <a:rPr lang="en-US" i="1">
                        <a:latin typeface="Cambria Math"/>
                      </a:rPr>
                      <m:t> </m:t>
                    </m:r>
                    <m:r>
                      <a:rPr lang="en-US" i="1">
                        <a:latin typeface="Cambria Math"/>
                      </a:rPr>
                      <m:t>𝑞</m:t>
                    </m:r>
                    <m:r>
                      <a:rPr lang="en-US" i="1">
                        <a:latin typeface="Cambria Math"/>
                      </a:rPr>
                      <m:t>−1=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/>
                          </a:rPr>
                          <m:t>2</m:t>
                        </m:r>
                      </m:e>
                      <m:sup>
                        <m:r>
                          <a:rPr lang="en-US" i="1">
                            <a:latin typeface="Cambria Math"/>
                          </a:rPr>
                          <m:t>13</m:t>
                        </m:r>
                      </m:sup>
                    </m:sSup>
                    <m:r>
                      <a:rPr lang="en-US" i="1">
                        <a:latin typeface="Cambria Math"/>
                      </a:rPr>
                      <m:t>(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/>
                          </a:rPr>
                          <m:t>2</m:t>
                        </m:r>
                      </m:e>
                      <m:sup>
                        <m:r>
                          <a:rPr lang="en-US" i="1">
                            <a:latin typeface="Cambria Math"/>
                          </a:rPr>
                          <m:t>10</m:t>
                        </m:r>
                      </m:sup>
                    </m:sSup>
                    <m:r>
                      <a:rPr lang="en-US" i="1">
                        <a:latin typeface="Cambria Math"/>
                      </a:rPr>
                      <m:t>−1)</m:t>
                    </m:r>
                  </m:oMath>
                </a14:m>
                <a:endParaRPr dirty="0"/>
              </a:p>
              <a:p>
                <a:r>
                  <a:rPr dirty="0"/>
                  <a:t>ζ∈Z</a:t>
                </a:r>
                <a:r>
                  <a:rPr baseline="-25000" dirty="0"/>
                  <a:t>q</a:t>
                </a:r>
                <a:r>
                  <a:rPr dirty="0"/>
                  <a:t>*는 위수(order) 2n인 원소 — 위수는 ζ</a:t>
                </a:r>
                <a:r>
                  <a:rPr baseline="30000" dirty="0"/>
                  <a:t>t</a:t>
                </a:r>
                <a:r>
                  <a:rPr dirty="0"/>
                  <a:t>=1이 되는 최소 양의 정수 t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/>
                            </a:rPr>
                            <m:t>𝜁</m:t>
                          </m:r>
                        </m:e>
                        <m:sup>
                          <m:r>
                            <a:rPr lang="en-US" i="1">
                              <a:latin typeface="Cambria Math"/>
                            </a:rPr>
                            <m:t>𝑛</m:t>
                          </m:r>
                        </m:sup>
                      </m:sSup>
                      <m:r>
                        <a:rPr lang="en-US" i="1">
                          <a:latin typeface="Cambria Math"/>
                        </a:rPr>
                        <m:t>=−1</m:t>
                      </m:r>
                    </m:oMath>
                  </m:oMathPara>
                </a14:m>
                <a:endParaRPr dirty="0"/>
              </a:p>
              <a:p>
                <a:r>
                  <a:rPr dirty="0"/>
                  <a:t>a(x)∈R</a:t>
                </a:r>
                <a:r>
                  <a:rPr baseline="-25000" dirty="0"/>
                  <a:t>q</a:t>
                </a:r>
                <a:r>
                  <a:rPr dirty="0"/>
                  <a:t>에 대해 정의: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i="1">
                          <a:latin typeface="Cambria Math"/>
                        </a:rPr>
                        <m:t>NTT</m:t>
                      </m:r>
                      <m:r>
                        <a:rPr lang="en-US" i="1">
                          <a:latin typeface="Cambria Math"/>
                        </a:rPr>
                        <m:t>(</m:t>
                      </m:r>
                      <m:r>
                        <a:rPr lang="en-US" i="1">
                          <a:latin typeface="Cambria Math"/>
                        </a:rPr>
                        <m:t>𝑎</m:t>
                      </m:r>
                      <m:r>
                        <a:rPr lang="en-US" i="1">
                          <a:latin typeface="Cambria Math"/>
                        </a:rPr>
                        <m:t>)=</m:t>
                      </m:r>
                      <m:acc>
                        <m:accPr>
                          <m:chr m:val="̂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i="1">
                              <a:latin typeface="Cambria Math"/>
                            </a:rPr>
                            <m:t>𝑎</m:t>
                          </m:r>
                        </m:e>
                      </m:acc>
                      <m:r>
                        <a:rPr lang="en-US" i="1">
                          <a:latin typeface="Cambria Math"/>
                        </a:rPr>
                        <m:t>=(</m:t>
                      </m:r>
                      <m:r>
                        <a:rPr lang="en-US" i="1">
                          <a:latin typeface="Cambria Math"/>
                        </a:rPr>
                        <m:t>𝑎</m:t>
                      </m:r>
                      <m:r>
                        <a:rPr lang="en-US" i="1">
                          <a:latin typeface="Cambria Math"/>
                        </a:rPr>
                        <m:t>(</m:t>
                      </m:r>
                      <m:r>
                        <a:rPr lang="en-US" i="1">
                          <a:latin typeface="Cambria Math"/>
                        </a:rPr>
                        <m:t>𝜁</m:t>
                      </m:r>
                      <m:r>
                        <a:rPr lang="en-US" i="1">
                          <a:latin typeface="Cambria Math"/>
                        </a:rPr>
                        <m:t>),</m:t>
                      </m:r>
                      <m:r>
                        <a:rPr lang="en-US" i="1">
                          <a:latin typeface="Cambria Math"/>
                        </a:rPr>
                        <m:t>𝑎</m:t>
                      </m:r>
                      <m:r>
                        <a:rPr lang="en-US" i="1">
                          <a:latin typeface="Cambria Math"/>
                        </a:rPr>
                        <m:t>(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/>
                            </a:rPr>
                            <m:t>𝜁</m:t>
                          </m:r>
                        </m:e>
                        <m:sup>
                          <m:r>
                            <a:rPr lang="en-US" i="1">
                              <a:latin typeface="Cambria Math"/>
                            </a:rPr>
                            <m:t>3</m:t>
                          </m:r>
                        </m:sup>
                      </m:sSup>
                      <m:r>
                        <a:rPr lang="en-US" i="1">
                          <a:latin typeface="Cambria Math"/>
                        </a:rPr>
                        <m:t>),</m:t>
                      </m:r>
                      <m:r>
                        <a:rPr lang="en-US" i="1">
                          <a:latin typeface="Cambria Math"/>
                        </a:rPr>
                        <m:t>𝑎</m:t>
                      </m:r>
                      <m:r>
                        <a:rPr lang="en-US" i="1">
                          <a:latin typeface="Cambria Math"/>
                        </a:rPr>
                        <m:t>(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/>
                            </a:rPr>
                            <m:t>𝜁</m:t>
                          </m:r>
                        </m:e>
                        <m:sup>
                          <m:r>
                            <a:rPr lang="en-US" i="1">
                              <a:latin typeface="Cambria Math"/>
                            </a:rPr>
                            <m:t>5</m:t>
                          </m:r>
                        </m:sup>
                      </m:sSup>
                      <m:r>
                        <a:rPr lang="en-US" i="1">
                          <a:latin typeface="Cambria Math"/>
                        </a:rPr>
                        <m:t>),…,</m:t>
                      </m:r>
                      <m:r>
                        <a:rPr lang="en-US" i="1">
                          <a:latin typeface="Cambria Math"/>
                        </a:rPr>
                        <m:t>𝑎</m:t>
                      </m:r>
                      <m:r>
                        <a:rPr lang="en-US" i="1">
                          <a:latin typeface="Cambria Math"/>
                        </a:rPr>
                        <m:t>(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/>
                            </a:rPr>
                            <m:t>𝜁</m:t>
                          </m:r>
                        </m:e>
                        <m:sup>
                          <m:r>
                            <a:rPr lang="en-US" i="1">
                              <a:latin typeface="Cambria Math"/>
                            </a:rPr>
                            <m:t>2</m:t>
                          </m:r>
                          <m:r>
                            <a:rPr lang="en-US" i="1">
                              <a:latin typeface="Cambria Math"/>
                            </a:rPr>
                            <m:t>𝑛</m:t>
                          </m:r>
                          <m:r>
                            <a:rPr lang="en-US" i="1">
                              <a:latin typeface="Cambria Math"/>
                            </a:rPr>
                            <m:t>−1</m:t>
                          </m:r>
                        </m:sup>
                      </m:sSup>
                      <m:r>
                        <a:rPr lang="en-US" i="1">
                          <a:latin typeface="Cambria Math"/>
                        </a:rPr>
                        <m:t>))∈</m:t>
                      </m:r>
                      <m:sSubSup>
                        <m:sSub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i="1">
                              <a:latin typeface="Cambria Math"/>
                            </a:rPr>
                            <m:t>ℤ</m:t>
                          </m:r>
                        </m:e>
                        <m:sub>
                          <m:r>
                            <a:rPr lang="en-US" i="1">
                              <a:latin typeface="Cambria Math"/>
                            </a:rPr>
                            <m:t>𝑞</m:t>
                          </m:r>
                        </m:sub>
                        <m:sup>
                          <m:r>
                            <a:rPr lang="en-US" i="1">
                              <a:latin typeface="Cambria Math"/>
                            </a:rPr>
                            <m:t>𝑛</m:t>
                          </m:r>
                        </m:sup>
                      </m:sSubSup>
                    </m:oMath>
                  </m:oMathPara>
                </a14:m>
                <a:endParaRPr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295322"/>
                <a:ext cx="10515600" cy="4701089"/>
              </a:xfrm>
              <a:blipFill>
                <a:blip r:embed="rId2"/>
                <a:stretch>
                  <a:fillRect l="-406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0CCEF06-AF2C-16E5-D994-94762FCED6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6</a:t>
            </a:fld>
            <a:endParaRPr lang="ko-KR" altLang="en-US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136525"/>
            <a:ext cx="10515600" cy="753141"/>
          </a:xfrm>
        </p:spPr>
        <p:txBody>
          <a:bodyPr/>
          <a:lstStyle/>
          <a:p>
            <a:r>
              <a:rPr dirty="0"/>
              <a:t>NTT=평가, NTT⁻¹=보간, 성분별 곱셈 대응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838200" y="1295322"/>
                <a:ext cx="10515600" cy="4701089"/>
              </a:xfrm>
            </p:spPr>
            <p:txBody>
              <a:bodyPr wrap="square"/>
              <a:lstStyle/>
              <a:p>
                <a:r>
                  <a:rPr dirty="0"/>
                  <a:t>NTT(a)는 a(x)를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/>
                      </a:rPr>
                      <m:t>𝜁</m:t>
                    </m:r>
                    <m:r>
                      <a:rPr lang="en-US" i="1">
                        <a:latin typeface="Cambria Math"/>
                      </a:rPr>
                      <m:t>,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/>
                          </a:rPr>
                          <m:t>𝜁</m:t>
                        </m:r>
                      </m:e>
                      <m:sup>
                        <m:r>
                          <a:rPr lang="en-US" i="1">
                            <a:latin typeface="Cambria Math"/>
                          </a:rPr>
                          <m:t>3</m:t>
                        </m:r>
                      </m:sup>
                    </m:sSup>
                    <m:r>
                      <a:rPr lang="en-US" i="1">
                        <a:latin typeface="Cambria Math"/>
                      </a:rPr>
                      <m:t>,…,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/>
                          </a:rPr>
                          <m:t>𝜁</m:t>
                        </m:r>
                      </m:e>
                      <m:sup>
                        <m:r>
                          <a:rPr lang="en-US" i="1">
                            <a:latin typeface="Cambria Math"/>
                          </a:rPr>
                          <m:t>2</m:t>
                        </m:r>
                        <m:r>
                          <a:rPr lang="en-US" i="1">
                            <a:latin typeface="Cambria Math"/>
                          </a:rPr>
                          <m:t>𝑛</m:t>
                        </m:r>
                        <m:r>
                          <a:rPr lang="en-US" i="1">
                            <a:latin typeface="Cambria Math"/>
                          </a:rPr>
                          <m:t>−1</m:t>
                        </m:r>
                      </m:sup>
                    </m:sSup>
                  </m:oMath>
                </a14:m>
                <a:r>
                  <a:rPr dirty="0"/>
                  <a:t>에서 평가한 것; NTT⁻¹는 다항식 보간</a:t>
                </a:r>
              </a:p>
              <a:p>
                <a:r>
                  <a:rPr dirty="0"/>
                  <a:t>c(x)=a(x)b(x)+ℓ(x)(x</a:t>
                </a:r>
                <a:r>
                  <a:rPr baseline="30000" dirty="0"/>
                  <a:t>n</a:t>
                </a:r>
                <a:r>
                  <a:rPr dirty="0"/>
                  <a:t>+1)이라 하면, 홀수 i에 대해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latin typeface="Cambria Math"/>
                        </a:rPr>
                        <m:t>𝑐</m:t>
                      </m:r>
                      <m:r>
                        <a:rPr lang="en-US" i="1">
                          <a:latin typeface="Cambria Math"/>
                        </a:rPr>
                        <m:t>(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/>
                            </a:rPr>
                            <m:t>𝜁</m:t>
                          </m:r>
                        </m:e>
                        <m:sup>
                          <m:r>
                            <a:rPr lang="en-US" i="1">
                              <a:latin typeface="Cambria Math"/>
                            </a:rPr>
                            <m:t>𝑖</m:t>
                          </m:r>
                        </m:sup>
                      </m:sSup>
                      <m:r>
                        <a:rPr lang="en-US" i="1">
                          <a:latin typeface="Cambria Math"/>
                        </a:rPr>
                        <m:t>)=</m:t>
                      </m:r>
                      <m:r>
                        <a:rPr lang="en-US" i="1">
                          <a:latin typeface="Cambria Math"/>
                        </a:rPr>
                        <m:t>𝑎</m:t>
                      </m:r>
                      <m:r>
                        <a:rPr lang="en-US" i="1">
                          <a:latin typeface="Cambria Math"/>
                        </a:rPr>
                        <m:t>(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/>
                            </a:rPr>
                            <m:t>𝜁</m:t>
                          </m:r>
                        </m:e>
                        <m:sup>
                          <m:r>
                            <a:rPr lang="en-US" i="1">
                              <a:latin typeface="Cambria Math"/>
                            </a:rPr>
                            <m:t>𝑖</m:t>
                          </m:r>
                        </m:sup>
                      </m:sSup>
                      <m:r>
                        <a:rPr lang="en-US" i="1">
                          <a:latin typeface="Cambria Math"/>
                        </a:rPr>
                        <m:t>)</m:t>
                      </m:r>
                      <m:r>
                        <a:rPr lang="en-US" i="1">
                          <a:latin typeface="Cambria Math"/>
                        </a:rPr>
                        <m:t>𝑏</m:t>
                      </m:r>
                      <m:r>
                        <a:rPr lang="en-US" i="1">
                          <a:latin typeface="Cambria Math"/>
                        </a:rPr>
                        <m:t>(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/>
                            </a:rPr>
                            <m:t>𝜁</m:t>
                          </m:r>
                        </m:e>
                        <m:sup>
                          <m:r>
                            <a:rPr lang="en-US" i="1">
                              <a:latin typeface="Cambria Math"/>
                            </a:rPr>
                            <m:t>𝑖</m:t>
                          </m:r>
                        </m:sup>
                      </m:sSup>
                      <m:r>
                        <a:rPr lang="en-US" i="1">
                          <a:latin typeface="Cambria Math"/>
                        </a:rPr>
                        <m:t>)+ℓ(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/>
                            </a:rPr>
                            <m:t>𝜁</m:t>
                          </m:r>
                        </m:e>
                        <m:sup>
                          <m:r>
                            <a:rPr lang="en-US" i="1">
                              <a:latin typeface="Cambria Math"/>
                            </a:rPr>
                            <m:t>𝑖</m:t>
                          </m:r>
                        </m:sup>
                      </m:sSup>
                      <m:r>
                        <a:rPr lang="en-US" i="1">
                          <a:latin typeface="Cambria Math"/>
                        </a:rPr>
                        <m:t>)(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/>
                            </a:rPr>
                            <m:t>𝜁</m:t>
                          </m:r>
                        </m:e>
                        <m:sup>
                          <m:r>
                            <a:rPr lang="en-US" i="1">
                              <a:latin typeface="Cambria Math"/>
                            </a:rPr>
                            <m:t>𝑛𝑖</m:t>
                          </m:r>
                        </m:sup>
                      </m:sSup>
                      <m:r>
                        <a:rPr lang="en-US" i="1">
                          <a:latin typeface="Cambria Math"/>
                        </a:rPr>
                        <m:t>+1)</m:t>
                      </m:r>
                    </m:oMath>
                  </m:oMathPara>
                </a14:m>
                <a:endParaRPr dirty="0"/>
              </a:p>
              <a:p>
                <a:r>
                  <a:rPr dirty="0"/>
                  <a:t>그런데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/>
                          </a:rPr>
                          <m:t>𝜁</m:t>
                        </m:r>
                      </m:e>
                      <m:sup>
                        <m:r>
                          <a:rPr lang="en-US" i="1">
                            <a:latin typeface="Cambria Math"/>
                          </a:rPr>
                          <m:t>𝑛𝑖</m:t>
                        </m:r>
                      </m:sup>
                    </m:sSup>
                    <m:r>
                      <a:rPr lang="en-US" i="1">
                        <a:latin typeface="Cambria Math"/>
                      </a:rPr>
                      <m:t>=(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/>
                          </a:rPr>
                          <m:t>𝜁</m:t>
                        </m:r>
                      </m:e>
                      <m:sup>
                        <m:r>
                          <a:rPr lang="en-US" i="1">
                            <a:latin typeface="Cambria Math"/>
                          </a:rPr>
                          <m:t>𝑛</m:t>
                        </m:r>
                      </m:sup>
                    </m:sSup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/>
                          </a:rPr>
                          <m:t>)</m:t>
                        </m:r>
                      </m:e>
                      <m:sup>
                        <m:r>
                          <a:rPr lang="en-US" i="1">
                            <a:latin typeface="Cambria Math"/>
                          </a:rPr>
                          <m:t>𝑖</m:t>
                        </m:r>
                      </m:sup>
                    </m:sSup>
                    <m:r>
                      <a:rPr lang="en-US" i="1">
                        <a:latin typeface="Cambria Math"/>
                      </a:rPr>
                      <m:t>=(−1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/>
                          </a:rPr>
                          <m:t>)</m:t>
                        </m:r>
                      </m:e>
                      <m:sup>
                        <m:r>
                          <a:rPr lang="en-US" i="1">
                            <a:latin typeface="Cambria Math"/>
                          </a:rPr>
                          <m:t>𝑖</m:t>
                        </m:r>
                      </m:sup>
                    </m:sSup>
                    <m:r>
                      <a:rPr lang="en-US" i="1">
                        <a:latin typeface="Cambria Math"/>
                      </a:rPr>
                      <m:t>=−1</m:t>
                    </m:r>
                  </m:oMath>
                </a14:m>
                <a:r>
                  <a:rPr dirty="0"/>
                  <a:t> (i가 홀수) — 뒤 항이 0이 되어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latin typeface="Cambria Math"/>
                        </a:rPr>
                        <m:t>𝑐</m:t>
                      </m:r>
                      <m:r>
                        <a:rPr lang="en-US" i="1">
                          <a:latin typeface="Cambria Math"/>
                        </a:rPr>
                        <m:t>(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/>
                            </a:rPr>
                            <m:t>𝜁</m:t>
                          </m:r>
                        </m:e>
                        <m:sup>
                          <m:r>
                            <a:rPr lang="en-US" i="1">
                              <a:latin typeface="Cambria Math"/>
                            </a:rPr>
                            <m:t>𝑖</m:t>
                          </m:r>
                        </m:sup>
                      </m:sSup>
                      <m:r>
                        <a:rPr lang="en-US" i="1">
                          <a:latin typeface="Cambria Math"/>
                        </a:rPr>
                        <m:t>)=</m:t>
                      </m:r>
                      <m:r>
                        <a:rPr lang="en-US" i="1">
                          <a:latin typeface="Cambria Math"/>
                        </a:rPr>
                        <m:t>𝑎</m:t>
                      </m:r>
                      <m:r>
                        <a:rPr lang="en-US" i="1">
                          <a:latin typeface="Cambria Math"/>
                        </a:rPr>
                        <m:t>(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/>
                            </a:rPr>
                            <m:t>𝜁</m:t>
                          </m:r>
                        </m:e>
                        <m:sup>
                          <m:r>
                            <a:rPr lang="en-US" i="1">
                              <a:latin typeface="Cambria Math"/>
                            </a:rPr>
                            <m:t>𝑖</m:t>
                          </m:r>
                        </m:sup>
                      </m:sSup>
                      <m:r>
                        <a:rPr lang="en-US" i="1">
                          <a:latin typeface="Cambria Math"/>
                        </a:rPr>
                        <m:t>)</m:t>
                      </m:r>
                      <m:r>
                        <a:rPr lang="en-US" i="1">
                          <a:latin typeface="Cambria Math"/>
                        </a:rPr>
                        <m:t>𝑏</m:t>
                      </m:r>
                      <m:r>
                        <a:rPr lang="en-US" i="1">
                          <a:latin typeface="Cambria Math"/>
                        </a:rPr>
                        <m:t>(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/>
                            </a:rPr>
                            <m:t>𝜁</m:t>
                          </m:r>
                        </m:e>
                        <m:sup>
                          <m:r>
                            <a:rPr lang="en-US" i="1">
                              <a:latin typeface="Cambria Math"/>
                            </a:rPr>
                            <m:t>𝑖</m:t>
                          </m:r>
                        </m:sup>
                      </m:sSup>
                      <m:r>
                        <a:rPr lang="en-US" i="1">
                          <a:latin typeface="Cambria Math"/>
                        </a:rPr>
                        <m:t>)</m:t>
                      </m:r>
                    </m:oMath>
                  </m:oMathPara>
                </a14:m>
                <a:endParaRPr dirty="0"/>
              </a:p>
              <a:p>
                <a:r>
                  <a:rPr dirty="0"/>
                  <a:t>따라서 곱셈은 성분별 곱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>
                            <a:latin typeface="Cambria Math"/>
                          </a:rPr>
                          <m:t>𝑐</m:t>
                        </m:r>
                      </m:e>
                    </m:acc>
                    <m:r>
                      <a:rPr lang="en-US" i="1">
                        <a:latin typeface="Cambria Math"/>
                      </a:rPr>
                      <m:t>=</m:t>
                    </m:r>
                    <m:acc>
                      <m:accPr>
                        <m:chr m:val="̂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>
                            <a:latin typeface="Cambria Math"/>
                          </a:rPr>
                          <m:t>𝑎</m:t>
                        </m:r>
                      </m:e>
                    </m:acc>
                    <m:r>
                      <a:rPr lang="en-US" i="1">
                        <a:latin typeface="Cambria Math"/>
                      </a:rPr>
                      <m:t>∘</m:t>
                    </m:r>
                    <m:acc>
                      <m:accPr>
                        <m:chr m:val="̂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>
                            <a:latin typeface="Cambria Math"/>
                          </a:rPr>
                          <m:t>𝑏</m:t>
                        </m:r>
                      </m:e>
                    </m:acc>
                  </m:oMath>
                </a14:m>
                <a:r>
                  <a:rPr dirty="0"/>
                  <a:t>, 덧셈도 성분별 합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295322"/>
                <a:ext cx="10515600" cy="4701089"/>
              </a:xfrm>
              <a:blipFill>
                <a:blip r:embed="rId2"/>
                <a:stretch>
                  <a:fillRect l="-406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0CCEF06-AF2C-16E5-D994-94762FCED6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7</a:t>
            </a:fld>
            <a:endParaRPr lang="ko-KR" altLang="en-US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136525"/>
            <a:ext cx="10515600" cy="753141"/>
          </a:xfrm>
        </p:spPr>
        <p:txBody>
          <a:bodyPr/>
          <a:lstStyle/>
          <a:p>
            <a:r>
              <a:rPr dirty="0"/>
              <a:t>재귀 계산의 원리: 다항식 나머지 정리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838200" y="1295322"/>
                <a:ext cx="10515600" cy="4701089"/>
              </a:xfrm>
            </p:spPr>
            <p:txBody>
              <a:bodyPr wrap="square"/>
              <a:lstStyle/>
              <a:p>
                <a:r>
                  <a:rPr dirty="0"/>
                  <a:t>NTT(a)의 각 성분은 다항식 나머지 정리에 의해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latin typeface="Cambria Math"/>
                        </a:rPr>
                        <m:t>𝑎</m:t>
                      </m:r>
                      <m:r>
                        <a:rPr lang="en-US" i="1">
                          <a:latin typeface="Cambria Math"/>
                        </a:rPr>
                        <m:t>(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/>
                            </a:rPr>
                            <m:t>𝜁</m:t>
                          </m:r>
                        </m:e>
                        <m:sup>
                          <m:r>
                            <a:rPr lang="en-US" i="1">
                              <a:latin typeface="Cambria Math"/>
                            </a:rPr>
                            <m:t>𝑖</m:t>
                          </m:r>
                        </m:sup>
                      </m:sSup>
                      <m:r>
                        <a:rPr lang="en-US" i="1">
                          <a:latin typeface="Cambria Math"/>
                        </a:rPr>
                        <m:t>)=</m:t>
                      </m:r>
                      <m:r>
                        <a:rPr lang="en-US" i="1">
                          <a:latin typeface="Cambria Math"/>
                        </a:rPr>
                        <m:t>𝑎</m:t>
                      </m:r>
                      <m:r>
                        <a:rPr lang="en-US" i="1">
                          <a:latin typeface="Cambria Math"/>
                        </a:rPr>
                        <m:t>(</m:t>
                      </m:r>
                      <m:r>
                        <a:rPr lang="en-US" i="1">
                          <a:latin typeface="Cambria Math"/>
                        </a:rPr>
                        <m:t>𝑥</m:t>
                      </m:r>
                      <m:r>
                        <a:rPr lang="en-US" i="1">
                          <a:latin typeface="Cambria Math"/>
                        </a:rPr>
                        <m:t>)</m:t>
                      </m:r>
                      <m:r>
                        <m:rPr>
                          <m:nor/>
                        </m:rPr>
                        <a:rPr lang="en-US" i="1">
                          <a:latin typeface="Cambria Math"/>
                        </a:rPr>
                        <m:t> </m:t>
                      </m:r>
                      <m:r>
                        <m:rPr>
                          <m:sty m:val="p"/>
                        </m:rPr>
                        <a:rPr lang="en-US" i="1">
                          <a:latin typeface="Cambria Math"/>
                        </a:rPr>
                        <m:t>mod</m:t>
                      </m:r>
                      <m:r>
                        <m:rPr>
                          <m:nor/>
                        </m:rPr>
                        <a:rPr lang="en-US" i="1">
                          <a:latin typeface="Cambria Math"/>
                        </a:rPr>
                        <m:t> </m:t>
                      </m:r>
                      <m:r>
                        <a:rPr lang="en-US" i="1">
                          <a:latin typeface="Cambria Math"/>
                        </a:rPr>
                        <m:t>(</m:t>
                      </m:r>
                      <m:r>
                        <a:rPr lang="en-US" i="1">
                          <a:latin typeface="Cambria Math"/>
                        </a:rPr>
                        <m:t>𝑥</m:t>
                      </m:r>
                      <m:r>
                        <a:rPr lang="en-US" i="1">
                          <a:latin typeface="Cambria Math"/>
                        </a:rPr>
                        <m:t>−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/>
                            </a:rPr>
                            <m:t>𝜁</m:t>
                          </m:r>
                        </m:e>
                        <m:sup>
                          <m:r>
                            <a:rPr lang="en-US" i="1">
                              <a:latin typeface="Cambria Math"/>
                            </a:rPr>
                            <m:t>𝑖</m:t>
                          </m:r>
                        </m:sup>
                      </m:sSup>
                      <m:r>
                        <a:rPr lang="en-US" i="1">
                          <a:latin typeface="Cambria Math"/>
                        </a:rPr>
                        <m:t>)</m:t>
                      </m:r>
                    </m:oMath>
                  </m:oMathPara>
                </a14:m>
                <a:endParaRPr dirty="0"/>
              </a:p>
              <a:p>
                <a:r>
                  <a:rPr dirty="0"/>
                  <a:t>f(x)가 g(x)를 나누면 다음이 성립 — 이를 이용해 재귀적으로 계산한다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latin typeface="Cambria Math"/>
                        </a:rPr>
                        <m:t>𝑎</m:t>
                      </m:r>
                      <m:r>
                        <m:rPr>
                          <m:nor/>
                        </m:rPr>
                        <a:rPr lang="en-US" i="1">
                          <a:latin typeface="Cambria Math"/>
                        </a:rPr>
                        <m:t> </m:t>
                      </m:r>
                      <m:r>
                        <m:rPr>
                          <m:sty m:val="p"/>
                        </m:rPr>
                        <a:rPr lang="en-US" i="1">
                          <a:latin typeface="Cambria Math"/>
                        </a:rPr>
                        <m:t>mod</m:t>
                      </m:r>
                      <m:r>
                        <m:rPr>
                          <m:nor/>
                        </m:rPr>
                        <a:rPr lang="en-US" i="1">
                          <a:latin typeface="Cambria Math"/>
                        </a:rPr>
                        <m:t> </m:t>
                      </m:r>
                      <m:r>
                        <a:rPr lang="en-US" i="1">
                          <a:latin typeface="Cambria Math"/>
                        </a:rPr>
                        <m:t>𝑓</m:t>
                      </m:r>
                      <m:r>
                        <a:rPr lang="en-US" i="1">
                          <a:latin typeface="Cambria Math"/>
                        </a:rPr>
                        <m:t>=(</m:t>
                      </m:r>
                      <m:r>
                        <a:rPr lang="en-US" i="1">
                          <a:latin typeface="Cambria Math"/>
                        </a:rPr>
                        <m:t>𝑎</m:t>
                      </m:r>
                      <m:r>
                        <m:rPr>
                          <m:nor/>
                        </m:rPr>
                        <a:rPr lang="en-US" i="1">
                          <a:latin typeface="Cambria Math"/>
                        </a:rPr>
                        <m:t> </m:t>
                      </m:r>
                      <m:r>
                        <m:rPr>
                          <m:sty m:val="p"/>
                        </m:rPr>
                        <a:rPr lang="en-US" i="1">
                          <a:latin typeface="Cambria Math"/>
                        </a:rPr>
                        <m:t>mod</m:t>
                      </m:r>
                      <m:r>
                        <m:rPr>
                          <m:nor/>
                        </m:rPr>
                        <a:rPr lang="en-US" i="1">
                          <a:latin typeface="Cambria Math"/>
                        </a:rPr>
                        <m:t> </m:t>
                      </m:r>
                      <m:r>
                        <a:rPr lang="en-US" i="1">
                          <a:latin typeface="Cambria Math"/>
                        </a:rPr>
                        <m:t>𝑔</m:t>
                      </m:r>
                      <m:r>
                        <a:rPr lang="en-US" i="1">
                          <a:latin typeface="Cambria Math"/>
                        </a:rPr>
                        <m:t>)</m:t>
                      </m:r>
                      <m:r>
                        <m:rPr>
                          <m:nor/>
                        </m:rPr>
                        <a:rPr lang="en-US" i="1">
                          <a:latin typeface="Cambria Math"/>
                        </a:rPr>
                        <m:t> </m:t>
                      </m:r>
                      <m:r>
                        <m:rPr>
                          <m:sty m:val="p"/>
                        </m:rPr>
                        <a:rPr lang="en-US" i="1">
                          <a:latin typeface="Cambria Math"/>
                        </a:rPr>
                        <m:t>mod</m:t>
                      </m:r>
                      <m:r>
                        <m:rPr>
                          <m:nor/>
                        </m:rPr>
                        <a:rPr lang="en-US" i="1">
                          <a:latin typeface="Cambria Math"/>
                        </a:rPr>
                        <m:t> </m:t>
                      </m:r>
                      <m:r>
                        <a:rPr lang="en-US" i="1">
                          <a:latin typeface="Cambria Math"/>
                        </a:rPr>
                        <m:t>𝑓</m:t>
                      </m:r>
                    </m:oMath>
                  </m:oMathPara>
                </a14:m>
                <a:endParaRPr dirty="0"/>
              </a:p>
              <a:p>
                <a:r>
                  <a:rPr dirty="0"/>
                  <a:t>아이디어: x</a:t>
                </a:r>
                <a:r>
                  <a:rPr baseline="30000" dirty="0"/>
                  <a:t>n</a:t>
                </a:r>
                <a:r>
                  <a:rPr dirty="0"/>
                  <a:t>+1을 선형 인수들의 곱으로 완전히 인수분해한 뒤, 트리 구조로 나머지를 재귀적으로 좁혀간다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295322"/>
                <a:ext cx="10515600" cy="4701089"/>
              </a:xfrm>
              <a:blipFill>
                <a:blip r:embed="rId2"/>
                <a:stretch>
                  <a:fillRect l="-406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0CCEF06-AF2C-16E5-D994-94762FCED6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8</a:t>
            </a:fld>
            <a:endParaRPr lang="ko-KR" altLang="en-US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136525"/>
            <a:ext cx="10515600" cy="753141"/>
          </a:xfrm>
        </p:spPr>
        <p:txBody>
          <a:bodyPr/>
          <a:lstStyle/>
          <a:p>
            <a:r>
              <a:rPr dirty="0"/>
              <a:t>예제 파라미터와 x⁸+1의 인수분해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838200" y="1295322"/>
                <a:ext cx="10515600" cy="4701089"/>
              </a:xfrm>
            </p:spPr>
            <p:txBody>
              <a:bodyPr wrap="square"/>
              <a:lstStyle/>
              <a:p>
                <a:r>
                  <a:rPr dirty="0"/>
                  <a:t>구체적인 예로 q=113, n=2³=8을 쓴다 (2n=16이 q−1=112=16×7을 나눔)</a:t>
                </a:r>
              </a:p>
              <a:p>
                <a:r>
                  <a:rPr dirty="0"/>
                  <a:t>ζ=42는 Z</a:t>
                </a:r>
                <a:r>
                  <a:rPr baseline="-25000" dirty="0"/>
                  <a:t>113</a:t>
                </a:r>
                <a:r>
                  <a:rPr dirty="0"/>
                  <a:t>*에서 위수 16을 가지며, 따라서 ζ⁸=−1.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𝑅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𝑞</m:t>
                        </m:r>
                      </m:sub>
                    </m:sSub>
                    <m:r>
                      <a:rPr lang="en-US" i="1">
                        <a:latin typeface="Cambria Math"/>
                      </a:rPr>
                      <m:t>=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ℤ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113</m:t>
                        </m:r>
                      </m:sub>
                    </m:sSub>
                    <m:r>
                      <a:rPr lang="en-US" i="1">
                        <a:latin typeface="Cambria Math"/>
                      </a:rPr>
                      <m:t>[</m:t>
                    </m:r>
                    <m:r>
                      <a:rPr lang="en-US" i="1">
                        <a:latin typeface="Cambria Math"/>
                      </a:rPr>
                      <m:t>𝑥</m:t>
                    </m:r>
                    <m:r>
                      <a:rPr lang="en-US" i="1">
                        <a:latin typeface="Cambria Math"/>
                      </a:rPr>
                      <m:t>]/(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/>
                          </a:rPr>
                          <m:t>𝑥</m:t>
                        </m:r>
                      </m:e>
                      <m:sup>
                        <m:r>
                          <a:rPr lang="en-US" i="1">
                            <a:latin typeface="Cambria Math"/>
                          </a:rPr>
                          <m:t>8</m:t>
                        </m:r>
                      </m:sup>
                    </m:sSup>
                    <m:r>
                      <a:rPr lang="en-US" i="1">
                        <a:latin typeface="Cambria Math"/>
                      </a:rPr>
                      <m:t>+1)</m:t>
                    </m:r>
                  </m:oMath>
                </a14:m>
                <a:endParaRPr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/>
                            </a:rPr>
                            <m:t>𝑥</m:t>
                          </m:r>
                        </m:e>
                        <m:sup>
                          <m:r>
                            <a:rPr lang="en-US" i="1">
                              <a:latin typeface="Cambria Math"/>
                            </a:rPr>
                            <m:t>8</m:t>
                          </m:r>
                        </m:sup>
                      </m:sSup>
                      <m:r>
                        <a:rPr lang="en-US" i="1">
                          <a:latin typeface="Cambria Math"/>
                        </a:rPr>
                        <m:t>+1=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/>
                            </a:rPr>
                            <m:t>𝑥</m:t>
                          </m:r>
                        </m:e>
                        <m:sup>
                          <m:r>
                            <a:rPr lang="en-US" i="1">
                              <a:latin typeface="Cambria Math"/>
                            </a:rPr>
                            <m:t>8</m:t>
                          </m:r>
                        </m:sup>
                      </m:sSup>
                      <m:r>
                        <a:rPr lang="en-US" i="1">
                          <a:latin typeface="Cambria Math"/>
                        </a:rPr>
                        <m:t>−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/>
                            </a:rPr>
                            <m:t>𝜁</m:t>
                          </m:r>
                        </m:e>
                        <m:sup>
                          <m:r>
                            <a:rPr lang="en-US" i="1">
                              <a:latin typeface="Cambria Math"/>
                            </a:rPr>
                            <m:t>8</m:t>
                          </m:r>
                        </m:sup>
                      </m:sSup>
                      <m:r>
                        <a:rPr lang="en-US" i="1">
                          <a:latin typeface="Cambria Math"/>
                        </a:rPr>
                        <m:t>=(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/>
                            </a:rPr>
                            <m:t>𝑥</m:t>
                          </m:r>
                        </m:e>
                        <m:sup>
                          <m:r>
                            <a:rPr lang="en-US" i="1">
                              <a:latin typeface="Cambria Math"/>
                            </a:rPr>
                            <m:t>4</m:t>
                          </m:r>
                        </m:sup>
                      </m:sSup>
                      <m:r>
                        <a:rPr lang="en-US" i="1">
                          <a:latin typeface="Cambria Math"/>
                        </a:rPr>
                        <m:t>−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/>
                            </a:rPr>
                            <m:t>𝜁</m:t>
                          </m:r>
                        </m:e>
                        <m:sup>
                          <m:r>
                            <a:rPr lang="en-US" i="1">
                              <a:latin typeface="Cambria Math"/>
                            </a:rPr>
                            <m:t>4</m:t>
                          </m:r>
                        </m:sup>
                      </m:sSup>
                      <m:r>
                        <a:rPr lang="en-US" i="1">
                          <a:latin typeface="Cambria Math"/>
                        </a:rPr>
                        <m:t>)(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/>
                            </a:rPr>
                            <m:t>𝑥</m:t>
                          </m:r>
                        </m:e>
                        <m:sup>
                          <m:r>
                            <a:rPr lang="en-US" i="1">
                              <a:latin typeface="Cambria Math"/>
                            </a:rPr>
                            <m:t>4</m:t>
                          </m:r>
                        </m:sup>
                      </m:sSup>
                      <m:r>
                        <a:rPr lang="en-US" i="1">
                          <a:latin typeface="Cambria Math"/>
                        </a:rPr>
                        <m:t>+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/>
                            </a:rPr>
                            <m:t>𝜁</m:t>
                          </m:r>
                        </m:e>
                        <m:sup>
                          <m:r>
                            <a:rPr lang="en-US" i="1">
                              <a:latin typeface="Cambria Math"/>
                            </a:rPr>
                            <m:t>4</m:t>
                          </m:r>
                        </m:sup>
                      </m:sSup>
                      <m:r>
                        <a:rPr lang="en-US" i="1">
                          <a:latin typeface="Cambria Math"/>
                        </a:rPr>
                        <m:t>)</m:t>
                      </m:r>
                    </m:oMath>
                  </m:oMathPara>
                </a14:m>
                <a:endParaRPr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latin typeface="Cambria Math"/>
                        </a:rPr>
                        <m:t>=(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/>
                            </a:rPr>
                            <m:t>𝑥</m:t>
                          </m:r>
                        </m:e>
                        <m:sup>
                          <m:r>
                            <a:rPr lang="en-US" i="1">
                              <a:latin typeface="Cambria Math"/>
                            </a:rPr>
                            <m:t>2</m:t>
                          </m:r>
                        </m:sup>
                      </m:sSup>
                      <m:r>
                        <a:rPr lang="en-US" i="1">
                          <a:latin typeface="Cambria Math"/>
                        </a:rPr>
                        <m:t>−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/>
                            </a:rPr>
                            <m:t>𝜁</m:t>
                          </m:r>
                        </m:e>
                        <m:sup>
                          <m:r>
                            <a:rPr lang="en-US" i="1">
                              <a:latin typeface="Cambria Math"/>
                            </a:rPr>
                            <m:t>2</m:t>
                          </m:r>
                        </m:sup>
                      </m:sSup>
                      <m:r>
                        <a:rPr lang="en-US" i="1">
                          <a:latin typeface="Cambria Math"/>
                        </a:rPr>
                        <m:t>)(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/>
                            </a:rPr>
                            <m:t>𝑥</m:t>
                          </m:r>
                        </m:e>
                        <m:sup>
                          <m:r>
                            <a:rPr lang="en-US" i="1">
                              <a:latin typeface="Cambria Math"/>
                            </a:rPr>
                            <m:t>2</m:t>
                          </m:r>
                        </m:sup>
                      </m:sSup>
                      <m:r>
                        <a:rPr lang="en-US" i="1">
                          <a:latin typeface="Cambria Math"/>
                        </a:rPr>
                        <m:t>+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/>
                            </a:rPr>
                            <m:t>𝜁</m:t>
                          </m:r>
                        </m:e>
                        <m:sup>
                          <m:r>
                            <a:rPr lang="en-US" i="1">
                              <a:latin typeface="Cambria Math"/>
                            </a:rPr>
                            <m:t>2</m:t>
                          </m:r>
                        </m:sup>
                      </m:sSup>
                      <m:r>
                        <a:rPr lang="en-US" i="1">
                          <a:latin typeface="Cambria Math"/>
                        </a:rPr>
                        <m:t>)(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/>
                            </a:rPr>
                            <m:t>𝑥</m:t>
                          </m:r>
                        </m:e>
                        <m:sup>
                          <m:r>
                            <a:rPr lang="en-US" i="1">
                              <a:latin typeface="Cambria Math"/>
                            </a:rPr>
                            <m:t>2</m:t>
                          </m:r>
                        </m:sup>
                      </m:sSup>
                      <m:r>
                        <a:rPr lang="en-US" i="1">
                          <a:latin typeface="Cambria Math"/>
                        </a:rPr>
                        <m:t>−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/>
                            </a:rPr>
                            <m:t>𝜁</m:t>
                          </m:r>
                        </m:e>
                        <m:sup>
                          <m:r>
                            <a:rPr lang="en-US" i="1">
                              <a:latin typeface="Cambria Math"/>
                            </a:rPr>
                            <m:t>6</m:t>
                          </m:r>
                        </m:sup>
                      </m:sSup>
                      <m:r>
                        <a:rPr lang="en-US" i="1">
                          <a:latin typeface="Cambria Math"/>
                        </a:rPr>
                        <m:t>)(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/>
                            </a:rPr>
                            <m:t>𝑥</m:t>
                          </m:r>
                        </m:e>
                        <m:sup>
                          <m:r>
                            <a:rPr lang="en-US" i="1">
                              <a:latin typeface="Cambria Math"/>
                            </a:rPr>
                            <m:t>2</m:t>
                          </m:r>
                        </m:sup>
                      </m:sSup>
                      <m:r>
                        <a:rPr lang="en-US" i="1">
                          <a:latin typeface="Cambria Math"/>
                        </a:rPr>
                        <m:t>+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/>
                            </a:rPr>
                            <m:t>𝜁</m:t>
                          </m:r>
                        </m:e>
                        <m:sup>
                          <m:r>
                            <a:rPr lang="en-US" i="1">
                              <a:latin typeface="Cambria Math"/>
                            </a:rPr>
                            <m:t>6</m:t>
                          </m:r>
                        </m:sup>
                      </m:sSup>
                      <m:r>
                        <a:rPr lang="en-US" i="1">
                          <a:latin typeface="Cambria Math"/>
                        </a:rPr>
                        <m:t>)</m:t>
                      </m:r>
                    </m:oMath>
                  </m:oMathPara>
                </a14:m>
                <a:endParaRPr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latin typeface="Cambria Math"/>
                        </a:rPr>
                        <m:t>=(</m:t>
                      </m:r>
                      <m:r>
                        <a:rPr lang="en-US" i="1">
                          <a:latin typeface="Cambria Math"/>
                        </a:rPr>
                        <m:t>𝑥</m:t>
                      </m:r>
                      <m:r>
                        <a:rPr lang="en-US" i="1">
                          <a:latin typeface="Cambria Math"/>
                        </a:rPr>
                        <m:t>−</m:t>
                      </m:r>
                      <m:r>
                        <a:rPr lang="en-US" i="1">
                          <a:latin typeface="Cambria Math"/>
                        </a:rPr>
                        <m:t>𝜁</m:t>
                      </m:r>
                      <m:r>
                        <a:rPr lang="en-US" i="1">
                          <a:latin typeface="Cambria Math"/>
                        </a:rPr>
                        <m:t>)(</m:t>
                      </m:r>
                      <m:r>
                        <a:rPr lang="en-US" i="1">
                          <a:latin typeface="Cambria Math"/>
                        </a:rPr>
                        <m:t>𝑥</m:t>
                      </m:r>
                      <m:r>
                        <a:rPr lang="en-US" i="1">
                          <a:latin typeface="Cambria Math"/>
                        </a:rPr>
                        <m:t>+</m:t>
                      </m:r>
                      <m:r>
                        <a:rPr lang="en-US" i="1">
                          <a:latin typeface="Cambria Math"/>
                        </a:rPr>
                        <m:t>𝜁</m:t>
                      </m:r>
                      <m:r>
                        <a:rPr lang="en-US" i="1">
                          <a:latin typeface="Cambria Math"/>
                        </a:rPr>
                        <m:t>)(</m:t>
                      </m:r>
                      <m:r>
                        <a:rPr lang="en-US" i="1">
                          <a:latin typeface="Cambria Math"/>
                        </a:rPr>
                        <m:t>𝑥</m:t>
                      </m:r>
                      <m:r>
                        <a:rPr lang="en-US" i="1">
                          <a:latin typeface="Cambria Math"/>
                        </a:rPr>
                        <m:t>−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/>
                            </a:rPr>
                            <m:t>𝜁</m:t>
                          </m:r>
                        </m:e>
                        <m:sup>
                          <m:r>
                            <a:rPr lang="en-US" i="1">
                              <a:latin typeface="Cambria Math"/>
                            </a:rPr>
                            <m:t>5</m:t>
                          </m:r>
                        </m:sup>
                      </m:sSup>
                      <m:r>
                        <a:rPr lang="en-US" i="1">
                          <a:latin typeface="Cambria Math"/>
                        </a:rPr>
                        <m:t>)(</m:t>
                      </m:r>
                      <m:r>
                        <a:rPr lang="en-US" i="1">
                          <a:latin typeface="Cambria Math"/>
                        </a:rPr>
                        <m:t>𝑥</m:t>
                      </m:r>
                      <m:r>
                        <a:rPr lang="en-US" i="1">
                          <a:latin typeface="Cambria Math"/>
                        </a:rPr>
                        <m:t>+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/>
                            </a:rPr>
                            <m:t>𝜁</m:t>
                          </m:r>
                        </m:e>
                        <m:sup>
                          <m:r>
                            <a:rPr lang="en-US" i="1">
                              <a:latin typeface="Cambria Math"/>
                            </a:rPr>
                            <m:t>5</m:t>
                          </m:r>
                        </m:sup>
                      </m:sSup>
                      <m:r>
                        <a:rPr lang="en-US" i="1">
                          <a:latin typeface="Cambria Math"/>
                        </a:rPr>
                        <m:t>)(</m:t>
                      </m:r>
                      <m:r>
                        <a:rPr lang="en-US" i="1">
                          <a:latin typeface="Cambria Math"/>
                        </a:rPr>
                        <m:t>𝑥</m:t>
                      </m:r>
                      <m:r>
                        <a:rPr lang="en-US" i="1">
                          <a:latin typeface="Cambria Math"/>
                        </a:rPr>
                        <m:t>−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/>
                            </a:rPr>
                            <m:t>𝜁</m:t>
                          </m:r>
                        </m:e>
                        <m:sup>
                          <m:r>
                            <a:rPr lang="en-US" i="1">
                              <a:latin typeface="Cambria Math"/>
                            </a:rPr>
                            <m:t>3</m:t>
                          </m:r>
                        </m:sup>
                      </m:sSup>
                      <m:r>
                        <a:rPr lang="en-US" i="1">
                          <a:latin typeface="Cambria Math"/>
                        </a:rPr>
                        <m:t>)(</m:t>
                      </m:r>
                      <m:r>
                        <a:rPr lang="en-US" i="1">
                          <a:latin typeface="Cambria Math"/>
                        </a:rPr>
                        <m:t>𝑥</m:t>
                      </m:r>
                      <m:r>
                        <a:rPr lang="en-US" i="1">
                          <a:latin typeface="Cambria Math"/>
                        </a:rPr>
                        <m:t>+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/>
                            </a:rPr>
                            <m:t>𝜁</m:t>
                          </m:r>
                        </m:e>
                        <m:sup>
                          <m:r>
                            <a:rPr lang="en-US" i="1">
                              <a:latin typeface="Cambria Math"/>
                            </a:rPr>
                            <m:t>3</m:t>
                          </m:r>
                        </m:sup>
                      </m:sSup>
                      <m:r>
                        <a:rPr lang="en-US" i="1">
                          <a:latin typeface="Cambria Math"/>
                        </a:rPr>
                        <m:t>)(</m:t>
                      </m:r>
                      <m:r>
                        <a:rPr lang="en-US" i="1">
                          <a:latin typeface="Cambria Math"/>
                        </a:rPr>
                        <m:t>𝑥</m:t>
                      </m:r>
                      <m:r>
                        <a:rPr lang="en-US" i="1">
                          <a:latin typeface="Cambria Math"/>
                        </a:rPr>
                        <m:t>−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/>
                            </a:rPr>
                            <m:t>𝜁</m:t>
                          </m:r>
                        </m:e>
                        <m:sup>
                          <m:r>
                            <a:rPr lang="en-US" i="1">
                              <a:latin typeface="Cambria Math"/>
                            </a:rPr>
                            <m:t>7</m:t>
                          </m:r>
                        </m:sup>
                      </m:sSup>
                      <m:r>
                        <a:rPr lang="en-US" i="1">
                          <a:latin typeface="Cambria Math"/>
                        </a:rPr>
                        <m:t>)(</m:t>
                      </m:r>
                      <m:r>
                        <a:rPr lang="en-US" i="1">
                          <a:latin typeface="Cambria Math"/>
                        </a:rPr>
                        <m:t>𝑥</m:t>
                      </m:r>
                      <m:r>
                        <a:rPr lang="en-US" i="1">
                          <a:latin typeface="Cambria Math"/>
                        </a:rPr>
                        <m:t>+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/>
                            </a:rPr>
                            <m:t>𝜁</m:t>
                          </m:r>
                        </m:e>
                        <m:sup>
                          <m:r>
                            <a:rPr lang="en-US" i="1">
                              <a:latin typeface="Cambria Math"/>
                            </a:rPr>
                            <m:t>7</m:t>
                          </m:r>
                        </m:sup>
                      </m:sSup>
                      <m:r>
                        <a:rPr lang="en-US" i="1">
                          <a:latin typeface="Cambria Math"/>
                        </a:rPr>
                        <m:t>)</m:t>
                      </m:r>
                    </m:oMath>
                  </m:oMathPara>
                </a14:m>
                <a:endParaRPr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295322"/>
                <a:ext cx="10515600" cy="4701089"/>
              </a:xfrm>
              <a:blipFill>
                <a:blip r:embed="rId2"/>
                <a:stretch>
                  <a:fillRect l="-406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0CCEF06-AF2C-16E5-D994-94762FCED6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9</a:t>
            </a:fld>
            <a:endParaRPr lang="ko-KR" altLang="en-US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136525"/>
            <a:ext cx="10515600" cy="753141"/>
          </a:xfrm>
        </p:spPr>
        <p:txBody>
          <a:bodyPr/>
          <a:lstStyle/>
          <a:p>
            <a:r>
              <a:rPr dirty="0"/>
              <a:t>NTT 트리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3790872"/>
            <a:ext cx="10515600" cy="2205539"/>
          </a:xfrm>
        </p:spPr>
        <p:txBody>
          <a:bodyPr wrap="square"/>
          <a:lstStyle/>
          <a:p>
            <a:r>
              <a:rPr dirty="0"/>
              <a:t>트리의 루트는 x</a:t>
            </a:r>
            <a:r>
              <a:rPr baseline="30000" dirty="0"/>
              <a:t>8</a:t>
            </a:r>
            <a:r>
              <a:rPr dirty="0"/>
              <a:t>+1, 각 리프는 선형 인수 (x−ζⁱ)</a:t>
            </a:r>
          </a:p>
          <a:p>
            <a:r>
              <a:rPr dirty="0"/>
              <a:t>리프에는 이진수 레이블 000~111이 붙고, 각 경로가 하나의 홀수 거듭제곱 ζⁱ에 대응한다</a:t>
            </a:r>
          </a:p>
          <a:p>
            <a:r>
              <a:rPr dirty="0"/>
              <a:t>NTT(a)의 계산은 이 트리를 따라 나머지를 반씩 좁혀가는 것과 같다</a:t>
            </a:r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0CCEF06-AF2C-16E5-D994-94762FCED6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10</a:t>
            </a:fld>
            <a:endParaRPr lang="ko-KR" altLang="en-US" dirty="0"/>
          </a:p>
        </p:txBody>
      </p:sp>
      <p:pic>
        <p:nvPicPr>
          <p:cNvPr id="2052" name="Picture 4">
            <a:extLst>
              <a:ext uri="{FF2B5EF4-FFF2-40B4-BE49-F238E27FC236}">
                <a16:creationId xmlns:a16="http://schemas.microsoft.com/office/drawing/2014/main" id="{F35BCF43-0219-B140-3E8D-15B715C42AD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94924" y="1295322"/>
            <a:ext cx="5191125" cy="24955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136525"/>
            <a:ext cx="10515600" cy="753141"/>
          </a:xfrm>
        </p:spPr>
        <p:txBody>
          <a:bodyPr/>
          <a:lstStyle/>
          <a:p>
            <a:r>
              <a:rPr dirty="0"/>
              <a:t>a₀(x), a₁(x)를 재귀적으로 계산하는 법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838200" y="1295322"/>
                <a:ext cx="10515600" cy="4701089"/>
              </a:xfrm>
            </p:spPr>
            <p:txBody>
              <a:bodyPr wrap="square"/>
              <a:lstStyle/>
              <a:p>
                <a:r>
                  <a:rPr dirty="0"/>
                  <a:t>a(x)=a</a:t>
                </a:r>
                <a:r>
                  <a:rPr baseline="-25000" dirty="0"/>
                  <a:t>L</a:t>
                </a:r>
                <a:r>
                  <a:rPr dirty="0"/>
                  <a:t>(x)+a</a:t>
                </a:r>
                <a:r>
                  <a:rPr baseline="-25000" dirty="0"/>
                  <a:t>R</a:t>
                </a:r>
                <a:r>
                  <a:rPr dirty="0"/>
                  <a:t>(x)x⁴로 쓰면 (a</a:t>
                </a:r>
                <a:r>
                  <a:rPr baseline="-25000" dirty="0"/>
                  <a:t>L</a:t>
                </a:r>
                <a:r>
                  <a:rPr dirty="0"/>
                  <a:t>, a</a:t>
                </a:r>
                <a:r>
                  <a:rPr baseline="-25000" dirty="0"/>
                  <a:t>R</a:t>
                </a:r>
                <a:r>
                  <a:rPr dirty="0"/>
                  <a:t>의 차수 ≤ 3),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/>
                            </a:rPr>
                            <m:t>𝑎</m:t>
                          </m:r>
                        </m:e>
                        <m:sub>
                          <m:r>
                            <a:rPr lang="en-US" i="1">
                              <a:latin typeface="Cambria Math"/>
                            </a:rPr>
                            <m:t>0</m:t>
                          </m:r>
                        </m:sub>
                      </m:sSub>
                      <m:r>
                        <a:rPr lang="en-US" i="1">
                          <a:latin typeface="Cambria Math"/>
                        </a:rPr>
                        <m:t>(</m:t>
                      </m:r>
                      <m:r>
                        <a:rPr lang="en-US" i="1">
                          <a:latin typeface="Cambria Math"/>
                        </a:rPr>
                        <m:t>𝑥</m:t>
                      </m:r>
                      <m:r>
                        <a:rPr lang="en-US" i="1">
                          <a:latin typeface="Cambria Math"/>
                        </a:rPr>
                        <m:t>)=</m:t>
                      </m:r>
                      <m:r>
                        <a:rPr lang="en-US" i="1">
                          <a:latin typeface="Cambria Math"/>
                        </a:rPr>
                        <m:t>𝑎</m:t>
                      </m:r>
                      <m:r>
                        <a:rPr lang="en-US" i="1">
                          <a:latin typeface="Cambria Math"/>
                        </a:rPr>
                        <m:t>(</m:t>
                      </m:r>
                      <m:r>
                        <a:rPr lang="en-US" i="1">
                          <a:latin typeface="Cambria Math"/>
                        </a:rPr>
                        <m:t>𝑥</m:t>
                      </m:r>
                      <m:r>
                        <a:rPr lang="en-US" i="1">
                          <a:latin typeface="Cambria Math"/>
                        </a:rPr>
                        <m:t>)</m:t>
                      </m:r>
                      <m:r>
                        <m:rPr>
                          <m:nor/>
                        </m:rPr>
                        <a:rPr lang="en-US" i="1">
                          <a:latin typeface="Cambria Math"/>
                        </a:rPr>
                        <m:t> </m:t>
                      </m:r>
                      <m:r>
                        <m:rPr>
                          <m:sty m:val="p"/>
                        </m:rPr>
                        <a:rPr lang="en-US" i="1">
                          <a:latin typeface="Cambria Math"/>
                        </a:rPr>
                        <m:t>mod</m:t>
                      </m:r>
                      <m:r>
                        <m:rPr>
                          <m:nor/>
                        </m:rPr>
                        <a:rPr lang="en-US" i="1">
                          <a:latin typeface="Cambria Math"/>
                        </a:rPr>
                        <m:t> </m:t>
                      </m:r>
                      <m:r>
                        <a:rPr lang="en-US" i="1">
                          <a:latin typeface="Cambria Math"/>
                        </a:rPr>
                        <m:t>(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/>
                            </a:rPr>
                            <m:t>𝑥</m:t>
                          </m:r>
                        </m:e>
                        <m:sup>
                          <m:r>
                            <a:rPr lang="en-US" i="1">
                              <a:latin typeface="Cambria Math"/>
                            </a:rPr>
                            <m:t>4</m:t>
                          </m:r>
                        </m:sup>
                      </m:sSup>
                      <m:r>
                        <a:rPr lang="en-US" i="1">
                          <a:latin typeface="Cambria Math"/>
                        </a:rPr>
                        <m:t>−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/>
                            </a:rPr>
                            <m:t>𝜁</m:t>
                          </m:r>
                        </m:e>
                        <m:sup>
                          <m:r>
                            <a:rPr lang="en-US" i="1">
                              <a:latin typeface="Cambria Math"/>
                            </a:rPr>
                            <m:t>4</m:t>
                          </m:r>
                        </m:sup>
                      </m:sSup>
                      <m:r>
                        <a:rPr lang="en-US" i="1">
                          <a:latin typeface="Cambria Math"/>
                        </a:rPr>
                        <m:t>)=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/>
                            </a:rPr>
                            <m:t>𝑎</m:t>
                          </m:r>
                        </m:e>
                        <m:sub>
                          <m:r>
                            <a:rPr lang="en-US" i="1">
                              <a:latin typeface="Cambria Math"/>
                            </a:rPr>
                            <m:t>𝐿</m:t>
                          </m:r>
                        </m:sub>
                      </m:sSub>
                      <m:r>
                        <a:rPr lang="en-US" i="1">
                          <a:latin typeface="Cambria Math"/>
                        </a:rPr>
                        <m:t>(</m:t>
                      </m:r>
                      <m:r>
                        <a:rPr lang="en-US" i="1">
                          <a:latin typeface="Cambria Math"/>
                        </a:rPr>
                        <m:t>𝑥</m:t>
                      </m:r>
                      <m:r>
                        <a:rPr lang="en-US" i="1">
                          <a:latin typeface="Cambria Math"/>
                        </a:rPr>
                        <m:t>)+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/>
                            </a:rPr>
                            <m:t>𝜁</m:t>
                          </m:r>
                        </m:e>
                        <m:sup>
                          <m:r>
                            <a:rPr lang="en-US" i="1">
                              <a:latin typeface="Cambria Math"/>
                            </a:rPr>
                            <m:t>4</m:t>
                          </m:r>
                        </m:sup>
                      </m:sSup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/>
                            </a:rPr>
                            <m:t>𝑎</m:t>
                          </m:r>
                        </m:e>
                        <m:sub>
                          <m:r>
                            <a:rPr lang="en-US" i="1">
                              <a:latin typeface="Cambria Math"/>
                            </a:rPr>
                            <m:t>𝑅</m:t>
                          </m:r>
                        </m:sub>
                      </m:sSub>
                      <m:r>
                        <a:rPr lang="en-US" i="1">
                          <a:latin typeface="Cambria Math"/>
                        </a:rPr>
                        <m:t>(</m:t>
                      </m:r>
                      <m:r>
                        <a:rPr lang="en-US" i="1">
                          <a:latin typeface="Cambria Math"/>
                        </a:rPr>
                        <m:t>𝑥</m:t>
                      </m:r>
                      <m:r>
                        <a:rPr lang="en-US" i="1">
                          <a:latin typeface="Cambria Math"/>
                        </a:rPr>
                        <m:t>)</m:t>
                      </m:r>
                    </m:oMath>
                  </m:oMathPara>
                </a14:m>
                <a:endParaRPr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/>
                            </a:rPr>
                            <m:t>𝑎</m:t>
                          </m:r>
                        </m:e>
                        <m:sub>
                          <m:r>
                            <a:rPr lang="en-US" i="1">
                              <a:latin typeface="Cambria Math"/>
                            </a:rPr>
                            <m:t>1</m:t>
                          </m:r>
                        </m:sub>
                      </m:sSub>
                      <m:r>
                        <a:rPr lang="en-US" i="1">
                          <a:latin typeface="Cambria Math"/>
                        </a:rPr>
                        <m:t>(</m:t>
                      </m:r>
                      <m:r>
                        <a:rPr lang="en-US" i="1">
                          <a:latin typeface="Cambria Math"/>
                        </a:rPr>
                        <m:t>𝑥</m:t>
                      </m:r>
                      <m:r>
                        <a:rPr lang="en-US" i="1">
                          <a:latin typeface="Cambria Math"/>
                        </a:rPr>
                        <m:t>)=</m:t>
                      </m:r>
                      <m:r>
                        <a:rPr lang="en-US" i="1">
                          <a:latin typeface="Cambria Math"/>
                        </a:rPr>
                        <m:t>𝑎</m:t>
                      </m:r>
                      <m:r>
                        <a:rPr lang="en-US" i="1">
                          <a:latin typeface="Cambria Math"/>
                        </a:rPr>
                        <m:t>(</m:t>
                      </m:r>
                      <m:r>
                        <a:rPr lang="en-US" i="1">
                          <a:latin typeface="Cambria Math"/>
                        </a:rPr>
                        <m:t>𝑥</m:t>
                      </m:r>
                      <m:r>
                        <a:rPr lang="en-US" i="1">
                          <a:latin typeface="Cambria Math"/>
                        </a:rPr>
                        <m:t>)</m:t>
                      </m:r>
                      <m:r>
                        <m:rPr>
                          <m:nor/>
                        </m:rPr>
                        <a:rPr lang="en-US" i="1">
                          <a:latin typeface="Cambria Math"/>
                        </a:rPr>
                        <m:t> </m:t>
                      </m:r>
                      <m:r>
                        <m:rPr>
                          <m:sty m:val="p"/>
                        </m:rPr>
                        <a:rPr lang="en-US" i="1">
                          <a:latin typeface="Cambria Math"/>
                        </a:rPr>
                        <m:t>mod</m:t>
                      </m:r>
                      <m:r>
                        <m:rPr>
                          <m:nor/>
                        </m:rPr>
                        <a:rPr lang="en-US" i="1">
                          <a:latin typeface="Cambria Math"/>
                        </a:rPr>
                        <m:t> </m:t>
                      </m:r>
                      <m:r>
                        <a:rPr lang="en-US" i="1">
                          <a:latin typeface="Cambria Math"/>
                        </a:rPr>
                        <m:t>(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/>
                            </a:rPr>
                            <m:t>𝑥</m:t>
                          </m:r>
                        </m:e>
                        <m:sup>
                          <m:r>
                            <a:rPr lang="en-US" i="1">
                              <a:latin typeface="Cambria Math"/>
                            </a:rPr>
                            <m:t>4</m:t>
                          </m:r>
                        </m:sup>
                      </m:sSup>
                      <m:r>
                        <a:rPr lang="en-US" i="1">
                          <a:latin typeface="Cambria Math"/>
                        </a:rPr>
                        <m:t>+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/>
                            </a:rPr>
                            <m:t>𝜁</m:t>
                          </m:r>
                        </m:e>
                        <m:sup>
                          <m:r>
                            <a:rPr lang="en-US" i="1">
                              <a:latin typeface="Cambria Math"/>
                            </a:rPr>
                            <m:t>4</m:t>
                          </m:r>
                        </m:sup>
                      </m:sSup>
                      <m:r>
                        <a:rPr lang="en-US" i="1">
                          <a:latin typeface="Cambria Math"/>
                        </a:rPr>
                        <m:t>)=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/>
                            </a:rPr>
                            <m:t>𝑎</m:t>
                          </m:r>
                        </m:e>
                        <m:sub>
                          <m:r>
                            <a:rPr lang="en-US" i="1">
                              <a:latin typeface="Cambria Math"/>
                            </a:rPr>
                            <m:t>𝐿</m:t>
                          </m:r>
                        </m:sub>
                      </m:sSub>
                      <m:r>
                        <a:rPr lang="en-US" i="1">
                          <a:latin typeface="Cambria Math"/>
                        </a:rPr>
                        <m:t>(</m:t>
                      </m:r>
                      <m:r>
                        <a:rPr lang="en-US" i="1">
                          <a:latin typeface="Cambria Math"/>
                        </a:rPr>
                        <m:t>𝑥</m:t>
                      </m:r>
                      <m:r>
                        <a:rPr lang="en-US" i="1">
                          <a:latin typeface="Cambria Math"/>
                        </a:rPr>
                        <m:t>)−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/>
                            </a:rPr>
                            <m:t>𝜁</m:t>
                          </m:r>
                        </m:e>
                        <m:sup>
                          <m:r>
                            <a:rPr lang="en-US" i="1">
                              <a:latin typeface="Cambria Math"/>
                            </a:rPr>
                            <m:t>4</m:t>
                          </m:r>
                        </m:sup>
                      </m:sSup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/>
                            </a:rPr>
                            <m:t>𝑎</m:t>
                          </m:r>
                        </m:e>
                        <m:sub>
                          <m:r>
                            <a:rPr lang="en-US" i="1">
                              <a:latin typeface="Cambria Math"/>
                            </a:rPr>
                            <m:t>𝑅</m:t>
                          </m:r>
                        </m:sub>
                      </m:sSub>
                      <m:r>
                        <a:rPr lang="en-US" i="1">
                          <a:latin typeface="Cambria Math"/>
                        </a:rPr>
                        <m:t>(</m:t>
                      </m:r>
                      <m:r>
                        <a:rPr lang="en-US" i="1">
                          <a:latin typeface="Cambria Math"/>
                        </a:rPr>
                        <m:t>𝑥</m:t>
                      </m:r>
                      <m:r>
                        <a:rPr lang="en-US" i="1">
                          <a:latin typeface="Cambria Math"/>
                        </a:rPr>
                        <m:t>)</m:t>
                      </m:r>
                    </m:oMath>
                  </m:oMathPara>
                </a14:m>
                <a:endParaRPr dirty="0"/>
              </a:p>
              <a:p>
                <a:r>
                  <a:rPr dirty="0"/>
                  <a:t>a</a:t>
                </a:r>
                <a:r>
                  <a:rPr baseline="-25000" dirty="0"/>
                  <a:t>00</a:t>
                </a:r>
                <a:r>
                  <a:rPr dirty="0"/>
                  <a:t>, a</a:t>
                </a:r>
                <a:r>
                  <a:rPr baseline="-25000" dirty="0"/>
                  <a:t>01</a:t>
                </a:r>
                <a:r>
                  <a:rPr dirty="0"/>
                  <a:t>은 a</a:t>
                </a:r>
                <a:r>
                  <a:rPr baseline="-25000" dirty="0"/>
                  <a:t>0</a:t>
                </a:r>
                <a:r>
                  <a:rPr dirty="0"/>
                  <a:t>에서, a</a:t>
                </a:r>
                <a:r>
                  <a:rPr baseline="-25000" dirty="0"/>
                  <a:t>10</a:t>
                </a:r>
                <a:r>
                  <a:rPr dirty="0"/>
                  <a:t>, a</a:t>
                </a:r>
                <a:r>
                  <a:rPr baseline="-25000" dirty="0"/>
                  <a:t>11</a:t>
                </a:r>
                <a:r>
                  <a:rPr dirty="0"/>
                  <a:t>은 a</a:t>
                </a:r>
                <a:r>
                  <a:rPr baseline="-25000" dirty="0"/>
                  <a:t>1</a:t>
                </a:r>
                <a:r>
                  <a:rPr dirty="0"/>
                  <a:t>에서 같은 방식으로 재귀 계산된다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295322"/>
                <a:ext cx="10515600" cy="4701089"/>
              </a:xfrm>
              <a:blipFill>
                <a:blip r:embed="rId2"/>
                <a:stretch>
                  <a:fillRect l="-406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0CCEF06-AF2C-16E5-D994-94762FCED6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11</a:t>
            </a:fld>
            <a:endParaRPr lang="ko-KR" altLang="en-US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136525"/>
            <a:ext cx="10515600" cy="753141"/>
          </a:xfrm>
        </p:spPr>
        <p:txBody>
          <a:bodyPr/>
          <a:lstStyle/>
          <a:p>
            <a:r>
              <a:rPr dirty="0"/>
              <a:t>NTT 실행시간 분석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838200" y="1295322"/>
                <a:ext cx="10515600" cy="4701089"/>
              </a:xfrm>
            </p:spPr>
            <p:txBody>
              <a:bodyPr wrap="square"/>
              <a:lstStyle/>
              <a:p>
                <a:r>
                  <a:rPr dirty="0"/>
                  <a:t>n=2</a:t>
                </a:r>
                <a:r>
                  <a:rPr baseline="30000" dirty="0"/>
                  <a:t>k</a:t>
                </a:r>
                <a:r>
                  <a:rPr dirty="0"/>
                  <a:t>라 하고 T(n)을 NTT(a) 계산 시간이라 하면,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latin typeface="Cambria Math"/>
                        </a:rPr>
                        <m:t>𝑇</m:t>
                      </m:r>
                      <m:r>
                        <a:rPr lang="en-US" i="1">
                          <a:latin typeface="Cambria Math"/>
                        </a:rPr>
                        <m:t>(</m:t>
                      </m:r>
                      <m:r>
                        <a:rPr lang="en-US" i="1">
                          <a:latin typeface="Cambria Math"/>
                        </a:rPr>
                        <m:t>𝑛</m:t>
                      </m:r>
                      <m:r>
                        <a:rPr lang="en-US" i="1">
                          <a:latin typeface="Cambria Math"/>
                        </a:rPr>
                        <m:t>)=2</m:t>
                      </m:r>
                      <m:r>
                        <a:rPr lang="en-US" i="1">
                          <a:latin typeface="Cambria Math"/>
                        </a:rPr>
                        <m:t>𝑇</m:t>
                      </m:r>
                      <m:r>
                        <a:rPr lang="en-US" i="1">
                          <a:latin typeface="Cambria Math"/>
                        </a:rPr>
                        <m:t>(</m:t>
                      </m:r>
                      <m:r>
                        <a:rPr lang="en-US" i="1">
                          <a:latin typeface="Cambria Math"/>
                        </a:rPr>
                        <m:t>𝑛</m:t>
                      </m:r>
                      <m:r>
                        <a:rPr lang="en-US" i="1">
                          <a:latin typeface="Cambria Math"/>
                        </a:rPr>
                        <m:t>/2)+</m:t>
                      </m:r>
                      <m:r>
                        <a:rPr lang="en-US" i="1">
                          <a:latin typeface="Cambria Math"/>
                        </a:rPr>
                        <m:t>𝑛</m:t>
                      </m:r>
                    </m:oMath>
                  </m:oMathPara>
                </a14:m>
                <a:endParaRPr dirty="0"/>
              </a:p>
              <a:p>
                <a:r>
                  <a:rPr dirty="0"/>
                  <a:t>각 레벨에서 반씩 나누고 O(n) 시간의 리덕션을 수행하기 때문 — 해는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latin typeface="Cambria Math"/>
                        </a:rPr>
                        <m:t>𝑇</m:t>
                      </m:r>
                      <m:r>
                        <a:rPr lang="en-US" i="1">
                          <a:latin typeface="Cambria Math"/>
                        </a:rPr>
                        <m:t>(</m:t>
                      </m:r>
                      <m:r>
                        <a:rPr lang="en-US" i="1">
                          <a:latin typeface="Cambria Math"/>
                        </a:rPr>
                        <m:t>𝑛</m:t>
                      </m:r>
                      <m:r>
                        <a:rPr lang="en-US" i="1">
                          <a:latin typeface="Cambria Math"/>
                        </a:rPr>
                        <m:t>)=</m:t>
                      </m:r>
                      <m:r>
                        <a:rPr lang="en-US" i="1">
                          <a:latin typeface="Cambria Math"/>
                        </a:rPr>
                        <m:t>𝑂</m:t>
                      </m:r>
                      <m:r>
                        <a:rPr lang="en-US" i="1">
                          <a:latin typeface="Cambria Math"/>
                        </a:rPr>
                        <m:t>(</m:t>
                      </m:r>
                      <m:r>
                        <a:rPr lang="en-US" i="1">
                          <a:latin typeface="Cambria Math"/>
                        </a:rPr>
                        <m:t>𝑛</m:t>
                      </m:r>
                      <m:r>
                        <m:rPr>
                          <m:nor/>
                        </m:rPr>
                        <a:rPr lang="en-US" i="1">
                          <a:latin typeface="Cambria Math"/>
                        </a:rPr>
                        <m:t> </m:t>
                      </m:r>
                      <m:r>
                        <m:rPr>
                          <m:sty m:val="p"/>
                        </m:rPr>
                        <a:rPr lang="en-US" i="1">
                          <a:latin typeface="Cambria Math"/>
                        </a:rPr>
                        <m:t>log</m:t>
                      </m:r>
                      <m:r>
                        <m:rPr>
                          <m:nor/>
                        </m:rPr>
                        <a:rPr lang="en-US" i="1">
                          <a:latin typeface="Cambria Math"/>
                        </a:rPr>
                        <m:t> </m:t>
                      </m:r>
                      <m:r>
                        <a:rPr lang="en-US" i="1">
                          <a:latin typeface="Cambria Math"/>
                        </a:rPr>
                        <m:t>𝑛</m:t>
                      </m:r>
                      <m:r>
                        <a:rPr lang="en-US" i="1">
                          <a:latin typeface="Cambria Math"/>
                        </a:rPr>
                        <m:t>)</m:t>
                      </m:r>
                    </m:oMath>
                  </m:oMathPara>
                </a14:m>
                <a:endParaRPr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295322"/>
                <a:ext cx="10515600" cy="4701089"/>
              </a:xfrm>
              <a:blipFill>
                <a:blip r:embed="rId2"/>
                <a:stretch>
                  <a:fillRect l="-406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0CCEF06-AF2C-16E5-D994-94762FCED6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12</a:t>
            </a:fld>
            <a:endParaRPr lang="ko-KR" altLang="en-US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136525"/>
            <a:ext cx="10515600" cy="753141"/>
          </a:xfrm>
        </p:spPr>
        <p:txBody>
          <a:bodyPr/>
          <a:lstStyle/>
          <a:p>
            <a:r>
              <a:rPr dirty="0"/>
              <a:t>NTT⁻¹의 계산과 가역성 증명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838200" y="1295322"/>
                <a:ext cx="10515600" cy="4701089"/>
              </a:xfrm>
            </p:spPr>
            <p:txBody>
              <a:bodyPr wrap="square"/>
              <a:lstStyle/>
              <a:p>
                <a:r>
                  <a:rPr dirty="0"/>
                  <a:t>NTT⁻¹는 트리를 리프에서 루트 방향으로 거슬러 올라가며 계산한다</a:t>
                </a:r>
              </a:p>
              <a:p>
                <a:r>
                  <a:rPr dirty="0"/>
                  <a:t>a</a:t>
                </a:r>
                <a:r>
                  <a:rPr baseline="-25000" dirty="0"/>
                  <a:t>0</a:t>
                </a:r>
                <a:r>
                  <a:rPr dirty="0"/>
                  <a:t>=a</a:t>
                </a:r>
                <a:r>
                  <a:rPr baseline="-25000" dirty="0"/>
                  <a:t>L</a:t>
                </a:r>
                <a:r>
                  <a:rPr dirty="0"/>
                  <a:t>+ζ⁴a</a:t>
                </a:r>
                <a:r>
                  <a:rPr baseline="-25000" dirty="0"/>
                  <a:t>R</a:t>
                </a:r>
                <a:r>
                  <a:rPr dirty="0"/>
                  <a:t>, a</a:t>
                </a:r>
                <a:r>
                  <a:rPr baseline="-25000" dirty="0"/>
                  <a:t>1</a:t>
                </a:r>
                <a:r>
                  <a:rPr dirty="0"/>
                  <a:t>=a</a:t>
                </a:r>
                <a:r>
                  <a:rPr baseline="-25000" dirty="0"/>
                  <a:t>L</a:t>
                </a:r>
                <a:r>
                  <a:rPr dirty="0"/>
                  <a:t>−ζ⁴a</a:t>
                </a:r>
                <a:r>
                  <a:rPr baseline="-25000" dirty="0"/>
                  <a:t>R</a:t>
                </a:r>
                <a:r>
                  <a:rPr dirty="0"/>
                  <a:t>이었으므로, 두 식을 더하고 빼면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/>
                            </a:rPr>
                            <m:t>𝑎</m:t>
                          </m:r>
                        </m:e>
                        <m:sub>
                          <m:r>
                            <a:rPr lang="en-US" i="1">
                              <a:latin typeface="Cambria Math"/>
                            </a:rPr>
                            <m:t>𝐿</m:t>
                          </m:r>
                        </m:sub>
                      </m:sSub>
                      <m:r>
                        <a:rPr lang="en-US" i="1">
                          <a:latin typeface="Cambria Math"/>
                        </a:rPr>
                        <m:t>(</m:t>
                      </m:r>
                      <m:r>
                        <a:rPr lang="en-US" i="1">
                          <a:latin typeface="Cambria Math"/>
                        </a:rPr>
                        <m:t>𝑥</m:t>
                      </m:r>
                      <m:r>
                        <a:rPr lang="en-US" i="1">
                          <a:latin typeface="Cambria Math"/>
                        </a:rPr>
                        <m:t>)=</m:t>
                      </m:r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/>
                                </a:rPr>
                                <m:t>𝑎</m:t>
                              </m:r>
                            </m:e>
                            <m:sub>
                              <m:r>
                                <a:rPr lang="en-US" i="1">
                                  <a:latin typeface="Cambria Math"/>
                                </a:rPr>
                                <m:t>0</m:t>
                              </m:r>
                            </m:sub>
                          </m:sSub>
                          <m:r>
                            <a:rPr lang="en-US" i="1">
                              <a:latin typeface="Cambria Math"/>
                            </a:rPr>
                            <m:t>(</m:t>
                          </m:r>
                          <m:r>
                            <a:rPr lang="en-US" i="1">
                              <a:latin typeface="Cambria Math"/>
                            </a:rPr>
                            <m:t>𝑥</m:t>
                          </m:r>
                          <m:r>
                            <a:rPr lang="en-US" i="1">
                              <a:latin typeface="Cambria Math"/>
                            </a:rPr>
                            <m:t>)+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/>
                                </a:rPr>
                                <m:t>𝑎</m:t>
                              </m:r>
                            </m:e>
                            <m:sub>
                              <m:r>
                                <a:rPr lang="en-US" i="1">
                                  <a:latin typeface="Cambria Math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i="1">
                              <a:latin typeface="Cambria Math"/>
                            </a:rPr>
                            <m:t>(</m:t>
                          </m:r>
                          <m:r>
                            <a:rPr lang="en-US" i="1">
                              <a:latin typeface="Cambria Math"/>
                            </a:rPr>
                            <m:t>𝑥</m:t>
                          </m:r>
                          <m:r>
                            <a:rPr lang="en-US" i="1">
                              <a:latin typeface="Cambria Math"/>
                            </a:rPr>
                            <m:t>)</m:t>
                          </m:r>
                        </m:num>
                        <m:den>
                          <m:r>
                            <a:rPr lang="en-US" i="1">
                              <a:latin typeface="Cambria Math"/>
                            </a:rPr>
                            <m:t>2</m:t>
                          </m:r>
                        </m:den>
                      </m:f>
                      <m:r>
                        <a:rPr lang="en-US" i="1">
                          <a:latin typeface="Cambria Math"/>
                        </a:rPr>
                        <m:t>,</m:t>
                      </m:r>
                      <m:r>
                        <m:rPr>
                          <m:nor/>
                        </m:rPr>
                        <a:rPr lang="en-US" i="1">
                          <a:latin typeface="Cambria Math"/>
                        </a:rPr>
                        <m:t> 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/>
                            </a:rPr>
                            <m:t>𝑎</m:t>
                          </m:r>
                        </m:e>
                        <m:sub>
                          <m:r>
                            <a:rPr lang="en-US" i="1">
                              <a:latin typeface="Cambria Math"/>
                            </a:rPr>
                            <m:t>𝑅</m:t>
                          </m:r>
                        </m:sub>
                      </m:sSub>
                      <m:r>
                        <a:rPr lang="en-US" i="1">
                          <a:latin typeface="Cambria Math"/>
                        </a:rPr>
                        <m:t>(</m:t>
                      </m:r>
                      <m:r>
                        <a:rPr lang="en-US" i="1">
                          <a:latin typeface="Cambria Math"/>
                        </a:rPr>
                        <m:t>𝑥</m:t>
                      </m:r>
                      <m:r>
                        <a:rPr lang="en-US" i="1">
                          <a:latin typeface="Cambria Math"/>
                        </a:rPr>
                        <m:t>)=</m:t>
                      </m:r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/>
                                </a:rPr>
                                <m:t>𝑎</m:t>
                              </m:r>
                            </m:e>
                            <m:sub>
                              <m:r>
                                <a:rPr lang="en-US" i="1">
                                  <a:latin typeface="Cambria Math"/>
                                </a:rPr>
                                <m:t>0</m:t>
                              </m:r>
                            </m:sub>
                          </m:sSub>
                          <m:r>
                            <a:rPr lang="en-US" i="1">
                              <a:latin typeface="Cambria Math"/>
                            </a:rPr>
                            <m:t>(</m:t>
                          </m:r>
                          <m:r>
                            <a:rPr lang="en-US" i="1">
                              <a:latin typeface="Cambria Math"/>
                            </a:rPr>
                            <m:t>𝑥</m:t>
                          </m:r>
                          <m:r>
                            <a:rPr lang="en-US" i="1">
                              <a:latin typeface="Cambria Math"/>
                            </a:rPr>
                            <m:t>)−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/>
                                </a:rPr>
                                <m:t>𝑎</m:t>
                              </m:r>
                            </m:e>
                            <m:sub>
                              <m:r>
                                <a:rPr lang="en-US" i="1">
                                  <a:latin typeface="Cambria Math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i="1">
                              <a:latin typeface="Cambria Math"/>
                            </a:rPr>
                            <m:t>(</m:t>
                          </m:r>
                          <m:r>
                            <a:rPr lang="en-US" i="1">
                              <a:latin typeface="Cambria Math"/>
                            </a:rPr>
                            <m:t>𝑥</m:t>
                          </m:r>
                          <m:r>
                            <a:rPr lang="en-US" i="1">
                              <a:latin typeface="Cambria Math"/>
                            </a:rPr>
                            <m:t>)</m:t>
                          </m:r>
                        </m:num>
                        <m:den>
                          <m:r>
                            <a:rPr lang="en-US" i="1">
                              <a:latin typeface="Cambria Math"/>
                            </a:rPr>
                            <m:t>2</m:t>
                          </m:r>
                          <m:sSup>
                            <m:sSup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i="1">
                                  <a:latin typeface="Cambria Math"/>
                                </a:rPr>
                                <m:t>𝜁</m:t>
                              </m:r>
                            </m:e>
                            <m:sup>
                              <m:r>
                                <a:rPr lang="en-US" i="1">
                                  <a:latin typeface="Cambria Math"/>
                                </a:rPr>
                                <m:t>4</m:t>
                              </m:r>
                            </m:sup>
                          </m:sSup>
                        </m:den>
                      </m:f>
                    </m:oMath>
                  </m:oMathPara>
                </a14:m>
                <a:endParaRPr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latin typeface="Cambria Math"/>
                        </a:rPr>
                        <m:t>𝑎</m:t>
                      </m:r>
                      <m:r>
                        <a:rPr lang="en-US" i="1">
                          <a:latin typeface="Cambria Math"/>
                        </a:rPr>
                        <m:t>(</m:t>
                      </m:r>
                      <m:r>
                        <a:rPr lang="en-US" i="1">
                          <a:latin typeface="Cambria Math"/>
                        </a:rPr>
                        <m:t>𝑥</m:t>
                      </m:r>
                      <m:r>
                        <a:rPr lang="en-US" i="1">
                          <a:latin typeface="Cambria Math"/>
                        </a:rPr>
                        <m:t>)=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/>
                            </a:rPr>
                            <m:t>𝑎</m:t>
                          </m:r>
                        </m:e>
                        <m:sub>
                          <m:r>
                            <a:rPr lang="en-US" i="1">
                              <a:latin typeface="Cambria Math"/>
                            </a:rPr>
                            <m:t>𝐿</m:t>
                          </m:r>
                        </m:sub>
                      </m:sSub>
                      <m:r>
                        <a:rPr lang="en-US" i="1">
                          <a:latin typeface="Cambria Math"/>
                        </a:rPr>
                        <m:t>(</m:t>
                      </m:r>
                      <m:r>
                        <a:rPr lang="en-US" i="1">
                          <a:latin typeface="Cambria Math"/>
                        </a:rPr>
                        <m:t>𝑥</m:t>
                      </m:r>
                      <m:r>
                        <a:rPr lang="en-US" i="1">
                          <a:latin typeface="Cambria Math"/>
                        </a:rPr>
                        <m:t>)+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/>
                            </a:rPr>
                            <m:t>𝑥</m:t>
                          </m:r>
                        </m:e>
                        <m:sup>
                          <m:r>
                            <a:rPr lang="en-US" i="1">
                              <a:latin typeface="Cambria Math"/>
                            </a:rPr>
                            <m:t>4</m:t>
                          </m:r>
                        </m:sup>
                      </m:sSup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/>
                            </a:rPr>
                            <m:t>𝑎</m:t>
                          </m:r>
                        </m:e>
                        <m:sub>
                          <m:r>
                            <a:rPr lang="en-US" i="1">
                              <a:latin typeface="Cambria Math"/>
                            </a:rPr>
                            <m:t>𝑅</m:t>
                          </m:r>
                        </m:sub>
                      </m:sSub>
                      <m:r>
                        <a:rPr lang="en-US" i="1">
                          <a:latin typeface="Cambria Math"/>
                        </a:rPr>
                        <m:t>(</m:t>
                      </m:r>
                      <m:r>
                        <a:rPr lang="en-US" i="1">
                          <a:latin typeface="Cambria Math"/>
                        </a:rPr>
                        <m:t>𝑥</m:t>
                      </m:r>
                      <m:r>
                        <a:rPr lang="en-US" i="1">
                          <a:latin typeface="Cambria Math"/>
                        </a:rPr>
                        <m:t>)</m:t>
                      </m:r>
                    </m:oMath>
                  </m:oMathPara>
                </a14:m>
                <a:endParaRPr dirty="0"/>
              </a:p>
              <a:p>
                <a:r>
                  <a:rPr dirty="0"/>
                  <a:t>이 과정이 NTT가 가역임을 보이며, NTT⁻¹도 O(n log n)에 계산된다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295322"/>
                <a:ext cx="10515600" cy="4701089"/>
              </a:xfrm>
              <a:blipFill>
                <a:blip r:embed="rId2"/>
                <a:stretch>
                  <a:fillRect l="-406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0CCEF06-AF2C-16E5-D994-94762FCED6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13</a:t>
            </a:fld>
            <a:endParaRPr lang="ko-KR" altLang="en-US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136525"/>
            <a:ext cx="10515600" cy="753141"/>
          </a:xfrm>
        </p:spPr>
        <p:txBody>
          <a:bodyPr/>
          <a:lstStyle/>
          <a:p>
            <a:r>
              <a:rPr dirty="0"/>
              <a:t>수치 예제: NTT로 곱셈하기 (q=113)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838200" y="1295322"/>
                <a:ext cx="10515600" cy="4701089"/>
              </a:xfrm>
            </p:spPr>
            <p:txBody>
              <a:bodyPr wrap="square"/>
              <a:lstStyle/>
              <a:p>
                <a:r>
                  <a:rPr dirty="0"/>
                  <a:t>앞서 쓴 파라미터 q=113, n=8, ζ=42(위수 16)로 실제 곱셈을 끝까지 해 본다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latin typeface="Cambria Math"/>
                        </a:rPr>
                        <m:t>𝑎</m:t>
                      </m:r>
                      <m:r>
                        <a:rPr lang="en-US" i="1">
                          <a:latin typeface="Cambria Math"/>
                        </a:rPr>
                        <m:t>(</m:t>
                      </m:r>
                      <m:r>
                        <a:rPr lang="en-US" i="1">
                          <a:latin typeface="Cambria Math"/>
                        </a:rPr>
                        <m:t>𝑥</m:t>
                      </m:r>
                      <m:r>
                        <a:rPr lang="en-US" i="1">
                          <a:latin typeface="Cambria Math"/>
                        </a:rPr>
                        <m:t>)=1+2</m:t>
                      </m:r>
                      <m:r>
                        <a:rPr lang="en-US" i="1">
                          <a:latin typeface="Cambria Math"/>
                        </a:rPr>
                        <m:t>𝑥</m:t>
                      </m:r>
                      <m:r>
                        <a:rPr lang="en-US" i="1">
                          <a:latin typeface="Cambria Math"/>
                        </a:rPr>
                        <m:t>+3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/>
                            </a:rPr>
                            <m:t>𝑥</m:t>
                          </m:r>
                        </m:e>
                        <m:sup>
                          <m:r>
                            <a:rPr lang="en-US" i="1">
                              <a:latin typeface="Cambria Math"/>
                            </a:rPr>
                            <m:t>4</m:t>
                          </m:r>
                        </m:sup>
                      </m:sSup>
                      <m:r>
                        <a:rPr lang="en-US" i="1">
                          <a:latin typeface="Cambria Math"/>
                        </a:rPr>
                        <m:t>+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/>
                            </a:rPr>
                            <m:t>𝑥</m:t>
                          </m:r>
                        </m:e>
                        <m:sup>
                          <m:r>
                            <a:rPr lang="en-US" i="1">
                              <a:latin typeface="Cambria Math"/>
                            </a:rPr>
                            <m:t>6</m:t>
                          </m:r>
                        </m:sup>
                      </m:sSup>
                      <m:r>
                        <a:rPr lang="en-US" i="1">
                          <a:latin typeface="Cambria Math"/>
                        </a:rPr>
                        <m:t>,</m:t>
                      </m:r>
                      <m:r>
                        <m:rPr>
                          <m:nor/>
                        </m:rPr>
                        <a:rPr lang="en-US" i="1">
                          <a:latin typeface="Cambria Math"/>
                        </a:rPr>
                        <m:t> </m:t>
                      </m:r>
                      <m:r>
                        <a:rPr lang="en-US" i="1">
                          <a:latin typeface="Cambria Math"/>
                        </a:rPr>
                        <m:t>𝑏</m:t>
                      </m:r>
                      <m:r>
                        <a:rPr lang="en-US" i="1">
                          <a:latin typeface="Cambria Math"/>
                        </a:rPr>
                        <m:t>(</m:t>
                      </m:r>
                      <m:r>
                        <a:rPr lang="en-US" i="1">
                          <a:latin typeface="Cambria Math"/>
                        </a:rPr>
                        <m:t>𝑥</m:t>
                      </m:r>
                      <m:r>
                        <a:rPr lang="en-US" i="1">
                          <a:latin typeface="Cambria Math"/>
                        </a:rPr>
                        <m:t>)=2+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/>
                            </a:rPr>
                            <m:t>𝑥</m:t>
                          </m:r>
                        </m:e>
                        <m:sup>
                          <m:r>
                            <a:rPr lang="en-US" i="1">
                              <a:latin typeface="Cambria Math"/>
                            </a:rPr>
                            <m:t>2</m:t>
                          </m:r>
                        </m:sup>
                      </m:sSup>
                      <m:r>
                        <a:rPr lang="en-US" i="1">
                          <a:latin typeface="Cambria Math"/>
                        </a:rPr>
                        <m:t>+4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/>
                            </a:rPr>
                            <m:t>𝑥</m:t>
                          </m:r>
                        </m:e>
                        <m:sup>
                          <m:r>
                            <a:rPr lang="en-US" i="1">
                              <a:latin typeface="Cambria Math"/>
                            </a:rPr>
                            <m:t>5</m:t>
                          </m:r>
                        </m:sup>
                      </m:sSup>
                    </m:oMath>
                  </m:oMathPara>
                </a14:m>
                <a:endParaRPr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295322"/>
                <a:ext cx="10515600" cy="4701089"/>
              </a:xfrm>
              <a:blipFill>
                <a:blip r:embed="rId2"/>
                <a:stretch>
                  <a:fillRect l="-406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0CCEF06-AF2C-16E5-D994-94762FCED6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14</a:t>
            </a:fld>
            <a:endParaRPr lang="ko-KR" altLang="en-US" dirty="0"/>
          </a:p>
        </p:txBody>
      </p:sp>
      <p:graphicFrame>
        <p:nvGraphicFramePr>
          <p:cNvPr id="7" name="Table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35313045"/>
              </p:ext>
            </p:extLst>
          </p:nvPr>
        </p:nvGraphicFramePr>
        <p:xfrm>
          <a:off x="838200" y="2600000"/>
          <a:ext cx="10515600" cy="3300000"/>
        </p:xfrm>
        <a:graphic>
          <a:graphicData uri="http://schemas.openxmlformats.org/drawingml/2006/table">
            <a:tbl>
              <a:tblPr firstRow="1" bandRow="1">
                <a:tableStyleId>{5A111915-BE36-4E01-A7E5-04B1672EAD32}</a:tableStyleId>
              </a:tblPr>
              <a:tblGrid>
                <a:gridCol w="320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315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71428">
                <a:tc>
                  <a:txBody>
                    <a:bodyPr/>
                    <a:lstStyle/>
                    <a:p>
                      <a:pPr algn="ctr"/>
                      <a:r>
                        <a:rPr sz="1800" b="1" dirty="0"/>
                        <a:t>단계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dirty="0"/>
                        <a:t>값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71428"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a₀, a₁ (첫 분기)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(46,2,15,0) / (69,2,98,0)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71428"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NTT(a)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(35,58,45,43,93,105,11,70)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71428"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NTT(b)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(105,47,104,50,37,106,101,31)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71428"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성분별 곱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(59,14,47,3,51,56,94,23)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71428"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NTT⁻¹로 복원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1+105x+x²+111x³+6x⁴+4x⁵+13x⁶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71432"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schoolbook 대조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같은 값 — 105=−8, 111=−2 는 x⁸→−1 접힘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136525"/>
            <a:ext cx="10515600" cy="753141"/>
          </a:xfrm>
        </p:spPr>
        <p:txBody>
          <a:bodyPr/>
          <a:lstStyle/>
          <a:p>
            <a:r>
              <a:rPr dirty="0"/>
              <a:t>Dilithium NTT 파라미터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838200" y="1295322"/>
                <a:ext cx="10515600" cy="4701089"/>
              </a:xfrm>
            </p:spPr>
            <p:txBody>
              <a:bodyPr wrap="square"/>
              <a:lstStyle/>
              <a:p>
                <a:r>
                  <a:rPr dirty="0"/>
                  <a:t>ML-DSA-44/65/87 전부 동일한 NTT 파라미터를 쓴다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latin typeface="Cambria Math"/>
                        </a:rPr>
                        <m:t>𝑞</m:t>
                      </m:r>
                      <m:r>
                        <a:rPr lang="en-US" i="1">
                          <a:latin typeface="Cambria Math"/>
                        </a:rPr>
                        <m:t>=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/>
                            </a:rPr>
                            <m:t>2</m:t>
                          </m:r>
                        </m:e>
                        <m:sup>
                          <m:r>
                            <a:rPr lang="en-US" i="1">
                              <a:latin typeface="Cambria Math"/>
                            </a:rPr>
                            <m:t>23</m:t>
                          </m:r>
                        </m:sup>
                      </m:sSup>
                      <m:r>
                        <a:rPr lang="en-US" i="1">
                          <a:latin typeface="Cambria Math"/>
                        </a:rPr>
                        <m:t>−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/>
                            </a:rPr>
                            <m:t>2</m:t>
                          </m:r>
                        </m:e>
                        <m:sup>
                          <m:r>
                            <a:rPr lang="en-US" i="1">
                              <a:latin typeface="Cambria Math"/>
                            </a:rPr>
                            <m:t>13</m:t>
                          </m:r>
                        </m:sup>
                      </m:sSup>
                      <m:r>
                        <a:rPr lang="en-US" i="1">
                          <a:latin typeface="Cambria Math"/>
                        </a:rPr>
                        <m:t>+1,</m:t>
                      </m:r>
                      <m:r>
                        <m:rPr>
                          <m:nor/>
                        </m:rPr>
                        <a:rPr lang="en-US" i="1">
                          <a:latin typeface="Cambria Math"/>
                        </a:rPr>
                        <m:t> </m:t>
                      </m:r>
                      <m:r>
                        <a:rPr lang="en-US" i="1">
                          <a:latin typeface="Cambria Math"/>
                        </a:rPr>
                        <m:t>𝑛</m:t>
                      </m:r>
                      <m:r>
                        <a:rPr lang="en-US" i="1">
                          <a:latin typeface="Cambria Math"/>
                        </a:rPr>
                        <m:t>=256,</m:t>
                      </m:r>
                      <m:r>
                        <m:rPr>
                          <m:nor/>
                        </m:rPr>
                        <a:rPr lang="en-US" i="1">
                          <a:latin typeface="Cambria Math"/>
                        </a:rPr>
                        <m:t> </m:t>
                      </m:r>
                      <m:r>
                        <a:rPr lang="en-US" i="1">
                          <a:latin typeface="Cambria Math"/>
                        </a:rPr>
                        <m:t>𝜁</m:t>
                      </m:r>
                      <m:r>
                        <a:rPr lang="en-US" i="1">
                          <a:latin typeface="Cambria Math"/>
                        </a:rPr>
                        <m:t>=1753</m:t>
                      </m:r>
                      <m:r>
                        <m:rPr>
                          <m:nor/>
                        </m:rPr>
                        <a:rPr lang="en-US" i="1">
                          <a:latin typeface="Cambria Math"/>
                        </a:rPr>
                        <m:t> </m:t>
                      </m:r>
                      <m:r>
                        <a:rPr lang="en-US" i="1">
                          <a:latin typeface="Cambria Math"/>
                        </a:rPr>
                        <m:t>(</m:t>
                      </m:r>
                      <m:r>
                        <m:rPr>
                          <m:sty m:val="p"/>
                        </m:rPr>
                        <a:rPr lang="en-US" i="1">
                          <a:latin typeface="Cambria Math"/>
                        </a:rPr>
                        <m:t>order</m:t>
                      </m:r>
                      <m:r>
                        <m:rPr>
                          <m:nor/>
                        </m:rPr>
                        <a:rPr lang="en-US" i="1">
                          <a:latin typeface="Cambria Math"/>
                        </a:rPr>
                        <m:t> </m:t>
                      </m:r>
                      <m:r>
                        <a:rPr lang="en-US" i="1">
                          <a:latin typeface="Cambria Math"/>
                        </a:rPr>
                        <m:t>2</m:t>
                      </m:r>
                      <m:r>
                        <a:rPr lang="en-US" i="1">
                          <a:latin typeface="Cambria Math"/>
                        </a:rPr>
                        <m:t>𝑛</m:t>
                      </m:r>
                      <m:r>
                        <a:rPr lang="en-US" i="1">
                          <a:latin typeface="Cambria Math"/>
                        </a:rPr>
                        <m:t>=512)</m:t>
                      </m:r>
                    </m:oMath>
                  </m:oMathPara>
                </a14:m>
                <a:endParaRPr dirty="0"/>
              </a:p>
              <a:p>
                <a:r>
                  <a:rPr dirty="0"/>
                  <a:t>앞서 본 일반 정의(홀수 거듭제곱에서의 평가)를 그대로 쓰면, 트리로 계산한 뒤 결과를 연속된 홀수 순서로 재배열해야 하는 불편함이 있다</a:t>
                </a:r>
              </a:p>
              <a:p>
                <a:r>
                  <a:rPr dirty="0"/>
                  <a:t>Dilithium은 이 재배열을 없애기 위해 NTT를 조금 다르게 정의한다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295322"/>
                <a:ext cx="10515600" cy="4701089"/>
              </a:xfrm>
              <a:blipFill>
                <a:blip r:embed="rId2"/>
                <a:stretch>
                  <a:fillRect l="-406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0CCEF06-AF2C-16E5-D994-94762FCED6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15</a:t>
            </a:fld>
            <a:endParaRPr lang="ko-KR" altLang="en-US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136525"/>
            <a:ext cx="10515600" cy="753141"/>
          </a:xfrm>
        </p:spPr>
        <p:txBody>
          <a:bodyPr/>
          <a:lstStyle/>
          <a:p>
            <a:r>
              <a:rPr dirty="0"/>
              <a:t>Dilithium 방식의 bit-reversal 정의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838200" y="1295322"/>
                <a:ext cx="10515600" cy="4701089"/>
              </a:xfrm>
            </p:spPr>
            <p:txBody>
              <a:bodyPr wrap="square"/>
              <a:lstStyle/>
              <a:p>
                <a:r>
                  <a:rPr dirty="0"/>
                  <a:t>v∈[0,255]에 대해 brv(v)는 v의 8비트 이진표현을 뒤집은 정수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i="1">
                          <a:latin typeface="Cambria Math"/>
                        </a:rPr>
                        <m:t>brv</m:t>
                      </m:r>
                      <m:r>
                        <a:rPr lang="en-US" i="1">
                          <a:latin typeface="Cambria Math"/>
                        </a:rPr>
                        <m:t>(143)=</m:t>
                      </m:r>
                      <m:r>
                        <m:rPr>
                          <m:sty m:val="p"/>
                        </m:rPr>
                        <a:rPr lang="en-US" i="1">
                          <a:latin typeface="Cambria Math"/>
                        </a:rPr>
                        <m:t>brv</m:t>
                      </m:r>
                      <m:r>
                        <a:rPr lang="en-US" i="1">
                          <a:latin typeface="Cambria Math"/>
                        </a:rPr>
                        <m:t>((10001111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/>
                            </a:rPr>
                            <m:t>)</m:t>
                          </m:r>
                        </m:e>
                        <m:sub>
                          <m:r>
                            <a:rPr lang="en-US" i="1">
                              <a:latin typeface="Cambria Math"/>
                            </a:rPr>
                            <m:t>2</m:t>
                          </m:r>
                        </m:sub>
                      </m:sSub>
                      <m:r>
                        <a:rPr lang="en-US" i="1">
                          <a:latin typeface="Cambria Math"/>
                        </a:rPr>
                        <m:t>)=(11110001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/>
                            </a:rPr>
                            <m:t>)</m:t>
                          </m:r>
                        </m:e>
                        <m:sub>
                          <m:r>
                            <a:rPr lang="en-US" i="1">
                              <a:latin typeface="Cambria Math"/>
                            </a:rPr>
                            <m:t>2</m:t>
                          </m:r>
                        </m:sub>
                      </m:sSub>
                      <m:r>
                        <a:rPr lang="en-US" i="1">
                          <a:latin typeface="Cambria Math"/>
                        </a:rPr>
                        <m:t>=241</m:t>
                      </m:r>
                    </m:oMath>
                  </m:oMathPara>
                </a14:m>
                <a:endParaRPr dirty="0"/>
              </a:p>
              <a:p>
                <a:r>
                  <a:rPr dirty="0"/>
                  <a:t>ζ</a:t>
                </a:r>
                <a:r>
                  <a:rPr baseline="-25000" dirty="0"/>
                  <a:t>i</a:t>
                </a:r>
                <a:r>
                  <a:rPr dirty="0"/>
                  <a:t>를 다음과 같이 정의하면 (0≤i≤127):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/>
                            </a:rPr>
                            <m:t>𝜁</m:t>
                          </m:r>
                        </m:e>
                        <m:sub>
                          <m:r>
                            <a:rPr lang="en-US" i="1">
                              <a:latin typeface="Cambria Math"/>
                            </a:rPr>
                            <m:t>𝑖</m:t>
                          </m:r>
                        </m:sub>
                      </m:sSub>
                      <m:r>
                        <a:rPr lang="en-US" i="1">
                          <a:latin typeface="Cambria Math"/>
                        </a:rPr>
                        <m:t>=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/>
                            </a:rPr>
                            <m:t>𝜁</m:t>
                          </m:r>
                        </m:e>
                        <m:sup>
                          <m:r>
                            <m:rPr>
                              <m:sty m:val="p"/>
                            </m:rPr>
                            <a:rPr lang="en-US" i="1">
                              <a:latin typeface="Cambria Math"/>
                            </a:rPr>
                            <m:t>brv</m:t>
                          </m:r>
                          <m:r>
                            <a:rPr lang="en-US" i="1">
                              <a:latin typeface="Cambria Math"/>
                            </a:rPr>
                            <m:t>(128+</m:t>
                          </m:r>
                          <m:r>
                            <a:rPr lang="en-US" i="1">
                              <a:latin typeface="Cambria Math"/>
                            </a:rPr>
                            <m:t>𝑖</m:t>
                          </m:r>
                          <m:r>
                            <a:rPr lang="en-US" i="1">
                              <a:latin typeface="Cambria Math"/>
                            </a:rPr>
                            <m:t>)</m:t>
                          </m:r>
                        </m:sup>
                      </m:sSup>
                      <m:r>
                        <m:rPr>
                          <m:nor/>
                        </m:rPr>
                        <a:rPr lang="en-US" i="1">
                          <a:latin typeface="Cambria Math"/>
                        </a:rPr>
                        <m:t> </m:t>
                      </m:r>
                      <m:r>
                        <m:rPr>
                          <m:sty m:val="p"/>
                        </m:rPr>
                        <a:rPr lang="en-US" i="1">
                          <a:latin typeface="Cambria Math"/>
                        </a:rPr>
                        <m:t>mod</m:t>
                      </m:r>
                      <m:r>
                        <m:rPr>
                          <m:nor/>
                        </m:rPr>
                        <a:rPr lang="en-US" i="1">
                          <a:latin typeface="Cambria Math"/>
                        </a:rPr>
                        <m:t> </m:t>
                      </m:r>
                      <m:r>
                        <a:rPr lang="en-US" i="1">
                          <a:latin typeface="Cambria Math"/>
                        </a:rPr>
                        <m:t>𝑞</m:t>
                      </m:r>
                    </m:oMath>
                  </m:oMathPara>
                </a14:m>
                <a:endParaRPr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i="1">
                          <a:latin typeface="Cambria Math"/>
                        </a:rPr>
                        <m:t>NTT</m:t>
                      </m:r>
                      <m:r>
                        <a:rPr lang="en-US" i="1">
                          <a:latin typeface="Cambria Math"/>
                        </a:rPr>
                        <m:t>(</m:t>
                      </m:r>
                      <m:r>
                        <a:rPr lang="en-US" i="1">
                          <a:latin typeface="Cambria Math"/>
                        </a:rPr>
                        <m:t>𝑎</m:t>
                      </m:r>
                      <m:r>
                        <a:rPr lang="en-US" i="1">
                          <a:latin typeface="Cambria Math"/>
                        </a:rPr>
                        <m:t>)=(</m:t>
                      </m:r>
                      <m:r>
                        <a:rPr lang="en-US" i="1">
                          <a:latin typeface="Cambria Math"/>
                        </a:rPr>
                        <m:t>𝑎</m:t>
                      </m:r>
                      <m:r>
                        <a:rPr lang="en-US" i="1">
                          <a:latin typeface="Cambria Math"/>
                        </a:rPr>
                        <m:t>(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/>
                            </a:rPr>
                            <m:t>𝜁</m:t>
                          </m:r>
                        </m:e>
                        <m:sub>
                          <m:r>
                            <a:rPr lang="en-US" i="1">
                              <a:latin typeface="Cambria Math"/>
                            </a:rPr>
                            <m:t>0</m:t>
                          </m:r>
                        </m:sub>
                      </m:sSub>
                      <m:r>
                        <a:rPr lang="en-US" i="1">
                          <a:latin typeface="Cambria Math"/>
                        </a:rPr>
                        <m:t>),</m:t>
                      </m:r>
                      <m:r>
                        <a:rPr lang="en-US" i="1">
                          <a:latin typeface="Cambria Math"/>
                        </a:rPr>
                        <m:t>𝑎</m:t>
                      </m:r>
                      <m:r>
                        <a:rPr lang="en-US" i="1">
                          <a:latin typeface="Cambria Math"/>
                        </a:rPr>
                        <m:t>(−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/>
                            </a:rPr>
                            <m:t>𝜁</m:t>
                          </m:r>
                        </m:e>
                        <m:sub>
                          <m:r>
                            <a:rPr lang="en-US" i="1">
                              <a:latin typeface="Cambria Math"/>
                            </a:rPr>
                            <m:t>0</m:t>
                          </m:r>
                        </m:sub>
                      </m:sSub>
                      <m:r>
                        <a:rPr lang="en-US" i="1">
                          <a:latin typeface="Cambria Math"/>
                        </a:rPr>
                        <m:t>),</m:t>
                      </m:r>
                      <m:r>
                        <a:rPr lang="en-US" i="1">
                          <a:latin typeface="Cambria Math"/>
                        </a:rPr>
                        <m:t>𝑎</m:t>
                      </m:r>
                      <m:r>
                        <a:rPr lang="en-US" i="1">
                          <a:latin typeface="Cambria Math"/>
                        </a:rPr>
                        <m:t>(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/>
                            </a:rPr>
                            <m:t>𝜁</m:t>
                          </m:r>
                        </m:e>
                        <m:sub>
                          <m:r>
                            <a:rPr lang="en-US" i="1">
                              <a:latin typeface="Cambria Math"/>
                            </a:rPr>
                            <m:t>1</m:t>
                          </m:r>
                        </m:sub>
                      </m:sSub>
                      <m:r>
                        <a:rPr lang="en-US" i="1">
                          <a:latin typeface="Cambria Math"/>
                        </a:rPr>
                        <m:t>),</m:t>
                      </m:r>
                      <m:r>
                        <a:rPr lang="en-US" i="1">
                          <a:latin typeface="Cambria Math"/>
                        </a:rPr>
                        <m:t>𝑎</m:t>
                      </m:r>
                      <m:r>
                        <a:rPr lang="en-US" i="1">
                          <a:latin typeface="Cambria Math"/>
                        </a:rPr>
                        <m:t>(−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/>
                            </a:rPr>
                            <m:t>𝜁</m:t>
                          </m:r>
                        </m:e>
                        <m:sub>
                          <m:r>
                            <a:rPr lang="en-US" i="1">
                              <a:latin typeface="Cambria Math"/>
                            </a:rPr>
                            <m:t>1</m:t>
                          </m:r>
                        </m:sub>
                      </m:sSub>
                      <m:r>
                        <a:rPr lang="en-US" i="1">
                          <a:latin typeface="Cambria Math"/>
                        </a:rPr>
                        <m:t>),…,</m:t>
                      </m:r>
                      <m:r>
                        <a:rPr lang="en-US" i="1">
                          <a:latin typeface="Cambria Math"/>
                        </a:rPr>
                        <m:t>𝑎</m:t>
                      </m:r>
                      <m:r>
                        <a:rPr lang="en-US" i="1">
                          <a:latin typeface="Cambria Math"/>
                        </a:rPr>
                        <m:t>(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/>
                            </a:rPr>
                            <m:t>𝜁</m:t>
                          </m:r>
                        </m:e>
                        <m:sub>
                          <m:r>
                            <a:rPr lang="en-US" i="1">
                              <a:latin typeface="Cambria Math"/>
                            </a:rPr>
                            <m:t>127</m:t>
                          </m:r>
                        </m:sub>
                      </m:sSub>
                      <m:r>
                        <a:rPr lang="en-US" i="1">
                          <a:latin typeface="Cambria Math"/>
                        </a:rPr>
                        <m:t>),</m:t>
                      </m:r>
                      <m:r>
                        <a:rPr lang="en-US" i="1">
                          <a:latin typeface="Cambria Math"/>
                        </a:rPr>
                        <m:t>𝑎</m:t>
                      </m:r>
                      <m:r>
                        <a:rPr lang="en-US" i="1">
                          <a:latin typeface="Cambria Math"/>
                        </a:rPr>
                        <m:t>(−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/>
                            </a:rPr>
                            <m:t>𝜁</m:t>
                          </m:r>
                        </m:e>
                        <m:sub>
                          <m:r>
                            <a:rPr lang="en-US" i="1">
                              <a:latin typeface="Cambria Math"/>
                            </a:rPr>
                            <m:t>127</m:t>
                          </m:r>
                        </m:sub>
                      </m:sSub>
                      <m:r>
                        <a:rPr lang="en-US" i="1">
                          <a:latin typeface="Cambria Math"/>
                        </a:rPr>
                        <m:t>))</m:t>
                      </m:r>
                    </m:oMath>
                  </m:oMathPara>
                </a14:m>
                <a:endParaRPr dirty="0"/>
              </a:p>
              <a:p>
                <a:r>
                  <a:rPr dirty="0"/>
                  <a:t>이 순서는 NTT 트리의 리프 순서와 일치 — NTT/NTT⁻¹를 in-place로 계산할 수 있다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295322"/>
                <a:ext cx="10515600" cy="4701089"/>
              </a:xfrm>
              <a:blipFill>
                <a:blip r:embed="rId2"/>
                <a:stretch>
                  <a:fillRect l="-406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0CCEF06-AF2C-16E5-D994-94762FCED6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16</a:t>
            </a:fld>
            <a:endParaRPr lang="ko-KR" altLang="en-US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136525"/>
            <a:ext cx="10515600" cy="753141"/>
          </a:xfrm>
        </p:spPr>
        <p:txBody>
          <a:bodyPr/>
          <a:lstStyle/>
          <a:p>
            <a:r>
              <a:rPr dirty="0"/>
              <a:t>Dilithium NTT의 in-place 계산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3160854"/>
            <a:ext cx="10515599" cy="2567411"/>
          </a:xfrm>
        </p:spPr>
        <p:txBody>
          <a:bodyPr wrap="square"/>
          <a:lstStyle/>
          <a:p>
            <a:r>
              <a:rPr dirty="0"/>
              <a:t>in-place 계산은 길이 n 배열 하나만으로 NTT를 수행 — 하드웨어 구현에 특히 유용하다</a:t>
            </a:r>
          </a:p>
          <a:p>
            <a:r>
              <a:rPr dirty="0"/>
              <a:t>예: a</a:t>
            </a:r>
            <a:r>
              <a:rPr baseline="-25000" dirty="0"/>
              <a:t>L</a:t>
            </a:r>
            <a:r>
              <a:rPr dirty="0"/>
              <a:t>, a</a:t>
            </a:r>
            <a:r>
              <a:rPr baseline="-25000" dirty="0"/>
              <a:t>R</a:t>
            </a:r>
            <a:r>
              <a:rPr dirty="0"/>
              <a:t>로부터 T=ζ⁴·a</a:t>
            </a:r>
            <a:r>
              <a:rPr baseline="-25000" dirty="0"/>
              <a:t>R</a:t>
            </a:r>
            <a:r>
              <a:rPr dirty="0"/>
              <a:t>을 계산한 뒤, a</a:t>
            </a:r>
            <a:r>
              <a:rPr baseline="-25000" dirty="0"/>
              <a:t>L</a:t>
            </a:r>
            <a:r>
              <a:rPr dirty="0"/>
              <a:t>에서 빼서 오른쪽 절반을, 더해서 왼쪽 절반을 같은 자리에 덮어써 a</a:t>
            </a:r>
            <a:r>
              <a:rPr baseline="-25000" dirty="0"/>
              <a:t>0</a:t>
            </a:r>
            <a:r>
              <a:rPr dirty="0"/>
              <a:t>, a</a:t>
            </a:r>
            <a:r>
              <a:rPr baseline="-25000" dirty="0"/>
              <a:t>1</a:t>
            </a:r>
            <a:r>
              <a:rPr dirty="0"/>
              <a:t>을 얻는다</a:t>
            </a:r>
          </a:p>
          <a:p>
            <a:r>
              <a:rPr dirty="0"/>
              <a:t>같은 방식이 다음 레벨(a</a:t>
            </a:r>
            <a:r>
              <a:rPr baseline="-25000" dirty="0"/>
              <a:t>00</a:t>
            </a:r>
            <a:r>
              <a:rPr dirty="0"/>
              <a:t>,a</a:t>
            </a:r>
            <a:r>
              <a:rPr baseline="-25000" dirty="0"/>
              <a:t>01</a:t>
            </a:r>
            <a:r>
              <a:rPr dirty="0"/>
              <a:t>,a</a:t>
            </a:r>
            <a:r>
              <a:rPr baseline="-25000" dirty="0"/>
              <a:t>10</a:t>
            </a:r>
            <a:r>
              <a:rPr dirty="0"/>
              <a:t>,a</a:t>
            </a:r>
            <a:r>
              <a:rPr baseline="-25000" dirty="0"/>
              <a:t>11</a:t>
            </a:r>
            <a:r>
              <a:rPr dirty="0"/>
              <a:t>)에도 재귀적으로 적용된다</a:t>
            </a:r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0CCEF06-AF2C-16E5-D994-94762FCED6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17</a:t>
            </a:fld>
            <a:endParaRPr lang="ko-KR" altLang="en-US" dirty="0"/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3A20C7F7-5D00-7A9F-EECB-8FF90B43E66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7820" y="1297392"/>
            <a:ext cx="4036360" cy="1455736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136525"/>
            <a:ext cx="10515600" cy="753141"/>
          </a:xfrm>
        </p:spPr>
        <p:txBody>
          <a:bodyPr/>
          <a:lstStyle/>
          <a:p>
            <a:r>
              <a:rPr dirty="0"/>
              <a:t>Dilithium 키 생성에서의 NTT 활용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295322"/>
            <a:ext cx="10515600" cy="4701089"/>
          </a:xfrm>
        </p:spPr>
        <p:txBody>
          <a:bodyPr wrap="square"/>
          <a:lstStyle/>
          <a:p>
            <a:r>
              <a:rPr dirty="0"/>
              <a:t>NTT는 다항식 벡터·행렬에도 각 성분에 적용하는 방식으로 자연스럽게 확장된다</a:t>
            </a:r>
          </a:p>
          <a:p>
            <a:r>
              <a:rPr dirty="0"/>
              <a:t>s</a:t>
            </a:r>
            <a:r>
              <a:rPr baseline="-25000" dirty="0"/>
              <a:t>1</a:t>
            </a:r>
            <a:r>
              <a:rPr dirty="0"/>
              <a:t>, s</a:t>
            </a:r>
            <a:r>
              <a:rPr baseline="-25000" dirty="0"/>
              <a:t>2</a:t>
            </a:r>
            <a:r>
              <a:rPr dirty="0"/>
              <a:t>는 계수가 ±η로 제한되어 NTT 형태로 직접 뽑을 수 없다 — 뽑은 뒤 NTT를 적용한다</a:t>
            </a:r>
          </a:p>
          <a:p>
            <a:r>
              <a:rPr dirty="0"/>
              <a:t>행렬 A 자체는 계산되지 않고, NTT 형태만 쓰인다</a:t>
            </a:r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0CCEF06-AF2C-16E5-D994-94762FCED6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18</a:t>
            </a:fld>
            <a:endParaRPr lang="ko-KR" altLang="en-US" dirty="0"/>
          </a:p>
        </p:txBody>
      </p:sp>
      <p:graphicFrame>
        <p:nvGraphicFramePr>
          <p:cNvPr id="7" name="Table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19375893"/>
              </p:ext>
            </p:extLst>
          </p:nvPr>
        </p:nvGraphicFramePr>
        <p:xfrm>
          <a:off x="838200" y="2400000"/>
          <a:ext cx="10515600" cy="2600000"/>
        </p:xfrm>
        <a:graphic>
          <a:graphicData uri="http://schemas.openxmlformats.org/drawingml/2006/table">
            <a:tbl>
              <a:tblPr firstRow="1" bandRow="1">
                <a:tableStyleId>{5A111915-BE36-4E01-A7E5-04B1672EAD32}</a:tableStyleId>
              </a:tblPr>
              <a:tblGrid>
                <a:gridCol w="90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615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20000">
                <a:tc>
                  <a:txBody>
                    <a:bodyPr/>
                    <a:lstStyle/>
                    <a:p>
                      <a:pPr algn="ctr"/>
                      <a:r>
                        <a:rPr sz="1800" b="1" dirty="0"/>
                        <a:t>단계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dirty="0"/>
                        <a:t>연산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20000"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Â = ExpandA(ρ) — 행렬 A를 NTT 형태로 직접 생성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20000"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s</a:t>
                      </a:r>
                      <a:r>
                        <a:rPr sz="1800" baseline="-25000" dirty="0"/>
                        <a:t>1</a:t>
                      </a:r>
                      <a:r>
                        <a:rPr sz="1800" dirty="0"/>
                        <a:t>, s</a:t>
                      </a:r>
                      <a:r>
                        <a:rPr sz="1800" baseline="-25000" dirty="0"/>
                        <a:t>2</a:t>
                      </a:r>
                      <a:r>
                        <a:rPr sz="1800" dirty="0"/>
                        <a:t> 선택 후 ŝ</a:t>
                      </a:r>
                      <a:r>
                        <a:rPr sz="1800" baseline="-25000" dirty="0"/>
                        <a:t>1</a:t>
                      </a:r>
                      <a:r>
                        <a:rPr sz="1800" dirty="0"/>
                        <a:t> = NTT(s</a:t>
                      </a:r>
                      <a:r>
                        <a:rPr sz="1800" baseline="-25000" dirty="0"/>
                        <a:t>1</a:t>
                      </a:r>
                      <a:r>
                        <a:rPr sz="1800" dirty="0"/>
                        <a:t>) 계산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20000"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b̂ = Â∘ŝ</a:t>
                      </a:r>
                      <a:r>
                        <a:rPr sz="1800" baseline="-25000" dirty="0"/>
                        <a:t>1</a:t>
                      </a:r>
                      <a:r>
                        <a:rPr sz="1800" dirty="0"/>
                        <a:t> 계산, b = NTT⁻¹(b̂)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20000"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4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t = b + s</a:t>
                      </a:r>
                      <a:r>
                        <a:rPr sz="1800" baseline="-25000" dirty="0"/>
                        <a:t>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136525"/>
            <a:ext cx="10515600" cy="753141"/>
          </a:xfrm>
        </p:spPr>
        <p:txBody>
          <a:bodyPr/>
          <a:lstStyle/>
          <a:p>
            <a:r>
              <a:rPr dirty="0"/>
              <a:t>Dilithium 서명 생성에서의 속도 향상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295322"/>
            <a:ext cx="10515600" cy="4701089"/>
          </a:xfrm>
        </p:spPr>
        <p:txBody>
          <a:bodyPr wrap="square"/>
          <a:lstStyle/>
          <a:p>
            <a:r>
              <a:rPr dirty="0"/>
              <a:t>ML-DSA-87 파라미터 (k,ℓ)=(8,7)에서 w=Ay 계산을 예로 든다</a:t>
            </a:r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0CCEF06-AF2C-16E5-D994-94762FCED6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19</a:t>
            </a:fld>
            <a:endParaRPr lang="ko-KR" altLang="en-US" dirty="0"/>
          </a:p>
        </p:txBody>
      </p:sp>
      <p:graphicFrame>
        <p:nvGraphicFramePr>
          <p:cNvPr id="7" name="Table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39980415"/>
              </p:ext>
            </p:extLst>
          </p:nvPr>
        </p:nvGraphicFramePr>
        <p:xfrm>
          <a:off x="838200" y="2400000"/>
          <a:ext cx="10515600" cy="2700000"/>
        </p:xfrm>
        <a:graphic>
          <a:graphicData uri="http://schemas.openxmlformats.org/drawingml/2006/table">
            <a:tbl>
              <a:tblPr firstRow="1" bandRow="1">
                <a:tableStyleId>{5A111915-BE36-4E01-A7E5-04B1672EAD32}</a:tableStyleId>
              </a:tblPr>
              <a:tblGrid>
                <a:gridCol w="270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907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9078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40000">
                <a:tc>
                  <a:txBody>
                    <a:bodyPr/>
                    <a:lstStyle/>
                    <a:p>
                      <a:pPr algn="ctr"/>
                      <a:r>
                        <a:rPr sz="1800" b="1" dirty="0"/>
                        <a:t>항목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dirty="0"/>
                        <a:t>NTT 없이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dirty="0"/>
                        <a:t>NTT 사용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40000"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연산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kℓ번의 다항식 곱, 각 n² Z</a:t>
                      </a:r>
                      <a:r>
                        <a:rPr sz="1800" baseline="-25000" dirty="0"/>
                        <a:t>q</a:t>
                      </a:r>
                      <a:r>
                        <a:rPr sz="1800" dirty="0"/>
                        <a:t>-곱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ŷ=NTT(y), ŵ=Â∘ŷ, w=NTT⁻¹(ŵ)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40000"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곱셈 횟수 식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kℓn²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½(k+ℓ)n log₂n + kℓn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40000"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ML-DSA-87 대입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3,670,016 (≈2²¹·⁸)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29,696 (≈2¹⁴·⁹)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40000"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속도 향상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—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≈124배 (≈2⁶·⁹)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136525"/>
            <a:ext cx="10515600" cy="753141"/>
          </a:xfrm>
        </p:spPr>
        <p:txBody>
          <a:bodyPr/>
          <a:lstStyle/>
          <a:p>
            <a:r>
              <a:rPr dirty="0"/>
              <a:t>Kyber NTT가 Dilithium과 다른 이유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838200" y="1295322"/>
                <a:ext cx="10515600" cy="4701089"/>
              </a:xfrm>
            </p:spPr>
            <p:txBody>
              <a:bodyPr wrap="square"/>
              <a:lstStyle/>
              <a:p>
                <a:r>
                  <a:rPr dirty="0"/>
                  <a:t>Kyber도 n=256을 쓰지만,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/>
                      </a:rPr>
                      <m:t>𝑞</m:t>
                    </m:r>
                    <m:r>
                      <a:rPr lang="en-US" i="1">
                        <a:latin typeface="Cambria Math"/>
                      </a:rPr>
                      <m:t>=3329</m:t>
                    </m:r>
                  </m:oMath>
                </a14:m>
                <a:r>
                  <a:rPr dirty="0"/>
                  <a:t>는 q−1=256×13이 n으로는 나누어져도 2n으로는 나누어지지 않는다</a:t>
                </a:r>
              </a:p>
              <a:p>
                <a:r>
                  <a:rPr dirty="0"/>
                  <a:t>따라서 위수 2n인 ζ를 잡을 수 없어, Dilithium과 같은 방식의 NTT를 그대로 쓸 수 없다</a:t>
                </a:r>
              </a:p>
              <a:p>
                <a:pPr lvl="1"/>
                <a:r>
                  <a:rPr dirty="0"/>
                  <a:t>Z</a:t>
                </a:r>
                <a:r>
                  <a:rPr baseline="-25000" dirty="0"/>
                  <a:t>q</a:t>
                </a:r>
                <a:r>
                  <a:rPr dirty="0"/>
                  <a:t>*는 위수 q−1인 순환군 — 위수 t인 원소는 t가 q−1을 나눌 때만 존재한다</a:t>
                </a:r>
              </a:p>
              <a:p>
                <a:r>
                  <a:rPr dirty="0"/>
                  <a:t>대신 위수 n인 ζ를 쓴다 — 그 결과 NTT 트리에서 마지막 한 단계(선형 인수까지의 완전 분해)가 잘려나가, 리프가 이차식에서 멈춘다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295322"/>
                <a:ext cx="10515600" cy="4701089"/>
              </a:xfrm>
              <a:blipFill>
                <a:blip r:embed="rId2"/>
                <a:stretch>
                  <a:fillRect l="-406" r="-464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0CCEF06-AF2C-16E5-D994-94762FCED6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20</a:t>
            </a:fld>
            <a:endParaRPr lang="ko-KR" altLang="en-US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136525"/>
            <a:ext cx="10515600" cy="753141"/>
          </a:xfrm>
        </p:spPr>
        <p:txBody>
          <a:bodyPr/>
          <a:lstStyle/>
          <a:p>
            <a:r>
              <a:rPr dirty="0"/>
              <a:t>x²−ζⁱ의 기약성 증명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838200" y="1295322"/>
                <a:ext cx="10515600" cy="4701089"/>
              </a:xfrm>
            </p:spPr>
            <p:txBody>
              <a:bodyPr wrap="square"/>
              <a:lstStyle/>
              <a:p>
                <a:r>
                  <a:rPr dirty="0"/>
                  <a:t>Claim: n=2</a:t>
                </a:r>
                <a:r>
                  <a:rPr baseline="30000" dirty="0"/>
                  <a:t>k</a:t>
                </a:r>
                <a:r>
                  <a:rPr dirty="0"/>
                  <a:t>, q−1이 n으로는 나누어지고 2n으로는 안 나누어지며, ζ가 위수 n인 원소라 하자</a:t>
                </a:r>
              </a:p>
              <a:p>
                <a:r>
                  <a:rPr dirty="0"/>
                  <a:t>그러면 홀수 i∈[1,n−1]에 대해 x²−ζⁱ는 Z</a:t>
                </a:r>
                <a:r>
                  <a:rPr baseline="-25000" dirty="0"/>
                  <a:t>q</a:t>
                </a:r>
                <a:r>
                  <a:rPr dirty="0"/>
                  <a:t> 위에서 기약이다</a:t>
                </a:r>
              </a:p>
              <a:p>
                <a:r>
                  <a:rPr dirty="0"/>
                  <a:t>증명: x²−ζⁱ가 가약이라면 근 c∈Z</a:t>
                </a:r>
                <a:r>
                  <a:rPr baseline="-25000" dirty="0"/>
                  <a:t>q</a:t>
                </a:r>
                <a:r>
                  <a:rPr dirty="0"/>
                  <a:t>가 존재, c²=ζⁱ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latin typeface="Cambria Math"/>
                        </a:rPr>
                        <m:t>(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/>
                            </a:rPr>
                            <m:t>𝑐</m:t>
                          </m:r>
                        </m:e>
                        <m:sup>
                          <m:r>
                            <a:rPr lang="en-US" i="1">
                              <a:latin typeface="Cambria Math"/>
                            </a:rPr>
                            <m:t>2</m:t>
                          </m:r>
                        </m:sup>
                      </m:sSup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/>
                            </a:rPr>
                            <m:t>)</m:t>
                          </m:r>
                        </m:e>
                        <m:sup>
                          <m:r>
                            <a:rPr lang="en-US" i="1">
                              <a:latin typeface="Cambria Math"/>
                            </a:rPr>
                            <m:t>𝑛</m:t>
                          </m:r>
                        </m:sup>
                      </m:sSup>
                      <m:r>
                        <a:rPr lang="en-US" i="1">
                          <a:latin typeface="Cambria Math"/>
                        </a:rPr>
                        <m:t>=(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/>
                            </a:rPr>
                            <m:t>𝜁</m:t>
                          </m:r>
                        </m:e>
                        <m:sup>
                          <m:r>
                            <a:rPr lang="en-US" i="1">
                              <a:latin typeface="Cambria Math"/>
                            </a:rPr>
                            <m:t>𝑖</m:t>
                          </m:r>
                        </m:sup>
                      </m:sSup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/>
                            </a:rPr>
                            <m:t>)</m:t>
                          </m:r>
                        </m:e>
                        <m:sup>
                          <m:r>
                            <a:rPr lang="en-US" i="1">
                              <a:latin typeface="Cambria Math"/>
                            </a:rPr>
                            <m:t>𝑛</m:t>
                          </m:r>
                        </m:sup>
                      </m:sSup>
                      <m:r>
                        <a:rPr lang="en-US" i="1">
                          <a:latin typeface="Cambria Math"/>
                        </a:rPr>
                        <m:t>=(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/>
                            </a:rPr>
                            <m:t>𝜁</m:t>
                          </m:r>
                        </m:e>
                        <m:sup>
                          <m:r>
                            <a:rPr lang="en-US" i="1">
                              <a:latin typeface="Cambria Math"/>
                            </a:rPr>
                            <m:t>𝑛</m:t>
                          </m:r>
                        </m:sup>
                      </m:sSup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/>
                            </a:rPr>
                            <m:t>)</m:t>
                          </m:r>
                        </m:e>
                        <m:sup>
                          <m:r>
                            <a:rPr lang="en-US" i="1">
                              <a:latin typeface="Cambria Math"/>
                            </a:rPr>
                            <m:t>𝑖</m:t>
                          </m:r>
                        </m:sup>
                      </m:sSup>
                      <m:r>
                        <a:rPr lang="en-US" i="1">
                          <a:latin typeface="Cambria Math"/>
                        </a:rPr>
                        <m:t>=1</m:t>
                      </m:r>
                      <m:r>
                        <m:rPr>
                          <m:nor/>
                        </m:rPr>
                        <a:rPr lang="en-US" i="1">
                          <a:latin typeface="Cambria Math"/>
                        </a:rPr>
                        <m:t> </m:t>
                      </m:r>
                      <m:r>
                        <a:rPr lang="en-US" i="1">
                          <a:latin typeface="Cambria Math"/>
                        </a:rPr>
                        <m:t>⇒</m:t>
                      </m:r>
                      <m:r>
                        <m:rPr>
                          <m:nor/>
                        </m:rPr>
                        <a:rPr lang="en-US" i="1">
                          <a:latin typeface="Cambria Math"/>
                        </a:rPr>
                        <m:t> </m:t>
                      </m:r>
                      <m:r>
                        <m:rPr>
                          <m:nor/>
                        </m:rPr>
                        <a:rPr lang="en-US"/>
                        <m:t>c</m:t>
                      </m:r>
                      <m:r>
                        <m:rPr>
                          <m:nor/>
                        </m:rPr>
                        <a:rPr lang="en-US"/>
                        <m:t>의 위수가 </m:t>
                      </m:r>
                      <m:r>
                        <a:rPr lang="en-US" i="0">
                          <a:latin typeface="Cambria Math" panose="02040503050406030204" pitchFamily="18" charset="0"/>
                        </a:rPr>
                        <m:t>2</m:t>
                      </m:r>
                      <m:r>
                        <m:rPr>
                          <m:sty m:val="p"/>
                        </m:rPr>
                        <a:rPr lang="en-US" i="0">
                          <a:latin typeface="Cambria Math" panose="02040503050406030204" pitchFamily="18" charset="0"/>
                        </a:rPr>
                        <m:t>n</m:t>
                      </m:r>
                      <m:r>
                        <m:rPr>
                          <m:nor/>
                        </m:rPr>
                        <a:rPr lang="en-US"/>
                        <m:t>을 나눔</m:t>
                      </m:r>
                    </m:oMath>
                  </m:oMathPara>
                </a14:m>
                <a:endParaRPr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/>
                            </a:rPr>
                            <m:t>𝑐</m:t>
                          </m:r>
                        </m:e>
                        <m:sup>
                          <m:r>
                            <a:rPr lang="en-US" i="1">
                              <a:latin typeface="Cambria Math"/>
                            </a:rPr>
                            <m:t>𝑛</m:t>
                          </m:r>
                        </m:sup>
                      </m:sSup>
                      <m:r>
                        <a:rPr lang="en-US" i="1">
                          <a:latin typeface="Cambria Math"/>
                        </a:rPr>
                        <m:t>=(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/>
                            </a:rPr>
                            <m:t>𝑐</m:t>
                          </m:r>
                        </m:e>
                        <m:sup>
                          <m:r>
                            <a:rPr lang="en-US" i="1">
                              <a:latin typeface="Cambria Math"/>
                            </a:rPr>
                            <m:t>2</m:t>
                          </m:r>
                        </m:sup>
                      </m:sSup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/>
                            </a:rPr>
                            <m:t>)</m:t>
                          </m:r>
                        </m:e>
                        <m:sup>
                          <m:f>
                            <m:fPr>
                              <m:type m:val="lin"/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i="1">
                                  <a:latin typeface="Cambria Math"/>
                                </a:rPr>
                                <m:t>𝑛</m:t>
                              </m:r>
                            </m:num>
                            <m:den>
                              <m:r>
                                <a:rPr lang="en-US" i="1">
                                  <a:latin typeface="Cambria Math"/>
                                </a:rPr>
                                <m:t>2</m:t>
                              </m:r>
                            </m:den>
                          </m:f>
                        </m:sup>
                      </m:sSup>
                      <m:r>
                        <a:rPr lang="en-US" i="1">
                          <a:latin typeface="Cambria Math"/>
                        </a:rPr>
                        <m:t>=(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/>
                            </a:rPr>
                            <m:t>𝜁</m:t>
                          </m:r>
                        </m:e>
                        <m:sup>
                          <m:r>
                            <a:rPr lang="en-US" i="1">
                              <a:latin typeface="Cambria Math"/>
                            </a:rPr>
                            <m:t>𝑖</m:t>
                          </m:r>
                        </m:sup>
                      </m:sSup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/>
                            </a:rPr>
                            <m:t>)</m:t>
                          </m:r>
                        </m:e>
                        <m:sup>
                          <m:f>
                            <m:fPr>
                              <m:type m:val="lin"/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i="1">
                                  <a:latin typeface="Cambria Math"/>
                                </a:rPr>
                                <m:t>𝑛</m:t>
                              </m:r>
                            </m:num>
                            <m:den>
                              <m:r>
                                <a:rPr lang="en-US" i="1">
                                  <a:latin typeface="Cambria Math"/>
                                </a:rPr>
                                <m:t>2</m:t>
                              </m:r>
                            </m:den>
                          </m:f>
                        </m:sup>
                      </m:sSup>
                      <m:r>
                        <a:rPr lang="en-US" i="1">
                          <a:latin typeface="Cambria Math"/>
                        </a:rPr>
                        <m:t>=(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/>
                            </a:rPr>
                            <m:t>𝜁</m:t>
                          </m:r>
                        </m:e>
                        <m:sup>
                          <m:f>
                            <m:fPr>
                              <m:type m:val="lin"/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i="1">
                                  <a:latin typeface="Cambria Math"/>
                                </a:rPr>
                                <m:t>𝑛</m:t>
                              </m:r>
                            </m:num>
                            <m:den>
                              <m:r>
                                <a:rPr lang="en-US" i="1">
                                  <a:latin typeface="Cambria Math"/>
                                </a:rPr>
                                <m:t>2</m:t>
                              </m:r>
                            </m:den>
                          </m:f>
                        </m:sup>
                      </m:sSup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/>
                            </a:rPr>
                            <m:t>)</m:t>
                          </m:r>
                        </m:e>
                        <m:sup>
                          <m:r>
                            <a:rPr lang="en-US" i="1">
                              <a:latin typeface="Cambria Math"/>
                            </a:rPr>
                            <m:t>𝑖</m:t>
                          </m:r>
                        </m:sup>
                      </m:sSup>
                      <m:r>
                        <a:rPr lang="en-US" i="1">
                          <a:latin typeface="Cambria Math"/>
                        </a:rPr>
                        <m:t>=(−1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/>
                            </a:rPr>
                            <m:t>)</m:t>
                          </m:r>
                        </m:e>
                        <m:sup>
                          <m:r>
                            <a:rPr lang="en-US" i="1">
                              <a:latin typeface="Cambria Math"/>
                            </a:rPr>
                            <m:t>𝑖</m:t>
                          </m:r>
                        </m:sup>
                      </m:sSup>
                      <m:r>
                        <a:rPr lang="en-US" i="1">
                          <a:latin typeface="Cambria Math"/>
                        </a:rPr>
                        <m:t>=−1</m:t>
                      </m:r>
                      <m:r>
                        <m:rPr>
                          <m:nor/>
                        </m:rPr>
                        <a:rPr lang="en-US" i="1">
                          <a:latin typeface="Cambria Math"/>
                        </a:rPr>
                        <m:t> </m:t>
                      </m:r>
                      <m:r>
                        <a:rPr lang="en-US" i="1">
                          <a:latin typeface="Cambria Math"/>
                        </a:rPr>
                        <m:t>⇒</m:t>
                      </m:r>
                      <m:r>
                        <m:rPr>
                          <m:nor/>
                        </m:rPr>
                        <a:rPr lang="en-US" i="1">
                          <a:latin typeface="Cambria Math"/>
                        </a:rPr>
                        <m:t> </m:t>
                      </m:r>
                      <m:r>
                        <m:rPr>
                          <m:nor/>
                        </m:rPr>
                        <a:rPr lang="en-US"/>
                        <m:t>c</m:t>
                      </m:r>
                      <m:r>
                        <m:rPr>
                          <m:nor/>
                        </m:rPr>
                        <a:rPr lang="en-US"/>
                        <m:t>의 위수가 </m:t>
                      </m:r>
                      <m:r>
                        <m:rPr>
                          <m:sty m:val="p"/>
                        </m:rPr>
                        <a:rPr lang="en-US" i="0">
                          <a:latin typeface="Cambria Math" panose="02040503050406030204" pitchFamily="18" charset="0"/>
                        </a:rPr>
                        <m:t>n</m:t>
                      </m:r>
                      <m:r>
                        <m:rPr>
                          <m:nor/>
                        </m:rPr>
                        <a:rPr lang="en-US"/>
                        <m:t>을 안 나눔</m:t>
                      </m:r>
                    </m:oMath>
                  </m:oMathPara>
                </a14:m>
                <a:endParaRPr dirty="0"/>
              </a:p>
              <a:p>
                <a:r>
                  <a:rPr dirty="0"/>
                  <a:t>따라서 c의 위수는 정확히 2n인데, 2n은 q−1을 나누지 않으므로 모순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295322"/>
                <a:ext cx="10515600" cy="4701089"/>
              </a:xfrm>
              <a:blipFill>
                <a:blip r:embed="rId2"/>
                <a:stretch>
                  <a:fillRect l="-406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0CCEF06-AF2C-16E5-D994-94762FCED6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21</a:t>
            </a:fld>
            <a:endParaRPr lang="ko-KR" altLang="en-US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136525"/>
            <a:ext cx="10515600" cy="753141"/>
          </a:xfrm>
        </p:spPr>
        <p:txBody>
          <a:bodyPr/>
          <a:lstStyle/>
          <a:p>
            <a:r>
              <a:rPr dirty="0"/>
              <a:t>Kyber NTT의 정의: 이차환 Qᵢ와 T</a:t>
            </a:r>
            <a:r>
              <a:rPr baseline="-25000" dirty="0"/>
              <a:t>q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838200" y="1295322"/>
                <a:ext cx="10515600" cy="4701089"/>
              </a:xfrm>
            </p:spPr>
            <p:txBody>
              <a:bodyPr wrap="square"/>
              <a:lstStyle/>
              <a:p>
                <a:r>
                  <a:rPr dirty="0"/>
                  <a:t>홀수 i∈[1,n−1]에 대해 정의: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/>
                            </a:rPr>
                            <m:t>𝑄</m:t>
                          </m:r>
                        </m:e>
                        <m:sub>
                          <m:r>
                            <a:rPr lang="en-US" i="1">
                              <a:latin typeface="Cambria Math"/>
                            </a:rPr>
                            <m:t>𝑖</m:t>
                          </m:r>
                        </m:sub>
                      </m:sSub>
                      <m:r>
                        <a:rPr lang="en-US" i="1">
                          <a:latin typeface="Cambria Math"/>
                        </a:rPr>
                        <m:t>:=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/>
                            </a:rPr>
                            <m:t>ℤ</m:t>
                          </m:r>
                        </m:e>
                        <m:sub>
                          <m:r>
                            <a:rPr lang="en-US" i="1">
                              <a:latin typeface="Cambria Math"/>
                            </a:rPr>
                            <m:t>𝑞</m:t>
                          </m:r>
                        </m:sub>
                      </m:sSub>
                      <m:r>
                        <a:rPr lang="en-US" i="1">
                          <a:latin typeface="Cambria Math"/>
                        </a:rPr>
                        <m:t>[</m:t>
                      </m:r>
                      <m:r>
                        <a:rPr lang="en-US" i="1">
                          <a:latin typeface="Cambria Math"/>
                        </a:rPr>
                        <m:t>𝑥</m:t>
                      </m:r>
                      <m:r>
                        <a:rPr lang="en-US" i="1">
                          <a:latin typeface="Cambria Math"/>
                        </a:rPr>
                        <m:t>]/(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/>
                            </a:rPr>
                            <m:t>𝑥</m:t>
                          </m:r>
                        </m:e>
                        <m:sup>
                          <m:r>
                            <a:rPr lang="en-US" i="1">
                              <a:latin typeface="Cambria Math"/>
                            </a:rPr>
                            <m:t>2</m:t>
                          </m:r>
                        </m:sup>
                      </m:sSup>
                      <m:r>
                        <a:rPr lang="en-US" i="1">
                          <a:latin typeface="Cambria Math"/>
                        </a:rPr>
                        <m:t>−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/>
                            </a:rPr>
                            <m:t>𝜁</m:t>
                          </m:r>
                        </m:e>
                        <m:sup>
                          <m:r>
                            <a:rPr lang="en-US" i="1">
                              <a:latin typeface="Cambria Math"/>
                            </a:rPr>
                            <m:t>𝑖</m:t>
                          </m:r>
                        </m:sup>
                      </m:sSup>
                      <m:r>
                        <a:rPr lang="en-US" i="1">
                          <a:latin typeface="Cambria Math"/>
                        </a:rPr>
                        <m:t>)</m:t>
                      </m:r>
                    </m:oMath>
                  </m:oMathPara>
                </a14:m>
                <a:endParaRPr dirty="0"/>
              </a:p>
              <a:p>
                <a:r>
                  <a:rPr dirty="0"/>
                  <a:t>차수 ≤1 다항식의 이차환 — 계수쌍 (c</a:t>
                </a:r>
                <a:r>
                  <a:rPr baseline="-25000" dirty="0"/>
                  <a:t>0</a:t>
                </a:r>
                <a:r>
                  <a:rPr dirty="0"/>
                  <a:t>,c</a:t>
                </a:r>
                <a:r>
                  <a:rPr baseline="-25000" dirty="0"/>
                  <a:t>1</a:t>
                </a:r>
                <a:r>
                  <a:rPr dirty="0"/>
                  <a:t>)으로 표현된다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/>
                            </a:rPr>
                            <m:t>𝑇</m:t>
                          </m:r>
                        </m:e>
                        <m:sub>
                          <m:r>
                            <a:rPr lang="en-US" i="1">
                              <a:latin typeface="Cambria Math"/>
                            </a:rPr>
                            <m:t>𝑞</m:t>
                          </m:r>
                        </m:sub>
                      </m:sSub>
                      <m:r>
                        <a:rPr lang="en-US" i="1">
                          <a:latin typeface="Cambria Math"/>
                        </a:rPr>
                        <m:t>:=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/>
                            </a:rPr>
                            <m:t>𝑄</m:t>
                          </m:r>
                        </m:e>
                        <m:sub>
                          <m:r>
                            <a:rPr lang="en-US" i="1">
                              <a:latin typeface="Cambria Math"/>
                            </a:rPr>
                            <m:t>1</m:t>
                          </m:r>
                        </m:sub>
                      </m:sSub>
                      <m:r>
                        <a:rPr lang="en-US" i="1">
                          <a:latin typeface="Cambria Math"/>
                        </a:rPr>
                        <m:t>×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/>
                            </a:rPr>
                            <m:t>𝑄</m:t>
                          </m:r>
                        </m:e>
                        <m:sub>
                          <m:r>
                            <a:rPr lang="en-US" i="1">
                              <a:latin typeface="Cambria Math"/>
                            </a:rPr>
                            <m:t>3</m:t>
                          </m:r>
                        </m:sub>
                      </m:sSub>
                      <m:r>
                        <a:rPr lang="en-US" i="1">
                          <a:latin typeface="Cambria Math"/>
                        </a:rPr>
                        <m:t>×⋯×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/>
                            </a:rPr>
                            <m:t>𝑄</m:t>
                          </m:r>
                        </m:e>
                        <m:sub>
                          <m:r>
                            <a:rPr lang="en-US" i="1">
                              <a:latin typeface="Cambria Math"/>
                            </a:rPr>
                            <m:t>𝑛</m:t>
                          </m:r>
                          <m:r>
                            <a:rPr lang="en-US" i="1">
                              <a:latin typeface="Cambria Math"/>
                            </a:rPr>
                            <m:t>−1</m:t>
                          </m:r>
                        </m:sub>
                      </m:sSub>
                    </m:oMath>
                  </m:oMathPara>
                </a14:m>
                <a:endParaRPr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i="1">
                          <a:latin typeface="Cambria Math"/>
                        </a:rPr>
                        <m:t>NTT</m:t>
                      </m:r>
                      <m:r>
                        <a:rPr lang="en-US" i="1">
                          <a:latin typeface="Cambria Math"/>
                        </a:rPr>
                        <m:t>: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/>
                            </a:rPr>
                            <m:t>𝑅</m:t>
                          </m:r>
                        </m:e>
                        <m:sub>
                          <m:r>
                            <a:rPr lang="en-US" i="1">
                              <a:latin typeface="Cambria Math"/>
                            </a:rPr>
                            <m:t>𝑞</m:t>
                          </m:r>
                        </m:sub>
                      </m:sSub>
                      <m:r>
                        <a:rPr lang="en-US" i="1">
                          <a:latin typeface="Cambria Math"/>
                        </a:rPr>
                        <m:t>→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/>
                            </a:rPr>
                            <m:t>𝑇</m:t>
                          </m:r>
                        </m:e>
                        <m:sub>
                          <m:r>
                            <a:rPr lang="en-US" i="1">
                              <a:latin typeface="Cambria Math"/>
                            </a:rPr>
                            <m:t>𝑞</m:t>
                          </m:r>
                        </m:sub>
                      </m:sSub>
                      <m:r>
                        <a:rPr lang="en-US" i="1">
                          <a:latin typeface="Cambria Math"/>
                        </a:rPr>
                        <m:t>,</m:t>
                      </m:r>
                      <m:r>
                        <m:rPr>
                          <m:nor/>
                        </m:rPr>
                        <a:rPr lang="en-US" i="1">
                          <a:latin typeface="Cambria Math"/>
                        </a:rPr>
                        <m:t> </m:t>
                      </m:r>
                      <m:r>
                        <m:rPr>
                          <m:sty m:val="p"/>
                        </m:rPr>
                        <a:rPr lang="en-US" i="1">
                          <a:latin typeface="Cambria Math"/>
                        </a:rPr>
                        <m:t>NTT</m:t>
                      </m:r>
                      <m:r>
                        <a:rPr lang="en-US" i="1">
                          <a:latin typeface="Cambria Math"/>
                        </a:rPr>
                        <m:t>(</m:t>
                      </m:r>
                      <m:r>
                        <a:rPr lang="en-US" i="1">
                          <a:latin typeface="Cambria Math"/>
                        </a:rPr>
                        <m:t>𝑎</m:t>
                      </m:r>
                      <m:r>
                        <a:rPr lang="en-US" i="1">
                          <a:latin typeface="Cambria Math"/>
                        </a:rPr>
                        <m:t>)=(</m:t>
                      </m:r>
                      <m:r>
                        <a:rPr lang="en-US" i="1">
                          <a:latin typeface="Cambria Math"/>
                        </a:rPr>
                        <m:t>𝑎</m:t>
                      </m:r>
                      <m:r>
                        <m:rPr>
                          <m:nor/>
                        </m:rPr>
                        <a:rPr lang="en-US" i="1">
                          <a:latin typeface="Cambria Math"/>
                        </a:rPr>
                        <m:t> </m:t>
                      </m:r>
                      <m:r>
                        <m:rPr>
                          <m:sty m:val="p"/>
                        </m:rPr>
                        <a:rPr lang="en-US" i="1">
                          <a:latin typeface="Cambria Math"/>
                        </a:rPr>
                        <m:t>mod</m:t>
                      </m:r>
                      <m:r>
                        <m:rPr>
                          <m:nor/>
                        </m:rPr>
                        <a:rPr lang="en-US" i="1">
                          <a:latin typeface="Cambria Math"/>
                        </a:rPr>
                        <m:t> </m:t>
                      </m:r>
                      <m:r>
                        <a:rPr lang="en-US" i="1">
                          <a:latin typeface="Cambria Math"/>
                        </a:rPr>
                        <m:t>(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/>
                            </a:rPr>
                            <m:t>𝑥</m:t>
                          </m:r>
                        </m:e>
                        <m:sup>
                          <m:r>
                            <a:rPr lang="en-US" i="1">
                              <a:latin typeface="Cambria Math"/>
                            </a:rPr>
                            <m:t>2</m:t>
                          </m:r>
                        </m:sup>
                      </m:sSup>
                      <m:r>
                        <a:rPr lang="en-US" i="1">
                          <a:latin typeface="Cambria Math"/>
                        </a:rPr>
                        <m:t>−</m:t>
                      </m:r>
                      <m:r>
                        <a:rPr lang="en-US" i="1">
                          <a:latin typeface="Cambria Math"/>
                        </a:rPr>
                        <m:t>𝜁</m:t>
                      </m:r>
                      <m:r>
                        <a:rPr lang="en-US" i="1">
                          <a:latin typeface="Cambria Math"/>
                        </a:rPr>
                        <m:t>),…,</m:t>
                      </m:r>
                      <m:r>
                        <a:rPr lang="en-US" i="1">
                          <a:latin typeface="Cambria Math"/>
                        </a:rPr>
                        <m:t>𝑎</m:t>
                      </m:r>
                      <m:r>
                        <m:rPr>
                          <m:nor/>
                        </m:rPr>
                        <a:rPr lang="en-US" i="1">
                          <a:latin typeface="Cambria Math"/>
                        </a:rPr>
                        <m:t> </m:t>
                      </m:r>
                      <m:r>
                        <m:rPr>
                          <m:sty m:val="p"/>
                        </m:rPr>
                        <a:rPr lang="en-US" i="1">
                          <a:latin typeface="Cambria Math"/>
                        </a:rPr>
                        <m:t>mod</m:t>
                      </m:r>
                      <m:r>
                        <m:rPr>
                          <m:nor/>
                        </m:rPr>
                        <a:rPr lang="en-US" i="1">
                          <a:latin typeface="Cambria Math"/>
                        </a:rPr>
                        <m:t> </m:t>
                      </m:r>
                      <m:r>
                        <a:rPr lang="en-US" i="1">
                          <a:latin typeface="Cambria Math"/>
                        </a:rPr>
                        <m:t>(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/>
                            </a:rPr>
                            <m:t>𝑥</m:t>
                          </m:r>
                        </m:e>
                        <m:sup>
                          <m:r>
                            <a:rPr lang="en-US" i="1">
                              <a:latin typeface="Cambria Math"/>
                            </a:rPr>
                            <m:t>2</m:t>
                          </m:r>
                        </m:sup>
                      </m:sSup>
                      <m:r>
                        <a:rPr lang="en-US" i="1">
                          <a:latin typeface="Cambria Math"/>
                        </a:rPr>
                        <m:t>−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/>
                            </a:rPr>
                            <m:t>𝜁</m:t>
                          </m:r>
                        </m:e>
                        <m:sup>
                          <m:r>
                            <a:rPr lang="en-US" i="1">
                              <a:latin typeface="Cambria Math"/>
                            </a:rPr>
                            <m:t>𝑛</m:t>
                          </m:r>
                          <m:r>
                            <a:rPr lang="en-US" i="1">
                              <a:latin typeface="Cambria Math"/>
                            </a:rPr>
                            <m:t>−1</m:t>
                          </m:r>
                        </m:sup>
                      </m:sSup>
                      <m:r>
                        <a:rPr lang="en-US" i="1">
                          <a:latin typeface="Cambria Math"/>
                        </a:rPr>
                        <m:t>))</m:t>
                      </m:r>
                    </m:oMath>
                  </m:oMathPara>
                </a14:m>
                <a:endParaRPr dirty="0"/>
              </a:p>
              <a:p>
                <a:r>
                  <a:rPr dirty="0"/>
                  <a:t>NTT는 환 동형사상이며, 특히 가역이다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295322"/>
                <a:ext cx="10515600" cy="4701089"/>
              </a:xfrm>
              <a:blipFill>
                <a:blip r:embed="rId2"/>
                <a:stretch>
                  <a:fillRect l="-406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0CCEF06-AF2C-16E5-D994-94762FCED6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22</a:t>
            </a:fld>
            <a:endParaRPr lang="ko-KR" altLang="en-US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136525"/>
            <a:ext cx="10515600" cy="753141"/>
          </a:xfrm>
        </p:spPr>
        <p:txBody>
          <a:bodyPr/>
          <a:lstStyle/>
          <a:p>
            <a:r>
              <a:rPr dirty="0"/>
              <a:t>Qᵢ에서의 덧셈과 곱셈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838200" y="1295322"/>
                <a:ext cx="10515600" cy="4701089"/>
              </a:xfrm>
            </p:spPr>
            <p:txBody>
              <a:bodyPr wrap="square"/>
              <a:lstStyle/>
              <a:p>
                <a:r>
                  <a:rPr dirty="0"/>
                  <a:t>T</a:t>
                </a:r>
                <a:r>
                  <a:rPr baseline="-25000" dirty="0"/>
                  <a:t>q</a:t>
                </a:r>
                <a:r>
                  <a:rPr dirty="0"/>
                  <a:t>에서의 덧셈·곱셈은 각 Q</a:t>
                </a:r>
                <a:r>
                  <a:rPr baseline="-25000" dirty="0"/>
                  <a:t>i</a:t>
                </a:r>
                <a:r>
                  <a:rPr dirty="0"/>
                  <a:t>에서 성분별로 이뤄진다</a:t>
                </a:r>
              </a:p>
              <a:p>
                <a:r>
                  <a:rPr dirty="0"/>
                  <a:t>덧셈: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latin typeface="Cambria Math"/>
                        </a:rPr>
                        <m:t>(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/>
                            </a:rPr>
                            <m:t>𝑎</m:t>
                          </m:r>
                        </m:e>
                        <m:sub>
                          <m:r>
                            <a:rPr lang="en-US" i="1">
                              <a:latin typeface="Cambria Math"/>
                            </a:rPr>
                            <m:t>0</m:t>
                          </m:r>
                        </m:sub>
                      </m:sSub>
                      <m:r>
                        <a:rPr lang="en-US" i="1">
                          <a:latin typeface="Cambria Math"/>
                        </a:rPr>
                        <m:t>+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/>
                            </a:rPr>
                            <m:t>𝑎</m:t>
                          </m:r>
                        </m:e>
                        <m:sub>
                          <m:r>
                            <a:rPr lang="en-US" i="1">
                              <a:latin typeface="Cambria Math"/>
                            </a:rPr>
                            <m:t>1</m:t>
                          </m:r>
                        </m:sub>
                      </m:sSub>
                      <m:r>
                        <a:rPr lang="en-US" i="1">
                          <a:latin typeface="Cambria Math"/>
                        </a:rPr>
                        <m:t>𝑥</m:t>
                      </m:r>
                      <m:r>
                        <a:rPr lang="en-US" i="1">
                          <a:latin typeface="Cambria Math"/>
                        </a:rPr>
                        <m:t>)+(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/>
                            </a:rPr>
                            <m:t>𝑏</m:t>
                          </m:r>
                        </m:e>
                        <m:sub>
                          <m:r>
                            <a:rPr lang="en-US" i="1">
                              <a:latin typeface="Cambria Math"/>
                            </a:rPr>
                            <m:t>0</m:t>
                          </m:r>
                        </m:sub>
                      </m:sSub>
                      <m:r>
                        <a:rPr lang="en-US" i="1">
                          <a:latin typeface="Cambria Math"/>
                        </a:rPr>
                        <m:t>+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/>
                            </a:rPr>
                            <m:t>𝑏</m:t>
                          </m:r>
                        </m:e>
                        <m:sub>
                          <m:r>
                            <a:rPr lang="en-US" i="1">
                              <a:latin typeface="Cambria Math"/>
                            </a:rPr>
                            <m:t>1</m:t>
                          </m:r>
                        </m:sub>
                      </m:sSub>
                      <m:r>
                        <a:rPr lang="en-US" i="1">
                          <a:latin typeface="Cambria Math"/>
                        </a:rPr>
                        <m:t>𝑥</m:t>
                      </m:r>
                      <m:r>
                        <a:rPr lang="en-US" i="1">
                          <a:latin typeface="Cambria Math"/>
                        </a:rPr>
                        <m:t>)=(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/>
                            </a:rPr>
                            <m:t>𝑎</m:t>
                          </m:r>
                        </m:e>
                        <m:sub>
                          <m:r>
                            <a:rPr lang="en-US" i="1">
                              <a:latin typeface="Cambria Math"/>
                            </a:rPr>
                            <m:t>0</m:t>
                          </m:r>
                        </m:sub>
                      </m:sSub>
                      <m:r>
                        <a:rPr lang="en-US" i="1">
                          <a:latin typeface="Cambria Math"/>
                        </a:rPr>
                        <m:t>+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/>
                            </a:rPr>
                            <m:t>𝑏</m:t>
                          </m:r>
                        </m:e>
                        <m:sub>
                          <m:r>
                            <a:rPr lang="en-US" i="1">
                              <a:latin typeface="Cambria Math"/>
                            </a:rPr>
                            <m:t>0</m:t>
                          </m:r>
                        </m:sub>
                      </m:sSub>
                      <m:r>
                        <a:rPr lang="en-US" i="1">
                          <a:latin typeface="Cambria Math"/>
                        </a:rPr>
                        <m:t>)+(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/>
                            </a:rPr>
                            <m:t>𝑎</m:t>
                          </m:r>
                        </m:e>
                        <m:sub>
                          <m:r>
                            <a:rPr lang="en-US" i="1">
                              <a:latin typeface="Cambria Math"/>
                            </a:rPr>
                            <m:t>1</m:t>
                          </m:r>
                        </m:sub>
                      </m:sSub>
                      <m:r>
                        <a:rPr lang="en-US" i="1">
                          <a:latin typeface="Cambria Math"/>
                        </a:rPr>
                        <m:t>+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/>
                            </a:rPr>
                            <m:t>𝑏</m:t>
                          </m:r>
                        </m:e>
                        <m:sub>
                          <m:r>
                            <a:rPr lang="en-US" i="1">
                              <a:latin typeface="Cambria Math"/>
                            </a:rPr>
                            <m:t>1</m:t>
                          </m:r>
                        </m:sub>
                      </m:sSub>
                      <m:r>
                        <a:rPr lang="en-US" i="1">
                          <a:latin typeface="Cambria Math"/>
                        </a:rPr>
                        <m:t>)</m:t>
                      </m:r>
                      <m:r>
                        <a:rPr lang="en-US" i="1">
                          <a:latin typeface="Cambria Math"/>
                        </a:rPr>
                        <m:t>𝑥</m:t>
                      </m:r>
                    </m:oMath>
                  </m:oMathPara>
                </a14:m>
                <a:endParaRPr dirty="0"/>
              </a:p>
              <a:p>
                <a:r>
                  <a:rPr dirty="0"/>
                  <a:t>곱셈 (x²를 ζⁱ로 치환):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latin typeface="Cambria Math"/>
                        </a:rPr>
                        <m:t>(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/>
                            </a:rPr>
                            <m:t>𝑎</m:t>
                          </m:r>
                        </m:e>
                        <m:sub>
                          <m:r>
                            <a:rPr lang="en-US" i="1">
                              <a:latin typeface="Cambria Math"/>
                            </a:rPr>
                            <m:t>0</m:t>
                          </m:r>
                        </m:sub>
                      </m:sSub>
                      <m:r>
                        <a:rPr lang="en-US" i="1">
                          <a:latin typeface="Cambria Math"/>
                        </a:rPr>
                        <m:t>+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/>
                            </a:rPr>
                            <m:t>𝑎</m:t>
                          </m:r>
                        </m:e>
                        <m:sub>
                          <m:r>
                            <a:rPr lang="en-US" i="1">
                              <a:latin typeface="Cambria Math"/>
                            </a:rPr>
                            <m:t>1</m:t>
                          </m:r>
                        </m:sub>
                      </m:sSub>
                      <m:r>
                        <a:rPr lang="en-US" i="1">
                          <a:latin typeface="Cambria Math"/>
                        </a:rPr>
                        <m:t>𝑥</m:t>
                      </m:r>
                      <m:r>
                        <a:rPr lang="en-US" i="1">
                          <a:latin typeface="Cambria Math"/>
                        </a:rPr>
                        <m:t>)(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/>
                            </a:rPr>
                            <m:t>𝑏</m:t>
                          </m:r>
                        </m:e>
                        <m:sub>
                          <m:r>
                            <a:rPr lang="en-US" i="1">
                              <a:latin typeface="Cambria Math"/>
                            </a:rPr>
                            <m:t>0</m:t>
                          </m:r>
                        </m:sub>
                      </m:sSub>
                      <m:r>
                        <a:rPr lang="en-US" i="1">
                          <a:latin typeface="Cambria Math"/>
                        </a:rPr>
                        <m:t>+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/>
                            </a:rPr>
                            <m:t>𝑏</m:t>
                          </m:r>
                        </m:e>
                        <m:sub>
                          <m:r>
                            <a:rPr lang="en-US" i="1">
                              <a:latin typeface="Cambria Math"/>
                            </a:rPr>
                            <m:t>1</m:t>
                          </m:r>
                        </m:sub>
                      </m:sSub>
                      <m:r>
                        <a:rPr lang="en-US" i="1">
                          <a:latin typeface="Cambria Math"/>
                        </a:rPr>
                        <m:t>𝑥</m:t>
                      </m:r>
                      <m:r>
                        <a:rPr lang="en-US" i="1">
                          <a:latin typeface="Cambria Math"/>
                        </a:rPr>
                        <m:t>)=(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/>
                            </a:rPr>
                            <m:t>𝑎</m:t>
                          </m:r>
                        </m:e>
                        <m:sub>
                          <m:r>
                            <a:rPr lang="en-US" i="1">
                              <a:latin typeface="Cambria Math"/>
                            </a:rPr>
                            <m:t>0</m:t>
                          </m:r>
                        </m:sub>
                      </m:sSub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/>
                            </a:rPr>
                            <m:t>𝑏</m:t>
                          </m:r>
                        </m:e>
                        <m:sub>
                          <m:r>
                            <a:rPr lang="en-US" i="1">
                              <a:latin typeface="Cambria Math"/>
                            </a:rPr>
                            <m:t>0</m:t>
                          </m:r>
                        </m:sub>
                      </m:sSub>
                      <m:r>
                        <a:rPr lang="en-US" i="1">
                          <a:latin typeface="Cambria Math"/>
                        </a:rPr>
                        <m:t>+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/>
                            </a:rPr>
                            <m:t>𝑎</m:t>
                          </m:r>
                        </m:e>
                        <m:sub>
                          <m:r>
                            <a:rPr lang="en-US" i="1">
                              <a:latin typeface="Cambria Math"/>
                            </a:rPr>
                            <m:t>1</m:t>
                          </m:r>
                        </m:sub>
                      </m:sSub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/>
                            </a:rPr>
                            <m:t>𝑏</m:t>
                          </m:r>
                        </m:e>
                        <m:sub>
                          <m:r>
                            <a:rPr lang="en-US" i="1">
                              <a:latin typeface="Cambria Math"/>
                            </a:rPr>
                            <m:t>1</m:t>
                          </m:r>
                        </m:sub>
                      </m:sSub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/>
                            </a:rPr>
                            <m:t>𝜁</m:t>
                          </m:r>
                        </m:e>
                        <m:sup>
                          <m:r>
                            <a:rPr lang="en-US" i="1">
                              <a:latin typeface="Cambria Math"/>
                            </a:rPr>
                            <m:t>𝑖</m:t>
                          </m:r>
                        </m:sup>
                      </m:sSup>
                      <m:r>
                        <a:rPr lang="en-US" i="1">
                          <a:latin typeface="Cambria Math"/>
                        </a:rPr>
                        <m:t>)+(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/>
                            </a:rPr>
                            <m:t>𝑎</m:t>
                          </m:r>
                        </m:e>
                        <m:sub>
                          <m:r>
                            <a:rPr lang="en-US" i="1">
                              <a:latin typeface="Cambria Math"/>
                            </a:rPr>
                            <m:t>0</m:t>
                          </m:r>
                        </m:sub>
                      </m:sSub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/>
                            </a:rPr>
                            <m:t>𝑏</m:t>
                          </m:r>
                        </m:e>
                        <m:sub>
                          <m:r>
                            <a:rPr lang="en-US" i="1">
                              <a:latin typeface="Cambria Math"/>
                            </a:rPr>
                            <m:t>1</m:t>
                          </m:r>
                        </m:sub>
                      </m:sSub>
                      <m:r>
                        <a:rPr lang="en-US" i="1">
                          <a:latin typeface="Cambria Math"/>
                        </a:rPr>
                        <m:t>+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/>
                            </a:rPr>
                            <m:t>𝑎</m:t>
                          </m:r>
                        </m:e>
                        <m:sub>
                          <m:r>
                            <a:rPr lang="en-US" i="1">
                              <a:latin typeface="Cambria Math"/>
                            </a:rPr>
                            <m:t>1</m:t>
                          </m:r>
                        </m:sub>
                      </m:sSub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/>
                            </a:rPr>
                            <m:t>𝑏</m:t>
                          </m:r>
                        </m:e>
                        <m:sub>
                          <m:r>
                            <a:rPr lang="en-US" i="1">
                              <a:latin typeface="Cambria Math"/>
                            </a:rPr>
                            <m:t>0</m:t>
                          </m:r>
                        </m:sub>
                      </m:sSub>
                      <m:r>
                        <a:rPr lang="en-US" i="1">
                          <a:latin typeface="Cambria Math"/>
                        </a:rPr>
                        <m:t>)</m:t>
                      </m:r>
                      <m:r>
                        <a:rPr lang="en-US" i="1">
                          <a:latin typeface="Cambria Math"/>
                        </a:rPr>
                        <m:t>𝑥</m:t>
                      </m:r>
                    </m:oMath>
                  </m:oMathPara>
                </a14:m>
                <a:endParaRPr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295322"/>
                <a:ext cx="10515600" cy="4701089"/>
              </a:xfrm>
              <a:blipFill>
                <a:blip r:embed="rId2"/>
                <a:stretch>
                  <a:fillRect l="-406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0CCEF06-AF2C-16E5-D994-94762FCED6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23</a:t>
            </a:fld>
            <a:endParaRPr lang="ko-KR" altLang="en-US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136525"/>
            <a:ext cx="10515600" cy="753141"/>
          </a:xfrm>
        </p:spPr>
        <p:txBody>
          <a:bodyPr/>
          <a:lstStyle/>
          <a:p>
            <a:r>
              <a:rPr dirty="0"/>
              <a:t>Kyber형 예제 파라미터와 인수분해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838200" y="1295322"/>
                <a:ext cx="10515600" cy="4701089"/>
              </a:xfrm>
            </p:spPr>
            <p:txBody>
              <a:bodyPr wrap="square"/>
              <a:lstStyle/>
              <a:p>
                <a:r>
                  <a:rPr dirty="0"/>
                  <a:t>구체적인 예로 q=137, n=8을 쓴다 (n이 q−1=136=8×17을 나누지만 2n=16은 안 나눔)</a:t>
                </a:r>
              </a:p>
              <a:p>
                <a:r>
                  <a:rPr dirty="0"/>
                  <a:t>ζ=10은 Z</a:t>
                </a:r>
                <a:r>
                  <a:rPr baseline="-25000" dirty="0"/>
                  <a:t>137</a:t>
                </a:r>
                <a:r>
                  <a:rPr dirty="0"/>
                  <a:t>*에서 위수 8을 가지며, ζ⁴=−1.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𝑅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𝑞</m:t>
                        </m:r>
                      </m:sub>
                    </m:sSub>
                    <m:r>
                      <a:rPr lang="en-US" i="1">
                        <a:latin typeface="Cambria Math"/>
                      </a:rPr>
                      <m:t>=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ℤ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137</m:t>
                        </m:r>
                      </m:sub>
                    </m:sSub>
                    <m:r>
                      <a:rPr lang="en-US" i="1">
                        <a:latin typeface="Cambria Math"/>
                      </a:rPr>
                      <m:t>[</m:t>
                    </m:r>
                    <m:r>
                      <a:rPr lang="en-US" i="1">
                        <a:latin typeface="Cambria Math"/>
                      </a:rPr>
                      <m:t>𝑥</m:t>
                    </m:r>
                    <m:r>
                      <a:rPr lang="en-US" i="1">
                        <a:latin typeface="Cambria Math"/>
                      </a:rPr>
                      <m:t>]/(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/>
                          </a:rPr>
                          <m:t>𝑥</m:t>
                        </m:r>
                      </m:e>
                      <m:sup>
                        <m:r>
                          <a:rPr lang="en-US" i="1">
                            <a:latin typeface="Cambria Math"/>
                          </a:rPr>
                          <m:t>8</m:t>
                        </m:r>
                      </m:sup>
                    </m:sSup>
                    <m:r>
                      <a:rPr lang="en-US" i="1">
                        <a:latin typeface="Cambria Math"/>
                      </a:rPr>
                      <m:t>+1)</m:t>
                    </m:r>
                  </m:oMath>
                </a14:m>
                <a:endParaRPr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/>
                            </a:rPr>
                            <m:t>𝑥</m:t>
                          </m:r>
                        </m:e>
                        <m:sup>
                          <m:r>
                            <a:rPr lang="en-US" i="1">
                              <a:latin typeface="Cambria Math"/>
                            </a:rPr>
                            <m:t>8</m:t>
                          </m:r>
                        </m:sup>
                      </m:sSup>
                      <m:r>
                        <a:rPr lang="en-US" i="1">
                          <a:latin typeface="Cambria Math"/>
                        </a:rPr>
                        <m:t>+1=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/>
                            </a:rPr>
                            <m:t>𝑥</m:t>
                          </m:r>
                        </m:e>
                        <m:sup>
                          <m:r>
                            <a:rPr lang="en-US" i="1">
                              <a:latin typeface="Cambria Math"/>
                            </a:rPr>
                            <m:t>8</m:t>
                          </m:r>
                        </m:sup>
                      </m:sSup>
                      <m:r>
                        <a:rPr lang="en-US" i="1">
                          <a:latin typeface="Cambria Math"/>
                        </a:rPr>
                        <m:t>−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/>
                            </a:rPr>
                            <m:t>𝜁</m:t>
                          </m:r>
                        </m:e>
                        <m:sup>
                          <m:r>
                            <a:rPr lang="en-US" i="1">
                              <a:latin typeface="Cambria Math"/>
                            </a:rPr>
                            <m:t>4</m:t>
                          </m:r>
                        </m:sup>
                      </m:sSup>
                      <m:r>
                        <a:rPr lang="en-US" i="1">
                          <a:latin typeface="Cambria Math"/>
                        </a:rPr>
                        <m:t>=(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/>
                            </a:rPr>
                            <m:t>𝑥</m:t>
                          </m:r>
                        </m:e>
                        <m:sup>
                          <m:r>
                            <a:rPr lang="en-US" i="1">
                              <a:latin typeface="Cambria Math"/>
                            </a:rPr>
                            <m:t>4</m:t>
                          </m:r>
                        </m:sup>
                      </m:sSup>
                      <m:r>
                        <a:rPr lang="en-US" i="1">
                          <a:latin typeface="Cambria Math"/>
                        </a:rPr>
                        <m:t>−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/>
                            </a:rPr>
                            <m:t>𝜁</m:t>
                          </m:r>
                        </m:e>
                        <m:sup>
                          <m:r>
                            <a:rPr lang="en-US" i="1">
                              <a:latin typeface="Cambria Math"/>
                            </a:rPr>
                            <m:t>2</m:t>
                          </m:r>
                        </m:sup>
                      </m:sSup>
                      <m:r>
                        <a:rPr lang="en-US" i="1">
                          <a:latin typeface="Cambria Math"/>
                        </a:rPr>
                        <m:t>)(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/>
                            </a:rPr>
                            <m:t>𝑥</m:t>
                          </m:r>
                        </m:e>
                        <m:sup>
                          <m:r>
                            <a:rPr lang="en-US" i="1">
                              <a:latin typeface="Cambria Math"/>
                            </a:rPr>
                            <m:t>4</m:t>
                          </m:r>
                        </m:sup>
                      </m:sSup>
                      <m:r>
                        <a:rPr lang="en-US" i="1">
                          <a:latin typeface="Cambria Math"/>
                        </a:rPr>
                        <m:t>+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/>
                            </a:rPr>
                            <m:t>𝜁</m:t>
                          </m:r>
                        </m:e>
                        <m:sup>
                          <m:r>
                            <a:rPr lang="en-US" i="1">
                              <a:latin typeface="Cambria Math"/>
                            </a:rPr>
                            <m:t>2</m:t>
                          </m:r>
                        </m:sup>
                      </m:sSup>
                      <m:r>
                        <a:rPr lang="en-US" i="1">
                          <a:latin typeface="Cambria Math"/>
                        </a:rPr>
                        <m:t>)=(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/>
                            </a:rPr>
                            <m:t>𝑥</m:t>
                          </m:r>
                        </m:e>
                        <m:sup>
                          <m:r>
                            <a:rPr lang="en-US" i="1">
                              <a:latin typeface="Cambria Math"/>
                            </a:rPr>
                            <m:t>4</m:t>
                          </m:r>
                        </m:sup>
                      </m:sSup>
                      <m:r>
                        <a:rPr lang="en-US" i="1">
                          <a:latin typeface="Cambria Math"/>
                        </a:rPr>
                        <m:t>−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/>
                            </a:rPr>
                            <m:t>𝜁</m:t>
                          </m:r>
                        </m:e>
                        <m:sup>
                          <m:r>
                            <a:rPr lang="en-US" i="1">
                              <a:latin typeface="Cambria Math"/>
                            </a:rPr>
                            <m:t>2</m:t>
                          </m:r>
                        </m:sup>
                      </m:sSup>
                      <m:r>
                        <a:rPr lang="en-US" i="1">
                          <a:latin typeface="Cambria Math"/>
                        </a:rPr>
                        <m:t>)(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/>
                            </a:rPr>
                            <m:t>𝑥</m:t>
                          </m:r>
                        </m:e>
                        <m:sup>
                          <m:r>
                            <a:rPr lang="en-US" i="1">
                              <a:latin typeface="Cambria Math"/>
                            </a:rPr>
                            <m:t>4</m:t>
                          </m:r>
                        </m:sup>
                      </m:sSup>
                      <m:r>
                        <a:rPr lang="en-US" i="1">
                          <a:latin typeface="Cambria Math"/>
                        </a:rPr>
                        <m:t>−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/>
                            </a:rPr>
                            <m:t>𝜁</m:t>
                          </m:r>
                        </m:e>
                        <m:sup>
                          <m:r>
                            <a:rPr lang="en-US" i="1">
                              <a:latin typeface="Cambria Math"/>
                            </a:rPr>
                            <m:t>6</m:t>
                          </m:r>
                        </m:sup>
                      </m:sSup>
                      <m:r>
                        <a:rPr lang="en-US" i="1">
                          <a:latin typeface="Cambria Math"/>
                        </a:rPr>
                        <m:t>)</m:t>
                      </m:r>
                    </m:oMath>
                  </m:oMathPara>
                </a14:m>
                <a:endParaRPr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latin typeface="Cambria Math"/>
                        </a:rPr>
                        <m:t>=(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/>
                            </a:rPr>
                            <m:t>𝑥</m:t>
                          </m:r>
                        </m:e>
                        <m:sup>
                          <m:r>
                            <a:rPr lang="en-US" i="1">
                              <a:latin typeface="Cambria Math"/>
                            </a:rPr>
                            <m:t>2</m:t>
                          </m:r>
                        </m:sup>
                      </m:sSup>
                      <m:r>
                        <a:rPr lang="en-US" i="1">
                          <a:latin typeface="Cambria Math"/>
                        </a:rPr>
                        <m:t>−</m:t>
                      </m:r>
                      <m:r>
                        <a:rPr lang="en-US" i="1">
                          <a:latin typeface="Cambria Math"/>
                        </a:rPr>
                        <m:t>𝜁</m:t>
                      </m:r>
                      <m:r>
                        <a:rPr lang="en-US" i="1">
                          <a:latin typeface="Cambria Math"/>
                        </a:rPr>
                        <m:t>)(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/>
                            </a:rPr>
                            <m:t>𝑥</m:t>
                          </m:r>
                        </m:e>
                        <m:sup>
                          <m:r>
                            <a:rPr lang="en-US" i="1">
                              <a:latin typeface="Cambria Math"/>
                            </a:rPr>
                            <m:t>2</m:t>
                          </m:r>
                        </m:sup>
                      </m:sSup>
                      <m:r>
                        <a:rPr lang="en-US" i="1">
                          <a:latin typeface="Cambria Math"/>
                        </a:rPr>
                        <m:t>+</m:t>
                      </m:r>
                      <m:r>
                        <a:rPr lang="en-US" i="1">
                          <a:latin typeface="Cambria Math"/>
                        </a:rPr>
                        <m:t>𝜁</m:t>
                      </m:r>
                      <m:r>
                        <a:rPr lang="en-US" i="1">
                          <a:latin typeface="Cambria Math"/>
                        </a:rPr>
                        <m:t>)(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/>
                            </a:rPr>
                            <m:t>𝑥</m:t>
                          </m:r>
                        </m:e>
                        <m:sup>
                          <m:r>
                            <a:rPr lang="en-US" i="1">
                              <a:latin typeface="Cambria Math"/>
                            </a:rPr>
                            <m:t>2</m:t>
                          </m:r>
                        </m:sup>
                      </m:sSup>
                      <m:r>
                        <a:rPr lang="en-US" i="1">
                          <a:latin typeface="Cambria Math"/>
                        </a:rPr>
                        <m:t>−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/>
                            </a:rPr>
                            <m:t>𝜁</m:t>
                          </m:r>
                        </m:e>
                        <m:sup>
                          <m:r>
                            <a:rPr lang="en-US" i="1">
                              <a:latin typeface="Cambria Math"/>
                            </a:rPr>
                            <m:t>3</m:t>
                          </m:r>
                        </m:sup>
                      </m:sSup>
                      <m:r>
                        <a:rPr lang="en-US" i="1">
                          <a:latin typeface="Cambria Math"/>
                        </a:rPr>
                        <m:t>)(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/>
                            </a:rPr>
                            <m:t>𝑥</m:t>
                          </m:r>
                        </m:e>
                        <m:sup>
                          <m:r>
                            <a:rPr lang="en-US" i="1">
                              <a:latin typeface="Cambria Math"/>
                            </a:rPr>
                            <m:t>2</m:t>
                          </m:r>
                        </m:sup>
                      </m:sSup>
                      <m:r>
                        <a:rPr lang="en-US" i="1">
                          <a:latin typeface="Cambria Math"/>
                        </a:rPr>
                        <m:t>+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/>
                            </a:rPr>
                            <m:t>𝜁</m:t>
                          </m:r>
                        </m:e>
                        <m:sup>
                          <m:r>
                            <a:rPr lang="en-US" i="1">
                              <a:latin typeface="Cambria Math"/>
                            </a:rPr>
                            <m:t>3</m:t>
                          </m:r>
                        </m:sup>
                      </m:sSup>
                      <m:r>
                        <a:rPr lang="en-US" i="1">
                          <a:latin typeface="Cambria Math"/>
                        </a:rPr>
                        <m:t>)=(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/>
                            </a:rPr>
                            <m:t>𝑥</m:t>
                          </m:r>
                        </m:e>
                        <m:sup>
                          <m:r>
                            <a:rPr lang="en-US" i="1">
                              <a:latin typeface="Cambria Math"/>
                            </a:rPr>
                            <m:t>2</m:t>
                          </m:r>
                        </m:sup>
                      </m:sSup>
                      <m:r>
                        <a:rPr lang="en-US" i="1">
                          <a:latin typeface="Cambria Math"/>
                        </a:rPr>
                        <m:t>−</m:t>
                      </m:r>
                      <m:r>
                        <a:rPr lang="en-US" i="1">
                          <a:latin typeface="Cambria Math"/>
                        </a:rPr>
                        <m:t>𝜁</m:t>
                      </m:r>
                      <m:r>
                        <a:rPr lang="en-US" i="1">
                          <a:latin typeface="Cambria Math"/>
                        </a:rPr>
                        <m:t>)(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/>
                            </a:rPr>
                            <m:t>𝑥</m:t>
                          </m:r>
                        </m:e>
                        <m:sup>
                          <m:r>
                            <a:rPr lang="en-US" i="1">
                              <a:latin typeface="Cambria Math"/>
                            </a:rPr>
                            <m:t>2</m:t>
                          </m:r>
                        </m:sup>
                      </m:sSup>
                      <m:r>
                        <a:rPr lang="en-US" i="1">
                          <a:latin typeface="Cambria Math"/>
                        </a:rPr>
                        <m:t>−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/>
                            </a:rPr>
                            <m:t>𝜁</m:t>
                          </m:r>
                        </m:e>
                        <m:sup>
                          <m:r>
                            <a:rPr lang="en-US" i="1">
                              <a:latin typeface="Cambria Math"/>
                            </a:rPr>
                            <m:t>5</m:t>
                          </m:r>
                        </m:sup>
                      </m:sSup>
                      <m:r>
                        <a:rPr lang="en-US" i="1">
                          <a:latin typeface="Cambria Math"/>
                        </a:rPr>
                        <m:t>)(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/>
                            </a:rPr>
                            <m:t>𝑥</m:t>
                          </m:r>
                        </m:e>
                        <m:sup>
                          <m:r>
                            <a:rPr lang="en-US" i="1">
                              <a:latin typeface="Cambria Math"/>
                            </a:rPr>
                            <m:t>2</m:t>
                          </m:r>
                        </m:sup>
                      </m:sSup>
                      <m:r>
                        <a:rPr lang="en-US" i="1">
                          <a:latin typeface="Cambria Math"/>
                        </a:rPr>
                        <m:t>−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/>
                            </a:rPr>
                            <m:t>𝜁</m:t>
                          </m:r>
                        </m:e>
                        <m:sup>
                          <m:r>
                            <a:rPr lang="en-US" i="1">
                              <a:latin typeface="Cambria Math"/>
                            </a:rPr>
                            <m:t>3</m:t>
                          </m:r>
                        </m:sup>
                      </m:sSup>
                      <m:r>
                        <a:rPr lang="en-US" i="1">
                          <a:latin typeface="Cambria Math"/>
                        </a:rPr>
                        <m:t>)(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/>
                            </a:rPr>
                            <m:t>𝑥</m:t>
                          </m:r>
                        </m:e>
                        <m:sup>
                          <m:r>
                            <a:rPr lang="en-US" i="1">
                              <a:latin typeface="Cambria Math"/>
                            </a:rPr>
                            <m:t>2</m:t>
                          </m:r>
                        </m:sup>
                      </m:sSup>
                      <m:r>
                        <a:rPr lang="en-US" i="1">
                          <a:latin typeface="Cambria Math"/>
                        </a:rPr>
                        <m:t>−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/>
                            </a:rPr>
                            <m:t>𝜁</m:t>
                          </m:r>
                        </m:e>
                        <m:sup>
                          <m:r>
                            <a:rPr lang="en-US" i="1">
                              <a:latin typeface="Cambria Math"/>
                            </a:rPr>
                            <m:t>7</m:t>
                          </m:r>
                        </m:sup>
                      </m:sSup>
                      <m:r>
                        <a:rPr lang="en-US" i="1">
                          <a:latin typeface="Cambria Math"/>
                        </a:rPr>
                        <m:t>)</m:t>
                      </m:r>
                    </m:oMath>
                  </m:oMathPara>
                </a14:m>
                <a:endParaRPr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295322"/>
                <a:ext cx="10515600" cy="4701089"/>
              </a:xfrm>
              <a:blipFill>
                <a:blip r:embed="rId2"/>
                <a:stretch>
                  <a:fillRect l="-406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0CCEF06-AF2C-16E5-D994-94762FCED6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24</a:t>
            </a:fld>
            <a:endParaRPr lang="ko-KR" altLang="en-US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136525"/>
            <a:ext cx="10515600" cy="753141"/>
          </a:xfrm>
        </p:spPr>
        <p:txBody>
          <a:bodyPr/>
          <a:lstStyle/>
          <a:p>
            <a:r>
              <a:rPr dirty="0"/>
              <a:t>Kyber형 NTT 트리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3429000"/>
            <a:ext cx="10515600" cy="2567411"/>
          </a:xfrm>
        </p:spPr>
        <p:txBody>
          <a:bodyPr wrap="square"/>
          <a:lstStyle/>
          <a:p>
            <a:r>
              <a:rPr dirty="0"/>
              <a:t>Dilithium 트리와 비교하면 마지막 선형 인수 단계가 없다 — 리프가 이차식 x²−ζⁱ에서 멈춘다</a:t>
            </a:r>
          </a:p>
          <a:p>
            <a:r>
              <a:rPr dirty="0"/>
              <a:t>재귀 깊이가 하나 줄고, 리프 개수도 n/2개 — 각 리프가 Q</a:t>
            </a:r>
            <a:r>
              <a:rPr baseline="-25000" dirty="0"/>
              <a:t>i</a:t>
            </a:r>
            <a:r>
              <a:rPr dirty="0"/>
              <a:t> 하나에 대응한다</a:t>
            </a:r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0CCEF06-AF2C-16E5-D994-94762FCED6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25</a:t>
            </a:fld>
            <a:endParaRPr lang="ko-KR" altLang="en-US" dirty="0"/>
          </a:p>
        </p:txBody>
      </p:sp>
      <p:pic>
        <p:nvPicPr>
          <p:cNvPr id="1026" name="Picture 2" descr="스크린샷">
            <a:extLst>
              <a:ext uri="{FF2B5EF4-FFF2-40B4-BE49-F238E27FC236}">
                <a16:creationId xmlns:a16="http://schemas.microsoft.com/office/drawing/2014/main" id="{7A09162F-4BB3-FF74-A33B-C1949391BFC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571875" y="1295322"/>
            <a:ext cx="5048250" cy="1828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136525"/>
            <a:ext cx="10515600" cy="753141"/>
          </a:xfrm>
        </p:spPr>
        <p:txBody>
          <a:bodyPr/>
          <a:lstStyle/>
          <a:p>
            <a:r>
              <a:rPr dirty="0"/>
              <a:t>Kyber NTT 실행시간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838200" y="1295322"/>
                <a:ext cx="10515600" cy="4701089"/>
              </a:xfrm>
            </p:spPr>
            <p:txBody>
              <a:bodyPr wrap="square"/>
              <a:lstStyle/>
              <a:p>
                <a:r>
                  <a:rPr dirty="0"/>
                  <a:t>Dilithium과 동일한 재귀식이 적용된다: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latin typeface="Cambria Math"/>
                        </a:rPr>
                        <m:t>𝑇</m:t>
                      </m:r>
                      <m:r>
                        <a:rPr lang="en-US" i="1">
                          <a:latin typeface="Cambria Math"/>
                        </a:rPr>
                        <m:t>(</m:t>
                      </m:r>
                      <m:r>
                        <a:rPr lang="en-US" i="1">
                          <a:latin typeface="Cambria Math"/>
                        </a:rPr>
                        <m:t>𝑛</m:t>
                      </m:r>
                      <m:r>
                        <a:rPr lang="en-US" i="1">
                          <a:latin typeface="Cambria Math"/>
                        </a:rPr>
                        <m:t>)=2</m:t>
                      </m:r>
                      <m:r>
                        <a:rPr lang="en-US" i="1">
                          <a:latin typeface="Cambria Math"/>
                        </a:rPr>
                        <m:t>𝑇</m:t>
                      </m:r>
                      <m:r>
                        <a:rPr lang="en-US" i="1">
                          <a:latin typeface="Cambria Math"/>
                        </a:rPr>
                        <m:t>(</m:t>
                      </m:r>
                      <m:r>
                        <a:rPr lang="en-US" i="1">
                          <a:latin typeface="Cambria Math"/>
                        </a:rPr>
                        <m:t>𝑛</m:t>
                      </m:r>
                      <m:r>
                        <a:rPr lang="en-US" i="1">
                          <a:latin typeface="Cambria Math"/>
                        </a:rPr>
                        <m:t>/2)+</m:t>
                      </m:r>
                      <m:r>
                        <a:rPr lang="en-US" i="1">
                          <a:latin typeface="Cambria Math"/>
                        </a:rPr>
                        <m:t>𝑛</m:t>
                      </m:r>
                      <m:r>
                        <m:rPr>
                          <m:nor/>
                        </m:rPr>
                        <a:rPr lang="en-US" i="1">
                          <a:latin typeface="Cambria Math"/>
                        </a:rPr>
                        <m:t> </m:t>
                      </m:r>
                      <m:r>
                        <a:rPr lang="en-US" i="1">
                          <a:latin typeface="Cambria Math"/>
                        </a:rPr>
                        <m:t>⇒</m:t>
                      </m:r>
                      <m:r>
                        <m:rPr>
                          <m:nor/>
                        </m:rPr>
                        <a:rPr lang="en-US" i="1">
                          <a:latin typeface="Cambria Math"/>
                        </a:rPr>
                        <m:t> </m:t>
                      </m:r>
                      <m:r>
                        <a:rPr lang="en-US" i="1">
                          <a:latin typeface="Cambria Math"/>
                        </a:rPr>
                        <m:t>𝑇</m:t>
                      </m:r>
                      <m:r>
                        <a:rPr lang="en-US" i="1">
                          <a:latin typeface="Cambria Math"/>
                        </a:rPr>
                        <m:t>(</m:t>
                      </m:r>
                      <m:r>
                        <a:rPr lang="en-US" i="1">
                          <a:latin typeface="Cambria Math"/>
                        </a:rPr>
                        <m:t>𝑛</m:t>
                      </m:r>
                      <m:r>
                        <a:rPr lang="en-US" i="1">
                          <a:latin typeface="Cambria Math"/>
                        </a:rPr>
                        <m:t>)=</m:t>
                      </m:r>
                      <m:r>
                        <a:rPr lang="en-US" i="1">
                          <a:latin typeface="Cambria Math"/>
                        </a:rPr>
                        <m:t>𝑂</m:t>
                      </m:r>
                      <m:r>
                        <a:rPr lang="en-US" i="1">
                          <a:latin typeface="Cambria Math"/>
                        </a:rPr>
                        <m:t>(</m:t>
                      </m:r>
                      <m:r>
                        <a:rPr lang="en-US" i="1">
                          <a:latin typeface="Cambria Math"/>
                        </a:rPr>
                        <m:t>𝑛</m:t>
                      </m:r>
                      <m:r>
                        <m:rPr>
                          <m:nor/>
                        </m:rPr>
                        <a:rPr lang="en-US" i="1">
                          <a:latin typeface="Cambria Math"/>
                        </a:rPr>
                        <m:t> </m:t>
                      </m:r>
                      <m:r>
                        <m:rPr>
                          <m:sty m:val="p"/>
                        </m:rPr>
                        <a:rPr lang="en-US" i="1">
                          <a:latin typeface="Cambria Math"/>
                        </a:rPr>
                        <m:t>log</m:t>
                      </m:r>
                      <m:r>
                        <m:rPr>
                          <m:nor/>
                        </m:rPr>
                        <a:rPr lang="en-US" i="1">
                          <a:latin typeface="Cambria Math"/>
                        </a:rPr>
                        <m:t> </m:t>
                      </m:r>
                      <m:r>
                        <a:rPr lang="en-US" i="1">
                          <a:latin typeface="Cambria Math"/>
                        </a:rPr>
                        <m:t>𝑛</m:t>
                      </m:r>
                      <m:r>
                        <a:rPr lang="en-US" i="1">
                          <a:latin typeface="Cambria Math"/>
                        </a:rPr>
                        <m:t>)</m:t>
                      </m:r>
                    </m:oMath>
                  </m:oMathPara>
                </a14:m>
                <a:endParaRPr dirty="0"/>
              </a:p>
              <a:p>
                <a:r>
                  <a:rPr dirty="0"/>
                  <a:t>NTT⁻¹도 동일한 시간복잡도로 계산된다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295322"/>
                <a:ext cx="10515600" cy="4701089"/>
              </a:xfrm>
              <a:blipFill>
                <a:blip r:embed="rId2"/>
                <a:stretch>
                  <a:fillRect l="-406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0CCEF06-AF2C-16E5-D994-94762FCED6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26</a:t>
            </a:fld>
            <a:endParaRPr lang="ko-KR" altLang="en-US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136525"/>
            <a:ext cx="10515600" cy="753141"/>
          </a:xfrm>
        </p:spPr>
        <p:txBody>
          <a:bodyPr/>
          <a:lstStyle/>
          <a:p>
            <a:r>
              <a:rPr dirty="0"/>
              <a:t>수치 예제: NTT²로 곱셈하기 (q=137)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838200" y="1295322"/>
                <a:ext cx="10515600" cy="4701089"/>
              </a:xfrm>
            </p:spPr>
            <p:txBody>
              <a:bodyPr wrap="square"/>
              <a:lstStyle/>
              <a:p>
                <a:r>
                  <a:rPr dirty="0"/>
                  <a:t>같은 a, b를 앞서 쓴 Kyber형 파라미터 q=137, ζ=10(위수 8)으로 곱한다 </a:t>
                </a:r>
                <a:br>
                  <a:rPr lang="en-US" dirty="0"/>
                </a:br>
                <a:r>
                  <a:rPr dirty="0"/>
                  <a:t>— 성분이 스칼라가 아니라 Q</a:t>
                </a:r>
                <a:r>
                  <a:rPr baseline="-25000" dirty="0"/>
                  <a:t>i</a:t>
                </a:r>
                <a:r>
                  <a:rPr dirty="0"/>
                  <a:t> 원소다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latin typeface="Cambria Math"/>
                        </a:rPr>
                        <m:t>𝑎</m:t>
                      </m:r>
                      <m:r>
                        <a:rPr lang="en-US" i="1">
                          <a:latin typeface="Cambria Math"/>
                        </a:rPr>
                        <m:t>(</m:t>
                      </m:r>
                      <m:r>
                        <a:rPr lang="en-US" i="1">
                          <a:latin typeface="Cambria Math"/>
                        </a:rPr>
                        <m:t>𝑥</m:t>
                      </m:r>
                      <m:r>
                        <a:rPr lang="en-US" i="1">
                          <a:latin typeface="Cambria Math"/>
                        </a:rPr>
                        <m:t>)=1+2</m:t>
                      </m:r>
                      <m:r>
                        <a:rPr lang="en-US" i="1">
                          <a:latin typeface="Cambria Math"/>
                        </a:rPr>
                        <m:t>𝑥</m:t>
                      </m:r>
                      <m:r>
                        <a:rPr lang="en-US" i="1">
                          <a:latin typeface="Cambria Math"/>
                        </a:rPr>
                        <m:t>+3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/>
                            </a:rPr>
                            <m:t>𝑥</m:t>
                          </m:r>
                        </m:e>
                        <m:sup>
                          <m:r>
                            <a:rPr lang="en-US" i="1">
                              <a:latin typeface="Cambria Math"/>
                            </a:rPr>
                            <m:t>4</m:t>
                          </m:r>
                        </m:sup>
                      </m:sSup>
                      <m:r>
                        <a:rPr lang="en-US" i="1">
                          <a:latin typeface="Cambria Math"/>
                        </a:rPr>
                        <m:t>+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/>
                            </a:rPr>
                            <m:t>𝑥</m:t>
                          </m:r>
                        </m:e>
                        <m:sup>
                          <m:r>
                            <a:rPr lang="en-US" i="1">
                              <a:latin typeface="Cambria Math"/>
                            </a:rPr>
                            <m:t>6</m:t>
                          </m:r>
                        </m:sup>
                      </m:sSup>
                      <m:r>
                        <a:rPr lang="en-US" i="1">
                          <a:latin typeface="Cambria Math"/>
                        </a:rPr>
                        <m:t>,</m:t>
                      </m:r>
                      <m:r>
                        <m:rPr>
                          <m:nor/>
                        </m:rPr>
                        <a:rPr lang="en-US" i="1">
                          <a:latin typeface="Cambria Math"/>
                        </a:rPr>
                        <m:t> </m:t>
                      </m:r>
                      <m:r>
                        <a:rPr lang="en-US" i="1">
                          <a:latin typeface="Cambria Math"/>
                        </a:rPr>
                        <m:t>𝑏</m:t>
                      </m:r>
                      <m:r>
                        <a:rPr lang="en-US" i="1">
                          <a:latin typeface="Cambria Math"/>
                        </a:rPr>
                        <m:t>(</m:t>
                      </m:r>
                      <m:r>
                        <a:rPr lang="en-US" i="1">
                          <a:latin typeface="Cambria Math"/>
                        </a:rPr>
                        <m:t>𝑥</m:t>
                      </m:r>
                      <m:r>
                        <a:rPr lang="en-US" i="1">
                          <a:latin typeface="Cambria Math"/>
                        </a:rPr>
                        <m:t>)=2+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/>
                            </a:rPr>
                            <m:t>𝑥</m:t>
                          </m:r>
                        </m:e>
                        <m:sup>
                          <m:r>
                            <a:rPr lang="en-US" i="1">
                              <a:latin typeface="Cambria Math"/>
                            </a:rPr>
                            <m:t>2</m:t>
                          </m:r>
                        </m:sup>
                      </m:sSup>
                      <m:r>
                        <a:rPr lang="en-US" i="1">
                          <a:latin typeface="Cambria Math"/>
                        </a:rPr>
                        <m:t>+4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/>
                            </a:rPr>
                            <m:t>𝑥</m:t>
                          </m:r>
                        </m:e>
                        <m:sup>
                          <m:r>
                            <a:rPr lang="en-US" i="1">
                              <a:latin typeface="Cambria Math"/>
                            </a:rPr>
                            <m:t>5</m:t>
                          </m:r>
                        </m:sup>
                      </m:sSup>
                    </m:oMath>
                  </m:oMathPara>
                </a14:m>
                <a:endParaRPr dirty="0"/>
              </a:p>
              <a:p>
                <a:r>
                  <a:rPr dirty="0"/>
                  <a:t>각 성분을 Q</a:t>
                </a:r>
                <a:r>
                  <a:rPr baseline="-25000" dirty="0"/>
                  <a:t>i</a:t>
                </a:r>
                <a:r>
                  <a:rPr dirty="0"/>
                  <a:t> 곱셈 규칙으로 곱한 뒤 되돌리면 c = 1+129x+x²+135x³+6x⁴+4x⁵+13x⁶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295322"/>
                <a:ext cx="10515600" cy="4701089"/>
              </a:xfrm>
              <a:blipFill>
                <a:blip r:embed="rId2"/>
                <a:stretch>
                  <a:fillRect l="-406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0CCEF06-AF2C-16E5-D994-94762FCED6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27</a:t>
            </a:fld>
            <a:endParaRPr lang="ko-KR" altLang="en-US" dirty="0"/>
          </a:p>
        </p:txBody>
      </p:sp>
      <p:graphicFrame>
        <p:nvGraphicFramePr>
          <p:cNvPr id="7" name="Table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04540205"/>
              </p:ext>
            </p:extLst>
          </p:nvPr>
        </p:nvGraphicFramePr>
        <p:xfrm>
          <a:off x="838200" y="3300000"/>
          <a:ext cx="10515600" cy="2400000"/>
        </p:xfrm>
        <a:graphic>
          <a:graphicData uri="http://schemas.openxmlformats.org/drawingml/2006/table">
            <a:tbl>
              <a:tblPr firstRow="1" bandRow="1">
                <a:tableStyleId>{5A111915-BE36-4E01-A7E5-04B1672EAD32}</a:tableStyleId>
              </a:tblPr>
              <a:tblGrid>
                <a:gridCol w="260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63853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63853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63853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80000">
                <a:tc>
                  <a:txBody>
                    <a:bodyPr/>
                    <a:lstStyle/>
                    <a:p>
                      <a:pPr algn="ctr"/>
                      <a:r>
                        <a:rPr sz="1800" b="1" dirty="0"/>
                        <a:t>성분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dirty="0"/>
                        <a:t>NTT²(a)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dirty="0"/>
                        <a:t>NTT²(b)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dirty="0"/>
                        <a:t>성분별 곱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80000"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Q₁ (ζ=10)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68+2x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12+126x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48+98x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80000"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Q₃ (ζ³=41)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122+2x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43+11x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120+58x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80000"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Q₅ (ζ⁵=127)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123+2x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129+126x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58+x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80000"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Q₇ (ζ⁷=96)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102+2x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98+11x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52+85x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136525"/>
            <a:ext cx="10515600" cy="753141"/>
          </a:xfrm>
        </p:spPr>
        <p:txBody>
          <a:bodyPr/>
          <a:lstStyle/>
          <a:p>
            <a:r>
              <a:rPr dirty="0"/>
              <a:t>Kyber NTT 파라미터와 bit-reversal 정의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838200" y="1295322"/>
                <a:ext cx="10515600" cy="4701089"/>
              </a:xfrm>
            </p:spPr>
            <p:txBody>
              <a:bodyPr wrap="square"/>
              <a:lstStyle/>
              <a:p>
                <a:r>
                  <a:rPr dirty="0"/>
                  <a:t>ML-KEM-512/768/1024 전부 동일한 NTT 파라미터를 쓴다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latin typeface="Cambria Math"/>
                        </a:rPr>
                        <m:t>𝑞</m:t>
                      </m:r>
                      <m:r>
                        <a:rPr lang="en-US" i="1">
                          <a:latin typeface="Cambria Math"/>
                        </a:rPr>
                        <m:t>=3329,</m:t>
                      </m:r>
                      <m:r>
                        <m:rPr>
                          <m:nor/>
                        </m:rPr>
                        <a:rPr lang="en-US" i="1">
                          <a:latin typeface="Cambria Math"/>
                        </a:rPr>
                        <m:t> </m:t>
                      </m:r>
                      <m:r>
                        <a:rPr lang="en-US" i="1">
                          <a:latin typeface="Cambria Math"/>
                        </a:rPr>
                        <m:t>𝑛</m:t>
                      </m:r>
                      <m:r>
                        <a:rPr lang="en-US" i="1">
                          <a:latin typeface="Cambria Math"/>
                        </a:rPr>
                        <m:t>=256,</m:t>
                      </m:r>
                      <m:r>
                        <m:rPr>
                          <m:nor/>
                        </m:rPr>
                        <a:rPr lang="en-US" i="1">
                          <a:latin typeface="Cambria Math"/>
                        </a:rPr>
                        <m:t> </m:t>
                      </m:r>
                      <m:r>
                        <a:rPr lang="en-US" i="1">
                          <a:latin typeface="Cambria Math"/>
                        </a:rPr>
                        <m:t>𝜁</m:t>
                      </m:r>
                      <m:r>
                        <a:rPr lang="en-US" i="1">
                          <a:latin typeface="Cambria Math"/>
                        </a:rPr>
                        <m:t>=17</m:t>
                      </m:r>
                      <m:r>
                        <m:rPr>
                          <m:nor/>
                        </m:rPr>
                        <a:rPr lang="en-US" i="1">
                          <a:latin typeface="Cambria Math"/>
                        </a:rPr>
                        <m:t> </m:t>
                      </m:r>
                      <m:r>
                        <a:rPr lang="en-US" i="1">
                          <a:latin typeface="Cambria Math"/>
                        </a:rPr>
                        <m:t>(</m:t>
                      </m:r>
                      <m:r>
                        <m:rPr>
                          <m:sty m:val="p"/>
                        </m:rPr>
                        <a:rPr lang="en-US" i="1">
                          <a:latin typeface="Cambria Math"/>
                        </a:rPr>
                        <m:t>order</m:t>
                      </m:r>
                      <m:r>
                        <m:rPr>
                          <m:nor/>
                        </m:rPr>
                        <a:rPr lang="en-US" i="1">
                          <a:latin typeface="Cambria Math"/>
                        </a:rPr>
                        <m:t> </m:t>
                      </m:r>
                      <m:r>
                        <a:rPr lang="en-US" i="1">
                          <a:latin typeface="Cambria Math"/>
                        </a:rPr>
                        <m:t>𝑛</m:t>
                      </m:r>
                      <m:r>
                        <a:rPr lang="en-US" i="1">
                          <a:latin typeface="Cambria Math"/>
                        </a:rPr>
                        <m:t>=256)</m:t>
                      </m:r>
                    </m:oMath>
                  </m:oMathPara>
                </a14:m>
                <a:endParaRPr dirty="0"/>
              </a:p>
              <a:p>
                <a:r>
                  <a:rPr dirty="0"/>
                  <a:t>BitRev: v∈[0,127]의 7비트 이진표현을 뒤집은 정수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i="1">
                          <a:latin typeface="Cambria Math"/>
                        </a:rPr>
                        <m:t>BitRev</m:t>
                      </m:r>
                      <m:r>
                        <a:rPr lang="en-US" i="1">
                          <a:latin typeface="Cambria Math"/>
                        </a:rPr>
                        <m:t>(103)=</m:t>
                      </m:r>
                      <m:r>
                        <m:rPr>
                          <m:sty m:val="p"/>
                        </m:rPr>
                        <a:rPr lang="en-US" i="1">
                          <a:latin typeface="Cambria Math"/>
                        </a:rPr>
                        <m:t>BitRev</m:t>
                      </m:r>
                      <m:r>
                        <a:rPr lang="en-US" i="1">
                          <a:latin typeface="Cambria Math"/>
                        </a:rPr>
                        <m:t>((1100111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/>
                            </a:rPr>
                            <m:t>)</m:t>
                          </m:r>
                        </m:e>
                        <m:sub>
                          <m:r>
                            <a:rPr lang="en-US" i="1">
                              <a:latin typeface="Cambria Math"/>
                            </a:rPr>
                            <m:t>2</m:t>
                          </m:r>
                        </m:sub>
                      </m:sSub>
                      <m:r>
                        <a:rPr lang="en-US" i="1">
                          <a:latin typeface="Cambria Math"/>
                        </a:rPr>
                        <m:t>)=(1110011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/>
                            </a:rPr>
                            <m:t>)</m:t>
                          </m:r>
                        </m:e>
                        <m:sub>
                          <m:r>
                            <a:rPr lang="en-US" i="1">
                              <a:latin typeface="Cambria Math"/>
                            </a:rPr>
                            <m:t>2</m:t>
                          </m:r>
                        </m:sub>
                      </m:sSub>
                      <m:r>
                        <a:rPr lang="en-US" i="1">
                          <a:latin typeface="Cambria Math"/>
                        </a:rPr>
                        <m:t>=115</m:t>
                      </m:r>
                    </m:oMath>
                  </m:oMathPara>
                </a14:m>
                <a:endParaRPr dirty="0"/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𝜁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𝑖</m:t>
                        </m:r>
                      </m:sub>
                    </m:sSub>
                    <m:r>
                      <a:rPr lang="en-US" i="1">
                        <a:latin typeface="Cambria Math"/>
                      </a:rPr>
                      <m:t>=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/>
                          </a:rPr>
                          <m:t>𝜁</m:t>
                        </m:r>
                      </m:e>
                      <m:sup>
                        <m:r>
                          <a:rPr lang="en-US" i="1">
                            <a:latin typeface="Cambria Math"/>
                          </a:rPr>
                          <m:t>2</m:t>
                        </m:r>
                        <m:r>
                          <m:rPr>
                            <m:sty m:val="p"/>
                          </m:rPr>
                          <a:rPr lang="en-US" i="1">
                            <a:latin typeface="Cambria Math"/>
                          </a:rPr>
                          <m:t>BitRev</m:t>
                        </m:r>
                        <m:r>
                          <a:rPr lang="en-US" i="1">
                            <a:latin typeface="Cambria Math"/>
                          </a:rPr>
                          <m:t>(</m:t>
                        </m:r>
                        <m:r>
                          <a:rPr lang="en-US" i="1">
                            <a:latin typeface="Cambria Math"/>
                          </a:rPr>
                          <m:t>𝑖</m:t>
                        </m:r>
                        <m:r>
                          <a:rPr lang="en-US" i="1">
                            <a:latin typeface="Cambria Math"/>
                          </a:rPr>
                          <m:t>)+1</m:t>
                        </m:r>
                      </m:sup>
                    </m:sSup>
                    <m:r>
                      <m:rPr>
                        <m:nor/>
                      </m:rPr>
                      <a:rPr lang="en-US" i="1">
                        <a:latin typeface="Cambria Math"/>
                      </a:rPr>
                      <m:t> </m:t>
                    </m:r>
                    <m:r>
                      <m:rPr>
                        <m:sty m:val="p"/>
                      </m:rPr>
                      <a:rPr lang="en-US" i="1">
                        <a:latin typeface="Cambria Math"/>
                      </a:rPr>
                      <m:t>mod</m:t>
                    </m:r>
                    <m:r>
                      <m:rPr>
                        <m:nor/>
                      </m:rPr>
                      <a:rPr lang="en-US" i="1">
                        <a:latin typeface="Cambria Math"/>
                      </a:rPr>
                      <m:t> </m:t>
                    </m:r>
                    <m:r>
                      <a:rPr lang="en-US" i="1">
                        <a:latin typeface="Cambria Math"/>
                      </a:rPr>
                      <m:t>𝑞</m:t>
                    </m:r>
                  </m:oMath>
                </a14:m>
                <a:r>
                  <a:rPr dirty="0"/>
                  <a:t>  (0≤i≤127)</a:t>
                </a:r>
              </a:p>
              <a:p>
                <a:pPr lvl="1"/>
                <a:r>
                  <a:rPr dirty="0"/>
                  <a:t>ζ</a:t>
                </a:r>
                <a:r>
                  <a:rPr baseline="-25000" dirty="0"/>
                  <a:t>0</a:t>
                </a:r>
                <a:r>
                  <a:rPr dirty="0"/>
                  <a:t>,…,ζ</a:t>
                </a:r>
                <a:r>
                  <a:rPr baseline="-25000" dirty="0"/>
                  <a:t>127</a:t>
                </a:r>
                <a:r>
                  <a:rPr dirty="0"/>
                  <a:t>은 ζ의 홀수 거듭제곱 128개를 트리 리프 순서로 재배열한 것 </a:t>
                </a:r>
                <a:br>
                  <a:rPr lang="en-US" dirty="0"/>
                </a:br>
                <a:r>
                  <a:rPr dirty="0"/>
                  <a:t>— 성분 집합은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𝑇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𝑞</m:t>
                        </m:r>
                      </m:sub>
                    </m:sSub>
                    <m:r>
                      <a:rPr lang="en-US" i="1">
                        <a:latin typeface="Cambria Math"/>
                      </a:rPr>
                      <m:t>=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𝑄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1</m:t>
                        </m:r>
                      </m:sub>
                    </m:sSub>
                    <m:r>
                      <a:rPr lang="en-US" i="1">
                        <a:latin typeface="Cambria Math"/>
                      </a:rPr>
                      <m:t>×⋯×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𝑄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𝑛</m:t>
                        </m:r>
                        <m:r>
                          <a:rPr lang="en-US" i="1">
                            <a:latin typeface="Cambria Math"/>
                          </a:rPr>
                          <m:t>−1</m:t>
                        </m:r>
                      </m:sub>
                    </m:sSub>
                  </m:oMath>
                </a14:m>
                <a:r>
                  <a:rPr dirty="0"/>
                  <a:t> 그대로다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295322"/>
                <a:ext cx="10515600" cy="4701089"/>
              </a:xfrm>
              <a:blipFill>
                <a:blip r:embed="rId2"/>
                <a:stretch>
                  <a:fillRect l="-406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0CCEF06-AF2C-16E5-D994-94762FCED6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28</a:t>
            </a:fld>
            <a:endParaRPr lang="ko-KR" altLang="en-US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136525"/>
            <a:ext cx="10515600" cy="753141"/>
          </a:xfrm>
        </p:spPr>
        <p:txBody>
          <a:bodyPr/>
          <a:lstStyle/>
          <a:p>
            <a:r>
              <a:rPr dirty="0"/>
              <a:t>Kyber NTT 알고리즘 (in-place)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838200" y="1295322"/>
                <a:ext cx="10515600" cy="4701089"/>
              </a:xfrm>
            </p:spPr>
            <p:txBody>
              <a:bodyPr wrap="square"/>
              <a:lstStyle/>
              <a:p>
                <a:r>
                  <a:rPr dirty="0"/>
                  <a:t>Kyber NTT와 NTT⁻¹는 길이 256 배열(원소는 Z</a:t>
                </a:r>
                <a:r>
                  <a:rPr baseline="-25000" dirty="0"/>
                  <a:t>3329</a:t>
                </a:r>
                <a:r>
                  <a:rPr dirty="0"/>
                  <a:t>) 하나에 in-place로 계산된다</a:t>
                </a:r>
              </a:p>
              <a:p>
                <a:r>
                  <a:rPr dirty="0"/>
                  <a:t>회전자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/>
                          </a:rPr>
                          <m:t>𝜁</m:t>
                        </m:r>
                      </m:e>
                      <m:sup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i="1">
                                <a:latin typeface="Cambria Math"/>
                              </a:rPr>
                              <m:t>BitRev</m:t>
                            </m:r>
                          </m:e>
                          <m:sub>
                            <m:r>
                              <a:rPr lang="en-US" i="1">
                                <a:latin typeface="Cambria Math"/>
                              </a:rPr>
                              <m:t>7</m:t>
                            </m:r>
                          </m:sub>
                        </m:sSub>
                        <m:r>
                          <a:rPr lang="en-US" i="1">
                            <a:latin typeface="Cambria Math"/>
                          </a:rPr>
                          <m:t>(</m:t>
                        </m:r>
                        <m:r>
                          <a:rPr lang="en-US" i="1">
                            <a:latin typeface="Cambria Math"/>
                          </a:rPr>
                          <m:t>𝑖</m:t>
                        </m:r>
                        <m:r>
                          <a:rPr lang="en-US" i="1">
                            <a:latin typeface="Cambria Math"/>
                          </a:rPr>
                          <m:t>)</m:t>
                        </m:r>
                      </m:sup>
                    </m:sSup>
                  </m:oMath>
                </a14:m>
                <a:r>
                  <a:rPr dirty="0"/>
                  <a:t>는 트리 각 층에서 곱하는 값 — 리프의 평가점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𝜁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𝑖</m:t>
                        </m:r>
                      </m:sub>
                    </m:sSub>
                  </m:oMath>
                </a14:m>
                <a:r>
                  <a:rPr dirty="0"/>
                  <a:t>와는 다른 수열이다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295322"/>
                <a:ext cx="10515600" cy="4701089"/>
              </a:xfrm>
              <a:blipFill>
                <a:blip r:embed="rId2"/>
                <a:stretch>
                  <a:fillRect l="-406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0CCEF06-AF2C-16E5-D994-94762FCED6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29</a:t>
            </a:fld>
            <a:endParaRPr lang="ko-KR" altLang="en-US" dirty="0"/>
          </a:p>
        </p:txBody>
      </p:sp>
      <p:graphicFrame>
        <p:nvGraphicFramePr>
          <p:cNvPr id="7" name="Table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22719560"/>
              </p:ext>
            </p:extLst>
          </p:nvPr>
        </p:nvGraphicFramePr>
        <p:xfrm>
          <a:off x="838200" y="2400000"/>
          <a:ext cx="10515600" cy="3300000"/>
        </p:xfrm>
        <a:graphic>
          <a:graphicData uri="http://schemas.openxmlformats.org/drawingml/2006/table">
            <a:tbl>
              <a:tblPr firstRow="1" bandRow="1">
                <a:tableStyleId>{5A111915-BE36-4E01-A7E5-04B1672EAD32}</a:tableStyleId>
              </a:tblPr>
              <a:tblGrid>
                <a:gridCol w="220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315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71428">
                <a:tc>
                  <a:txBody>
                    <a:bodyPr/>
                    <a:lstStyle/>
                    <a:p>
                      <a:pPr algn="ctr"/>
                      <a:r>
                        <a:rPr sz="1800" b="1" dirty="0"/>
                        <a:t>단계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dirty="0"/>
                        <a:t>연산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71428"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바깥 루프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len ← 128부터 2까지 절반씩 감소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71428"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블록 순회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start ← 0부터 256 미만까지 2·len씩 증가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71428"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회전자 계산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zeta ← ζ</a:t>
                      </a:r>
                      <a:r>
                        <a:rPr sz="1800" baseline="30000" dirty="0"/>
                        <a:t>BitRev₇(i)</a:t>
                      </a:r>
                      <a:r>
                        <a:rPr sz="1800" dirty="0"/>
                        <a:t> mod q; i←i+1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71428"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안쪽 루프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j ← start부터 start+len−1까지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71428"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버터플라이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t ← zeta·f[j+len] (mod q)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71432"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in-place 갱신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f[j+len] ← f[j]−t,  f[j] ← f[j]+t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136525"/>
            <a:ext cx="10515600" cy="753141"/>
          </a:xfrm>
        </p:spPr>
        <p:txBody>
          <a:bodyPr/>
          <a:lstStyle/>
          <a:p>
            <a:r>
              <a:rPr dirty="0"/>
              <a:t>Kyber 키 생성에서의 NTT 활용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295322"/>
            <a:ext cx="10515600" cy="4701089"/>
          </a:xfrm>
        </p:spPr>
        <p:txBody>
          <a:bodyPr wrap="square"/>
          <a:lstStyle/>
          <a:p>
            <a:r>
              <a:rPr dirty="0"/>
              <a:t>NTT는 다항식 벡터·행렬에도 각 성분에 적용하는 방식으로 확장된다</a:t>
            </a:r>
          </a:p>
          <a:p>
            <a:r>
              <a:rPr dirty="0"/>
              <a:t>s, e는 중심이항분포(CBD)로 선택된다 — NTT/NTT⁻¹는 암호화·복호화에도 쓰인다</a:t>
            </a:r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0CCEF06-AF2C-16E5-D994-94762FCED6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30</a:t>
            </a:fld>
            <a:endParaRPr lang="ko-KR" altLang="en-US" dirty="0"/>
          </a:p>
        </p:txBody>
      </p:sp>
      <p:graphicFrame>
        <p:nvGraphicFramePr>
          <p:cNvPr id="7" name="Table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09022340"/>
              </p:ext>
            </p:extLst>
          </p:nvPr>
        </p:nvGraphicFramePr>
        <p:xfrm>
          <a:off x="838200" y="2400000"/>
          <a:ext cx="10515600" cy="2600000"/>
        </p:xfrm>
        <a:graphic>
          <a:graphicData uri="http://schemas.openxmlformats.org/drawingml/2006/table">
            <a:tbl>
              <a:tblPr firstRow="1" bandRow="1">
                <a:tableStyleId>{5A111915-BE36-4E01-A7E5-04B1672EAD32}</a:tableStyleId>
              </a:tblPr>
              <a:tblGrid>
                <a:gridCol w="90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615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20000">
                <a:tc>
                  <a:txBody>
                    <a:bodyPr/>
                    <a:lstStyle/>
                    <a:p>
                      <a:pPr algn="ctr"/>
                      <a:r>
                        <a:rPr sz="1800" b="1" dirty="0"/>
                        <a:t>단계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dirty="0"/>
                        <a:t>연산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20000"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Â = ExpandA(ρ) — 행렬 A를 NTT 형태로 직접 생성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20000"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s,e 선택 후 ŝ=NTT(s), ê=NTT(e) 계산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20000"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t̂ = Â∘ŝ + ê 계산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20000"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4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공개키 (ρ, t̂), 개인키 ŝ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136525"/>
            <a:ext cx="10515600" cy="753141"/>
          </a:xfrm>
        </p:spPr>
        <p:txBody>
          <a:bodyPr/>
          <a:lstStyle/>
          <a:p>
            <a:r>
              <a:rPr dirty="0"/>
              <a:t>Kyber에서의 속도 향상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295322"/>
            <a:ext cx="10515600" cy="4701089"/>
          </a:xfrm>
        </p:spPr>
        <p:txBody>
          <a:bodyPr wrap="square"/>
          <a:lstStyle/>
          <a:p>
            <a:r>
              <a:rPr dirty="0"/>
              <a:t>ML-KEM-1024 (k=4)에서 Â∘ŝ 계산을 예로 든다</a:t>
            </a:r>
          </a:p>
          <a:p>
            <a:r>
              <a:rPr dirty="0"/>
              <a:t>성분별 곱은 O(n)이 아니다 — Q</a:t>
            </a:r>
            <a:r>
              <a:rPr baseline="-25000" dirty="0"/>
              <a:t>i</a:t>
            </a:r>
            <a:r>
              <a:rPr dirty="0"/>
              <a:t> 곱 하나가 Z</a:t>
            </a:r>
            <a:r>
              <a:rPr baseline="-25000" dirty="0"/>
              <a:t>q</a:t>
            </a:r>
            <a:r>
              <a:rPr dirty="0"/>
              <a:t>-곱 5회이므로 전체 5n/2회</a:t>
            </a:r>
          </a:p>
          <a:p>
            <a:pPr lvl="1"/>
            <a:r>
              <a:rPr dirty="0"/>
              <a:t>트리는 한 층 짧지만 성분별 곱이 그만큼 비싸, Dilithium(≈124배)보다 향상 폭이 작다</a:t>
            </a:r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0CCEF06-AF2C-16E5-D994-94762FCED6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31</a:t>
            </a:fld>
            <a:endParaRPr lang="ko-KR" altLang="en-US" dirty="0"/>
          </a:p>
        </p:txBody>
      </p:sp>
      <p:graphicFrame>
        <p:nvGraphicFramePr>
          <p:cNvPr id="7" name="Table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93716501"/>
              </p:ext>
            </p:extLst>
          </p:nvPr>
        </p:nvGraphicFramePr>
        <p:xfrm>
          <a:off x="838200" y="3000000"/>
          <a:ext cx="10515600" cy="2700000"/>
        </p:xfrm>
        <a:graphic>
          <a:graphicData uri="http://schemas.openxmlformats.org/drawingml/2006/table">
            <a:tbl>
              <a:tblPr firstRow="1" bandRow="1">
                <a:tableStyleId>{5A111915-BE36-4E01-A7E5-04B1672EAD32}</a:tableStyleId>
              </a:tblPr>
              <a:tblGrid>
                <a:gridCol w="270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907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9078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40000">
                <a:tc>
                  <a:txBody>
                    <a:bodyPr/>
                    <a:lstStyle/>
                    <a:p>
                      <a:pPr algn="ctr"/>
                      <a:r>
                        <a:rPr sz="1800" b="1" dirty="0"/>
                        <a:t>항목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dirty="0"/>
                        <a:t>NTT² 없이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dirty="0"/>
                        <a:t>NTT² 사용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40000"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연산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k²번의 다항식 곱, 각 n² Z</a:t>
                      </a:r>
                      <a:r>
                        <a:rPr sz="1800" baseline="-25000" dirty="0"/>
                        <a:t>q</a:t>
                      </a:r>
                      <a:r>
                        <a:rPr sz="1800" dirty="0"/>
                        <a:t>-곱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ŝ=NTT²(s), Â∘ŝ (성분별)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40000"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곱셈 횟수 식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k²n²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k·½n(log₂n−1) + k²·(5n/2)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40000"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ML-KEM-1024 대입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1,048,576 (≈2²⁰)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13,824 (≈2¹³·⁸)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40000"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속도 향상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—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≈76배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136525"/>
            <a:ext cx="10515600" cy="753141"/>
          </a:xfrm>
        </p:spPr>
        <p:txBody>
          <a:bodyPr/>
          <a:lstStyle/>
          <a:p>
            <a:r>
              <a:rPr dirty="0"/>
              <a:t>Dilithium NTT vs Kyber NTT 비교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4750000"/>
            <a:ext cx="10515600" cy="946089"/>
          </a:xfrm>
        </p:spPr>
        <p:txBody>
          <a:bodyPr wrap="square"/>
          <a:lstStyle/>
          <a:p>
            <a:r>
              <a:rPr dirty="0"/>
              <a:t>Kyber NTT는 표준 NTT 트리에서 마지막 한 층을 가지치기한 것과 같다 — 위수 2n인 ζ가 없어 일차식까지 못 내려간다</a:t>
            </a:r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0CCEF06-AF2C-16E5-D994-94762FCED6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32</a:t>
            </a:fld>
            <a:endParaRPr lang="ko-KR" altLang="en-US" dirty="0"/>
          </a:p>
        </p:txBody>
      </p:sp>
      <p:graphicFrame>
        <p:nvGraphicFramePr>
          <p:cNvPr id="7" name="Table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93905935"/>
              </p:ext>
            </p:extLst>
          </p:nvPr>
        </p:nvGraphicFramePr>
        <p:xfrm>
          <a:off x="838200" y="1950000"/>
          <a:ext cx="10515600" cy="2600000"/>
        </p:xfrm>
        <a:graphic>
          <a:graphicData uri="http://schemas.openxmlformats.org/drawingml/2006/table">
            <a:tbl>
              <a:tblPr firstRow="1" bandRow="1">
                <a:tableStyleId>{5A111915-BE36-4E01-A7E5-04B1672EAD32}</a:tableStyleId>
              </a:tblPr>
              <a:tblGrid>
                <a:gridCol w="220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157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1578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71428">
                <a:tc>
                  <a:txBody>
                    <a:bodyPr/>
                    <a:lstStyle/>
                    <a:p>
                      <a:pPr algn="ctr"/>
                      <a:r>
                        <a:rPr sz="1800" b="1" dirty="0"/>
                        <a:t>항목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dirty="0"/>
                        <a:t>Dilithium NTT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dirty="0"/>
                        <a:t>Kyber NTT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1428"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출력 공간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Z</a:t>
                      </a:r>
                      <a:r>
                        <a:rPr sz="1800" baseline="-25000" dirty="0"/>
                        <a:t>q</a:t>
                      </a:r>
                      <a:r>
                        <a:rPr sz="1800" baseline="30000" dirty="0"/>
                        <a:t>n</a:t>
                      </a:r>
                      <a:r>
                        <a:rPr sz="1800" dirty="0"/>
                        <a:t> (스칼라 n개)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T</a:t>
                      </a:r>
                      <a:r>
                        <a:rPr sz="1800" baseline="-25000" dirty="0"/>
                        <a:t>q</a:t>
                      </a:r>
                      <a:r>
                        <a:rPr sz="1800" dirty="0"/>
                        <a:t>=Q</a:t>
                      </a:r>
                      <a:r>
                        <a:rPr sz="1800" baseline="-25000" dirty="0"/>
                        <a:t>1</a:t>
                      </a:r>
                      <a:r>
                        <a:rPr sz="1800" dirty="0"/>
                        <a:t>×Q</a:t>
                      </a:r>
                      <a:r>
                        <a:rPr sz="1800" baseline="-25000" dirty="0"/>
                        <a:t>3</a:t>
                      </a:r>
                      <a:r>
                        <a:rPr sz="1800" dirty="0"/>
                        <a:t>×⋯ (n/2개 성분)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1428"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트리 깊이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log₂n (리프=선형 인수)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log₂n − 1 (리프=이차 인수)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1428"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성분 하나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Z</a:t>
                      </a:r>
                      <a:r>
                        <a:rPr sz="1800" baseline="-25000" dirty="0"/>
                        <a:t>q</a:t>
                      </a:r>
                      <a:r>
                        <a:rPr sz="1800" dirty="0"/>
                        <a:t> 원소 1개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Z</a:t>
                      </a:r>
                      <a:r>
                        <a:rPr sz="1800" baseline="-25000" dirty="0"/>
                        <a:t>q</a:t>
                      </a:r>
                      <a:r>
                        <a:rPr sz="1800" dirty="0"/>
                        <a:t> 좌표 2개 (차수 ≤1 다항식)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1428"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ζ의 위수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2n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71428"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파라미터 조건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2n | q−1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n | q−1이지만 2n은 아님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71432"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성분별 곱 비용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Z</a:t>
                      </a:r>
                      <a:r>
                        <a:rPr sz="1800" baseline="-25000" dirty="0"/>
                        <a:t>q</a:t>
                      </a:r>
                      <a:r>
                        <a:rPr sz="1800" dirty="0"/>
                        <a:t>-곱 n회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Z</a:t>
                      </a:r>
                      <a:r>
                        <a:rPr sz="1800" baseline="-25000" dirty="0"/>
                        <a:t>q</a:t>
                      </a:r>
                      <a:r>
                        <a:rPr sz="1800" dirty="0"/>
                        <a:t>-곱 5n/2회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ln>
          <a:noFill/>
        </a:ln>
      </a:spPr>
      <a:bodyPr rtlCol="0" anchor="ctr"/>
      <a:lstStyle>
        <a:defPPr algn="ctr">
          <a:defRPr/>
        </a:defPPr>
      </a:lstStyle>
      <a:style>
        <a:lnRef idx="3">
          <a:schemeClr val="lt1"/>
        </a:lnRef>
        <a:fillRef idx="1">
          <a:schemeClr val="accent6"/>
        </a:fillRef>
        <a:effectRef idx="1">
          <a:schemeClr val="accent6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5477</TotalTime>
  <Words>2968</Words>
  <Application>Microsoft Office PowerPoint</Application>
  <PresentationFormat>와이드스크린</PresentationFormat>
  <Paragraphs>333</Paragraphs>
  <Slides>32</Slides>
  <Notes>3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32</vt:i4>
      </vt:variant>
    </vt:vector>
  </HeadingPairs>
  <TitlesOfParts>
    <vt:vector size="36" baseType="lpstr">
      <vt:lpstr>맑은 고딕</vt:lpstr>
      <vt:lpstr>Arial</vt:lpstr>
      <vt:lpstr>Cambria Math</vt:lpstr>
      <vt:lpstr>Office 테마</vt:lpstr>
      <vt:lpstr>Post-Quantum Cryptography</vt:lpstr>
      <vt:lpstr>Plan</vt:lpstr>
      <vt:lpstr>Rq에서의 다항식 곱셈이 병목인 이유</vt:lpstr>
      <vt:lpstr>고전(schoolbook) 곱셈 알고리즘</vt:lpstr>
      <vt:lpstr>NTT를 이용한 곱셈 개요</vt:lpstr>
      <vt:lpstr>NTT의 정의 (Dilithium 형태)</vt:lpstr>
      <vt:lpstr>NTT=평가, NTT⁻¹=보간, 성분별 곱셈 대응</vt:lpstr>
      <vt:lpstr>재귀 계산의 원리: 다항식 나머지 정리</vt:lpstr>
      <vt:lpstr>예제 파라미터와 x⁸+1의 인수분해</vt:lpstr>
      <vt:lpstr>NTT 트리</vt:lpstr>
      <vt:lpstr>a₀(x), a₁(x)를 재귀적으로 계산하는 법</vt:lpstr>
      <vt:lpstr>NTT 실행시간 분석</vt:lpstr>
      <vt:lpstr>NTT⁻¹의 계산과 가역성 증명</vt:lpstr>
      <vt:lpstr>수치 예제: NTT로 곱셈하기 (q=113)</vt:lpstr>
      <vt:lpstr>Dilithium NTT 파라미터</vt:lpstr>
      <vt:lpstr>Dilithium 방식의 bit-reversal 정의</vt:lpstr>
      <vt:lpstr>Dilithium NTT의 in-place 계산</vt:lpstr>
      <vt:lpstr>Dilithium 키 생성에서의 NTT 활용</vt:lpstr>
      <vt:lpstr>Dilithium 서명 생성에서의 속도 향상</vt:lpstr>
      <vt:lpstr>Kyber NTT가 Dilithium과 다른 이유</vt:lpstr>
      <vt:lpstr>x²−ζⁱ의 기약성 증명</vt:lpstr>
      <vt:lpstr>Kyber NTT의 정의: 이차환 Qᵢ와 Tq</vt:lpstr>
      <vt:lpstr>Qᵢ에서의 덧셈과 곱셈</vt:lpstr>
      <vt:lpstr>Kyber형 예제 파라미터와 인수분해</vt:lpstr>
      <vt:lpstr>Kyber형 NTT 트리</vt:lpstr>
      <vt:lpstr>Kyber NTT 실행시간</vt:lpstr>
      <vt:lpstr>수치 예제: NTT²로 곱셈하기 (q=137)</vt:lpstr>
      <vt:lpstr>Kyber NTT 파라미터와 bit-reversal 정의</vt:lpstr>
      <vt:lpstr>Kyber NTT 알고리즘 (in-place)</vt:lpstr>
      <vt:lpstr>Kyber 키 생성에서의 NTT 활용</vt:lpstr>
      <vt:lpstr>Kyber에서의 속도 향상</vt:lpstr>
      <vt:lpstr>Dilithium NTT vs Kyber NTT 비교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규빈 박</dc:creator>
  <cp:lastModifiedBy>규빈 박</cp:lastModifiedBy>
  <cp:revision>1736</cp:revision>
  <dcterms:created xsi:type="dcterms:W3CDTF">2026-03-17T05:07:50Z</dcterms:created>
  <dcterms:modified xsi:type="dcterms:W3CDTF">2026-08-27T14:15:43Z</dcterms:modified>
</cp:coreProperties>
</file>