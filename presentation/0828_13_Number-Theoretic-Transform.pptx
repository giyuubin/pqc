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88" r:id="rId4"/>
    <p:sldId id="289" r:id="rId5"/>
    <p:sldId id="290" r:id="rId6"/>
    <p:sldId id="258" r:id="rId7"/>
    <p:sldId id="259" r:id="rId8"/>
    <p:sldId id="291" r:id="rId9"/>
    <p:sldId id="260" r:id="rId10"/>
    <p:sldId id="261" r:id="rId11"/>
    <p:sldId id="262" r:id="rId12"/>
    <p:sldId id="263" r:id="rId13"/>
    <p:sldId id="264" r:id="rId14"/>
    <p:sldId id="265" r:id="rId15"/>
    <p:sldId id="292" r:id="rId16"/>
    <p:sldId id="266" r:id="rId17"/>
    <p:sldId id="293" r:id="rId18"/>
    <p:sldId id="267" r:id="rId19"/>
    <p:sldId id="268" r:id="rId20"/>
    <p:sldId id="269" r:id="rId21"/>
    <p:sldId id="294" r:id="rId22"/>
    <p:sldId id="295" r:id="rId23"/>
    <p:sldId id="270" r:id="rId24"/>
    <p:sldId id="271" r:id="rId25"/>
    <p:sldId id="272" r:id="rId26"/>
    <p:sldId id="296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97" r:id="rId36"/>
    <p:sldId id="281" r:id="rId37"/>
    <p:sldId id="282" r:id="rId38"/>
    <p:sldId id="298" r:id="rId39"/>
    <p:sldId id="299" r:id="rId40"/>
    <p:sldId id="283" r:id="rId41"/>
    <p:sldId id="284" r:id="rId42"/>
    <p:sldId id="285" r:id="rId43"/>
    <p:sldId id="286" r:id="rId44"/>
    <p:sldId id="287" r:id="rId4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규빈 박" initials="규박" lastIdx="12" clrIdx="0">
    <p:extLst>
      <p:ext uri="{19B8F6BF-5375-455C-9EA6-DF929625EA0E}">
        <p15:presenceInfo xmlns:p15="http://schemas.microsoft.com/office/powerpoint/2012/main" userId="b405f47f44f6c53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FD0F851-EC5A-4D38-B0AD-8093EC10F338}" styleName="밝은 스타일 1 - 강조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A111915-BE36-4E01-A7E5-04B1672EAD32}" styleName="밝은 스타일 2 - 강조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69012ECD-51FC-41F1-AA8D-1B2483CD663E}" styleName="밝은 스타일 2 - 강조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7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commentAuthors" Target="commentAuthors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B40C2-3351-40A2-B46D-4B4F877A79B2}" type="datetimeFigureOut">
              <a:rPr lang="ko-KR" altLang="en-US" smtClean="0"/>
              <a:t>2026-08-28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BC5EA-D886-4875-B891-B25A6CC4908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5528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다항식 합</a:t>
            </a:r>
            <a:r>
              <a:rPr lang="en-US" altLang="ko-KR" dirty="0"/>
              <a:t>, </a:t>
            </a:r>
            <a:r>
              <a:rPr lang="ko-KR" altLang="en-US" dirty="0"/>
              <a:t>곱 예제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3BC5EA-D886-4875-B891-B25A6CC49088}" type="slidenum">
              <a:rPr lang="ko-KR" altLang="en-US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91999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푸리에</a:t>
            </a:r>
            <a:r>
              <a:rPr lang="en-US" altLang="ko-KR" dirty="0"/>
              <a:t>, DFT </a:t>
            </a:r>
            <a:r>
              <a:rPr lang="ko-KR" altLang="en-US" dirty="0"/>
              <a:t>다룰지말지</a:t>
            </a:r>
            <a:r>
              <a:rPr lang="en-US" altLang="ko-KR" dirty="0"/>
              <a:t>..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3BC5EA-D886-4875-B891-B25A6CC49088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790745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3BC5EA-D886-4875-B891-B25A6CC49088}" type="slidenum">
              <a:rPr lang="ko-KR" altLang="en-US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24919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38C119-E53F-2DA2-3F3A-62BF80700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BB6797-A87E-4BFE-C9F3-8C995A674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en-US" altLang="ko-KR" dirty="0"/>
          </a:p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D1BD7-7E65-3772-3007-1F34DBA0F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DF637E-82D6-4563-BCF0-C9101F2B5148}" type="datetime1">
              <a:rPr lang="ko-KR" altLang="en-US" smtClean="0"/>
              <a:t>2026-08-28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CF5ED1-6997-CD09-21BF-44F1DD23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40E17D-D377-3A02-4E70-6AAE5C12D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67735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1FD09-61A8-64FE-609A-5BC9FD80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>
            <a:normAutofit/>
          </a:bodyPr>
          <a:lstStyle>
            <a:lvl1pPr algn="ctr">
              <a:defRPr sz="32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A10CA-AA0F-BD51-5B8E-5AE0726F0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1800"/>
            </a:lvl1pPr>
            <a:lvl2pPr>
              <a:lnSpc>
                <a:spcPct val="150000"/>
              </a:lnSpc>
              <a:defRPr sz="1800"/>
            </a:lvl2pPr>
            <a:lvl3pPr>
              <a:lnSpc>
                <a:spcPct val="150000"/>
              </a:lnSpc>
              <a:defRPr sz="1800"/>
            </a:lvl3pPr>
            <a:lvl4pPr>
              <a:lnSpc>
                <a:spcPct val="150000"/>
              </a:lnSpc>
              <a:defRPr sz="1800"/>
            </a:lvl4pPr>
            <a:lvl5pPr>
              <a:lnSpc>
                <a:spcPct val="150000"/>
              </a:lnSpc>
              <a:defRPr sz="18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4F1B2-7ED6-C36F-405B-74D10A46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CD677-7AD2-4A27-94BD-C65458D22428}" type="datetime1">
              <a:rPr lang="ko-KR" altLang="en-US" smtClean="0"/>
              <a:t>2026-08-28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B54CE5-BA49-9B1F-44F6-BB6803967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D5B8A52-06C2-8583-0C1B-A817C4737BF0}"/>
              </a:ext>
            </a:extLst>
          </p:cNvPr>
          <p:cNvSpPr/>
          <p:nvPr userDrawn="1"/>
        </p:nvSpPr>
        <p:spPr>
          <a:xfrm flipV="1">
            <a:off x="405063" y="889665"/>
            <a:ext cx="11381873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497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1E2741-8F1E-BB08-8064-ABB3B517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E217DB-F68B-0B02-0EE9-FC6D375A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F4ECD6-4F10-FAB4-9EC7-0A9BDDBBF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F52EC-B397-4D0A-AE91-E0D6840C85A1}" type="datetime1">
              <a:rPr lang="ko-KR" altLang="en-US" smtClean="0"/>
              <a:t>2026-08-28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089ED4-E191-9BE2-6362-00E940AF7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322432-D7EA-093F-001B-BC7E0D49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473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62A7E8-82BA-7B6E-F6E9-A98D3ECFF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AEFAB5-2BD5-B266-2B90-5DF6C6BE75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C97A80-9CA9-6C9D-98D1-D8A82989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A760F-4119-02E0-9047-FD4EFB03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D6007-6A42-4C9B-B218-6A32B3A38C67}" type="datetime1">
              <a:rPr lang="ko-KR" altLang="en-US" smtClean="0"/>
              <a:t>2026-08-28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9B3A7E-6DE5-9DF0-CCF3-4E150621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64016-7B2A-6313-FDC2-8FA33EAC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708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54C69-8E55-E9AE-CBD6-A0F2276D9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B86DB8-CC8D-914E-CEFA-5DF480196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176446-C17B-7FD5-8DB2-B98280114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5D4D2A-9477-8669-492E-C33F3E9CD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BF0716-4A26-4EAB-6A93-C6203A807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0F37FBA-7D77-22F4-B534-1653B07A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658DF-8B5F-4351-A42C-BF3495DE7ABE}" type="datetime1">
              <a:rPr lang="ko-KR" altLang="en-US" smtClean="0"/>
              <a:t>2026-08-28</a:t>
            </a:fld>
            <a:endParaRPr lang="ko-KR" altLang="en-US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DA361B-5E51-3A84-F540-036EB166C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D90B8D-AC97-0E06-ED03-C9645D4A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7877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5235F-156B-75D6-B91A-2D25D5F31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0398CE0-1B1D-EF93-936A-A286EA577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59C48-8150-4FAB-8BEF-6AD61CFC9BBE}" type="datetime1">
              <a:rPr lang="ko-KR" altLang="en-US" smtClean="0"/>
              <a:t>2026-08-28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4DC0FF-921E-80C0-450A-7B405750E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F709D-D3DC-4D1F-45FC-9F2F2C18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2988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4D47D0-9EAC-3C67-62F1-6CC1BEC6F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1DBCF-1091-470D-AC72-5CF3D00280AC}" type="datetime1">
              <a:rPr lang="ko-KR" altLang="en-US" smtClean="0"/>
              <a:t>2026-08-28</a:t>
            </a:fld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5CACA-850A-EA99-2A04-D33838FCC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04249E-807B-C0AC-5C11-E3AD439D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909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F82BF-B27F-0EAB-B809-971BA3CE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4868F8-4EB2-B804-3AD6-7256AF1C6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3E5F92-B2C2-8AB1-01C1-ED72DF18A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43173C-11BF-A2F6-F013-59378849A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4AE7C-57FB-4DBB-B90C-59145D637BF6}" type="datetime1">
              <a:rPr lang="ko-KR" altLang="en-US" smtClean="0"/>
              <a:t>2026-08-28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D47E49-717B-A5BA-FB22-E4F74A0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7ED0F3-0EAE-43B7-F5D2-9F776B23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31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DE7BB-65A1-98A0-61B2-9BA86EB8B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93FC40-79A0-A826-1CA9-EE7B1B8BF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B9879E-8AC3-D682-707C-4CCA3AC04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97A2B9-9192-6241-C6C5-2D7D678E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92253-43A0-46E3-918E-3929407A8C01}" type="datetime1">
              <a:rPr lang="ko-KR" altLang="en-US" smtClean="0"/>
              <a:t>2026-08-28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7311CB-F5C2-2F43-5CDB-47B621DB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7E252D-5421-B82E-B9DC-97D8A4F11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434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5921C-217D-706E-B4C1-8C4B415A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A49194-22FD-90CC-72D7-93BB89EBF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3072F4-8B76-D6AF-7D51-73F34661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78607-39E6-4CB2-B3CB-AB428B3B6195}" type="datetime1">
              <a:rPr lang="ko-KR" altLang="en-US" smtClean="0"/>
              <a:t>2026-08-28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03EEA5-CFF1-3A25-3757-289E51F2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A5D0D-C1A0-3A92-3E15-E7442EE12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9845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44A25BF-197E-B63E-7A73-089055E7B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D6C20F-2716-6230-FC15-8E28D820B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2C15CE-BE12-96E8-58E3-B89CE71B7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8A2F2-325F-46A6-8956-F2A49A35BAF8}" type="datetime1">
              <a:rPr lang="ko-KR" altLang="en-US" smtClean="0"/>
              <a:t>2026-08-28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C669E-1E2D-2737-7F44-4EF88AEE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1D9548-61EF-5EA9-3163-3C25E9287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9790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3AFC0F6-4140-2489-D0A3-0A632697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66"/>
            <a:ext cx="10515600" cy="662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886E5-5DD8-BA48-583F-AAA217E8D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23922"/>
            <a:ext cx="10515600" cy="4753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862E1-2ECD-F622-0F74-FDC2E7199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D61A29-800E-482A-B0FD-5A04401ECD92}" type="datetime1">
              <a:rPr lang="ko-KR" altLang="en-US" smtClean="0"/>
              <a:t>2026-08-28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E1796-7D1E-1254-446E-8BAA61680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B692A8-3D04-14CA-0956-516C70492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61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Post-Quantum Cryptography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13. Number-Theoretic Transform (NTT)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pPr marL="342900" indent="-342900">
              <a:buFont typeface="+mj-lt"/>
              <a:buAutoNum type="arabicPeriod"/>
            </a:pPr>
            <a:r>
              <a:rPr dirty="0"/>
              <a:t>지난 시간 복습: 힌트 비트와 경계 수정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Rq에서의 곱셈과 고전 알고리즘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NTT: 정의와 대수적 성질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NTT의 O(n log n) 계산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Dilithium의 NTT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Kyber의 NTT (NTT</a:t>
            </a:r>
            <a:r>
              <a:rPr baseline="30000" dirty="0"/>
              <a:t>2</a:t>
            </a:r>
            <a:r>
              <a:rPr dirty="0"/>
              <a:t>)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</a:t>
            </a:fld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지난 시간 복습: 힌트 비트로 캐리 전달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2900000"/>
              </a:xfrm>
            </p:spPr>
            <p:txBody>
              <a:bodyPr wrap="square"/>
              <a:lstStyle/>
              <a:p>
                <a:r>
                  <a:rPr dirty="0"/>
                  <a:t>t를 압축하면 검증자가 계산할 수 있는 것은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dirty="0"/>
                  <a:t>가 아니라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다</a:t>
                </a:r>
              </a:p>
              <a:p>
                <a:pPr lvl="1"/>
                <a:r>
                  <a:rPr dirty="0"/>
                  <a:t>대응: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a:rPr lang="en-US" i="1">
                        <a:latin typeface="Cambria Math"/>
                      </a:rPr>
                      <m:t>↔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↔</m:t>
                    </m:r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↔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endParaRPr dirty="0"/>
              </a:p>
              <a:p>
                <a:r>
                  <a:rPr dirty="0"/>
                  <a:t>MakeHint는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HighBits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)≠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HighBits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인지만 1비트로 답한다</a:t>
                </a:r>
              </a:p>
              <a:p>
                <a:r>
                  <a:rPr lang="ko-KR" altLang="en-US" dirty="0"/>
                  <a:t>문제</a:t>
                </a:r>
                <a:r>
                  <a:rPr dirty="0"/>
                  <a:t>: 캐리는 {−1, 0, +1} 세 값인데 h는 {0, 1} 두 값뿐이다</a:t>
                </a:r>
              </a:p>
              <a:p>
                <a:r>
                  <a:rPr lang="ko-KR" altLang="en-US" dirty="0"/>
                  <a:t>아이디어</a:t>
                </a:r>
                <a:r>
                  <a:rPr dirty="0"/>
                  <a:t>: h는 “바뀌었는가”만 싣고, 방향은 검증자가 이미 가진 r</a:t>
                </a:r>
                <a:r>
                  <a:rPr baseline="-25000" dirty="0"/>
                  <a:t>0</a:t>
                </a:r>
                <a:r>
                  <a:rPr dirty="0"/>
                  <a:t>의 부호에서 읽는다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2900000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3807576"/>
              </p:ext>
            </p:extLst>
          </p:nvPr>
        </p:nvGraphicFramePr>
        <p:xfrm>
          <a:off x="838200" y="4100000"/>
          <a:ext cx="10515600" cy="15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5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r</a:t>
                      </a:r>
                      <a:r>
                        <a:rPr sz="1800" b="1" baseline="-25000" dirty="0"/>
                        <a:t>0</a:t>
                      </a:r>
                      <a:r>
                        <a:rPr sz="1800" b="1" dirty="0"/>
                        <a:t> 조건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반환값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r</a:t>
                      </a:r>
                      <a:r>
                        <a:rPr sz="1800" baseline="-250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5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r</a:t>
                      </a:r>
                      <a:r>
                        <a:rPr sz="1800" baseline="-25000" dirty="0"/>
                        <a:t>0</a:t>
                      </a:r>
                      <a:r>
                        <a:rPr sz="1800" dirty="0"/>
                        <a:t> &gt; 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r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 + 1 mod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5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r</a:t>
                      </a:r>
                      <a:r>
                        <a:rPr sz="1800" baseline="-25000" dirty="0"/>
                        <a:t>0</a:t>
                      </a:r>
                      <a:r>
                        <a:rPr sz="1800" dirty="0"/>
                        <a:t> ≤ 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r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 − 1 mod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경계 케이스: r = 19, 20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2300000"/>
              </a:xfrm>
            </p:spPr>
            <p:txBody>
              <a:bodyPr wrap="square">
                <a:normAutofit lnSpcReduction="10000"/>
              </a:bodyPr>
              <a:lstStyle/>
              <a:p>
                <a:r>
                  <a:rPr dirty="0"/>
                  <a:t>성립해야 할 전제: 어떤 r에서도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𝑧</m:t>
                    </m:r>
                  </m:oMath>
                </a14:m>
                <a:r>
                  <a:rPr dirty="0"/>
                  <a:t>와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𝑧</m:t>
                    </m:r>
                  </m:oMath>
                </a14:m>
                <a:r>
                  <a:rPr dirty="0"/>
                  <a:t> 중 최대 한 방향으로만 HighBits가 바뀐다</a:t>
                </a:r>
              </a:p>
              <a:p>
                <a:r>
                  <a:rPr dirty="0"/>
                  <a:t>그런데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=21,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=4,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𝑚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−1)/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=5</m:t>
                    </m:r>
                  </m:oMath>
                </a14:m>
                <a:r>
                  <a:rPr dirty="0"/>
                  <a:t>에서는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𝑚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=20=</m:t>
                    </m:r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−1</m:t>
                    </m:r>
                  </m:oMath>
                </a14:m>
                <a:r>
                  <a:rPr dirty="0"/>
                  <a:t> — r</a:t>
                </a:r>
                <a:r>
                  <a:rPr baseline="-25000" dirty="0"/>
                  <a:t>1</a:t>
                </a:r>
                <a:r>
                  <a:rPr dirty="0"/>
                  <a:t>이 넘어가는 지점과 값이 0으로 감기는 지점이 겹친다</a:t>
                </a:r>
              </a:p>
              <a:p>
                <a:r>
                  <a:rPr dirty="0"/>
                  <a:t>조정 전 Decompose는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=(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)/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</m:oMath>
                </a14:m>
                <a:r>
                  <a:rPr dirty="0"/>
                  <a:t>를 그대로 쓰므로 r = 19, 20만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=5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(=</m:t>
                    </m:r>
                    <m:r>
                      <a:rPr lang="en-US" i="1">
                        <a:latin typeface="Cambria Math"/>
                      </a:rPr>
                      <m:t>𝑚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을 받는데,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5≡0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𝑚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이라 제 번호로 돌아온 것을 “바뀜”으로 오인한다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2300000"/>
              </a:xfrm>
              <a:blipFill>
                <a:blip r:embed="rId2"/>
                <a:stretch>
                  <a:fillRect l="-406" b="-5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6922198"/>
              </p:ext>
            </p:extLst>
          </p:nvPr>
        </p:nvGraphicFramePr>
        <p:xfrm>
          <a:off x="838200" y="3900000"/>
          <a:ext cx="10515600" cy="14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66666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HighBits(r)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r+2의 HighBits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r−2의 HighBits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판정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6666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8 → 2 (바뀜)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 → 1 (안 바뀜)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정상: 하나만 바뀜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666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22≡1 → 0 (바뀜)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18 → 4 (바뀜)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문제: 둘 다 바뀜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경계 수정의 효과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2000000"/>
              </a:xfrm>
            </p:spPr>
            <p:txBody>
              <a:bodyPr wrap="square">
                <a:normAutofit lnSpcReduction="10000"/>
              </a:bodyPr>
              <a:lstStyle/>
              <a:p>
                <a:r>
                  <a:rPr dirty="0"/>
                  <a:t>수정: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−1</m:t>
                    </m:r>
                  </m:oMath>
                </a14:m>
                <a:r>
                  <a:rPr dirty="0"/>
                  <a:t>인 경우에만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=0,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−1</m:t>
                    </m:r>
                  </m:oMath>
                </a14:m>
                <a:r>
                  <a:rPr dirty="0"/>
                  <a:t> (그 외는 그대로)</a:t>
                </a:r>
              </a:p>
              <a:p>
                <a:r>
                  <a:rPr dirty="0"/>
                  <a:t>r = 19, 20의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HighBits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LowBits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가 (5, −1), (5, 0) → (0, −2), (0, −1)로 바뀐다 (다른 r은 그대로)</a:t>
                </a:r>
              </a:p>
              <a:p>
                <a:r>
                  <a:rPr dirty="0"/>
                  <a:t>재검증: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HighBits</m:t>
                    </m:r>
                    <m:r>
                      <a:rPr lang="en-US" i="1">
                        <a:latin typeface="Cambria Math"/>
                      </a:rPr>
                      <m:t>(20)=0</m:t>
                    </m:r>
                  </m:oMath>
                </a14:m>
                <a:r>
                  <a:rPr dirty="0"/>
                  <a:t>에 +2 → 0 (안 바뀜), −2 → 4 (바뀜) — 한 방향만 남는다</a:t>
                </a:r>
              </a:p>
              <a:p>
                <a:r>
                  <a:rPr dirty="0"/>
                  <a:t>따라서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UseHint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MakeHint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),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)=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HighBits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가 예외 없이 성립한다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2000000"/>
              </a:xfrm>
              <a:blipFill>
                <a:blip r:embed="rId2"/>
                <a:stretch>
                  <a:fillRect l="-406" b="-27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5</a:t>
            </a:fld>
            <a:endParaRPr lang="ko-KR" altLang="en-US" dirty="0"/>
          </a:p>
        </p:txBody>
      </p:sp>
      <p:pic>
        <p:nvPicPr>
          <p:cNvPr id="7" name="Picture 6" descr="_fig_12232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210" y="3387256"/>
            <a:ext cx="3658111" cy="3334215"/>
          </a:xfrm>
          <a:prstGeom prst="rect">
            <a:avLst/>
          </a:prstGeom>
        </p:spPr>
      </p:pic>
      <p:pic>
        <p:nvPicPr>
          <p:cNvPr id="8" name="Picture 7" descr="_fig_73106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0681" y="3387256"/>
            <a:ext cx="3639058" cy="3334215"/>
          </a:xfrm>
          <a:prstGeom prst="rect">
            <a:avLst/>
          </a:prstGeom>
        </p:spPr>
      </p:pic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7F98FC4F-BFF6-6050-7FFE-0FC7F6325C3F}"/>
              </a:ext>
            </a:extLst>
          </p:cNvPr>
          <p:cNvSpPr/>
          <p:nvPr/>
        </p:nvSpPr>
        <p:spPr>
          <a:xfrm>
            <a:off x="5369848" y="4588042"/>
            <a:ext cx="1452304" cy="753979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R</a:t>
            </a:r>
            <a:r>
              <a:rPr baseline="-25000" dirty="0"/>
              <a:t>q</a:t>
            </a:r>
            <a:r>
              <a:rPr dirty="0"/>
              <a:t>에서의 다항식 곱셈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Kyber와 Dilithium의 지배적 연산은 다항식 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[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]/(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+1)</m:t>
                    </m:r>
                  </m:oMath>
                </a14:m>
                <a:r>
                  <a:rPr dirty="0"/>
                  <a:t>에서의 곱셈이다</a:t>
                </a:r>
              </a:p>
              <a:p>
                <a:r>
                  <a:rPr dirty="0"/>
                  <a:t>두 스킴 모두 n=256을 쓴다 — Dilithium은 23비트 소수 q, Kyber는 12비트 소수 q</a:t>
                </a:r>
              </a:p>
              <a:p>
                <a:r>
                  <a:rPr dirty="0"/>
                  <a:t>목표: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𝑎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𝑏</m:t>
                    </m:r>
                    <m:r>
                      <a:rPr lang="en-US" i="1">
                        <a:latin typeface="Cambria Math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</m:oMath>
                </a14:m>
                <a:r>
                  <a:rPr dirty="0"/>
                  <a:t>에 대해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𝑐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)=</m:t>
                    </m:r>
                    <m:r>
                      <a:rPr lang="en-US" i="1">
                        <a:latin typeface="Cambria Math"/>
                      </a:rPr>
                      <m:t>𝑎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  <m:r>
                      <a:rPr lang="en-US" i="1">
                        <a:latin typeface="Cambria Math"/>
                      </a:rPr>
                      <m:t>𝑏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+1)</m:t>
                    </m:r>
                  </m:oMath>
                </a14:m>
                <a:r>
                  <a:rPr dirty="0"/>
                  <a:t>을 빠르게 계산</a:t>
                </a:r>
              </a:p>
              <a:p>
                <a:r>
                  <a:rPr dirty="0"/>
                  <a:t>NTT를 쓰면 O(n log n), 고전 알고리즘은 O(n</a:t>
                </a:r>
                <a:r>
                  <a:rPr baseline="30000" dirty="0"/>
                  <a:t>2</a:t>
                </a:r>
                <a:r>
                  <a:rPr dirty="0"/>
                  <a:t>)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3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6</a:t>
            </a:fld>
            <a:endParaRPr lang="ko-KR" alt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고전(schoolbook) 곱셈 알고리즘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곱을 구한 뒤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</m:t>
                    </m:r>
                  </m:oMath>
                </a14:m>
                <a:r>
                  <a:rPr dirty="0"/>
                  <a:t>로 접는다 (아래 3단계):</a:t>
                </a:r>
              </a:p>
              <a:p>
                <a:r>
                  <a:rPr dirty="0"/>
                  <a:t>리덕션은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→−1,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+1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→−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…,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−2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→−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−2</m:t>
                        </m:r>
                      </m:sup>
                    </m:sSup>
                  </m:oMath>
                </a14:m>
                <a:r>
                  <a:rPr dirty="0"/>
                  <a:t> 치환 (위쪽 절반을 부호 뒤집어 접기)</a:t>
                </a:r>
              </a:p>
              <a:p>
                <a:r>
                  <a:rPr dirty="0"/>
                  <a:t>전체 실행시간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𝑂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</m:oMath>
                </a14:m>
                <a:r>
                  <a:rPr dirty="0"/>
                  <a:t>-연산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3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7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4630837"/>
              </p:ext>
            </p:extLst>
          </p:nvPr>
        </p:nvGraphicFramePr>
        <p:xfrm>
          <a:off x="838200" y="3566160"/>
          <a:ext cx="10515600" cy="18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1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단계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시간복잡도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d(x)=a(x)b(x) 계산 (차수 ≤ 2n−2)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O(n</a:t>
                      </a:r>
                      <a:r>
                        <a:rPr sz="1800" baseline="30000" dirty="0"/>
                        <a:t>2</a:t>
                      </a:r>
                      <a:r>
                        <a:rPr sz="180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</a:t>
                      </a:r>
                      <a:r>
                        <a:rPr sz="1800" baseline="30000" dirty="0"/>
                        <a:t>n</a:t>
                      </a:r>
                      <a:r>
                        <a:rPr sz="1800" dirty="0"/>
                        <a:t>+1로 리덕션 (위 치환)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O(n)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두 다항식을 더해 c(x) 도출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O(n)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리덕션 단계 상세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1단계의 일반 곱은 차수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−2</m:t>
                    </m:r>
                  </m:oMath>
                </a14:m>
                <a:r>
                  <a:rPr dirty="0"/>
                  <a:t>까지 나온다: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𝑑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a:rPr lang="en-US" i="1">
                          <a:latin typeface="Cambria Math"/>
                        </a:rPr>
                        <m:t>𝑏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+⋯+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  <m:r>
                            <a:rPr lang="en-US" i="1">
                              <a:latin typeface="Cambria Math"/>
                            </a:rPr>
                            <m:t>−2</m:t>
                          </m:r>
                        </m:sub>
                      </m:sSub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  <m:r>
                            <a:rPr lang="en-US" i="1">
                              <a:latin typeface="Cambria Math"/>
                            </a:rPr>
                            <m:t>−2</m:t>
                          </m:r>
                        </m:sup>
                      </m:sSup>
                    </m:oMath>
                  </m:oMathPara>
                </a14:m>
                <a:endParaRPr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</m:t>
                    </m:r>
                  </m:oMath>
                </a14:m>
                <a:r>
                  <a:rPr dirty="0"/>
                  <a:t>로 리덕션 = 위쪽 절반을 부호 뒤집어 접기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+</m:t>
                        </m:r>
                        <m:r>
                          <a:rPr lang="en-US" i="1">
                            <a:latin typeface="Cambria Math"/>
                          </a:rPr>
                          <m:t>𝑘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→−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𝑘</m:t>
                        </m:r>
                      </m:sup>
                    </m:sSup>
                  </m:oMath>
                </a14:m>
                <a:r>
                  <a:rPr dirty="0"/>
                  <a:t>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𝑐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+⋯+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  <m:r>
                            <a:rPr lang="en-US" i="1">
                              <a:latin typeface="Cambria Math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  <m:r>
                            <a:rPr lang="en-US" i="1">
                              <a:latin typeface="Cambria Math"/>
                            </a:rPr>
                            <m:t>−1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)+(−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−⋯−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  <m:r>
                            <a:rPr lang="en-US" i="1">
                              <a:latin typeface="Cambria Math"/>
                            </a:rPr>
                            <m:t>−2</m:t>
                          </m:r>
                        </m:sub>
                      </m:sSub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  <m:r>
                            <a:rPr lang="en-US" i="1">
                              <a:latin typeface="Cambria Math"/>
                            </a:rPr>
                            <m:t>−2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접는 비용은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𝑂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— 지배적인 건 1단계의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𝑂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8</a:t>
            </a:fld>
            <a:endParaRPr lang="ko-KR" alt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NTT를 이용한 빠른 곱셈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NTT: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⟶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bSup>
                  </m:oMath>
                </a14:m>
                <a:r>
                  <a:rPr dirty="0"/>
                  <a:t>은 가역함수이며, 역함수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/>
                          </a:rPr>
                          <m:t>NTT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−1</m:t>
                        </m:r>
                      </m:sup>
                    </m:sSup>
                  </m:oMath>
                </a14:m>
                <a:r>
                  <a:rPr dirty="0"/>
                  <a:t>가 존재한다</a:t>
                </a:r>
              </a:p>
              <a:p>
                <a:r>
                  <a:rPr dirty="0"/>
                  <a:t>a,b∈R</a:t>
                </a:r>
                <a:r>
                  <a:rPr baseline="-25000" dirty="0"/>
                  <a:t>q</a:t>
                </a:r>
                <a:r>
                  <a:rPr dirty="0"/>
                  <a:t>의 곱 c(x)=a(x)b(x) mod (x</a:t>
                </a:r>
                <a:r>
                  <a:rPr baseline="30000" dirty="0"/>
                  <a:t>n</a:t>
                </a:r>
                <a:r>
                  <a:rPr dirty="0"/>
                  <a:t>+1)은 다음 3단계로 계산된다</a:t>
                </a:r>
              </a:p>
              <a:p>
                <a:r>
                  <a:rPr dirty="0"/>
                  <a:t>전체 실행시간: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𝑂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log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— 고전 알고리즘 대비 큰 개선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3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9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5330388"/>
              </p:ext>
            </p:extLst>
          </p:nvPr>
        </p:nvGraphicFramePr>
        <p:xfrm>
          <a:off x="838200" y="3157175"/>
          <a:ext cx="10515600" cy="18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1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단계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시간복잡도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NTT(a), NTT(b)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O(n log 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NTT(a)∘NTT(b)  (성분별 곱)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O(n)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c = NTT</a:t>
                      </a:r>
                      <a:r>
                        <a:rPr sz="1800" baseline="30000" dirty="0"/>
                        <a:t>-1</a:t>
                      </a:r>
                      <a:r>
                        <a:rPr sz="1800" dirty="0"/>
                        <a:t>(ĉ)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O(n log 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NTT의 정의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n=2</a:t>
                </a:r>
                <a:r>
                  <a:rPr baseline="30000" dirty="0"/>
                  <a:t>k</a:t>
                </a:r>
                <a:r>
                  <a:rPr dirty="0"/>
                  <a:t>, q는 q−1이 2n으로 나누어지는 소수</a:t>
                </a:r>
              </a:p>
              <a:p>
                <a:pPr lvl="1"/>
                <a:r>
                  <a:rPr dirty="0"/>
                  <a:t>Dilithium: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=256=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8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13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+1,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−1=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13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10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−1)</m:t>
                    </m:r>
                  </m:oMath>
                </a14:m>
                <a:endParaRPr dirty="0"/>
              </a:p>
              <a:p>
                <a:r>
                  <a:rPr dirty="0"/>
                  <a:t>ζ∈Z</a:t>
                </a:r>
                <a:r>
                  <a:rPr baseline="-25000" dirty="0"/>
                  <a:t>q</a:t>
                </a:r>
                <a:r>
                  <a:rPr dirty="0"/>
                  <a:t>*는 위수(order) 2n인 원소 — 위수는 ζ</a:t>
                </a:r>
                <a:r>
                  <a:rPr baseline="30000" dirty="0"/>
                  <a:t>t</a:t>
                </a:r>
                <a:r>
                  <a:rPr dirty="0"/>
                  <a:t>=1이 되는 최소 양의 정수 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=−1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a(x)∈R</a:t>
                </a:r>
                <a:r>
                  <a:rPr baseline="-25000" dirty="0"/>
                  <a:t>q</a:t>
                </a:r>
                <a:r>
                  <a:rPr dirty="0"/>
                  <a:t>에 대해 정의: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NTT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</m:acc>
                      <m:r>
                        <a:rPr lang="en-US" i="1">
                          <a:latin typeface="Cambria Math"/>
                        </a:rPr>
                        <m:t>=(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),…,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  <m:r>
                            <a:rPr lang="en-US" i="1">
                              <a:latin typeface="Cambria Math"/>
                            </a:rPr>
                            <m:t>−1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))∈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/>
                            </a:rPr>
                            <m:t>ℤ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𝑞</m:t>
                          </m:r>
                        </m:sub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b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10</a:t>
            </a:fld>
            <a:endParaRPr lang="ko-KR" alt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NTT의 대수적 성질: 평가·보간·성분별 곱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NTT(a)는 a(x)를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𝜁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,…,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−1</m:t>
                        </m:r>
                      </m:sup>
                    </m:sSup>
                  </m:oMath>
                </a14:m>
                <a:r>
                  <a:rPr dirty="0"/>
                  <a:t>에서 평가한 것; NTT</a:t>
                </a:r>
                <a:r>
                  <a:rPr baseline="30000" dirty="0"/>
                  <a:t>-1</a:t>
                </a:r>
                <a:r>
                  <a:rPr dirty="0"/>
                  <a:t>는 다항식 보간</a:t>
                </a:r>
              </a:p>
              <a:p>
                <a:r>
                  <a:rPr dirty="0"/>
                  <a:t>c(x)=a(x)b(x)+ℓ(x)(x</a:t>
                </a:r>
                <a:r>
                  <a:rPr baseline="30000" dirty="0"/>
                  <a:t>n</a:t>
                </a:r>
                <a:r>
                  <a:rPr dirty="0"/>
                  <a:t>+1)이라 하면, 홀수 i에 대해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𝑐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a:rPr lang="en-US" i="1">
                          <a:latin typeface="Cambria Math"/>
                        </a:rPr>
                        <m:t>𝑏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)+ℓ(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그런데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𝑛𝑖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)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=(−1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)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=−1</m:t>
                    </m:r>
                  </m:oMath>
                </a14:m>
                <a:r>
                  <a:rPr dirty="0"/>
                  <a:t> (i가 홀수) — 뒤 항이 0이 되어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𝑐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a:rPr lang="en-US" i="1">
                          <a:latin typeface="Cambria Math"/>
                        </a:rPr>
                        <m:t>𝑏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따라서 곱셈은 성분별 곱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/>
                          </a:rPr>
                          <m:t>𝑐</m:t>
                        </m:r>
                      </m:e>
                    </m:acc>
                    <m:r>
                      <a:rPr lang="en-US" i="1">
                        <a:latin typeface="Cambria Math"/>
                      </a:rPr>
                      <m:t>=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</m:acc>
                    <m:r>
                      <a:rPr lang="en-US" i="1">
                        <a:latin typeface="Cambria Math"/>
                      </a:rPr>
                      <m:t>∘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/>
                          </a:rPr>
                          <m:t>𝑏</m:t>
                        </m:r>
                      </m:e>
                    </m:acc>
                  </m:oMath>
                </a14:m>
                <a:r>
                  <a:rPr dirty="0"/>
                  <a:t>, 덧셈도 성분별 합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11</a:t>
            </a:fld>
            <a:endParaRPr lang="ko-KR" alt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나머지 정리와 재귀 계산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NTT(a)의 각 성분은 다항식 나머지 정리에 의해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f(x)가 g(x)를 나누면 다음이 성립 — 이를 이용해 재귀적으로 계산한다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𝑓</m:t>
                      </m:r>
                      <m:r>
                        <a:rPr lang="en-US" i="1">
                          <a:latin typeface="Cambria Math"/>
                        </a:rPr>
                        <m:t>=(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𝑔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𝑓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아이디어: x</a:t>
                </a:r>
                <a:r>
                  <a:rPr baseline="30000" dirty="0"/>
                  <a:t>n</a:t>
                </a:r>
                <a:r>
                  <a:rPr dirty="0"/>
                  <a:t>+1을 선형 인수들의 곱으로 완전히 인수분해한 뒤, 트리 구조로 나머지를 재귀적으로 좁혀간다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12</a:t>
            </a:fld>
            <a:endParaRPr lang="ko-KR" alt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예제 파라미터와 x</a:t>
            </a:r>
            <a:r>
              <a:rPr baseline="30000" dirty="0"/>
              <a:t>8</a:t>
            </a:r>
            <a:r>
              <a:rPr dirty="0"/>
              <a:t>+1의 인수분해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구체적인 예로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=113</m:t>
                    </m:r>
                  </m:oMath>
                </a14:m>
                <a:r>
                  <a:rPr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=8</m:t>
                    </m:r>
                  </m:oMath>
                </a14:m>
                <a:r>
                  <a:rPr dirty="0"/>
                  <a:t> 을 쓴다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=16</m:t>
                    </m:r>
                  </m:oMath>
                </a14:m>
                <a:r>
                  <a:rPr dirty="0"/>
                  <a:t>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−1=112=16×7</m:t>
                    </m:r>
                  </m:oMath>
                </a14:m>
                <a:r>
                  <a:rPr dirty="0"/>
                  <a:t>을 나눔)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𝜁</m:t>
                    </m:r>
                    <m:r>
                      <a:rPr lang="en-US" i="1">
                        <a:latin typeface="Cambria Math"/>
                      </a:rPr>
                      <m:t>=42</m:t>
                    </m:r>
                  </m:oMath>
                </a14:m>
                <a:r>
                  <a:rPr dirty="0"/>
                  <a:t>는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113</m:t>
                        </m:r>
                      </m:sub>
                      <m:sup>
                        <m:r>
                          <a:rPr lang="en-US" i="1">
                            <a:latin typeface="Cambria Math"/>
                          </a:rPr>
                          <m:t>∗</m:t>
                        </m:r>
                      </m:sup>
                    </m:sSubSup>
                  </m:oMath>
                </a14:m>
                <a:r>
                  <a:rPr dirty="0"/>
                  <a:t>에서 위수 16, 따라서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8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=−1</m:t>
                    </m:r>
                  </m:oMath>
                </a14:m>
                <a:r>
                  <a:rPr dirty="0"/>
                  <a:t>.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113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[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]/(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8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+1)</m:t>
                    </m:r>
                  </m:oMath>
                </a14:m>
                <a:endParaRPr dirty="0"/>
              </a:p>
              <a:p>
                <a:r>
                  <a:rPr dirty="0"/>
                  <a:t>정규화: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𝑘</m:t>
                        </m:r>
                      </m:sup>
                    </m:sSup>
                  </m:oMath>
                </a14:m>
                <a:r>
                  <a:rPr dirty="0"/>
                  <a:t>의 근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𝑘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𝑘</m:t>
                        </m:r>
                        <m:r>
                          <a:rPr lang="en-US" i="1">
                            <a:latin typeface="Cambria Math"/>
                          </a:rPr>
                          <m:t>+8</m:t>
                        </m:r>
                      </m:sup>
                    </m:sSup>
                  </m:oMath>
                </a14:m>
                <a:r>
                  <a:rPr dirty="0"/>
                  <a:t>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∵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8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=−1</m:t>
                    </m:r>
                  </m:oMath>
                </a14:m>
                <a:r>
                  <a:rPr dirty="0"/>
                  <a:t>) — 지수를 홀수로 통일한다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8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8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8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12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10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14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=(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9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13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11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7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15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13</a:t>
            </a:fld>
            <a:endParaRPr lang="ko-KR" alt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 트리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790872"/>
            <a:ext cx="10515600" cy="2205539"/>
          </a:xfrm>
        </p:spPr>
        <p:txBody>
          <a:bodyPr wrap="square"/>
          <a:lstStyle/>
          <a:p>
            <a:r>
              <a:rPr dirty="0"/>
              <a:t>트리의 루트는 x</a:t>
            </a:r>
            <a:r>
              <a:rPr baseline="30000" dirty="0"/>
              <a:t>8</a:t>
            </a:r>
            <a:r>
              <a:rPr dirty="0"/>
              <a:t>+1, 각 리프는 선형 인수 (x−ζ</a:t>
            </a:r>
            <a:r>
              <a:rPr baseline="30000" dirty="0"/>
              <a:t>i</a:t>
            </a:r>
            <a:r>
              <a:rPr dirty="0"/>
              <a:t>)</a:t>
            </a:r>
          </a:p>
          <a:p>
            <a:r>
              <a:rPr dirty="0"/>
              <a:t>리프에는 이진수 레이블 000~111이 붙고, 각 경로가 하나의 홀수 거듭제곱 ζ</a:t>
            </a:r>
            <a:r>
              <a:rPr baseline="30000" dirty="0"/>
              <a:t>i</a:t>
            </a:r>
            <a:r>
              <a:rPr dirty="0"/>
              <a:t>에 대응한다</a:t>
            </a:r>
          </a:p>
          <a:p>
            <a:r>
              <a:rPr dirty="0"/>
              <a:t>NTT(a)의 계산은 이 트리를 따라 나머지를 반씩 좁혀가는 것과 같다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14</a:t>
            </a:fld>
            <a:endParaRPr lang="ko-KR" alt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F35BCF43-0219-B140-3E8D-15B715C42A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4924" y="1295322"/>
            <a:ext cx="5191125" cy="2495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 계산 절차 (4단계)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3790872"/>
                <a:ext cx="10515600" cy="2205539"/>
              </a:xfrm>
            </p:spPr>
            <p:txBody>
              <a:bodyPr wrap="square"/>
              <a:lstStyle/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𝑎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4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4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𝑎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4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4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를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∓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</m:oMath>
                </a14:m>
                <a:r>
                  <a:rPr dirty="0"/>
                  <a:t>로,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dirty="0"/>
                  <a:t>을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∓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6</m:t>
                        </m:r>
                      </m:sup>
                    </m:sSup>
                  </m:oMath>
                </a14:m>
                <a:r>
                  <a:rPr dirty="0"/>
                  <a:t>로 나눠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11</m:t>
                        </m:r>
                      </m:sub>
                    </m:sSub>
                  </m:oMath>
                </a14:m>
                <a:endParaRPr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dirty="0"/>
                  <a:t>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𝑗𝑘</m:t>
                        </m:r>
                      </m:sub>
                    </m:sSub>
                  </m:oMath>
                </a14:m>
                <a:r>
                  <a:rPr dirty="0"/>
                  <a:t>를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∓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p>
                    </m:sSup>
                  </m:oMath>
                </a14:m>
                <a:r>
                  <a:rPr dirty="0"/>
                  <a:t>로 나눠 8개 리프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000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111</m:t>
                        </m:r>
                      </m:sub>
                    </m:sSub>
                  </m:oMath>
                </a14:m>
                <a:endParaRPr dirty="0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NTT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𝑎</m:t>
                    </m:r>
                    <m:r>
                      <a:rPr lang="en-US" i="1">
                        <a:latin typeface="Cambria Math"/>
                      </a:rPr>
                      <m:t>)=(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000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100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010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110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001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101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011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111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790872"/>
                <a:ext cx="10515600" cy="2205539"/>
              </a:xfrm>
              <a:blipFill>
                <a:blip r:embed="rId2"/>
                <a:stretch>
                  <a:fillRect l="-63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15</a:t>
            </a:fld>
            <a:endParaRPr lang="ko-KR" altLang="en-US" dirty="0"/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4A278C49-BD12-9D0A-778D-D1D0787A03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4924" y="1295322"/>
            <a:ext cx="5191125" cy="2495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a</a:t>
            </a:r>
            <a:r>
              <a:rPr baseline="-25000" dirty="0"/>
              <a:t>0</a:t>
            </a:r>
            <a:r>
              <a:rPr dirty="0"/>
              <a:t>(x), a</a:t>
            </a:r>
            <a:r>
              <a:rPr baseline="-25000" dirty="0"/>
              <a:t>1</a:t>
            </a:r>
            <a:r>
              <a:rPr dirty="0"/>
              <a:t>(x)의 재귀 계산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a(x)를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𝑎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𝐿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4</m:t>
                        </m:r>
                      </m:sup>
                    </m:sSup>
                  </m:oMath>
                </a14:m>
                <a:r>
                  <a:rPr dirty="0"/>
                  <a:t> 로 쓰면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𝐿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sub>
                    </m:sSub>
                  </m:oMath>
                </a14:m>
                <a:r>
                  <a:rPr dirty="0"/>
                  <a:t>의 차수 ≤ 3),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0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0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한 층 비용: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sub>
                    </m:sSub>
                  </m:oMath>
                </a14:m>
                <a:r>
                  <a:rPr dirty="0"/>
                  <a:t>에 상수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4</m:t>
                        </m:r>
                      </m:sup>
                    </m:sSup>
                  </m:oMath>
                </a14:m>
                <a:r>
                  <a:rPr dirty="0"/>
                  <a:t>를 곱하는 곱셈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num>
                      <m:den>
                        <m:r>
                          <a:rPr lang="en-US" i="1">
                            <a:latin typeface="Cambria Math"/>
                          </a:rPr>
                          <m:t>2</m:t>
                        </m:r>
                      </m:den>
                    </m:f>
                  </m:oMath>
                </a14:m>
                <a:r>
                  <a:rPr dirty="0"/>
                  <a:t>회 + 덧뺄셈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</m:oMath>
                </a14:m>
                <a:r>
                  <a:rPr dirty="0"/>
                  <a:t>회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01</m:t>
                        </m:r>
                      </m:sub>
                    </m:sSub>
                  </m:oMath>
                </a14:m>
                <a:r>
                  <a:rPr dirty="0"/>
                  <a:t>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에서,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11</m:t>
                        </m:r>
                      </m:sub>
                    </m:sSub>
                  </m:oMath>
                </a14:m>
                <a:r>
                  <a:rPr dirty="0"/>
                  <a:t>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dirty="0"/>
                  <a:t>에서 같은 방식으로 재귀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16</a:t>
            </a:fld>
            <a:endParaRPr lang="ko-KR" alt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리프 순서와 재배열 문제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트리를 왼쪽부터 읽으면 리프의 평가점 지수가 이 순서로 나온다: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1,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9,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5,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13,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3,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11,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7,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15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정의가 요구하는 건 연속된 홀수 순서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𝑎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𝜁</m:t>
                    </m:r>
                    <m:r>
                      <a:rPr lang="en-US" i="1">
                        <a:latin typeface="Cambria Math"/>
                      </a:rPr>
                      <m:t>),</m:t>
                    </m:r>
                    <m:r>
                      <a:rPr lang="en-US" i="1">
                        <a:latin typeface="Cambria Math"/>
                      </a:rPr>
                      <m:t>𝑎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),…,</m:t>
                    </m:r>
                    <m:r>
                      <a:rPr lang="en-US" i="1">
                        <a:latin typeface="Cambria Math"/>
                      </a:rPr>
                      <m:t>𝑎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15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))</m:t>
                    </m:r>
                  </m:oMath>
                </a14:m>
                <a:r>
                  <a:rPr dirty="0"/>
                  <a:t> 다</a:t>
                </a:r>
              </a:p>
              <a:p>
                <a:r>
                  <a:rPr dirty="0"/>
                  <a:t>그래서 트리 결과를 한 번 재배열한다 (앞 4단계) — 이 비용을 없앤 것이 Dilithium 정의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17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1003047"/>
              </p:ext>
            </p:extLst>
          </p:nvPr>
        </p:nvGraphicFramePr>
        <p:xfrm>
          <a:off x="838200" y="3645866"/>
          <a:ext cx="10515600" cy="201168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116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리프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001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010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011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100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101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110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111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인수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x−ζ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x+ζ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x−ζ</a:t>
                      </a:r>
                      <a:r>
                        <a:rPr sz="1800" baseline="300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x+ζ</a:t>
                      </a:r>
                      <a:r>
                        <a:rPr sz="1800" baseline="300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x−ζ</a:t>
                      </a:r>
                      <a:r>
                        <a:rPr sz="1800" baseline="300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x+ζ</a:t>
                      </a:r>
                      <a:r>
                        <a:rPr sz="1800" baseline="300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x−ζ</a:t>
                      </a:r>
                      <a:r>
                        <a:rPr sz="1800" baseline="30000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x+ζ</a:t>
                      </a:r>
                      <a:r>
                        <a:rPr sz="1800" baseline="30000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평가점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ζ</a:t>
                      </a:r>
                      <a:r>
                        <a:rPr sz="1800" baseline="300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ζ</a:t>
                      </a:r>
                      <a:r>
                        <a:rPr sz="1800" baseline="30000" dirty="0"/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ζ</a:t>
                      </a:r>
                      <a:r>
                        <a:rPr sz="1800" baseline="300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ζ</a:t>
                      </a:r>
                      <a:r>
                        <a:rPr sz="1800" baseline="30000" dirty="0"/>
                        <a:t>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ζ</a:t>
                      </a:r>
                      <a:r>
                        <a:rPr sz="1800" baseline="300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ζ</a:t>
                      </a:r>
                      <a:r>
                        <a:rPr sz="1800" baseline="30000" dirty="0"/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ζ</a:t>
                      </a:r>
                      <a:r>
                        <a:rPr sz="1800" baseline="30000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ζ</a:t>
                      </a:r>
                      <a:r>
                        <a:rPr sz="1800" baseline="30000" dirty="0"/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정의 </a:t>
                      </a:r>
                      <a:br>
                        <a:rPr lang="en-US" sz="1800" dirty="0"/>
                      </a:br>
                      <a:r>
                        <a:rPr sz="1800" dirty="0"/>
                        <a:t>위치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 실행시간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층당 비용: 곱셈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num>
                      <m:den>
                        <m:r>
                          <a:rPr lang="en-US" i="1">
                            <a:latin typeface="Cambria Math"/>
                          </a:rPr>
                          <m:t>2</m:t>
                        </m:r>
                      </m:den>
                    </m:f>
                  </m:oMath>
                </a14:m>
                <a:r>
                  <a:rPr dirty="0"/>
                  <a:t>회 + 덧뺄셈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</m:oMath>
                </a14:m>
                <a:r>
                  <a:rPr dirty="0"/>
                  <a:t>회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/>
                          </a:rPr>
                          <m:t>3</m:t>
                        </m:r>
                      </m:num>
                      <m:den>
                        <m:r>
                          <a:rPr lang="en-US" i="1">
                            <a:latin typeface="Cambria Math"/>
                          </a:rPr>
                          <m:t>2</m:t>
                        </m:r>
                      </m:den>
                    </m:f>
                    <m:r>
                      <a:rPr lang="en-US" i="1">
                        <a:latin typeface="Cambria Math"/>
                      </a:rPr>
                      <m:t>𝑛</m:t>
                    </m:r>
                  </m:oMath>
                </a14:m>
                <a:r>
                  <a:rPr dirty="0"/>
                  <a:t> 연산</a:t>
                </a:r>
              </a:p>
              <a:p>
                <a:r>
                  <a:rPr dirty="0"/>
                  <a:t>한 층 내려가면 다항식 개수는 2배, 각 차수는 절반 → 층마다 총비용이 같다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)=2</m:t>
                      </m:r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/2)+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num>
                        <m:den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den>
                      </m:f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⇒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𝑂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0">
                          <a:latin typeface="Cambria Math"/>
                        </a:rPr>
                        <m:t>log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속도 향상을 셀 때는 곱셈만 세어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/>
                          </a:rPr>
                          <m:t>2</m:t>
                        </m:r>
                      </m:den>
                    </m:f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/>
                          </a:rPr>
                          <m:t>log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𝑛</m:t>
                    </m:r>
                  </m:oMath>
                </a14:m>
                <a:r>
                  <a:rPr dirty="0"/>
                  <a:t>회로 잡는다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 t="-4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18</a:t>
            </a:fld>
            <a:endParaRPr lang="ko-KR" alt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</a:t>
            </a:r>
            <a:r>
              <a:rPr baseline="30000" dirty="0"/>
              <a:t>-1</a:t>
            </a:r>
            <a:r>
              <a:rPr dirty="0"/>
              <a:t>와 가역성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NTT</a:t>
                </a:r>
                <a:r>
                  <a:rPr baseline="30000" dirty="0"/>
                  <a:t>-1</a:t>
                </a:r>
                <a:r>
                  <a:rPr dirty="0"/>
                  <a:t>는 트리를 리프에서 루트 방향으로 거슬러 올라가며 계산한다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𝐿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+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4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𝐿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4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sub>
                    </m:sSub>
                  </m:oMath>
                </a14:m>
                <a:r>
                  <a:rPr dirty="0"/>
                  <a:t> 를 더하고 빼면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/>
                            </a:rPr>
                            <m:t>(</m:t>
                          </m:r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  <m:r>
                            <a:rPr lang="en-US" i="1">
                              <a:latin typeface="Cambria Math"/>
                            </a:rPr>
                            <m:t>)+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/>
                            </a:rPr>
                            <m:t>(</m:t>
                          </m:r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num>
                        <m:den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den>
                      </m:f>
                      <m:r>
                        <a:rPr lang="en-US" i="1">
                          <a:latin typeface="Cambria Math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/>
                            </a:rPr>
                            <m:t>(</m:t>
                          </m:r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  <m:r>
                            <a:rPr lang="en-US" i="1">
                              <a:latin typeface="Cambria Math"/>
                            </a:rPr>
                            <m:t>)−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/>
                            </a:rPr>
                            <m:t>(</m:t>
                          </m:r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num>
                        <m:den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𝜁</m:t>
                              </m:r>
                            </m:e>
                            <m:sup>
                              <m:r>
                                <a:rPr lang="en-US" i="1">
                                  <a:latin typeface="Cambria Math"/>
                                </a:rPr>
                                <m:t>4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이 과정이 NTT가 가역임을 보이며, NTT</a:t>
                </a:r>
                <a:r>
                  <a:rPr baseline="30000" dirty="0"/>
                  <a:t>-1</a:t>
                </a:r>
                <a:r>
                  <a:rPr dirty="0"/>
                  <a:t>도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𝑂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log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에 계산된다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19</a:t>
            </a:fld>
            <a:endParaRPr lang="ko-KR" alt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수치 예제 (1): 첫 분기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=241</m:t>
                    </m:r>
                  </m:oMath>
                </a14:m>
                <a:r>
                  <a:rPr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=8</m:t>
                    </m:r>
                  </m:oMath>
                </a14:m>
                <a:r>
                  <a:rPr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𝜁</m:t>
                    </m:r>
                    <m:r>
                      <a:rPr lang="en-US" i="1">
                        <a:latin typeface="Cambria Math"/>
                      </a:rPr>
                      <m:t>=76</m:t>
                    </m:r>
                  </m:oMath>
                </a14:m>
                <a:r>
                  <a:rPr dirty="0"/>
                  <a:t> (위수 16이라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8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=−1</m:t>
                    </m:r>
                  </m:oMath>
                </a14:m>
                <a:r>
                  <a:rPr dirty="0"/>
                  <a:t>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=233,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 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=115,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 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=64,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 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=44,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 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=211,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 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7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=130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)=71+152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+4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+74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+133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+200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7</m:t>
                          </m:r>
                        </m:sup>
                      </m:sSup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𝑏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)=199+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+11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+44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+165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+114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7</m:t>
                          </m:r>
                        </m:sup>
                      </m:sSup>
                    </m:oMath>
                  </m:oMathPara>
                </a14:m>
                <a:endParaRPr dirty="0"/>
              </a:p>
              <a:p>
                <a:r>
                  <a:rPr dirty="0"/>
                  <a:t>상·하위 절반: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𝐿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=(71,152,0,4),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=(0,74,133,200)</m:t>
                    </m:r>
                  </m:oMath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+64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=(71,68,77,31),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−64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=(71,236,164,218)</m:t>
                      </m:r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20</a:t>
            </a:fld>
            <a:endParaRPr lang="ko-KR" alt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수치 예제 (2): 트리 끝까지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2층 노드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=233,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6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=211</m:t>
                    </m:r>
                  </m:oMath>
                </a14:m>
                <a:r>
                  <a:rPr dirty="0"/>
                  <a:t>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=(178,61),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=(205,75),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=(212,203),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=(171,28)</m:t>
                    </m:r>
                  </m:oMath>
                </a14:m>
                <a:endParaRPr dirty="0"/>
              </a:p>
              <a:p>
                <a:r>
                  <a:rPr dirty="0"/>
                  <a:t>마지막 층 (회전자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𝜁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5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7</m:t>
                        </m:r>
                      </m:sup>
                    </m:sSup>
                  </m:oMath>
                </a14:m>
                <a:r>
                  <a:rPr dirty="0"/>
                  <a:t>) → 8개 리프, 트리 왼쪽부터: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000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,…,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111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)=(235,121,131,38,180,3,196,146)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정의 순서로 재배열: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NTT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𝑎</m:t>
                    </m:r>
                    <m:r>
                      <a:rPr lang="en-US" i="1">
                        <a:latin typeface="Cambria Math"/>
                      </a:rPr>
                      <m:t>)=(235,180,131,196,121,3,38,146)</m:t>
                    </m:r>
                  </m:oMath>
                </a14:m>
                <a:endParaRPr dirty="0"/>
              </a:p>
              <a:p>
                <a:r>
                  <a:rPr dirty="0"/>
                  <a:t>b도 같은 절차 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NTT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𝑏</m:t>
                    </m:r>
                    <m:r>
                      <a:rPr lang="en-US" i="1">
                        <a:latin typeface="Cambria Math"/>
                      </a:rPr>
                      <m:t>)=(43,16,73,153,41,130,81,91)</m:t>
                    </m:r>
                  </m:oMath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21</a:t>
            </a:fld>
            <a:endParaRPr lang="ko-KR" alt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수치 예제 (3): 성분별 곱과 복원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성분별 곱 (mod 241):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</m:acc>
                      <m:r>
                        <a:rPr lang="en-US" i="1">
                          <a:latin typeface="Cambria Math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</m:acc>
                      <m:r>
                        <a:rPr lang="en-US" i="1">
                          <a:latin typeface="Cambria Math"/>
                        </a:rPr>
                        <m:t>∘</m:t>
                      </m:r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</m:acc>
                      <m:r>
                        <a:rPr lang="en-US" i="1">
                          <a:latin typeface="Cambria Math"/>
                        </a:rPr>
                        <m:t>=(224,229,164,104,141,149,186,31)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역변환 (트리를 거꾸로):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𝑐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/>
                            </a:rPr>
                            <m:t>NTT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−1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(</m:t>
                      </m:r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</m:acc>
                      <m:r>
                        <a:rPr lang="en-US" i="1">
                          <a:latin typeface="Cambria Math"/>
                        </a:rPr>
                        <m:t>)=33+3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+239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+37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+71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+43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+143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+69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7</m:t>
                          </m:r>
                        </m:sup>
                      </m:sSup>
                    </m:oMath>
                  </m:oMathPara>
                </a14:m>
                <a:endParaRPr dirty="0"/>
              </a:p>
              <a:p>
                <a:r>
                  <a:rPr dirty="0"/>
                  <a:t>schoolbook 곱셈으로 직접 계산한 결과와 완전히 일치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239≡−2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241)</m:t>
                    </m:r>
                  </m:oMath>
                </a14:m>
                <a:r>
                  <a:rPr dirty="0"/>
                  <a:t> 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8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→−1</m:t>
                    </m:r>
                  </m:oMath>
                </a14:m>
                <a:r>
                  <a:rPr dirty="0"/>
                  <a:t>로 접히며 위쪽 계수가 부호를 바꿔 내려온 자리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22</a:t>
            </a:fld>
            <a:endParaRPr lang="ko-KR" alt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Dilithium NTT 파라미터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ML-DSA-44/65/87 전부 동일한 NTT 파라미터를 쓴다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𝑞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13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=256,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=1753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order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2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=512)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앞서 본 일반 정의(홀수 거듭제곱에서의 평가)를 그대로 쓰면, 트리로 계산한 뒤 결과를 연속된 홀수 순서로 재배열해야 하는 불편함이 있다</a:t>
                </a:r>
              </a:p>
              <a:p>
                <a:r>
                  <a:rPr dirty="0"/>
                  <a:t>Dilithium은 이 재배열을 없애기 위해 NTT를 조금 다르게 정의한다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23</a:t>
            </a:fld>
            <a:endParaRPr lang="ko-KR" alt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비트 반전과 Dilithium NTT 정의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마지막 재배열을 없애기 위해 Dilithium NTT는 정의 자체를 트리 순서에 맞춘다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𝑣</m:t>
                    </m:r>
                    <m:r>
                      <a:rPr lang="en-US" i="1">
                        <a:latin typeface="Cambria Math"/>
                      </a:rPr>
                      <m:t>∈[0,255]</m:t>
                    </m:r>
                  </m:oMath>
                </a14:m>
                <a:r>
                  <a:rPr dirty="0"/>
                  <a:t>에 대해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brv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𝑣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는 v의 8비트 이진표현을 뒤집은 정수: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>
                          <a:latin typeface="Cambria Math"/>
                        </a:rPr>
                        <m:t>brv</m:t>
                      </m:r>
                      <m:r>
                        <a:rPr lang="en-US" i="1">
                          <a:latin typeface="Cambria Math"/>
                        </a:rPr>
                        <m:t>(143)=</m:t>
                      </m:r>
                      <m:r>
                        <m:rPr>
                          <m:sty m:val="p"/>
                        </m:rPr>
                        <a:rPr lang="en-US" i="0">
                          <a:latin typeface="Cambria Math"/>
                        </a:rPr>
                        <m:t>brv</m:t>
                      </m:r>
                      <m:r>
                        <a:rPr lang="en-US" i="1">
                          <a:latin typeface="Cambria Math"/>
                        </a:rPr>
                        <m:t>((10001111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)=(11110001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=241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각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0≤</m:t>
                    </m:r>
                    <m:r>
                      <a:rPr lang="en-US" i="1">
                        <a:latin typeface="Cambria Math"/>
                      </a:rPr>
                      <m:t>𝑖</m:t>
                    </m:r>
                    <m:r>
                      <a:rPr lang="en-US" i="1">
                        <a:latin typeface="Cambria Math"/>
                      </a:rPr>
                      <m:t>≤127</m:t>
                    </m:r>
                  </m:oMath>
                </a14:m>
                <a:r>
                  <a:rPr dirty="0"/>
                  <a:t>에 대해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i="0">
                            <a:latin typeface="Cambria Math"/>
                          </a:rPr>
                          <m:t>brv</m:t>
                        </m:r>
                        <m:r>
                          <a:rPr lang="en-US" i="1">
                            <a:latin typeface="Cambria Math"/>
                          </a:rPr>
                          <m:t>(128+</m:t>
                        </m:r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)</m:t>
                        </m:r>
                      </m:sup>
                    </m:sSup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𝑞</m:t>
                    </m:r>
                  </m:oMath>
                </a14:m>
                <a:r>
                  <a:rPr dirty="0"/>
                  <a:t> 로 두면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>
                          <a:latin typeface="Cambria Math"/>
                        </a:rPr>
                        <m:t>NTT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)=(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),…,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127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127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이 순서가 트리 리프 순서와 일치 — NTT·NTT</a:t>
                </a:r>
                <a:r>
                  <a:rPr baseline="30000" dirty="0"/>
                  <a:t>-1</a:t>
                </a:r>
                <a:r>
                  <a:rPr dirty="0"/>
                  <a:t>를 in-place로 계산할 수 있다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24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8212426"/>
              </p:ext>
            </p:extLst>
          </p:nvPr>
        </p:nvGraphicFramePr>
        <p:xfrm>
          <a:off x="838200" y="4490987"/>
          <a:ext cx="10515600" cy="13716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4+i (2진)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brv(4+i)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Dilithium NTT의 in-place 계산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3160854"/>
                <a:ext cx="10515599" cy="2567411"/>
              </a:xfrm>
            </p:spPr>
            <p:txBody>
              <a:bodyPr wrap="square"/>
              <a:lstStyle/>
              <a:p>
                <a:r>
                  <a:rPr dirty="0"/>
                  <a:t>앞의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brv</m:t>
                    </m:r>
                    <m:r>
                      <a:rPr lang="en-US" i="1">
                        <a:latin typeface="Cambria Math"/>
                      </a:rPr>
                      <m:t>(4+</m:t>
                    </m:r>
                    <m:r>
                      <a:rPr lang="en-US" i="1">
                        <a:latin typeface="Cambria Math"/>
                      </a:rPr>
                      <m:t>𝑖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표에서 (n=8):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5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7</m:t>
                        </m:r>
                      </m:sup>
                    </m:sSup>
                  </m:oMath>
                </a14:m>
                <a:endParaRPr dirty="0"/>
              </a:p>
              <a:p>
                <a:r>
                  <a:rPr dirty="0"/>
                  <a:t>이 정의를 쓰면 출력이 트리 리프 순서 그대로가 된다: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>
                          <a:latin typeface="Cambria Math"/>
                        </a:rPr>
                        <m:t>NTT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𝐴</m:t>
                      </m:r>
                      <m:r>
                        <a:rPr lang="en-US" i="1">
                          <a:latin typeface="Cambria Math"/>
                        </a:rPr>
                        <m:t>)=(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000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001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010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011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100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101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110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111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앞서 본 재배열이 필요 없어진다 — 이것이 Dilithium 정의의 동기</a:t>
                </a:r>
              </a:p>
              <a:p>
                <a:r>
                  <a:rPr dirty="0"/>
                  <a:t>계산은 길이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</m:oMath>
                </a14:m>
                <a:r>
                  <a:rPr dirty="0"/>
                  <a:t> 배열 하나로 수행 — 하드웨어 구현에 유용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160854"/>
                <a:ext cx="10515599" cy="2567411"/>
              </a:xfrm>
              <a:blipFill>
                <a:blip r:embed="rId2"/>
                <a:stretch>
                  <a:fillRect l="-406" b="-4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25</a:t>
            </a:fld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A20C7F7-5D00-7A9F-EECB-8FF90B43E6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7820" y="1297392"/>
            <a:ext cx="4036360" cy="145573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버터플라이와 배열 갱신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3160854"/>
                <a:ext cx="10515600" cy="2835557"/>
              </a:xfrm>
            </p:spPr>
            <p:txBody>
              <a:bodyPr wrap="square"/>
              <a:lstStyle/>
              <a:p>
                <a:r>
                  <a:rPr dirty="0"/>
                  <a:t>한 번의 갱신을 식으로 (같은 배열 자리에 덮어쓴다):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←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·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←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←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</a:rPr>
                        <m:t>𝑇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길이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</m:oMath>
                </a14:m>
                <a:r>
                  <a:rPr dirty="0"/>
                  <a:t> 배열 하나와 스칼라 임시변수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𝑇</m:t>
                    </m:r>
                  </m:oMath>
                </a14:m>
                <a:r>
                  <a:rPr dirty="0"/>
                  <a:t> 하나면 된다 — 추가 메모리 없음</a:t>
                </a:r>
              </a:p>
              <a:p>
                <a:r>
                  <a:rPr dirty="0"/>
                  <a:t>같은 패턴이 다음 층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11</m:t>
                        </m:r>
                      </m:sub>
                    </m:sSub>
                  </m:oMath>
                </a14:m>
                <a:r>
                  <a:rPr dirty="0"/>
                  <a:t>)에도 그대로 재귀 적용된다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160854"/>
                <a:ext cx="10515600" cy="2835557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26</a:t>
            </a:fld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A6203A1-762F-7541-D6D5-07AFA175AD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7820" y="1297392"/>
            <a:ext cx="4036360" cy="1455736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Dilithium 키 생성에서의 NTT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NTT는 다항식 벡터·행렬에도 각 성분에 적용하는 방식으로 자연스럽게 확장된다</a:t>
            </a:r>
          </a:p>
          <a:p>
            <a:r>
              <a:rPr dirty="0"/>
              <a:t>s</a:t>
            </a:r>
            <a:r>
              <a:rPr baseline="-25000" dirty="0"/>
              <a:t>1</a:t>
            </a:r>
            <a:r>
              <a:rPr dirty="0"/>
              <a:t>, s</a:t>
            </a:r>
            <a:r>
              <a:rPr baseline="-25000" dirty="0"/>
              <a:t>2</a:t>
            </a:r>
            <a:r>
              <a:rPr dirty="0"/>
              <a:t>는 계수가 ±η로 제한되어 NTT 형태로 직접 뽑을 수 없다 — 뽑은 뒤 NTT를 적용한다</a:t>
            </a:r>
          </a:p>
          <a:p>
            <a:r>
              <a:rPr dirty="0"/>
              <a:t>행렬 A 자체는 계산되지 않고, NTT 형태만 쓰인다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27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505505"/>
              </p:ext>
            </p:extLst>
          </p:nvPr>
        </p:nvGraphicFramePr>
        <p:xfrm>
          <a:off x="838200" y="2962678"/>
          <a:ext cx="10515600" cy="26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단계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Â = ExpandA(ρ) — 행렬 A를 NTT 형태로 직접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, s</a:t>
                      </a:r>
                      <a:r>
                        <a:rPr sz="1800" baseline="-25000" dirty="0"/>
                        <a:t>2</a:t>
                      </a:r>
                      <a:r>
                        <a:rPr sz="1800" dirty="0"/>
                        <a:t> 선택 후 ŝ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 = NTT(s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)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Â∘ŝ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 계산 후 NTT</a:t>
                      </a:r>
                      <a:r>
                        <a:rPr sz="1800" baseline="30000" dirty="0"/>
                        <a:t>-1</a:t>
                      </a:r>
                      <a:r>
                        <a:rPr sz="1800" dirty="0"/>
                        <a:t>로 b 복원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t = b + s</a:t>
                      </a:r>
                      <a:r>
                        <a:rPr sz="1800" baseline="-250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Dilithium 서명 생성에서의 속도 향상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ML-DSA-87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𝑘</m:t>
                    </m:r>
                    <m:r>
                      <a:rPr lang="en-US" i="1">
                        <a:latin typeface="Cambria Math"/>
                      </a:rPr>
                      <m:t>,ℓ)=(8,7)</m:t>
                    </m:r>
                  </m:oMath>
                </a14:m>
                <a:r>
                  <a:rPr dirty="0"/>
                  <a:t>에서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𝐴𝑦</m:t>
                    </m:r>
                  </m:oMath>
                </a14:m>
                <a:r>
                  <a:rPr dirty="0"/>
                  <a:t> 계산을 예로 든다</a:t>
                </a:r>
              </a:p>
              <a:p>
                <a:r>
                  <a:rPr dirty="0"/>
                  <a:t>NTT·NTT</a:t>
                </a:r>
                <a:r>
                  <a:rPr baseline="30000" dirty="0"/>
                  <a:t>-1</a:t>
                </a:r>
                <a:r>
                  <a:rPr dirty="0"/>
                  <a:t> 한 번에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/>
                          </a:rPr>
                          <m:t>2</m:t>
                        </m:r>
                      </m:den>
                    </m:f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/>
                          </a:rPr>
                          <m:t>log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𝑛</m:t>
                    </m:r>
                  </m:oMath>
                </a14:m>
                <a:r>
                  <a:rPr dirty="0"/>
                  <a:t>회 곱셈, 총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𝑘</m:t>
                    </m:r>
                    <m:r>
                      <a:rPr lang="en-US" i="1">
                        <a:latin typeface="Cambria Math"/>
                      </a:rPr>
                      <m:t>+ℓ)</m:t>
                    </m:r>
                  </m:oMath>
                </a14:m>
                <a:r>
                  <a:rPr dirty="0"/>
                  <a:t>개 다항식에 적용</a:t>
                </a:r>
              </a:p>
              <a:p>
                <a:r>
                  <a:rPr dirty="0"/>
                  <a:t>성분별 곱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/>
                      </a:rPr>
                      <m:t>∘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</m:acc>
                  </m:oMath>
                </a14:m>
                <a:r>
                  <a:rPr dirty="0"/>
                  <a:t>는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𝑘</m:t>
                    </m:r>
                    <m:r>
                      <a:rPr lang="en-US" i="1">
                        <a:latin typeface="Cambria Math"/>
                      </a:rPr>
                      <m:t>ℓ</m:t>
                    </m:r>
                  </m:oMath>
                </a14:m>
                <a:r>
                  <a:rPr dirty="0"/>
                  <a:t>개 쌍 ×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</m:oMath>
                </a14:m>
                <a:r>
                  <a:rPr dirty="0"/>
                  <a:t>회 =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𝑘</m:t>
                    </m:r>
                    <m:r>
                      <a:rPr lang="en-US" i="1">
                        <a:latin typeface="Cambria Math"/>
                      </a:rPr>
                      <m:t>ℓ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</m:oMath>
                </a14:m>
                <a:r>
                  <a:rPr dirty="0"/>
                  <a:t>회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28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8780781"/>
              </p:ext>
            </p:extLst>
          </p:nvPr>
        </p:nvGraphicFramePr>
        <p:xfrm>
          <a:off x="838200" y="3200400"/>
          <a:ext cx="10515600" cy="27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0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0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NTT 없이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NTT 사용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kℓ번의 다항식 곱, 각 n</a:t>
                      </a:r>
                      <a:r>
                        <a:rPr sz="1800" baseline="30000" dirty="0"/>
                        <a:t>2</a:t>
                      </a:r>
                      <a:r>
                        <a:rPr sz="1800" dirty="0"/>
                        <a:t> Z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-곱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ŷ=NTT(y), ŵ=Â∘ŷ, w=NTT</a:t>
                      </a:r>
                      <a:r>
                        <a:rPr sz="1800" baseline="30000" dirty="0"/>
                        <a:t>-1</a:t>
                      </a:r>
                      <a:r>
                        <a:rPr sz="1800" dirty="0"/>
                        <a:t>(ŵ)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곱셈 횟수 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kℓn</a:t>
                      </a:r>
                      <a:r>
                        <a:rPr sz="1800" baseline="300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½(k+ℓ)n log</a:t>
                      </a:r>
                      <a:r>
                        <a:rPr sz="1800" baseline="-25000" dirty="0"/>
                        <a:t>2</a:t>
                      </a:r>
                      <a:r>
                        <a:rPr sz="1800" dirty="0"/>
                        <a:t>n + kℓn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ML-DSA-87 대입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3,670,016 (≈2</a:t>
                      </a:r>
                      <a:r>
                        <a:rPr sz="1800" baseline="30000" dirty="0"/>
                        <a:t>21</a:t>
                      </a:r>
                      <a:r>
                        <a:rPr sz="1800" dirty="0"/>
                        <a:t>·</a:t>
                      </a:r>
                      <a:r>
                        <a:rPr sz="1800" baseline="30000" dirty="0"/>
                        <a:t>8</a:t>
                      </a:r>
                      <a:r>
                        <a:rPr sz="180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29,696 (≈2</a:t>
                      </a:r>
                      <a:r>
                        <a:rPr sz="1800" baseline="30000" dirty="0"/>
                        <a:t>14</a:t>
                      </a:r>
                      <a:r>
                        <a:rPr sz="1800" dirty="0"/>
                        <a:t>·</a:t>
                      </a:r>
                      <a:r>
                        <a:rPr sz="1800" baseline="30000" dirty="0"/>
                        <a:t>9</a:t>
                      </a:r>
                      <a:r>
                        <a:rPr sz="180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속도 향상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≈124배 (≈2</a:t>
                      </a:r>
                      <a:r>
                        <a:rPr sz="1800" baseline="30000" dirty="0"/>
                        <a:t>6</a:t>
                      </a:r>
                      <a:r>
                        <a:rPr sz="1800" dirty="0"/>
                        <a:t>·</a:t>
                      </a:r>
                      <a:r>
                        <a:rPr sz="1800" baseline="30000" dirty="0"/>
                        <a:t>9</a:t>
                      </a:r>
                      <a:r>
                        <a:rPr sz="180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Kyber가 표준 NTT를 못 쓰는 이유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Kyber도 n=256을 쓰지만,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=3329</m:t>
                    </m:r>
                  </m:oMath>
                </a14:m>
                <a:r>
                  <a:rPr dirty="0"/>
                  <a:t>는 q−1=256×13이 n으로는 나누어져도 2n으로는 나누어지지 않는다</a:t>
                </a:r>
              </a:p>
              <a:p>
                <a:r>
                  <a:rPr dirty="0"/>
                  <a:t>따라서 위수 2n인 ζ를 잡을 수 없어, Dilithium과 같은 방식의 NTT를 그대로 쓸 수 없다</a:t>
                </a:r>
              </a:p>
              <a:p>
                <a:pPr lvl="1"/>
                <a:r>
                  <a:rPr dirty="0"/>
                  <a:t>Z</a:t>
                </a:r>
                <a:r>
                  <a:rPr baseline="-25000" dirty="0"/>
                  <a:t>q</a:t>
                </a:r>
                <a:r>
                  <a:rPr dirty="0"/>
                  <a:t>*는 위수 q−1인 순환군 — 위수 t인 원소는 t가 q−1을 나눌 때만 존재한다</a:t>
                </a:r>
              </a:p>
              <a:p>
                <a:r>
                  <a:rPr dirty="0"/>
                  <a:t>대신 위수 n인 ζ를 쓴다 — 그 결과 NTT 트리에서 마지막 한 단계(선형 인수까지의 완전 분해)가 잘려나가, 리프가 이차식에서 멈춘다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 r="-46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29</a:t>
            </a:fld>
            <a:endParaRPr lang="ko-KR" altLang="en-US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x</a:t>
            </a:r>
            <a:r>
              <a:rPr baseline="30000" dirty="0"/>
              <a:t>2</a:t>
            </a:r>
            <a:r>
              <a:rPr dirty="0"/>
              <a:t>−ζ</a:t>
            </a:r>
            <a:r>
              <a:rPr baseline="30000" dirty="0"/>
              <a:t>i</a:t>
            </a:r>
            <a:r>
              <a:rPr dirty="0"/>
              <a:t>의 기약성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Claim: n=2</a:t>
                </a:r>
                <a:r>
                  <a:rPr baseline="30000" dirty="0"/>
                  <a:t>k</a:t>
                </a:r>
                <a:r>
                  <a:rPr dirty="0"/>
                  <a:t>, q−1이 n으로는 나누어지고 2n으로는 안 나누어지며, ζ가 위수 n인 원소라 하자</a:t>
                </a:r>
              </a:p>
              <a:p>
                <a:r>
                  <a:rPr dirty="0"/>
                  <a:t>그러면 홀수 i∈[1,n−1]에 대해 x</a:t>
                </a:r>
                <a:r>
                  <a:rPr baseline="30000" dirty="0"/>
                  <a:t>2</a:t>
                </a:r>
                <a:r>
                  <a:rPr dirty="0"/>
                  <a:t>−ζ</a:t>
                </a:r>
                <a:r>
                  <a:rPr baseline="30000" dirty="0"/>
                  <a:t>i</a:t>
                </a:r>
                <a:r>
                  <a:rPr dirty="0"/>
                  <a:t>는 Z</a:t>
                </a:r>
                <a:r>
                  <a:rPr baseline="-25000" dirty="0"/>
                  <a:t>q</a:t>
                </a:r>
                <a:r>
                  <a:rPr dirty="0"/>
                  <a:t> 위에서 기약이다</a:t>
                </a:r>
              </a:p>
              <a:p>
                <a:r>
                  <a:rPr dirty="0"/>
                  <a:t>증명: x</a:t>
                </a:r>
                <a:r>
                  <a:rPr baseline="30000" dirty="0"/>
                  <a:t>2</a:t>
                </a:r>
                <a:r>
                  <a:rPr dirty="0"/>
                  <a:t>−ζ</a:t>
                </a:r>
                <a:r>
                  <a:rPr baseline="30000" dirty="0"/>
                  <a:t>i</a:t>
                </a:r>
                <a:r>
                  <a:rPr dirty="0"/>
                  <a:t>가 가약이라면 근 c∈Z</a:t>
                </a:r>
                <a:r>
                  <a:rPr baseline="-25000" dirty="0"/>
                  <a:t>q</a:t>
                </a:r>
                <a:r>
                  <a:rPr dirty="0"/>
                  <a:t>가 존재, c</a:t>
                </a:r>
                <a:r>
                  <a:rPr baseline="30000" dirty="0"/>
                  <a:t>2</a:t>
                </a:r>
                <a:r>
                  <a:rPr dirty="0"/>
                  <a:t>=ζ</a:t>
                </a:r>
                <a:r>
                  <a:rPr baseline="30000" dirty="0"/>
                  <a:t>i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=1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⇒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nor/>
                        </m:rPr>
                        <a:rPr lang="en-US"/>
                        <m:t>c</m:t>
                      </m:r>
                      <m:r>
                        <m:rPr>
                          <m:nor/>
                        </m:rPr>
                        <a:rPr lang="en-US"/>
                        <m:t>의 위수가 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2</m:t>
                      </m:r>
                      <m:r>
                        <m:rPr>
                          <m:sty m:val="p"/>
                        </m:rPr>
                        <a:rPr lang="en-US" i="0">
                          <a:latin typeface="Cambria Math" panose="02040503050406030204" pitchFamily="18" charset="0"/>
                        </a:rPr>
                        <m:t>n</m:t>
                      </m:r>
                      <m:r>
                        <m:rPr>
                          <m:nor/>
                        </m:rPr>
                        <a:rPr lang="en-US"/>
                        <m:t>을 나눔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f>
                            <m:fPr>
                              <m:type m:val="li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f>
                            <m:fPr>
                              <m:type m:val="li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f>
                            <m:fPr>
                              <m:type m:val="li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=(−1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=−1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⇒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nor/>
                        </m:rPr>
                        <a:rPr lang="en-US"/>
                        <m:t>c</m:t>
                      </m:r>
                      <m:r>
                        <m:rPr>
                          <m:nor/>
                        </m:rPr>
                        <a:rPr lang="en-US"/>
                        <m:t>의 위수가 </m:t>
                      </m:r>
                      <m:r>
                        <m:rPr>
                          <m:sty m:val="p"/>
                        </m:rPr>
                        <a:rPr lang="en-US" i="0">
                          <a:latin typeface="Cambria Math" panose="02040503050406030204" pitchFamily="18" charset="0"/>
                        </a:rPr>
                        <m:t>n</m:t>
                      </m:r>
                      <m:r>
                        <m:rPr>
                          <m:nor/>
                        </m:rPr>
                        <a:rPr lang="en-US"/>
                        <m:t>을 안 나눔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따라서 c의 위수는 정확히 2n인데, 2n은 q−1을 나누지 않으므로 모순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30</a:t>
            </a:fld>
            <a:endParaRPr lang="ko-KR" altLang="en-US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</a:t>
            </a:r>
            <a:r>
              <a:rPr baseline="30000" dirty="0"/>
              <a:t>2</a:t>
            </a:r>
            <a:r>
              <a:rPr dirty="0"/>
              <a:t>의 정의: 이차환 Q</a:t>
            </a:r>
            <a:r>
              <a:rPr baseline="-25000" dirty="0"/>
              <a:t>i</a:t>
            </a:r>
            <a:r>
              <a:rPr dirty="0"/>
              <a:t>와 Tq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홀수 i∈[1,n−1]에 대해 정의: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𝑄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ℤ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[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]/(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차수 ≤1 다항식의 이차환 — 계수쌍 (c</a:t>
                </a:r>
                <a:r>
                  <a:rPr baseline="-25000" dirty="0"/>
                  <a:t>0</a:t>
                </a:r>
                <a:r>
                  <a:rPr dirty="0"/>
                  <a:t>,c</a:t>
                </a:r>
                <a:r>
                  <a:rPr baseline="-25000" dirty="0"/>
                  <a:t>1</a:t>
                </a:r>
                <a:r>
                  <a:rPr dirty="0"/>
                  <a:t>)으로 표현된다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𝑇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𝑄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×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𝑄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×⋯×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𝑄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  <m:r>
                            <a:rPr lang="en-US" i="1">
                              <a:latin typeface="Cambria Math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NTT</m:t>
                      </m:r>
                      <m:r>
                        <a:rPr lang="en-US" i="1">
                          <a:latin typeface="Cambria Math"/>
                        </a:rPr>
                        <m:t>: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𝑇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NTT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)=(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),…,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  <m:r>
                            <a:rPr lang="en-US" i="1">
                              <a:latin typeface="Cambria Math"/>
                            </a:rPr>
                            <m:t>−1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NTT는 환 동형사상이며, 특히 가역이다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31</a:t>
            </a:fld>
            <a:endParaRPr lang="ko-KR" altLang="en-US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Q</a:t>
            </a:r>
            <a:r>
              <a:rPr baseline="-25000" dirty="0"/>
              <a:t>i</a:t>
            </a:r>
            <a:r>
              <a:rPr dirty="0"/>
              <a:t>에서의 덧셈과 곱셈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</m:oMath>
                </a14:m>
                <a:r>
                  <a:rPr dirty="0"/>
                  <a:t>에서의 덧셈·곱셈은 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𝑄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에서 성분별로 이뤄진다</a:t>
                </a:r>
              </a:p>
              <a:p>
                <a:r>
                  <a:rPr dirty="0"/>
                  <a:t>덧셈: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)+(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)+(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endParaRPr dirty="0"/>
              </a:p>
              <a:p>
                <a:r>
                  <a:rPr dirty="0"/>
                  <a:t>곱셈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p>
                    </m:sSup>
                  </m:oMath>
                </a14:m>
                <a:r>
                  <a:rPr dirty="0"/>
                  <a:t> 치환):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=(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)+(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</m:oMath>
                </a14:m>
                <a:r>
                  <a:rPr dirty="0"/>
                  <a:t>-곱 5회: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 → 뒤 속도 계산의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5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/2</m:t>
                    </m:r>
                  </m:oMath>
                </a14:m>
                <a:r>
                  <a:rPr dirty="0"/>
                  <a:t>의 근거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32</a:t>
            </a:fld>
            <a:endParaRPr lang="ko-KR" altLang="en-US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예제 파라미터와 인수분해 (Kyber형)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구체적인 예로 q=137, n=8을 쓴다 (n이 q−1=136=8×17을 나누지만 2n=16은 안 나눔)</a:t>
                </a:r>
              </a:p>
              <a:p>
                <a:r>
                  <a:rPr dirty="0"/>
                  <a:t>ζ=10은 Z</a:t>
                </a:r>
                <a:r>
                  <a:rPr baseline="-25000" dirty="0"/>
                  <a:t>137</a:t>
                </a:r>
                <a:r>
                  <a:rPr dirty="0"/>
                  <a:t>*에서 위수 8을 가지며, ζ</a:t>
                </a:r>
                <a:r>
                  <a:rPr baseline="30000" dirty="0"/>
                  <a:t>4</a:t>
                </a:r>
                <a:r>
                  <a:rPr dirty="0"/>
                  <a:t>=−1.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137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[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]/(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8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+1)</m:t>
                    </m:r>
                  </m:oMath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8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8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7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33</a:t>
            </a:fld>
            <a:endParaRPr lang="ko-KR" altLang="en-US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Kyber형 NTT 트리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429000"/>
            <a:ext cx="10515600" cy="2567411"/>
          </a:xfrm>
        </p:spPr>
        <p:txBody>
          <a:bodyPr wrap="square"/>
          <a:lstStyle/>
          <a:p>
            <a:r>
              <a:rPr dirty="0"/>
              <a:t>Dilithium 트리와 비교하면 마지막 선형 인수 단계가 없다 — 리프가 이차식 x</a:t>
            </a:r>
            <a:r>
              <a:rPr baseline="30000" dirty="0"/>
              <a:t>2</a:t>
            </a:r>
            <a:r>
              <a:rPr dirty="0"/>
              <a:t>−ζ</a:t>
            </a:r>
            <a:r>
              <a:rPr baseline="30000" dirty="0"/>
              <a:t>i</a:t>
            </a:r>
            <a:r>
              <a:rPr dirty="0"/>
              <a:t>에서 멈춘다</a:t>
            </a:r>
          </a:p>
          <a:p>
            <a:r>
              <a:rPr dirty="0"/>
              <a:t>재귀 깊이가 하나 줄고, 리프 개수도 n/2개 — 각 리프가 Q</a:t>
            </a:r>
            <a:r>
              <a:rPr baseline="-25000" dirty="0"/>
              <a:t>i</a:t>
            </a:r>
            <a:r>
              <a:rPr dirty="0"/>
              <a:t> 하나에 대응한다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34</a:t>
            </a:fld>
            <a:endParaRPr lang="ko-KR" altLang="en-US" dirty="0"/>
          </a:p>
        </p:txBody>
      </p:sp>
      <p:pic>
        <p:nvPicPr>
          <p:cNvPr id="1026" name="Picture 2" descr="스크린샷">
            <a:extLst>
              <a:ext uri="{FF2B5EF4-FFF2-40B4-BE49-F238E27FC236}">
                <a16:creationId xmlns:a16="http://schemas.microsoft.com/office/drawing/2014/main" id="{7A09162F-4BB3-FF74-A33B-C1949391BF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71875" y="1295322"/>
            <a:ext cx="5048250" cy="182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</a:t>
            </a:r>
            <a:r>
              <a:rPr baseline="30000" dirty="0"/>
              <a:t>2</a:t>
            </a:r>
            <a:r>
              <a:rPr dirty="0"/>
              <a:t> 계산 절차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3429000"/>
                <a:ext cx="10515600" cy="2567411"/>
              </a:xfrm>
            </p:spPr>
            <p:txBody>
              <a:bodyPr wrap="square"/>
              <a:lstStyle/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𝑎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4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𝑎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4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𝜁</m:t>
                    </m:r>
                    <m:r>
                      <a:rPr lang="en-US" i="1">
                        <a:latin typeface="Cambria Math"/>
                      </a:rPr>
                      <m:t>),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𝜁</m:t>
                    </m:r>
                    <m:r>
                      <a:rPr lang="en-US" i="1">
                        <a:latin typeface="Cambria Math"/>
                      </a:rPr>
                      <m:t>),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/>
                          </a:rPr>
                          <m:t>NTT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𝑎</m:t>
                    </m:r>
                    <m:r>
                      <a:rPr lang="en-US" i="1">
                        <a:latin typeface="Cambria Math"/>
                      </a:rPr>
                      <m:t>)=(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  <a:p>
                <a:r>
                  <a:rPr dirty="0"/>
                  <a:t>Dilithium보다 한 층 짧고, 각 성분이 스칼라가 아니라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𝑄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 원소(차수 ≤ 1)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429000"/>
                <a:ext cx="10515600" cy="2567411"/>
              </a:xfrm>
              <a:blipFill>
                <a:blip r:embed="rId2"/>
                <a:stretch>
                  <a:fillRect l="-46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35</a:t>
            </a:fld>
            <a:endParaRPr lang="ko-KR" altLang="en-US" dirty="0"/>
          </a:p>
        </p:txBody>
      </p:sp>
      <p:pic>
        <p:nvPicPr>
          <p:cNvPr id="4" name="Picture 2" descr="스크린샷">
            <a:extLst>
              <a:ext uri="{FF2B5EF4-FFF2-40B4-BE49-F238E27FC236}">
                <a16:creationId xmlns:a16="http://schemas.microsoft.com/office/drawing/2014/main" id="{6C5638B6-9AD3-824C-2D0F-D324D2A6C4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71875" y="1295322"/>
            <a:ext cx="5048250" cy="182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</a:t>
            </a:r>
            <a:r>
              <a:rPr baseline="30000" dirty="0"/>
              <a:t>2</a:t>
            </a:r>
            <a:r>
              <a:rPr dirty="0"/>
              <a:t> 실행시간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Dilithium과 같은 재귀식이 적용된다: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)=2</m:t>
                      </m:r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/2)+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⇒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𝑂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0">
                          <a:latin typeface="Cambria Math"/>
                        </a:rPr>
                        <m:t>log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단, Kyber 트리는 한 층 짧다 — 깊이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/>
                          </a:rPr>
                          <m:t>log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−1</m:t>
                    </m:r>
                  </m:oMath>
                </a14:m>
                <a:r>
                  <a:rPr dirty="0"/>
                  <a:t> (리프가 선형 인수가 아니라 이차 인수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p>
                    </m:sSup>
                  </m:oMath>
                </a14:m>
                <a:r>
                  <a:rPr dirty="0"/>
                  <a:t>)</a:t>
                </a:r>
              </a:p>
              <a:p>
                <a:r>
                  <a:rPr dirty="0"/>
                  <a:t>NTT</a:t>
                </a:r>
                <a:r>
                  <a:rPr baseline="30000" dirty="0"/>
                  <a:t>-1</a:t>
                </a:r>
                <a:r>
                  <a:rPr dirty="0"/>
                  <a:t>도 동일한 시간복잡도로 계산된다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36</a:t>
            </a:fld>
            <a:endParaRPr lang="ko-KR" altLang="en-US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수치 예제 (1): 첫 분기 (NTT</a:t>
            </a:r>
            <a:r>
              <a:rPr baseline="30000" dirty="0"/>
              <a:t>2</a:t>
            </a:r>
            <a:r>
              <a:rPr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=233</m:t>
                    </m:r>
                  </m:oMath>
                </a14:m>
                <a:r>
                  <a:rPr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=8</m:t>
                    </m:r>
                  </m:oMath>
                </a14:m>
                <a:r>
                  <a:rPr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𝜁</m:t>
                    </m:r>
                    <m:r>
                      <a:rPr lang="en-US" i="1">
                        <a:latin typeface="Cambria Math"/>
                      </a:rPr>
                      <m:t>=12</m:t>
                    </m:r>
                  </m:oMath>
                </a14:m>
                <a:r>
                  <a:rPr dirty="0"/>
                  <a:t> (위수 8이라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4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=−1</m:t>
                    </m:r>
                  </m:oMath>
                </a14:m>
                <a:r>
                  <a:rPr dirty="0"/>
                  <a:t>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)=92+152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+57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+29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+133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+200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7</m:t>
                          </m:r>
                        </m:sup>
                      </m:sSup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𝑏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)=6+45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+112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+4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+8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+165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+212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7</m:t>
                          </m:r>
                        </m:sup>
                      </m:sSup>
                    </m:oMath>
                  </m:oMathPara>
                </a14:m>
                <a:endParaRPr dirty="0"/>
              </a:p>
              <a:p>
                <a:r>
                  <a:rPr dirty="0"/>
                  <a:t>상·하위 절반: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𝐿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=(92,152,0,57),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=(0,29,133,200)</m:t>
                    </m:r>
                  </m:oMath>
                </a14:m>
                <a:endParaRPr dirty="0"/>
              </a:p>
              <a:p>
                <a:r>
                  <a:rPr dirty="0"/>
                  <a:t>첫 분기 회전자는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=144</m:t>
                    </m:r>
                  </m:oMath>
                </a14:m>
                <a:r>
                  <a:rPr dirty="0"/>
                  <a:t>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4</m:t>
                        </m:r>
                      </m:sup>
                    </m:sSup>
                  </m:oMath>
                </a14:m>
                <a:r>
                  <a:rPr dirty="0"/>
                  <a:t>가 아니다 — ζ의 위수가 n이라 트리가 한 층 얕다):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+144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=(92,134,46,198),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−144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=(92,170,187,149)</m:t>
                      </m:r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37</a:t>
            </a:fld>
            <a:endParaRPr lang="ko-KR" altLang="en-US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수치 예제 (2): 리프는 Q</a:t>
            </a:r>
            <a:r>
              <a:rPr baseline="-25000" dirty="0"/>
              <a:t>i</a:t>
            </a:r>
            <a:r>
              <a:rPr dirty="0"/>
              <a:t> 원소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첫 분기: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=(92,134,46,198),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=(92,170,187,149)</m:t>
                    </m:r>
                  </m:oMath>
                </a14:m>
                <a:endParaRPr dirty="0"/>
              </a:p>
              <a:p>
                <a:r>
                  <a:rPr dirty="0"/>
                  <a:t>각 성분을 이차환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𝑄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로 리덕션 — 리프가 스칼라 8개가 아니라 1차 다항식 4개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38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0952697"/>
              </p:ext>
            </p:extLst>
          </p:nvPr>
        </p:nvGraphicFramePr>
        <p:xfrm>
          <a:off x="838200" y="2610221"/>
          <a:ext cx="10515600" cy="237744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성분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나눗셈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NTT</a:t>
                      </a:r>
                      <a:r>
                        <a:rPr sz="1800" b="1" baseline="-25000" dirty="0"/>
                        <a:t>2</a:t>
                      </a:r>
                      <a:r>
                        <a:rPr sz="1800" b="1" dirty="0"/>
                        <a:t>(a)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NTT</a:t>
                      </a:r>
                      <a:r>
                        <a:rPr sz="1800" b="1" baseline="-25000" dirty="0"/>
                        <a:t>2</a:t>
                      </a:r>
                      <a:r>
                        <a:rPr sz="1800" b="1" dirty="0"/>
                        <a:t>(b)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Q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 (ζ</a:t>
                      </a:r>
                      <a:r>
                        <a:rPr sz="1800" baseline="30000" dirty="0"/>
                        <a:t>1</a:t>
                      </a:r>
                      <a:r>
                        <a:rPr sz="1800" dirty="0"/>
                        <a:t>=12)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a</a:t>
                      </a:r>
                      <a:r>
                        <a:rPr sz="1800" baseline="-25000" dirty="0"/>
                        <a:t>0</a:t>
                      </a:r>
                      <a:r>
                        <a:rPr sz="1800" dirty="0"/>
                        <a:t> mod (x</a:t>
                      </a:r>
                      <a:r>
                        <a:rPr sz="1800" baseline="30000" dirty="0"/>
                        <a:t>2</a:t>
                      </a:r>
                      <a:r>
                        <a:rPr sz="1800" dirty="0"/>
                        <a:t>−ζ)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178+180x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118+226x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Q</a:t>
                      </a:r>
                      <a:r>
                        <a:rPr sz="1800" baseline="-25000" dirty="0"/>
                        <a:t>3</a:t>
                      </a:r>
                      <a:r>
                        <a:rPr sz="1800" dirty="0"/>
                        <a:t> (ζ</a:t>
                      </a:r>
                      <a:r>
                        <a:rPr sz="1800" baseline="30000" dirty="0"/>
                        <a:t>3</a:t>
                      </a:r>
                      <a:r>
                        <a:rPr sz="1800" dirty="0"/>
                        <a:t>=97)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a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 mod (x</a:t>
                      </a:r>
                      <a:r>
                        <a:rPr sz="1800" baseline="30000" dirty="0"/>
                        <a:t>2</a:t>
                      </a:r>
                      <a:r>
                        <a:rPr sz="1800" dirty="0"/>
                        <a:t>−ζ</a:t>
                      </a:r>
                      <a:r>
                        <a:rPr sz="1800" baseline="30000" dirty="0"/>
                        <a:t>3</a:t>
                      </a:r>
                      <a:r>
                        <a:rPr sz="180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57+177x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183+140x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Q</a:t>
                      </a:r>
                      <a:r>
                        <a:rPr sz="1800" baseline="-25000" dirty="0"/>
                        <a:t>5</a:t>
                      </a:r>
                      <a:r>
                        <a:rPr sz="1800" dirty="0"/>
                        <a:t> (ζ</a:t>
                      </a:r>
                      <a:r>
                        <a:rPr sz="1800" baseline="30000" dirty="0"/>
                        <a:t>5</a:t>
                      </a:r>
                      <a:r>
                        <a:rPr sz="1800" dirty="0"/>
                        <a:t>=221)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a</a:t>
                      </a:r>
                      <a:r>
                        <a:rPr sz="1800" baseline="-25000" dirty="0"/>
                        <a:t>0</a:t>
                      </a:r>
                      <a:r>
                        <a:rPr sz="1800" dirty="0"/>
                        <a:t> mod (x</a:t>
                      </a:r>
                      <a:r>
                        <a:rPr sz="1800" baseline="30000" dirty="0"/>
                        <a:t>2</a:t>
                      </a:r>
                      <a:r>
                        <a:rPr sz="1800" dirty="0"/>
                        <a:t>−ζ</a:t>
                      </a:r>
                      <a:r>
                        <a:rPr sz="1800" baseline="30000" dirty="0"/>
                        <a:t>5</a:t>
                      </a:r>
                      <a:r>
                        <a:rPr sz="180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6+88x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114+214x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Q</a:t>
                      </a:r>
                      <a:r>
                        <a:rPr sz="1800" baseline="-25000" dirty="0"/>
                        <a:t>7</a:t>
                      </a:r>
                      <a:r>
                        <a:rPr sz="1800" dirty="0"/>
                        <a:t> (ζ</a:t>
                      </a:r>
                      <a:r>
                        <a:rPr sz="1800" baseline="30000" dirty="0"/>
                        <a:t>7</a:t>
                      </a:r>
                      <a:r>
                        <a:rPr sz="1800" dirty="0"/>
                        <a:t>=136)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a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 mod (x</a:t>
                      </a:r>
                      <a:r>
                        <a:rPr sz="1800" baseline="30000" dirty="0"/>
                        <a:t>2</a:t>
                      </a:r>
                      <a:r>
                        <a:rPr sz="1800" dirty="0"/>
                        <a:t>−ζ</a:t>
                      </a:r>
                      <a:r>
                        <a:rPr sz="1800" baseline="30000" dirty="0"/>
                        <a:t>7</a:t>
                      </a:r>
                      <a:r>
                        <a:rPr sz="180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127+163x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75+119x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수치 예제 (3): Q</a:t>
            </a:r>
            <a:r>
              <a:rPr baseline="-25000" dirty="0"/>
              <a:t>i</a:t>
            </a:r>
            <a:r>
              <a:rPr dirty="0"/>
              <a:t> 곱을 손으로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𝑄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dirty="0"/>
                  <a:t> 성분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𝜁</m:t>
                    </m:r>
                    <m:r>
                      <a:rPr lang="en-US" i="1">
                        <a:latin typeface="Cambria Math"/>
                      </a:rPr>
                      <m:t>=12</m:t>
                    </m:r>
                  </m:oMath>
                </a14:m>
                <a:r>
                  <a:rPr dirty="0"/>
                  <a:t>),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(178+180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)(118+226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−12)</m:t>
                    </m:r>
                  </m:oMath>
                </a14:m>
                <a:r>
                  <a:rPr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≡34,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≡138,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≡152,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≡37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i="0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233)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=34+138·12≡59,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=189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네 성분: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/>
                          </a:rPr>
                          <m:t>𝑐</m:t>
                        </m:r>
                      </m:e>
                    </m:acc>
                    <m:r>
                      <a:rPr lang="en-US" i="1">
                        <a:latin typeface="Cambria Math"/>
                      </a:rPr>
                      <m:t>=(59+189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211+62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11+132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171+77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𝑐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/>
                            </a:rPr>
                            <m:t>NTT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  <m:sup>
                          <m:r>
                            <a:rPr lang="en-US" i="1">
                              <a:latin typeface="Cambria Math"/>
                            </a:rPr>
                            <m:t>−1</m:t>
                          </m:r>
                        </m:sup>
                      </m:sSubSup>
                      <m:r>
                        <a:rPr lang="en-US" i="1">
                          <a:latin typeface="Cambria Math"/>
                        </a:rPr>
                        <m:t>(</m:t>
                      </m:r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</m:acc>
                      <m:r>
                        <a:rPr lang="en-US" i="1">
                          <a:latin typeface="Cambria Math"/>
                        </a:rPr>
                        <m:t>)=113+115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+114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+119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+48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+205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+51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+18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7</m:t>
                          </m:r>
                        </m:sup>
                      </m:sSup>
                    </m:oMath>
                  </m:oMathPara>
                </a14:m>
                <a:endParaRPr dirty="0"/>
              </a:p>
              <a:p>
                <a:r>
                  <a:rPr dirty="0"/>
                  <a:t>schoolbook 곱셈 결과와 일치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39</a:t>
            </a:fld>
            <a:endParaRPr lang="ko-KR" altLang="en-US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 NTT 파라미터와 BitRev 정의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ML-KEM-512/768/1024 전부 동일한 NTT 파라미터를 쓴다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𝑞</m:t>
                      </m:r>
                      <m:r>
                        <a:rPr lang="en-US" i="1">
                          <a:latin typeface="Cambria Math"/>
                        </a:rPr>
                        <m:t>=3329,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=256,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=17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order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=256)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BitRev: v∈[0,127]의 7비트 이진표현을 뒤집은 정수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BitRev</m:t>
                      </m:r>
                      <m:r>
                        <a:rPr lang="en-US" i="1">
                          <a:latin typeface="Cambria Math"/>
                        </a:rPr>
                        <m:t>(103)=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BitRev</m:t>
                      </m:r>
                      <m:r>
                        <a:rPr lang="en-US" i="1">
                          <a:latin typeface="Cambria Math"/>
                        </a:rPr>
                        <m:t>((1100111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)=(1110011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=115</m:t>
                      </m:r>
                    </m:oMath>
                  </m:oMathPara>
                </a14:m>
                <a:endParaRPr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/>
                          </a:rPr>
                          <m:t>BitRev</m:t>
                        </m:r>
                        <m:r>
                          <a:rPr lang="en-US" i="1">
                            <a:latin typeface="Cambria Math"/>
                          </a:rPr>
                          <m:t>(</m:t>
                        </m:r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)+1</m:t>
                        </m:r>
                      </m:sup>
                    </m:sSup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𝑞</m:t>
                    </m:r>
                  </m:oMath>
                </a14:m>
                <a:r>
                  <a:rPr dirty="0"/>
                  <a:t>  (0≤i≤127)</a:t>
                </a:r>
              </a:p>
              <a:p>
                <a:pPr lvl="1"/>
                <a:r>
                  <a:rPr dirty="0"/>
                  <a:t>ζ</a:t>
                </a:r>
                <a:r>
                  <a:rPr baseline="-25000" dirty="0"/>
                  <a:t>0</a:t>
                </a:r>
                <a:r>
                  <a:rPr dirty="0"/>
                  <a:t>,…,ζ</a:t>
                </a:r>
                <a:r>
                  <a:rPr baseline="-25000" dirty="0"/>
                  <a:t>127</a:t>
                </a:r>
                <a:r>
                  <a:rPr dirty="0"/>
                  <a:t>은 ζ의 홀수 거듭제곱 128개를 트리 리프 순서로 재배열한 것 </a:t>
                </a:r>
                <a:br>
                  <a:rPr lang="en-US" dirty="0"/>
                </a:br>
                <a:r>
                  <a:rPr dirty="0"/>
                  <a:t>— 성분 집합은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𝑄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×⋯×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𝑄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−1</m:t>
                        </m:r>
                      </m:sub>
                    </m:sSub>
                  </m:oMath>
                </a14:m>
                <a:r>
                  <a:rPr dirty="0"/>
                  <a:t> 그대로다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40</a:t>
            </a:fld>
            <a:endParaRPr lang="ko-KR" altLang="en-US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 NTT 알고리즘 (in-place)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>
                <a:normAutofit fontScale="92500" lnSpcReduction="20000"/>
              </a:bodyPr>
              <a:lstStyle/>
              <a:p>
                <a:r>
                  <a:rPr dirty="0"/>
                  <a:t>Kyber NTT와 NTT</a:t>
                </a:r>
                <a:r>
                  <a:rPr baseline="30000" dirty="0"/>
                  <a:t>-1</a:t>
                </a:r>
                <a:r>
                  <a:rPr dirty="0"/>
                  <a:t>는 길이 256 배열(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3329</m:t>
                        </m:r>
                      </m:sub>
                    </m:sSub>
                  </m:oMath>
                </a14:m>
                <a:r>
                  <a:rPr dirty="0"/>
                  <a:t>) 하나에 in-place로 계산된다</a:t>
                </a:r>
              </a:p>
              <a:p>
                <a:pPr lvl="1">
                  <a:buNone/>
                </a:pPr>
                <a:r>
                  <a:rPr dirty="0">
                    <a:latin typeface="Consolas"/>
                  </a:rPr>
                  <a:t>i ← 1</a:t>
                </a:r>
              </a:p>
              <a:p>
                <a:pPr lvl="1">
                  <a:buNone/>
                </a:pPr>
                <a:r>
                  <a:rPr dirty="0">
                    <a:latin typeface="Consolas"/>
                  </a:rPr>
                  <a:t>for (len ← 128; len ≥ 2; len ← len/2)</a:t>
                </a:r>
              </a:p>
              <a:p>
                <a:pPr lvl="1">
                  <a:buNone/>
                </a:pPr>
                <a:r>
                  <a:rPr dirty="0">
                    <a:latin typeface="Consolas"/>
                  </a:rPr>
                  <a:t>    for (start ← 0; start &lt; 256; start ← start + 2·len)</a:t>
                </a:r>
              </a:p>
              <a:p>
                <a:pPr lvl="1">
                  <a:buNone/>
                </a:pPr>
                <a:r>
                  <a:rPr dirty="0">
                    <a:latin typeface="Consolas"/>
                  </a:rPr>
                  <a:t>        zeta ←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/>
                              </a:rPr>
                              <m:t>BitRev</m:t>
                            </m:r>
                          </m:e>
                          <m:sub>
                            <m:r>
                              <a:rPr lang="en-US" i="1">
                                <a:latin typeface="Cambria Math"/>
                              </a:rPr>
                              <m:t>7</m:t>
                            </m:r>
                          </m:sub>
                        </m:sSub>
                        <m:r>
                          <a:rPr lang="en-US" i="1">
                            <a:latin typeface="Cambria Math"/>
                          </a:rPr>
                          <m:t>(</m:t>
                        </m:r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)</m:t>
                        </m:r>
                      </m:sup>
                    </m:sSup>
                  </m:oMath>
                </a14:m>
                <a:r>
                  <a:rPr dirty="0">
                    <a:latin typeface="Consolas"/>
                  </a:rPr>
                  <a:t> mod q ;   i ← i + 1</a:t>
                </a:r>
              </a:p>
              <a:p>
                <a:pPr lvl="1">
                  <a:buNone/>
                </a:pPr>
                <a:r>
                  <a:rPr dirty="0">
                    <a:latin typeface="Consolas"/>
                  </a:rPr>
                  <a:t>        for (j ← start; j &lt; start + len; j++)</a:t>
                </a:r>
              </a:p>
              <a:p>
                <a:pPr lvl="1">
                  <a:buNone/>
                </a:pPr>
                <a:r>
                  <a:rPr dirty="0">
                    <a:latin typeface="Consolas"/>
                  </a:rPr>
                  <a:t>            t        ← zeta · f[j+len]   mod q</a:t>
                </a:r>
              </a:p>
              <a:p>
                <a:pPr lvl="1">
                  <a:buNone/>
                </a:pPr>
                <a:r>
                  <a:rPr dirty="0">
                    <a:latin typeface="Consolas"/>
                  </a:rPr>
                  <a:t>            f[j+len] ← f[j] − t          mod q</a:t>
                </a:r>
              </a:p>
              <a:p>
                <a:pPr lvl="1">
                  <a:buNone/>
                </a:pPr>
                <a:r>
                  <a:rPr dirty="0">
                    <a:latin typeface="Consolas"/>
                  </a:rPr>
                  <a:t>            f[j]     ← f[j] + t          mod q</a:t>
                </a:r>
              </a:p>
              <a:p>
                <a:r>
                  <a:rPr dirty="0"/>
                  <a:t>바깥 루프 = 트리 층, 가운데 루프 = 층 안의 블록, 안쪽 루프 = 버터플라이</a:t>
                </a:r>
              </a:p>
              <a:p>
                <a:r>
                  <a:rPr dirty="0"/>
                  <a:t>회전자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/>
                              </a:rPr>
                              <m:t>BitRev</m:t>
                            </m:r>
                          </m:e>
                          <m:sub>
                            <m:r>
                              <a:rPr lang="en-US" i="1">
                                <a:latin typeface="Cambria Math"/>
                              </a:rPr>
                              <m:t>7</m:t>
                            </m:r>
                          </m:sub>
                        </m:sSub>
                        <m:r>
                          <a:rPr lang="en-US" i="1">
                            <a:latin typeface="Cambria Math"/>
                          </a:rPr>
                          <m:t>(</m:t>
                        </m:r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)</m:t>
                        </m:r>
                      </m:sup>
                    </m:sSup>
                  </m:oMath>
                </a14:m>
                <a:r>
                  <a:rPr dirty="0"/>
                  <a:t>는 각 층에서 곱하는 값 — 리프의 평가점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와는 다른 수열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2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41</a:t>
            </a:fld>
            <a:endParaRPr lang="ko-KR" altLang="en-US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 키 생성에서의 NTT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NTT는 다항식 벡터·행렬에도 각 성분에 적용하는 방식으로 확장된다</a:t>
            </a:r>
          </a:p>
          <a:p>
            <a:r>
              <a:rPr dirty="0"/>
              <a:t>s, e는 중심이항분포(CBD)로 선택된다 — NTT/NTT</a:t>
            </a:r>
            <a:r>
              <a:rPr baseline="30000" dirty="0"/>
              <a:t>-1</a:t>
            </a:r>
            <a:r>
              <a:rPr dirty="0"/>
              <a:t>는 암호화·복호화에도 쓰인다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42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4953374"/>
              </p:ext>
            </p:extLst>
          </p:nvPr>
        </p:nvGraphicFramePr>
        <p:xfrm>
          <a:off x="838200" y="2560421"/>
          <a:ext cx="10515600" cy="26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단계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Â = ExpandA(ρ) — 행렬 A를 NTT 형태로 직접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s,e 선택 후 ŝ=NTT(s), ê=NTT(e)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Â∘ŝ + ê 로 NTT 도메인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공개키 (ρ, NTT(t)), 개인키 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Kyber에서의 속도 향상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ML-KEM-1024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𝑘</m:t>
                    </m:r>
                    <m:r>
                      <a:rPr lang="en-US" i="1">
                        <a:latin typeface="Cambria Math"/>
                      </a:rPr>
                      <m:t>=4</m:t>
                    </m:r>
                  </m:oMath>
                </a14:m>
                <a:r>
                  <a:rPr dirty="0"/>
                  <a:t>)에서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/>
                      </a:rPr>
                      <m:t>∘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</m:acc>
                  </m:oMath>
                </a14:m>
                <a:r>
                  <a:rPr dirty="0"/>
                  <a:t> 계산을 예로 든다</a:t>
                </a:r>
              </a:p>
              <a:p>
                <a:r>
                  <a:rPr dirty="0"/>
                  <a:t>성분별 곱은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𝑂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이 아니다 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𝑄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 곱 하나가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</m:oMath>
                </a14:m>
                <a:r>
                  <a:rPr dirty="0"/>
                  <a:t>-곱 5회, 성분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num>
                      <m:den>
                        <m:r>
                          <a:rPr lang="en-US" i="1">
                            <a:latin typeface="Cambria Math"/>
                          </a:rPr>
                          <m:t>2</m:t>
                        </m:r>
                      </m:den>
                    </m:f>
                  </m:oMath>
                </a14:m>
                <a:r>
                  <a:rPr dirty="0"/>
                  <a:t>개 → 전체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5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/2</m:t>
                    </m:r>
                  </m:oMath>
                </a14:m>
                <a:r>
                  <a:rPr dirty="0"/>
                  <a:t>회</a:t>
                </a:r>
              </a:p>
              <a:p>
                <a:r>
                  <a:rPr dirty="0"/>
                  <a:t>트리는 한 층 짧지만 성분별 곱이 그만큼 비싸, Dilithium(≈124배)보다 향상 폭이 작다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43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9025677"/>
              </p:ext>
            </p:extLst>
          </p:nvPr>
        </p:nvGraphicFramePr>
        <p:xfrm>
          <a:off x="838200" y="3184116"/>
          <a:ext cx="10515600" cy="27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0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0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NTT</a:t>
                      </a:r>
                      <a:r>
                        <a:rPr sz="1800" b="1" baseline="30000" dirty="0"/>
                        <a:t>2</a:t>
                      </a:r>
                      <a:r>
                        <a:rPr sz="1800" b="1" dirty="0"/>
                        <a:t> 없이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NTT</a:t>
                      </a:r>
                      <a:r>
                        <a:rPr sz="1800" b="1" baseline="30000" dirty="0"/>
                        <a:t>2</a:t>
                      </a:r>
                      <a:r>
                        <a:rPr sz="1800" b="1" dirty="0"/>
                        <a:t> 사용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k</a:t>
                      </a:r>
                      <a:r>
                        <a:rPr sz="1800" baseline="30000" dirty="0"/>
                        <a:t>2</a:t>
                      </a:r>
                      <a:r>
                        <a:rPr sz="1800" dirty="0"/>
                        <a:t>번의 다항식 곱, 각 n</a:t>
                      </a:r>
                      <a:r>
                        <a:rPr sz="1800" baseline="30000" dirty="0"/>
                        <a:t>2</a:t>
                      </a:r>
                      <a:r>
                        <a:rPr sz="1800" dirty="0"/>
                        <a:t> Z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-곱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ŝ=NTT</a:t>
                      </a:r>
                      <a:r>
                        <a:rPr sz="1800" baseline="30000" dirty="0"/>
                        <a:t>2</a:t>
                      </a:r>
                      <a:r>
                        <a:rPr sz="1800" dirty="0"/>
                        <a:t>(s), Â∘ŝ (성분별)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곱셈 횟수 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k</a:t>
                      </a:r>
                      <a:r>
                        <a:rPr sz="1800" baseline="30000" dirty="0"/>
                        <a:t>2</a:t>
                      </a:r>
                      <a:r>
                        <a:rPr sz="1800" dirty="0"/>
                        <a:t>n</a:t>
                      </a:r>
                      <a:r>
                        <a:rPr sz="1800" baseline="300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k·½n(log</a:t>
                      </a:r>
                      <a:r>
                        <a:rPr sz="1800" baseline="-25000" dirty="0"/>
                        <a:t>2</a:t>
                      </a:r>
                      <a:r>
                        <a:rPr sz="1800" dirty="0"/>
                        <a:t>n−1) + k</a:t>
                      </a:r>
                      <a:r>
                        <a:rPr sz="1800" baseline="30000" dirty="0"/>
                        <a:t>2</a:t>
                      </a:r>
                      <a:r>
                        <a:rPr sz="1800" dirty="0"/>
                        <a:t>·(5n/2)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ML-KEM-1024 대입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1,048,576 (≈2</a:t>
                      </a:r>
                      <a:r>
                        <a:rPr sz="1800" baseline="30000" dirty="0"/>
                        <a:t>20</a:t>
                      </a:r>
                      <a:r>
                        <a:rPr sz="180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13,824 (≈2</a:t>
                      </a:r>
                      <a:r>
                        <a:rPr sz="1800" baseline="30000" dirty="0"/>
                        <a:t>13</a:t>
                      </a:r>
                      <a:r>
                        <a:rPr sz="1800" dirty="0"/>
                        <a:t>·</a:t>
                      </a:r>
                      <a:r>
                        <a:rPr sz="1800" baseline="30000" dirty="0"/>
                        <a:t>8</a:t>
                      </a:r>
                      <a:r>
                        <a:rPr sz="180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속도 향상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≈76배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Dilithium NTT vs Kyber NTT</a:t>
            </a:r>
            <a:r>
              <a:rPr baseline="30000" dirty="0"/>
              <a:t>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354998"/>
            <a:ext cx="10515600" cy="946089"/>
          </a:xfrm>
        </p:spPr>
        <p:txBody>
          <a:bodyPr wrap="square"/>
          <a:lstStyle/>
          <a:p>
            <a:r>
              <a:rPr dirty="0"/>
              <a:t>Kyber NTT는 표준 NTT 트리에서 마지막 한 층을 가지치기한 것과 같다 — 위수 2n인 ζ가 없어 일차식까지 못 내려간다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44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1030790"/>
              </p:ext>
            </p:extLst>
          </p:nvPr>
        </p:nvGraphicFramePr>
        <p:xfrm>
          <a:off x="838200" y="1322332"/>
          <a:ext cx="10515600" cy="26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5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5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1428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Dilithium NTT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Kyber NTT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출력 공간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Z</a:t>
                      </a:r>
                      <a:r>
                        <a:rPr sz="1800" baseline="-25000" dirty="0"/>
                        <a:t>q</a:t>
                      </a:r>
                      <a:r>
                        <a:rPr sz="1800" baseline="30000" dirty="0"/>
                        <a:t>n</a:t>
                      </a:r>
                      <a:r>
                        <a:rPr sz="1800" dirty="0"/>
                        <a:t> (스칼라 n개)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T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=Q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×Q</a:t>
                      </a:r>
                      <a:r>
                        <a:rPr sz="1800" baseline="-25000" dirty="0"/>
                        <a:t>3</a:t>
                      </a:r>
                      <a:r>
                        <a:rPr sz="1800" dirty="0"/>
                        <a:t>×⋯ (n/2개 성분)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트리 깊이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log</a:t>
                      </a:r>
                      <a:r>
                        <a:rPr sz="1800" baseline="-25000" dirty="0"/>
                        <a:t>2</a:t>
                      </a:r>
                      <a:r>
                        <a:rPr sz="1800" dirty="0"/>
                        <a:t>n (리프=선형 인수)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log</a:t>
                      </a:r>
                      <a:r>
                        <a:rPr sz="1800" baseline="-25000" dirty="0"/>
                        <a:t>2</a:t>
                      </a:r>
                      <a:r>
                        <a:rPr sz="1800" dirty="0"/>
                        <a:t>n − 1 (리프=이차 인수)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성분 하나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Z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 원소 1개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Z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 좌표 2개 (차수 ≤1 다항식)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ζ의 위수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파라미터 조건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2n | q−1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 | q−1이지만 2n은 아님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1432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성분별 곱 비용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Z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-곱 n회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Z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-곱 5n/2회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6"/>
        </a:fillRef>
        <a:effectRef idx="1">
          <a:schemeClr val="accent6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5529</TotalTime>
  <Words>4392</Words>
  <Application>Microsoft Office PowerPoint</Application>
  <PresentationFormat>와이드스크린</PresentationFormat>
  <Paragraphs>483</Paragraphs>
  <Slides>44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44</vt:i4>
      </vt:variant>
    </vt:vector>
  </HeadingPairs>
  <TitlesOfParts>
    <vt:vector size="49" baseType="lpstr">
      <vt:lpstr>맑은 고딕</vt:lpstr>
      <vt:lpstr>Arial</vt:lpstr>
      <vt:lpstr>Cambria Math</vt:lpstr>
      <vt:lpstr>Consolas</vt:lpstr>
      <vt:lpstr>Office 테마</vt:lpstr>
      <vt:lpstr>Post-Quantum Cryptography</vt:lpstr>
      <vt:lpstr>Plan</vt:lpstr>
      <vt:lpstr>지난 시간 복습: 힌트 비트로 캐리 전달</vt:lpstr>
      <vt:lpstr>경계 케이스: r = 19, 20</vt:lpstr>
      <vt:lpstr>경계 수정의 효과</vt:lpstr>
      <vt:lpstr>Rq에서의 다항식 곱셈</vt:lpstr>
      <vt:lpstr>고전(schoolbook) 곱셈 알고리즘</vt:lpstr>
      <vt:lpstr>리덕션 단계 상세</vt:lpstr>
      <vt:lpstr>NTT를 이용한 빠른 곱셈</vt:lpstr>
      <vt:lpstr>NTT의 정의</vt:lpstr>
      <vt:lpstr>NTT의 대수적 성질: 평가·보간·성분별 곱</vt:lpstr>
      <vt:lpstr>나머지 정리와 재귀 계산</vt:lpstr>
      <vt:lpstr>예제 파라미터와 x8+1의 인수분해</vt:lpstr>
      <vt:lpstr>NTT 트리</vt:lpstr>
      <vt:lpstr>NTT 계산 절차 (4단계)</vt:lpstr>
      <vt:lpstr>a0(x), a1(x)의 재귀 계산</vt:lpstr>
      <vt:lpstr>리프 순서와 재배열 문제</vt:lpstr>
      <vt:lpstr>NTT 실행시간</vt:lpstr>
      <vt:lpstr>NTT-1와 가역성</vt:lpstr>
      <vt:lpstr>수치 예제 (1): 첫 분기</vt:lpstr>
      <vt:lpstr>수치 예제 (2): 트리 끝까지</vt:lpstr>
      <vt:lpstr>수치 예제 (3): 성분별 곱과 복원</vt:lpstr>
      <vt:lpstr>Dilithium NTT 파라미터</vt:lpstr>
      <vt:lpstr>비트 반전과 Dilithium NTT 정의</vt:lpstr>
      <vt:lpstr>Dilithium NTT의 in-place 계산</vt:lpstr>
      <vt:lpstr>버터플라이와 배열 갱신</vt:lpstr>
      <vt:lpstr>Dilithium 키 생성에서의 NTT</vt:lpstr>
      <vt:lpstr>Dilithium 서명 생성에서의 속도 향상</vt:lpstr>
      <vt:lpstr>Kyber가 표준 NTT를 못 쓰는 이유</vt:lpstr>
      <vt:lpstr>x2−ζi의 기약성</vt:lpstr>
      <vt:lpstr>NTT2의 정의: 이차환 Qi와 Tq</vt:lpstr>
      <vt:lpstr>Qi에서의 덧셈과 곱셈</vt:lpstr>
      <vt:lpstr>예제 파라미터와 인수분해 (Kyber형)</vt:lpstr>
      <vt:lpstr>Kyber형 NTT 트리</vt:lpstr>
      <vt:lpstr>NTT2 계산 절차</vt:lpstr>
      <vt:lpstr>NTT2 실행시간</vt:lpstr>
      <vt:lpstr>수치 예제 (1): 첫 분기 (NTT2)</vt:lpstr>
      <vt:lpstr>수치 예제 (2): 리프는 Qi 원소</vt:lpstr>
      <vt:lpstr>수치 예제 (3): Qi 곱을 손으로</vt:lpstr>
      <vt:lpstr>Kyber NTT 파라미터와 BitRev 정의</vt:lpstr>
      <vt:lpstr>Kyber NTT 알고리즘 (in-place)</vt:lpstr>
      <vt:lpstr>Kyber 키 생성에서의 NTT</vt:lpstr>
      <vt:lpstr>Kyber에서의 속도 향상</vt:lpstr>
      <vt:lpstr>Dilithium NTT vs Kyber NTT2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규빈 박</dc:creator>
  <cp:lastModifiedBy>규빈 박</cp:lastModifiedBy>
  <cp:revision>1750</cp:revision>
  <dcterms:created xsi:type="dcterms:W3CDTF">2026-03-17T05:07:50Z</dcterms:created>
  <dcterms:modified xsi:type="dcterms:W3CDTF">2026-08-28T03:10:27Z</dcterms:modified>
</cp:coreProperties>
</file>