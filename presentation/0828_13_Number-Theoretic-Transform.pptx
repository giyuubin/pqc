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13. Number-Theoretic Transform (NTT)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다항식 곱셈 병목과 고전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 정의와 대수적 성질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NTT의 재귀적 </a:t>
            </a:r>
            <a:r>
              <a:rPr dirty="0" err="1"/>
              <a:t>계산과</a:t>
            </a:r>
            <a:r>
              <a:rPr dirty="0"/>
              <a:t> </a:t>
            </a:r>
            <a:r>
              <a:rPr dirty="0" err="1"/>
              <a:t>수치</a:t>
            </a:r>
            <a:endParaRPr dirty="0"/>
          </a:p>
          <a:p>
            <a:pPr marL="342900" indent="-342900">
              <a:buFont typeface="+mj-lt"/>
              <a:buAutoNum type="arabicPeriod"/>
            </a:pPr>
            <a:r>
              <a:rPr dirty="0" err="1"/>
              <a:t>Dilithium</a:t>
            </a:r>
            <a:r>
              <a:rPr dirty="0"/>
              <a:t> NTT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Kyber NTT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다항식 곱셈이 병목인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Kyber와 Dilithium의 지배적 연산은 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에서의 곱셈이다</a:t>
                </a:r>
              </a:p>
              <a:p>
                <a:r>
                  <a:rPr dirty="0"/>
                  <a:t>두 스킴 모두 n=256을 쓴다 — Dilithium은 23비트 소수 q, Kyber는 12비트 소수 q</a:t>
                </a:r>
              </a:p>
              <a:p>
                <a:r>
                  <a:rPr dirty="0"/>
                  <a:t>목표: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을 빠르게 계산</a:t>
                </a:r>
              </a:p>
              <a:p>
                <a:r>
                  <a:rPr dirty="0"/>
                  <a:t>NTT를 쓰면 O(n log n), 고전 알고리즘은 O(n²) — 다음 두 슬라이드에서 비교한다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고전(schoolbook) 곱셈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두 단계로 구성된다 — 곱을 구한 뒤 x</a:t>
                </a:r>
                <a:r>
                  <a:rPr baseline="30000" dirty="0"/>
                  <a:t>n</a:t>
                </a:r>
                <a:r>
                  <a:rPr dirty="0"/>
                  <a:t>+1로 리덕션</a:t>
                </a:r>
              </a:p>
              <a:p>
                <a:r>
                  <a:rPr dirty="0"/>
                  <a:t>리덕션은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…,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</m:oMath>
                </a14:m>
                <a:r>
                  <a:rPr dirty="0"/>
                  <a:t>로 치환하는 것과 같다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Z</a:t>
                </a:r>
                <a:r>
                  <a:rPr baseline="-25000" dirty="0"/>
                  <a:t>q</a:t>
                </a:r>
                <a:r>
                  <a:rPr dirty="0"/>
                  <a:t>-연산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30837"/>
              </p:ext>
            </p:extLst>
          </p:nvPr>
        </p:nvGraphicFramePr>
        <p:xfrm>
          <a:off x="838200" y="31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d(x)=a(x)b(x) 계산 (차수 ≤ 2n−2)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+1로 리덕션 (위 치환)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두 다항식을 더해 c(x) 도출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NTT를 이용한 곱셈 개요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⟶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bSup>
                  </m:oMath>
                </a14:m>
                <a:r>
                  <a:rPr dirty="0"/>
                  <a:t>은 가역함수이며, 역함수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NTT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가 존재한다</a:t>
                </a:r>
              </a:p>
              <a:p>
                <a:r>
                  <a:rPr dirty="0"/>
                  <a:t>a,b∈R</a:t>
                </a:r>
                <a:r>
                  <a:rPr baseline="-25000" dirty="0"/>
                  <a:t>q</a:t>
                </a:r>
                <a:r>
                  <a:rPr dirty="0"/>
                  <a:t>의 곱 c(x)=a(x)b(x) mod (x</a:t>
                </a:r>
                <a:r>
                  <a:rPr baseline="30000" dirty="0"/>
                  <a:t>n</a:t>
                </a:r>
                <a:r>
                  <a:rPr dirty="0"/>
                  <a:t>+1)은 다음 3단계로 계산된다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고전 알고리즘 대비 큰 개선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664928"/>
              </p:ext>
            </p:extLst>
          </p:nvPr>
        </p:nvGraphicFramePr>
        <p:xfrm>
          <a:off x="838200" y="3157175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â=NTT(a), b̂=NTT(b)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ĉ = â∘b̂ (성분별 곱, 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 = NTT⁻¹(ĉ)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정의 (Dilithium 형태)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, q는 q−1이 2n으로 나누어지는 소수</a:t>
                </a:r>
              </a:p>
              <a:p>
                <a:pPr lvl="1"/>
                <a:r>
                  <a:rPr dirty="0"/>
                  <a:t>Dilithium: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−1)</m:t>
                    </m:r>
                  </m:oMath>
                </a14:m>
                <a:endParaRPr dirty="0"/>
              </a:p>
              <a:p>
                <a:r>
                  <a:rPr dirty="0"/>
                  <a:t>ζ∈Z</a:t>
                </a:r>
                <a:r>
                  <a:rPr baseline="-25000" dirty="0"/>
                  <a:t>q</a:t>
                </a:r>
                <a:r>
                  <a:rPr dirty="0"/>
                  <a:t>*는 위수(order) 2n인 원소 — 위수는 ζ</a:t>
                </a:r>
                <a:r>
                  <a:rPr baseline="30000" dirty="0"/>
                  <a:t>t</a:t>
                </a:r>
                <a:r>
                  <a:rPr dirty="0"/>
                  <a:t>=1이 되는 최소 양의 정수 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a(x)∈R</a:t>
                </a:r>
                <a:r>
                  <a:rPr baseline="-25000" dirty="0"/>
                  <a:t>q</a:t>
                </a:r>
                <a:r>
                  <a:rPr dirty="0"/>
                  <a:t>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NTT=평가, NTT⁻¹=보간, 성분별 곱셈 대응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NTT(a)는 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 err="1"/>
                  <a:t>에서</a:t>
                </a:r>
                <a:r>
                  <a:rPr dirty="0"/>
                  <a:t> </a:t>
                </a:r>
                <a:r>
                  <a:rPr dirty="0" err="1"/>
                  <a:t>평가한</a:t>
                </a:r>
                <a:r>
                  <a:rPr dirty="0"/>
                  <a:t> 것; NTT⁻¹는 </a:t>
                </a:r>
                <a:r>
                  <a:rPr dirty="0" err="1"/>
                  <a:t>다항식</a:t>
                </a:r>
                <a:r>
                  <a:rPr dirty="0"/>
                  <a:t> </a:t>
                </a:r>
                <a:r>
                  <a:rPr dirty="0" err="1"/>
                  <a:t>보간</a:t>
                </a:r>
                <a:endParaRPr dirty="0"/>
              </a:p>
              <a:p>
                <a:r>
                  <a:rPr dirty="0"/>
                  <a:t>c(x)=a(x)b(x)+ℓ(x)(x</a:t>
                </a:r>
                <a:r>
                  <a:rPr baseline="30000" dirty="0"/>
                  <a:t>n</a:t>
                </a:r>
                <a:r>
                  <a:rPr dirty="0"/>
                  <a:t>+1)이라 하면, 홀수 i에 대해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)+ℓ(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=(−1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 (i가 홀수) — 뒤 항이 0이 되어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곱셈은 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, 덧셈도 성분별 합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재귀 계산의 원리: 다항식 나머지 정리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NTT(a)의 각 성분은 다항식 </a:t>
                </a:r>
                <a:r>
                  <a:rPr dirty="0" err="1"/>
                  <a:t>나머지</a:t>
                </a:r>
                <a:r>
                  <a:rPr dirty="0"/>
                  <a:t> </a:t>
                </a:r>
                <a:r>
                  <a:rPr dirty="0" err="1"/>
                  <a:t>정리에</a:t>
                </a:r>
                <a:r>
                  <a:rPr dirty="0"/>
                  <a:t> 의해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f(x)가 g(x)를 나누면 다음이 성립 — 이를 이용해 재귀적으로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𝑔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아이디어: x</a:t>
                </a:r>
                <a:r>
                  <a:rPr baseline="30000" dirty="0"/>
                  <a:t>n</a:t>
                </a:r>
                <a:r>
                  <a:rPr dirty="0"/>
                  <a:t>+1을 선형 인수들의 곱으로 완전히 인수분해한 뒤, 트리 구조로 나머지를 재귀적으로 좁혀간다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x⁸+1의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q=113, n=2³=8을 쓴다 (2n=16이 q−1=112=16×7을 나눔)</a:t>
                </a:r>
              </a:p>
              <a:p>
                <a:r>
                  <a:rPr dirty="0"/>
                  <a:t>ζ=42는 Z</a:t>
                </a:r>
                <a:r>
                  <a:rPr baseline="-25000" dirty="0"/>
                  <a:t>113</a:t>
                </a:r>
                <a:r>
                  <a:rPr dirty="0"/>
                  <a:t>*에서 위수 16을 가지며, 따라서 ζ⁸=−1.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90872"/>
            <a:ext cx="10515600" cy="2205539"/>
          </a:xfrm>
        </p:spPr>
        <p:txBody>
          <a:bodyPr wrap="square"/>
          <a:lstStyle/>
          <a:p>
            <a:r>
              <a:rPr dirty="0"/>
              <a:t>트리의 루트는 x</a:t>
            </a:r>
            <a:r>
              <a:rPr baseline="30000" dirty="0"/>
              <a:t>8</a:t>
            </a:r>
            <a:r>
              <a:rPr dirty="0"/>
              <a:t>+1, 각 리프는 선형 인수 (x−ζⁱ)</a:t>
            </a:r>
          </a:p>
          <a:p>
            <a:r>
              <a:rPr dirty="0"/>
              <a:t>리프에는 이진수 레이블 000~111이 붙고, 각 경로가 하나의 홀수 거듭제곱 ζⁱ에 대응한다</a:t>
            </a:r>
          </a:p>
          <a:p>
            <a:r>
              <a:rPr dirty="0"/>
              <a:t>NTT(a)의 계산은 이 트리를 따라 나머지를 반씩 좁혀가는 것과 같다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5BCF43-0219-B140-3E8D-15B715C42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a₀(x), a₁(x)를 재귀적으로 계산하는 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a(x)=a</a:t>
                </a:r>
                <a:r>
                  <a:rPr baseline="-25000" dirty="0"/>
                  <a:t>L</a:t>
                </a:r>
                <a:r>
                  <a:rPr dirty="0"/>
                  <a:t>(x)+a</a:t>
                </a:r>
                <a:r>
                  <a:rPr baseline="-25000" dirty="0"/>
                  <a:t>R</a:t>
                </a:r>
                <a:r>
                  <a:rPr dirty="0"/>
                  <a:t>(x)x⁴로 쓰면 (a</a:t>
                </a:r>
                <a:r>
                  <a:rPr baseline="-25000" dirty="0"/>
                  <a:t>L</a:t>
                </a:r>
                <a:r>
                  <a:rPr dirty="0"/>
                  <a:t>, a</a:t>
                </a:r>
                <a:r>
                  <a:rPr baseline="-25000" dirty="0"/>
                  <a:t>R</a:t>
                </a:r>
                <a:r>
                  <a:rPr dirty="0"/>
                  <a:t>의 차수 ≤ 3),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</a:t>
                </a:r>
                <a:r>
                  <a:rPr baseline="-25000" dirty="0"/>
                  <a:t>00</a:t>
                </a:r>
                <a:r>
                  <a:rPr dirty="0"/>
                  <a:t>, a</a:t>
                </a:r>
                <a:r>
                  <a:rPr baseline="-25000" dirty="0"/>
                  <a:t>01</a:t>
                </a:r>
                <a:r>
                  <a:rPr dirty="0"/>
                  <a:t>은 a</a:t>
                </a:r>
                <a:r>
                  <a:rPr baseline="-25000" dirty="0"/>
                  <a:t>0</a:t>
                </a:r>
                <a:r>
                  <a:rPr dirty="0"/>
                  <a:t>에서, a</a:t>
                </a:r>
                <a:r>
                  <a:rPr baseline="-25000" dirty="0"/>
                  <a:t>10</a:t>
                </a:r>
                <a:r>
                  <a:rPr dirty="0"/>
                  <a:t>, a</a:t>
                </a:r>
                <a:r>
                  <a:rPr baseline="-25000" dirty="0"/>
                  <a:t>11</a:t>
                </a:r>
                <a:r>
                  <a:rPr dirty="0"/>
                  <a:t>은 a</a:t>
                </a:r>
                <a:r>
                  <a:rPr baseline="-25000" dirty="0"/>
                  <a:t>1</a:t>
                </a:r>
                <a:r>
                  <a:rPr dirty="0"/>
                  <a:t>에서 같은 방식으로 재귀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실행시간 분석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라 하고 T(n)을 NTT(a) 계산 시간이라 하면,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각 레벨에서 반씩 나누고 O(n) 시간의 리덕션을 수행하기 때문 — 해는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NTT⁻¹의 계산과 가역성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NTT⁻¹는 트리를 리프에서 루트 방향으로 거슬러 올라가며 계산한다</a:t>
                </a:r>
              </a:p>
              <a:p>
                <a:r>
                  <a:rPr dirty="0"/>
                  <a:t>a</a:t>
                </a:r>
                <a:r>
                  <a:rPr baseline="-25000" dirty="0"/>
                  <a:t>0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+ζ⁴a</a:t>
                </a:r>
                <a:r>
                  <a:rPr baseline="-25000" dirty="0"/>
                  <a:t>R</a:t>
                </a:r>
                <a:r>
                  <a:rPr dirty="0"/>
                  <a:t>, a</a:t>
                </a:r>
                <a:r>
                  <a:rPr baseline="-25000" dirty="0"/>
                  <a:t>1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−ζ⁴a</a:t>
                </a:r>
                <a:r>
                  <a:rPr baseline="-25000" dirty="0"/>
                  <a:t>R</a:t>
                </a:r>
                <a:r>
                  <a:rPr dirty="0"/>
                  <a:t>이었으므로, 두 식을 더하고 빼면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𝜁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과정이 NTT가 가역임을 보이며, NTT⁻¹도 O(n log n)에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NTT로 곱셈하기 (q=113)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앞서 쓴 파라미터 q=113, n=8, ζ=42(위수 16)로 실제 곱셈을 끝까지 해 본다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13045"/>
              </p:ext>
            </p:extLst>
          </p:nvPr>
        </p:nvGraphicFramePr>
        <p:xfrm>
          <a:off x="838200" y="26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a₀, a₁ (첫 분기)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(46,2,15,0) / (69,2,98,0)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(35,58,45,43,93,105,11,70)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(105,47,104,50,37,106,101,31)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(59,14,47,3,51,56,94,23)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NTT⁻¹로 복원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1+105x+x²+111x³+6x⁴+4x⁵+13x⁶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schoolbook 대조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같은 값 — 105=−8, 111=−2 는 x⁸→−1 접힘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ML-DSA-44/65/87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=1753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=512)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일반 정의(홀수 거듭제곱에서의 평가)를 그대로 쓰면, 트리로 계산한 뒤 결과를 연속된 홀수 순서로 재배열해야 하는 불편함이 있다</a:t>
                </a:r>
              </a:p>
              <a:p>
                <a:r>
                  <a:rPr dirty="0"/>
                  <a:t>Dilithium은 이 재배열을 없애기 위해 NTT를 조금 다르게 정의한다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방식의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v∈[0,255]에 대해 brv(v)는 v의 8비트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(143)=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((10001111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)=(11110001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=241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ζ</a:t>
                </a:r>
                <a:r>
                  <a:rPr baseline="-25000" dirty="0"/>
                  <a:t>i</a:t>
                </a:r>
                <a:r>
                  <a:rPr dirty="0"/>
                  <a:t>를 다음과 같이 정의하면 (0≤i≤127):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/>
                            </a:rPr>
                            <m:t>brv</m:t>
                          </m:r>
                          <m:r>
                            <a:rPr lang="en-US" i="1">
                              <a:latin typeface="Cambria Math"/>
                            </a:rPr>
                            <m:t>(128+</m:t>
                          </m:r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𝑞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순서는 NTT 트리의 리프 순서와 일치 — NTT/NTT⁻¹를 in-place로 계산할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NTT의 in-place 계산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160854"/>
            <a:ext cx="10515599" cy="2567411"/>
          </a:xfrm>
        </p:spPr>
        <p:txBody>
          <a:bodyPr wrap="square"/>
          <a:lstStyle/>
          <a:p>
            <a:r>
              <a:rPr dirty="0"/>
              <a:t>in-place 계산은 길이 n 배열 하나만으로 NTT를 수행 — 하드웨어 구현에 특히 유용하다</a:t>
            </a:r>
          </a:p>
          <a:p>
            <a:r>
              <a:rPr dirty="0"/>
              <a:t>예: a</a:t>
            </a:r>
            <a:r>
              <a:rPr baseline="-25000" dirty="0"/>
              <a:t>L</a:t>
            </a:r>
            <a:r>
              <a:rPr dirty="0"/>
              <a:t>, a</a:t>
            </a:r>
            <a:r>
              <a:rPr baseline="-25000" dirty="0"/>
              <a:t>R</a:t>
            </a:r>
            <a:r>
              <a:rPr dirty="0"/>
              <a:t>로부터 T=ζ⁴·a</a:t>
            </a:r>
            <a:r>
              <a:rPr baseline="-25000" dirty="0"/>
              <a:t>R</a:t>
            </a:r>
            <a:r>
              <a:rPr dirty="0"/>
              <a:t>을 계산한 뒤, a</a:t>
            </a:r>
            <a:r>
              <a:rPr baseline="-25000" dirty="0"/>
              <a:t>L</a:t>
            </a:r>
            <a:r>
              <a:rPr dirty="0"/>
              <a:t>에서 빼서 오른쪽 절반을, 더해서 왼쪽 절반을 같은 자리에 덮어써 a</a:t>
            </a:r>
            <a:r>
              <a:rPr baseline="-25000" dirty="0"/>
              <a:t>0</a:t>
            </a:r>
            <a:r>
              <a:rPr dirty="0"/>
              <a:t>, a</a:t>
            </a:r>
            <a:r>
              <a:rPr baseline="-25000" dirty="0"/>
              <a:t>1</a:t>
            </a:r>
            <a:r>
              <a:rPr dirty="0"/>
              <a:t>을 얻는다</a:t>
            </a:r>
          </a:p>
          <a:p>
            <a:r>
              <a:rPr dirty="0"/>
              <a:t>같은 방식이 다음 레벨(a</a:t>
            </a:r>
            <a:r>
              <a:rPr baseline="-25000" dirty="0"/>
              <a:t>00</a:t>
            </a:r>
            <a:r>
              <a:rPr dirty="0"/>
              <a:t>,a</a:t>
            </a:r>
            <a:r>
              <a:rPr baseline="-25000" dirty="0"/>
              <a:t>01</a:t>
            </a:r>
            <a:r>
              <a:rPr dirty="0"/>
              <a:t>,a</a:t>
            </a:r>
            <a:r>
              <a:rPr baseline="-25000" dirty="0"/>
              <a:t>10</a:t>
            </a:r>
            <a:r>
              <a:rPr dirty="0"/>
              <a:t>,a</a:t>
            </a:r>
            <a:r>
              <a:rPr baseline="-25000" dirty="0"/>
              <a:t>11</a:t>
            </a:r>
            <a:r>
              <a:rPr dirty="0"/>
              <a:t>)에도 재귀적으로 적용된다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0C7F7-5D00-7A9F-EECB-8FF90B43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자연스럽게 확장된다</a:t>
            </a:r>
          </a:p>
          <a:p>
            <a:r>
              <a:rPr dirty="0"/>
              <a:t>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는 계수가 ±η로 제한되어 NTT 형태로 직접 뽑을 수 없다 — 뽑은 뒤 NTT를 적용한다</a:t>
            </a:r>
          </a:p>
          <a:p>
            <a:r>
              <a:rPr dirty="0"/>
              <a:t>행렬 A 자체는 계산되지 않고, NTT 형태만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375893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 선택 후 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= NTT(s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b̂ = Â∘ŝ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계산, b = NTT⁻¹(b̂)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= b + s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서명 생성에서의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ML-DSA-87 파라미터 (k,ℓ)=(8,7)에서 w=Ay 계산을 예로 든다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980415"/>
              </p:ext>
            </p:extLst>
          </p:nvPr>
        </p:nvGraphicFramePr>
        <p:xfrm>
          <a:off x="838200" y="24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ŷ=NTT(y), ŵ=Â∘ŷ, w=NTT⁻¹(ŵ)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½(k+ℓ)n log₂n + kℓn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3,670,016 (≈2²¹·⁸)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29,696 (≈2¹⁴·⁹)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≈124배 (≈2⁶·⁹)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NTT가 Dilithium과 다른 이유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Kyber도 n=256을 쓰지만,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=3329</m:t>
                    </m:r>
                  </m:oMath>
                </a14:m>
                <a:r>
                  <a:rPr dirty="0"/>
                  <a:t>는 q−1=256×13이 n으로는 나누어져도 2n으로는 나누어지지 않는다</a:t>
                </a:r>
              </a:p>
              <a:p>
                <a:r>
                  <a:rPr dirty="0"/>
                  <a:t>따라서 위수 2n인 ζ를 잡을 수 없어, Dilithium과 같은 방식의 NTT를 그대로 쓸 수 없다</a:t>
                </a:r>
              </a:p>
              <a:p>
                <a:pPr lvl="1"/>
                <a:r>
                  <a:rPr dirty="0"/>
                  <a:t>Z</a:t>
                </a:r>
                <a:r>
                  <a:rPr baseline="-25000" dirty="0"/>
                  <a:t>q</a:t>
                </a:r>
                <a:r>
                  <a:rPr dirty="0"/>
                  <a:t>*는 위수 q−1인 순환군 — 위수 t인 원소는 t가 q−1을 나눌 때만 존재한다</a:t>
                </a:r>
              </a:p>
              <a:p>
                <a:r>
                  <a:rPr dirty="0"/>
                  <a:t>대신 위수 n인 ζ를 쓴다 — 그 결과 NTT 트리에서 마지막 한 단계(선형 인수까지의 완전 분해)가 잘려나가, </a:t>
                </a:r>
                <a:r>
                  <a:rPr dirty="0" err="1"/>
                  <a:t>리프가</a:t>
                </a:r>
                <a:r>
                  <a:rPr dirty="0"/>
                  <a:t> </a:t>
                </a:r>
                <a:r>
                  <a:rPr dirty="0" err="1"/>
                  <a:t>이차식에서</a:t>
                </a:r>
                <a:r>
                  <a:rPr dirty="0"/>
                  <a:t> 멈춘다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x²−ζⁱ의 기약성 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Claim: n=2</a:t>
                </a:r>
                <a:r>
                  <a:rPr baseline="30000" dirty="0"/>
                  <a:t>k</a:t>
                </a:r>
                <a:r>
                  <a:rPr dirty="0"/>
                  <a:t>, q−1이 n으로는 나누어지고 2n으로는 안 나누어지며, ζ가 위수 n인 원소라 하자</a:t>
                </a:r>
              </a:p>
              <a:p>
                <a:r>
                  <a:rPr dirty="0"/>
                  <a:t>그러면 홀수 i∈[1,n−1]에 대해 x²−ζⁱ는 Z</a:t>
                </a:r>
                <a:r>
                  <a:rPr baseline="-25000" dirty="0"/>
                  <a:t>q</a:t>
                </a:r>
                <a:r>
                  <a:rPr dirty="0"/>
                  <a:t> </a:t>
                </a:r>
                <a:r>
                  <a:rPr dirty="0" err="1"/>
                  <a:t>위에서</a:t>
                </a:r>
                <a:r>
                  <a:rPr dirty="0"/>
                  <a:t> </a:t>
                </a:r>
                <a:r>
                  <a:rPr dirty="0" err="1"/>
                  <a:t>기약이다</a:t>
                </a:r>
                <a:endParaRPr dirty="0"/>
              </a:p>
              <a:p>
                <a:r>
                  <a:rPr dirty="0"/>
                  <a:t>증명: x²−ζⁱ가 가약이라면 근 c∈Z</a:t>
                </a:r>
                <a:r>
                  <a:rPr baseline="-25000" dirty="0"/>
                  <a:t>q</a:t>
                </a:r>
                <a:r>
                  <a:rPr dirty="0"/>
                  <a:t>가 존재, c²=ζⁱ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a:rPr lang="en-US" i="0"/>
                        <m:t>2</m:t>
                      </m:r>
                      <m:r>
                        <m:rPr>
                          <m:sty m:val="p"/>
                        </m:rPr>
                        <a:rPr lang="en-US" i="0"/>
                        <m:t>n</m:t>
                      </m:r>
                      <m:r>
                        <m:rPr>
                          <m:nor/>
                        </m:rPr>
                        <a:rPr lang="en-US"/>
                        <m:t>을 나눔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=(−1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m:rPr>
                          <m:sty m:val="p"/>
                        </m:rPr>
                        <a:rPr lang="en-US" i="0"/>
                        <m:t>n</m:t>
                      </m:r>
                      <m:r>
                        <m:rPr>
                          <m:nor/>
                        </m:rPr>
                        <a:rPr lang="en-US"/>
                        <m:t>을 안 나눔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c의 위수는 정확히 2n인데, 2n은 q−1을 나누지 </a:t>
                </a:r>
                <a:r>
                  <a:rPr dirty="0" err="1"/>
                  <a:t>않으므로</a:t>
                </a:r>
                <a:r>
                  <a:rPr dirty="0"/>
                  <a:t> </a:t>
                </a:r>
                <a:r>
                  <a:rPr dirty="0" err="1"/>
                  <a:t>모순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NTT의 정의: 이차환 Qᵢ와 T</a:t>
            </a:r>
            <a:r>
              <a:rPr baseline="-25000" dirty="0"/>
              <a:t>q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홀수 i∈[1,n−1]에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차수 ≤1 </a:t>
                </a:r>
                <a:r>
                  <a:rPr dirty="0" err="1"/>
                  <a:t>다항식의</a:t>
                </a:r>
                <a:r>
                  <a:rPr dirty="0"/>
                  <a:t> </a:t>
                </a:r>
                <a:r>
                  <a:rPr dirty="0" err="1"/>
                  <a:t>이차환</a:t>
                </a:r>
                <a:r>
                  <a:rPr dirty="0"/>
                  <a:t> — 계수쌍 (c</a:t>
                </a:r>
                <a:r>
                  <a:rPr baseline="-25000" dirty="0"/>
                  <a:t>0</a:t>
                </a:r>
                <a:r>
                  <a:rPr dirty="0"/>
                  <a:t>,c</a:t>
                </a:r>
                <a:r>
                  <a:rPr baseline="-25000" dirty="0"/>
                  <a:t>1</a:t>
                </a:r>
                <a:r>
                  <a:rPr dirty="0"/>
                  <a:t>)으로 표현된다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×⋯×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NTT는 환 </a:t>
                </a:r>
                <a:r>
                  <a:rPr dirty="0" err="1"/>
                  <a:t>동형사상이며</a:t>
                </a:r>
                <a:r>
                  <a:rPr dirty="0"/>
                  <a:t>, 특히 가역이다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Qᵢ에서의 덧셈과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T</a:t>
                </a:r>
                <a:r>
                  <a:rPr baseline="-25000" dirty="0"/>
                  <a:t>q</a:t>
                </a:r>
                <a:r>
                  <a:rPr dirty="0"/>
                  <a:t>에서의 덧셈·곱셈은 각 Q</a:t>
                </a:r>
                <a:r>
                  <a:rPr baseline="-25000" dirty="0"/>
                  <a:t>i</a:t>
                </a:r>
                <a:r>
                  <a:rPr dirty="0"/>
                  <a:t>에서 성분별로 이뤄진다</a:t>
                </a:r>
              </a:p>
              <a:p>
                <a:r>
                  <a:rPr dirty="0"/>
                  <a:t>덧셈: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곱셈 (x²를 ζⁱ로 치환):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예제 파라미터와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q=137, n=8을 쓴다 (n이 q−1=136=8×17을 나누지만 2n=16은 안 나눔)</a:t>
                </a:r>
              </a:p>
              <a:p>
                <a:r>
                  <a:rPr dirty="0"/>
                  <a:t>ζ=10은 Z</a:t>
                </a:r>
                <a:r>
                  <a:rPr baseline="-25000" dirty="0"/>
                  <a:t>137</a:t>
                </a:r>
                <a:r>
                  <a:rPr dirty="0"/>
                  <a:t>*에서 위수 8을 가지며, ζ⁴=−1.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137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NTT 트리 (한 단계 적음)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6000000" cy="4701089"/>
          </a:xfrm>
        </p:spPr>
        <p:txBody>
          <a:bodyPr wrap="square"/>
          <a:lstStyle/>
          <a:p>
            <a:r>
              <a:rPr dirty="0" err="1"/>
              <a:t>Dilithium</a:t>
            </a:r>
            <a:r>
              <a:rPr dirty="0"/>
              <a:t> </a:t>
            </a:r>
            <a:r>
              <a:rPr dirty="0" err="1"/>
              <a:t>트리와</a:t>
            </a:r>
            <a:r>
              <a:rPr dirty="0"/>
              <a:t> 비교하면 마지막 선형 인수 단계가 없다 — 리프가 이차식 x²−ζⁱ에서 멈춘다</a:t>
            </a:r>
          </a:p>
          <a:p>
            <a:r>
              <a:rPr dirty="0"/>
              <a:t>재귀 깊이가 하나 줄고, 리프 개수도 n/2개 — 각 리프가 Q</a:t>
            </a:r>
            <a:r>
              <a:rPr baseline="-25000" dirty="0"/>
              <a:t>i</a:t>
            </a:r>
            <a:r>
              <a:rPr dirty="0"/>
              <a:t> 하나에 대응한다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7" name="Rectangle 6"/>
          <p:cNvSpPr/>
          <p:nvPr/>
        </p:nvSpPr>
        <p:spPr>
          <a:xfrm>
            <a:off x="7100000" y="2400000"/>
            <a:ext cx="4253600" cy="3200000"/>
          </a:xfrm>
          <a:prstGeom prst="rect">
            <a:avLst/>
          </a:prstGeom>
          <a:noFill/>
          <a:ln>
            <a:solidFill>
              <a:srgbClr val="A0A0A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solidFill>
                  <a:srgbClr val="595959"/>
                </a:solidFill>
              </a:rPr>
              <a:t>[그림] V4-slides-Kyber-and-Dilithium.pdf p.162 — Kyber형 NTT 트리 (x⁸+1 → 4개의 이차식 리프)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실행시간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Dilithium과 동일한 재귀식이 적용된다: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NTT⁻¹도 동일한 시간복잡도로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NTT²로 곱셈하기 (q=137)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같은 a, b를 앞서 쓴 Kyber형 파라미터 q=137, ζ=10(위수 8)으로 곱한다 — 성분이 스칼라가 아니라 Q</a:t>
                </a:r>
                <a:r>
                  <a:rPr baseline="-25000" dirty="0"/>
                  <a:t>i</a:t>
                </a:r>
                <a:r>
                  <a:rPr dirty="0"/>
                  <a:t> 원소다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각 성분을 Q</a:t>
                </a:r>
                <a:r>
                  <a:rPr baseline="-25000" dirty="0"/>
                  <a:t>i</a:t>
                </a:r>
                <a:r>
                  <a:rPr dirty="0"/>
                  <a:t> 곱셈 규칙으로 곱한 뒤 되돌리면 c = 1+129x+x²+135x³+6x⁴+4x⁵+13x⁶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540205"/>
              </p:ext>
            </p:extLst>
          </p:nvPr>
        </p:nvGraphicFramePr>
        <p:xfrm>
          <a:off x="838200" y="3300000"/>
          <a:ext cx="10515600" cy="2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Q₁ (ζ=10)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68+2x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48+98x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Q₃ (ζ³=41)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43+11x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120+58x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Q₅ (ζ⁵=127)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123+2x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129+126x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58+x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Q₇ (ζ⁷=96)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98+11x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52+85x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파라미터와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ML-KEM-512/768/1024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=3329,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BitRev: v∈[0,127]의 7비트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(103)=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((1100111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)=(1110011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=115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BitRev</m:t>
                        </m:r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)+1</m:t>
                        </m:r>
                      </m:sup>
                    </m:sSup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 (0≤i≤127)</a:t>
                </a:r>
              </a:p>
              <a:p>
                <a:pPr lvl="1"/>
                <a:r>
                  <a:rPr dirty="0"/>
                  <a:t>ζ</a:t>
                </a:r>
                <a:r>
                  <a:rPr baseline="-25000" dirty="0"/>
                  <a:t>0</a:t>
                </a:r>
                <a:r>
                  <a:rPr dirty="0"/>
                  <a:t>,…,ζ</a:t>
                </a:r>
                <a:r>
                  <a:rPr baseline="-25000" dirty="0"/>
                  <a:t>127</a:t>
                </a:r>
                <a:r>
                  <a:rPr dirty="0"/>
                  <a:t>은 ζ의 홀수 거듭제곱 128개를 트리 리프 순서로 재배열한 것 — 성분 집합은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×⋯×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dirty="0"/>
                  <a:t> 그대로다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알고리즘 (in-place)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 NTT와 NTT⁻¹는 길이 256 배열(원소는 Z</a:t>
                </a:r>
                <a:r>
                  <a:rPr baseline="-25000" dirty="0"/>
                  <a:t>3329</a:t>
                </a:r>
                <a:r>
                  <a:rPr dirty="0"/>
                  <a:t>) 하나에 in-place로 계산된다</a:t>
                </a:r>
              </a:p>
              <a:p>
                <a:r>
                  <a:rPr dirty="0"/>
                  <a:t>회전자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/>
                  <a:t>는 트리 각 층에서 곱하는 값 — 리프의 평가점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와는 다른 수열이다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719560"/>
              </p:ext>
            </p:extLst>
          </p:nvPr>
        </p:nvGraphicFramePr>
        <p:xfrm>
          <a:off x="838200" y="24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바깥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len ← 128부터 2까지 절반씩 감소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블록 순회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start ← 0부터 256 미만까지 2·len씩 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회전자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zeta ← ζ</a:t>
                      </a:r>
                      <a:r>
                        <a:rPr sz="1800" baseline="30000" dirty="0"/>
                        <a:t>BitRev₇(i)</a:t>
                      </a:r>
                      <a:r>
                        <a:rPr sz="1800" dirty="0"/>
                        <a:t> mod q; i←i+1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안쪽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j ← start부터 start+len−1까지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버터플라이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← zeta·f[j+len] (mod q)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in-place 갱신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f[j+len] ← f[j]−t,  f[j] ← f[j]+t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확장된다</a:t>
            </a:r>
          </a:p>
          <a:p>
            <a:r>
              <a:rPr dirty="0"/>
              <a:t>s, e는 중심이항분포(CBD)로 선택된다 — NTT/NTT⁻¹는 암호화·복호화에도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022340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s,e 선택 후 ŝ=NTT(s), ê=NTT(e)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t̂ = Â∘ŝ + ê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(ρ, t̂), 개인키 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ML-KEM-1024 (k=4)에서 Â∘ŝ 계산을 예로 든다</a:t>
            </a:r>
          </a:p>
          <a:p>
            <a:r>
              <a:rPr dirty="0"/>
              <a:t>성분별 곱은 O(n)이 아니다 — Q</a:t>
            </a:r>
            <a:r>
              <a:rPr baseline="-25000" dirty="0"/>
              <a:t>i</a:t>
            </a:r>
            <a:r>
              <a:rPr dirty="0"/>
              <a:t> 곱 하나가 Z</a:t>
            </a:r>
            <a:r>
              <a:rPr baseline="-25000" dirty="0"/>
              <a:t>q</a:t>
            </a:r>
            <a:r>
              <a:rPr dirty="0"/>
              <a:t>-곱 5회이므로 전체 5n/2회</a:t>
            </a:r>
          </a:p>
          <a:p>
            <a:pPr lvl="1"/>
            <a:r>
              <a:rPr dirty="0"/>
              <a:t>트리는 한 층 짧지만 성분별 곱이 그만큼 비싸, Dilithium(≈124배)보다 향상 폭이 작다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716501"/>
              </p:ext>
            </p:extLst>
          </p:nvPr>
        </p:nvGraphicFramePr>
        <p:xfrm>
          <a:off x="838200" y="30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ŝ=NTT²(s), Â∘ŝ (성분별)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k·½n(log₂n−1) + k²·(5n/2)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ML-KEM-1024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1,048,576 (≈2²⁰)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13,824 (≈2¹³·⁸)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≈76배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vs Kyber NTT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750000"/>
            <a:ext cx="10515600" cy="946089"/>
          </a:xfrm>
        </p:spPr>
        <p:txBody>
          <a:bodyPr wrap="square"/>
          <a:lstStyle/>
          <a:p>
            <a:r>
              <a:rPr dirty="0"/>
              <a:t>Kyber NTT는 표준 NTT 트리에서 마지막 한 </a:t>
            </a:r>
            <a:r>
              <a:rPr dirty="0" err="1"/>
              <a:t>층을</a:t>
            </a:r>
            <a:r>
              <a:rPr dirty="0"/>
              <a:t> </a:t>
            </a:r>
            <a:r>
              <a:rPr dirty="0" err="1"/>
              <a:t>가지치기한</a:t>
            </a:r>
            <a:r>
              <a:rPr dirty="0"/>
              <a:t> 것과 같다 — 위수 2n인 ζ가 없어 일차식까지 못 내려간다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905935"/>
              </p:ext>
            </p:extLst>
          </p:nvPr>
        </p:nvGraphicFramePr>
        <p:xfrm>
          <a:off x="838200" y="195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Dilithium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Kyber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출력 공간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 (스칼라 n개)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=Q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×Q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×⋯ (n/2개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깊이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(리프=선형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− 1 (리프=이차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원소 1개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좌표 2개 (차수 ≤1 다항식)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ζ의 위수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파라미터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 | q−1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 | q−1이지만 2n은 아님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n회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5n/2회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5190</TotalTime>
  <Words>2985</Words>
  <Application>Microsoft Office PowerPoint</Application>
  <PresentationFormat>와이드스크린</PresentationFormat>
  <Paragraphs>328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6" baseType="lpstr">
      <vt:lpstr>맑은 고딕</vt:lpstr>
      <vt:lpstr>Arial</vt:lpstr>
      <vt:lpstr>Cambria Math</vt:lpstr>
      <vt:lpstr>Office 테마</vt:lpstr>
      <vt:lpstr>Post-Quantum Cryptography</vt:lpstr>
      <vt:lpstr>Plan</vt:lpstr>
      <vt:lpstr>Rq에서의 다항식 곱셈이 병목인 이유</vt:lpstr>
      <vt:lpstr>고전(schoolbook) 곱셈 알고리즘</vt:lpstr>
      <vt:lpstr>NTT를 이용한 곱셈 개요</vt:lpstr>
      <vt:lpstr>NTT의 정의 (Dilithium 형태)</vt:lpstr>
      <vt:lpstr>NTT=평가, NTT⁻¹=보간, 성분별 곱셈 대응</vt:lpstr>
      <vt:lpstr>재귀 계산의 원리: 다항식 나머지 정리</vt:lpstr>
      <vt:lpstr>예제 파라미터와 x⁸+1의 인수분해</vt:lpstr>
      <vt:lpstr>NTT 트리</vt:lpstr>
      <vt:lpstr>a₀(x), a₁(x)를 재귀적으로 계산하는 법</vt:lpstr>
      <vt:lpstr>NTT 실행시간 분석</vt:lpstr>
      <vt:lpstr>NTT⁻¹의 계산과 가역성 증명</vt:lpstr>
      <vt:lpstr>수치 예제: NTT로 곱셈하기 (q=113)</vt:lpstr>
      <vt:lpstr>Dilithium NTT 파라미터</vt:lpstr>
      <vt:lpstr>Dilithium 방식의 bit-reversal 정의</vt:lpstr>
      <vt:lpstr>Dilithium NTT의 in-place 계산</vt:lpstr>
      <vt:lpstr>Dilithium 키 생성에서의 NTT 활용</vt:lpstr>
      <vt:lpstr>Dilithium 서명 생성에서의 속도 향상</vt:lpstr>
      <vt:lpstr>Kyber NTT가 Dilithium과 다른 이유</vt:lpstr>
      <vt:lpstr>x²−ζⁱ의 기약성 증명</vt:lpstr>
      <vt:lpstr>Kyber NTT의 정의: 이차환 Qᵢ와 Tq</vt:lpstr>
      <vt:lpstr>Qᵢ에서의 덧셈과 곱셈</vt:lpstr>
      <vt:lpstr>Kyber형 예제 파라미터와 인수분해</vt:lpstr>
      <vt:lpstr>Kyber형 NTT 트리 (한 단계 적음)</vt:lpstr>
      <vt:lpstr>Kyber NTT 실행시간</vt:lpstr>
      <vt:lpstr>수치 예제: NTT²로 곱셈하기 (q=137)</vt:lpstr>
      <vt:lpstr>Kyber NTT 파라미터와 bit-reversal 정의</vt:lpstr>
      <vt:lpstr>Kyber NTT 알고리즘 (in-place)</vt:lpstr>
      <vt:lpstr>Kyber 키 생성에서의 NTT 활용</vt:lpstr>
      <vt:lpstr>Kyber에서의 속도 향상</vt:lpstr>
      <vt:lpstr>Dilithium NTT vs Kyber NTT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1726</cp:revision>
  <dcterms:created xsi:type="dcterms:W3CDTF">2026-03-17T05:07:50Z</dcterms:created>
  <dcterms:modified xsi:type="dcterms:W3CDTF">2026-08-27T08:41:12Z</dcterms:modified>
</cp:coreProperties>
</file>