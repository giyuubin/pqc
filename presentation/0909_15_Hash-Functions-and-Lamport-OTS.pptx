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규빈 박" initials="규박" lastIdx="12" clrIdx="0">
    <p:extLst>
      <p:ext uri="{19B8F6BF-5375-455C-9EA6-DF929625EA0E}">
        <p15:presenceInfo xmlns:p15="http://schemas.microsoft.com/office/powerpoint/2012/main" userId="b405f47f44f6c53f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C083E6E3-FA7D-4D7B-A595-EF9225AFEA82}" styleName="밝은 스타일 1 - 강조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2DE63D5-997A-4646-A377-4702673A728D}" styleName="밝은 스타일 2 - 강조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78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4" d="100"/>
          <a:sy n="64" d="100"/>
        </p:scale>
        <p:origin x="3192" y="8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2B40C2-3351-40A2-B46D-4B4F877A79B2}" type="datetimeFigureOut">
              <a:rPr lang="ko-KR" altLang="en-US" smtClean="0"/>
              <a:t>2026-09-07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3BC5EA-D886-4875-B891-B25A6CC490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55287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배경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14304F"/>
              </a:gs>
              <a:gs pos="60000">
                <a:srgbClr val="0F2540"/>
              </a:gs>
              <a:gs pos="100000">
                <a:srgbClr val="0A1B2E"/>
              </a:gs>
            </a:gsLst>
            <a:lin ang="270000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grpSp>
        <p:nvGrpSpPr>
          <p:cNvPr id="200" name="격자 패턴"/>
          <p:cNvGrpSpPr/>
          <p:nvPr userDrawn="1"/>
        </p:nvGrpSpPr>
        <p:grpSpPr>
          <a:xfrm>
            <a:off x="9900000" y="4700000"/>
            <a:ext cx="2108200" cy="2108200"/>
            <a:chOff x="9900000" y="4700000"/>
            <a:chExt cx="2108200" cy="2108200"/>
          </a:xfrm>
        </p:grpSpPr>
        <p:sp>
          <p:nvSpPr>
            <p:cNvPr id="201" name="점 201"/>
            <p:cNvSpPr/>
            <p:nvPr userDrawn="1"/>
          </p:nvSpPr>
          <p:spPr>
            <a:xfrm>
              <a:off x="9900000" y="470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02" name="점 202"/>
            <p:cNvSpPr/>
            <p:nvPr userDrawn="1"/>
          </p:nvSpPr>
          <p:spPr>
            <a:xfrm>
              <a:off x="10154000" y="470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03" name="점 203"/>
            <p:cNvSpPr/>
            <p:nvPr userDrawn="1"/>
          </p:nvSpPr>
          <p:spPr>
            <a:xfrm>
              <a:off x="10408000" y="470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04" name="점 204"/>
            <p:cNvSpPr/>
            <p:nvPr userDrawn="1"/>
          </p:nvSpPr>
          <p:spPr>
            <a:xfrm>
              <a:off x="10662000" y="470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05" name="점 205"/>
            <p:cNvSpPr/>
            <p:nvPr userDrawn="1"/>
          </p:nvSpPr>
          <p:spPr>
            <a:xfrm>
              <a:off x="10916000" y="470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06" name="점 206"/>
            <p:cNvSpPr/>
            <p:nvPr userDrawn="1"/>
          </p:nvSpPr>
          <p:spPr>
            <a:xfrm>
              <a:off x="11170000" y="470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07" name="점 207"/>
            <p:cNvSpPr/>
            <p:nvPr userDrawn="1"/>
          </p:nvSpPr>
          <p:spPr>
            <a:xfrm>
              <a:off x="11424000" y="470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08" name="점 208"/>
            <p:cNvSpPr/>
            <p:nvPr userDrawn="1"/>
          </p:nvSpPr>
          <p:spPr>
            <a:xfrm>
              <a:off x="11678000" y="470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09" name="점 209"/>
            <p:cNvSpPr/>
            <p:nvPr userDrawn="1"/>
          </p:nvSpPr>
          <p:spPr>
            <a:xfrm>
              <a:off x="11932000" y="470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10" name="점 210"/>
            <p:cNvSpPr/>
            <p:nvPr userDrawn="1"/>
          </p:nvSpPr>
          <p:spPr>
            <a:xfrm>
              <a:off x="9900000" y="495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11" name="점 211"/>
            <p:cNvSpPr/>
            <p:nvPr userDrawn="1"/>
          </p:nvSpPr>
          <p:spPr>
            <a:xfrm>
              <a:off x="10154000" y="495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12" name="점 212"/>
            <p:cNvSpPr/>
            <p:nvPr userDrawn="1"/>
          </p:nvSpPr>
          <p:spPr>
            <a:xfrm>
              <a:off x="10408000" y="495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13" name="점 213"/>
            <p:cNvSpPr/>
            <p:nvPr userDrawn="1"/>
          </p:nvSpPr>
          <p:spPr>
            <a:xfrm>
              <a:off x="10662000" y="495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14" name="점 214"/>
            <p:cNvSpPr/>
            <p:nvPr userDrawn="1"/>
          </p:nvSpPr>
          <p:spPr>
            <a:xfrm>
              <a:off x="10916000" y="495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15" name="점 215"/>
            <p:cNvSpPr/>
            <p:nvPr userDrawn="1"/>
          </p:nvSpPr>
          <p:spPr>
            <a:xfrm>
              <a:off x="11170000" y="4954000"/>
              <a:ext cx="76200" cy="76200"/>
            </a:xfrm>
            <a:prstGeom prst="ellipse">
              <a:avLst/>
            </a:prstGeom>
            <a:solidFill>
              <a:srgbClr val="2EC4D9">
                <a:alpha val="60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16" name="점 216"/>
            <p:cNvSpPr/>
            <p:nvPr userDrawn="1"/>
          </p:nvSpPr>
          <p:spPr>
            <a:xfrm>
              <a:off x="11424000" y="495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17" name="점 217"/>
            <p:cNvSpPr/>
            <p:nvPr userDrawn="1"/>
          </p:nvSpPr>
          <p:spPr>
            <a:xfrm>
              <a:off x="11678000" y="495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18" name="점 218"/>
            <p:cNvSpPr/>
            <p:nvPr userDrawn="1"/>
          </p:nvSpPr>
          <p:spPr>
            <a:xfrm>
              <a:off x="11932000" y="495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19" name="점 219"/>
            <p:cNvSpPr/>
            <p:nvPr userDrawn="1"/>
          </p:nvSpPr>
          <p:spPr>
            <a:xfrm>
              <a:off x="9900000" y="520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20" name="점 220"/>
            <p:cNvSpPr/>
            <p:nvPr userDrawn="1"/>
          </p:nvSpPr>
          <p:spPr>
            <a:xfrm>
              <a:off x="10154000" y="520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21" name="점 221"/>
            <p:cNvSpPr/>
            <p:nvPr userDrawn="1"/>
          </p:nvSpPr>
          <p:spPr>
            <a:xfrm>
              <a:off x="10408000" y="520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22" name="점 222"/>
            <p:cNvSpPr/>
            <p:nvPr userDrawn="1"/>
          </p:nvSpPr>
          <p:spPr>
            <a:xfrm>
              <a:off x="10662000" y="520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23" name="점 223"/>
            <p:cNvSpPr/>
            <p:nvPr userDrawn="1"/>
          </p:nvSpPr>
          <p:spPr>
            <a:xfrm>
              <a:off x="10916000" y="520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24" name="점 224"/>
            <p:cNvSpPr/>
            <p:nvPr userDrawn="1"/>
          </p:nvSpPr>
          <p:spPr>
            <a:xfrm>
              <a:off x="11170000" y="520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25" name="점 225"/>
            <p:cNvSpPr/>
            <p:nvPr userDrawn="1"/>
          </p:nvSpPr>
          <p:spPr>
            <a:xfrm>
              <a:off x="11424000" y="520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26" name="점 226"/>
            <p:cNvSpPr/>
            <p:nvPr userDrawn="1"/>
          </p:nvSpPr>
          <p:spPr>
            <a:xfrm>
              <a:off x="11678000" y="520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27" name="점 227"/>
            <p:cNvSpPr/>
            <p:nvPr userDrawn="1"/>
          </p:nvSpPr>
          <p:spPr>
            <a:xfrm>
              <a:off x="11932000" y="520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28" name="점 228"/>
            <p:cNvSpPr/>
            <p:nvPr userDrawn="1"/>
          </p:nvSpPr>
          <p:spPr>
            <a:xfrm>
              <a:off x="9900000" y="5462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29" name="점 229"/>
            <p:cNvSpPr/>
            <p:nvPr userDrawn="1"/>
          </p:nvSpPr>
          <p:spPr>
            <a:xfrm>
              <a:off x="10154000" y="5462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30" name="점 230"/>
            <p:cNvSpPr/>
            <p:nvPr userDrawn="1"/>
          </p:nvSpPr>
          <p:spPr>
            <a:xfrm>
              <a:off x="10408000" y="5462000"/>
              <a:ext cx="76200" cy="76200"/>
            </a:xfrm>
            <a:prstGeom prst="ellipse">
              <a:avLst/>
            </a:prstGeom>
            <a:solidFill>
              <a:srgbClr val="2EC4D9">
                <a:alpha val="60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31" name="점 231"/>
            <p:cNvSpPr/>
            <p:nvPr userDrawn="1"/>
          </p:nvSpPr>
          <p:spPr>
            <a:xfrm>
              <a:off x="10662000" y="5462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32" name="점 232"/>
            <p:cNvSpPr/>
            <p:nvPr userDrawn="1"/>
          </p:nvSpPr>
          <p:spPr>
            <a:xfrm>
              <a:off x="10916000" y="5462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33" name="점 233"/>
            <p:cNvSpPr/>
            <p:nvPr userDrawn="1"/>
          </p:nvSpPr>
          <p:spPr>
            <a:xfrm>
              <a:off x="11170000" y="5462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34" name="점 234"/>
            <p:cNvSpPr/>
            <p:nvPr userDrawn="1"/>
          </p:nvSpPr>
          <p:spPr>
            <a:xfrm>
              <a:off x="11424000" y="5462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35" name="점 235"/>
            <p:cNvSpPr/>
            <p:nvPr userDrawn="1"/>
          </p:nvSpPr>
          <p:spPr>
            <a:xfrm>
              <a:off x="11678000" y="5462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36" name="점 236"/>
            <p:cNvSpPr/>
            <p:nvPr userDrawn="1"/>
          </p:nvSpPr>
          <p:spPr>
            <a:xfrm>
              <a:off x="11932000" y="5462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37" name="점 237"/>
            <p:cNvSpPr/>
            <p:nvPr userDrawn="1"/>
          </p:nvSpPr>
          <p:spPr>
            <a:xfrm>
              <a:off x="9900000" y="5716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38" name="점 238"/>
            <p:cNvSpPr/>
            <p:nvPr userDrawn="1"/>
          </p:nvSpPr>
          <p:spPr>
            <a:xfrm>
              <a:off x="10154000" y="5716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39" name="점 239"/>
            <p:cNvSpPr/>
            <p:nvPr userDrawn="1"/>
          </p:nvSpPr>
          <p:spPr>
            <a:xfrm>
              <a:off x="10408000" y="5716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40" name="점 240"/>
            <p:cNvSpPr/>
            <p:nvPr userDrawn="1"/>
          </p:nvSpPr>
          <p:spPr>
            <a:xfrm>
              <a:off x="10662000" y="5716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41" name="점 241"/>
            <p:cNvSpPr/>
            <p:nvPr userDrawn="1"/>
          </p:nvSpPr>
          <p:spPr>
            <a:xfrm>
              <a:off x="10916000" y="5716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42" name="점 242"/>
            <p:cNvSpPr/>
            <p:nvPr userDrawn="1"/>
          </p:nvSpPr>
          <p:spPr>
            <a:xfrm>
              <a:off x="11170000" y="5716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43" name="점 243"/>
            <p:cNvSpPr/>
            <p:nvPr userDrawn="1"/>
          </p:nvSpPr>
          <p:spPr>
            <a:xfrm>
              <a:off x="11424000" y="5716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44" name="점 244"/>
            <p:cNvSpPr/>
            <p:nvPr userDrawn="1"/>
          </p:nvSpPr>
          <p:spPr>
            <a:xfrm>
              <a:off x="11678000" y="5716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45" name="점 245"/>
            <p:cNvSpPr/>
            <p:nvPr userDrawn="1"/>
          </p:nvSpPr>
          <p:spPr>
            <a:xfrm>
              <a:off x="11932000" y="5716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46" name="점 246"/>
            <p:cNvSpPr/>
            <p:nvPr userDrawn="1"/>
          </p:nvSpPr>
          <p:spPr>
            <a:xfrm>
              <a:off x="9900000" y="597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47" name="점 247"/>
            <p:cNvSpPr/>
            <p:nvPr userDrawn="1"/>
          </p:nvSpPr>
          <p:spPr>
            <a:xfrm>
              <a:off x="10154000" y="597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48" name="점 248"/>
            <p:cNvSpPr/>
            <p:nvPr userDrawn="1"/>
          </p:nvSpPr>
          <p:spPr>
            <a:xfrm>
              <a:off x="10408000" y="597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49" name="점 249"/>
            <p:cNvSpPr/>
            <p:nvPr userDrawn="1"/>
          </p:nvSpPr>
          <p:spPr>
            <a:xfrm>
              <a:off x="10662000" y="597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50" name="점 250"/>
            <p:cNvSpPr/>
            <p:nvPr userDrawn="1"/>
          </p:nvSpPr>
          <p:spPr>
            <a:xfrm>
              <a:off x="10916000" y="597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51" name="점 251"/>
            <p:cNvSpPr/>
            <p:nvPr userDrawn="1"/>
          </p:nvSpPr>
          <p:spPr>
            <a:xfrm>
              <a:off x="11170000" y="597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52" name="점 252"/>
            <p:cNvSpPr/>
            <p:nvPr userDrawn="1"/>
          </p:nvSpPr>
          <p:spPr>
            <a:xfrm>
              <a:off x="11424000" y="597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53" name="점 253"/>
            <p:cNvSpPr/>
            <p:nvPr userDrawn="1"/>
          </p:nvSpPr>
          <p:spPr>
            <a:xfrm>
              <a:off x="11678000" y="5970000"/>
              <a:ext cx="76200" cy="76200"/>
            </a:xfrm>
            <a:prstGeom prst="ellipse">
              <a:avLst/>
            </a:prstGeom>
            <a:solidFill>
              <a:srgbClr val="2EC4D9">
                <a:alpha val="60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54" name="점 254"/>
            <p:cNvSpPr/>
            <p:nvPr userDrawn="1"/>
          </p:nvSpPr>
          <p:spPr>
            <a:xfrm>
              <a:off x="11932000" y="597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55" name="점 255"/>
            <p:cNvSpPr/>
            <p:nvPr userDrawn="1"/>
          </p:nvSpPr>
          <p:spPr>
            <a:xfrm>
              <a:off x="9900000" y="622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56" name="점 256"/>
            <p:cNvSpPr/>
            <p:nvPr userDrawn="1"/>
          </p:nvSpPr>
          <p:spPr>
            <a:xfrm>
              <a:off x="10154000" y="622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57" name="점 257"/>
            <p:cNvSpPr/>
            <p:nvPr userDrawn="1"/>
          </p:nvSpPr>
          <p:spPr>
            <a:xfrm>
              <a:off x="10408000" y="622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58" name="점 258"/>
            <p:cNvSpPr/>
            <p:nvPr userDrawn="1"/>
          </p:nvSpPr>
          <p:spPr>
            <a:xfrm>
              <a:off x="10662000" y="622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59" name="점 259"/>
            <p:cNvSpPr/>
            <p:nvPr userDrawn="1"/>
          </p:nvSpPr>
          <p:spPr>
            <a:xfrm>
              <a:off x="10916000" y="622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60" name="점 260"/>
            <p:cNvSpPr/>
            <p:nvPr userDrawn="1"/>
          </p:nvSpPr>
          <p:spPr>
            <a:xfrm>
              <a:off x="11170000" y="622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61" name="점 261"/>
            <p:cNvSpPr/>
            <p:nvPr userDrawn="1"/>
          </p:nvSpPr>
          <p:spPr>
            <a:xfrm>
              <a:off x="11424000" y="622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62" name="점 262"/>
            <p:cNvSpPr/>
            <p:nvPr userDrawn="1"/>
          </p:nvSpPr>
          <p:spPr>
            <a:xfrm>
              <a:off x="11678000" y="622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63" name="점 263"/>
            <p:cNvSpPr/>
            <p:nvPr userDrawn="1"/>
          </p:nvSpPr>
          <p:spPr>
            <a:xfrm>
              <a:off x="11932000" y="622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64" name="점 264"/>
            <p:cNvSpPr/>
            <p:nvPr userDrawn="1"/>
          </p:nvSpPr>
          <p:spPr>
            <a:xfrm>
              <a:off x="9900000" y="647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65" name="점 265"/>
            <p:cNvSpPr/>
            <p:nvPr userDrawn="1"/>
          </p:nvSpPr>
          <p:spPr>
            <a:xfrm>
              <a:off x="10154000" y="647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66" name="점 266"/>
            <p:cNvSpPr/>
            <p:nvPr userDrawn="1"/>
          </p:nvSpPr>
          <p:spPr>
            <a:xfrm>
              <a:off x="10408000" y="647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67" name="점 267"/>
            <p:cNvSpPr/>
            <p:nvPr userDrawn="1"/>
          </p:nvSpPr>
          <p:spPr>
            <a:xfrm>
              <a:off x="10662000" y="647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68" name="점 268"/>
            <p:cNvSpPr/>
            <p:nvPr userDrawn="1"/>
          </p:nvSpPr>
          <p:spPr>
            <a:xfrm>
              <a:off x="10916000" y="6478000"/>
              <a:ext cx="76200" cy="76200"/>
            </a:xfrm>
            <a:prstGeom prst="ellipse">
              <a:avLst/>
            </a:prstGeom>
            <a:solidFill>
              <a:srgbClr val="2EC4D9">
                <a:alpha val="60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69" name="점 269"/>
            <p:cNvSpPr/>
            <p:nvPr userDrawn="1"/>
          </p:nvSpPr>
          <p:spPr>
            <a:xfrm>
              <a:off x="11170000" y="647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70" name="점 270"/>
            <p:cNvSpPr/>
            <p:nvPr userDrawn="1"/>
          </p:nvSpPr>
          <p:spPr>
            <a:xfrm>
              <a:off x="11424000" y="647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71" name="점 271"/>
            <p:cNvSpPr/>
            <p:nvPr userDrawn="1"/>
          </p:nvSpPr>
          <p:spPr>
            <a:xfrm>
              <a:off x="11678000" y="647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72" name="점 272"/>
            <p:cNvSpPr/>
            <p:nvPr userDrawn="1"/>
          </p:nvSpPr>
          <p:spPr>
            <a:xfrm>
              <a:off x="11932000" y="647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73" name="점 273"/>
            <p:cNvSpPr/>
            <p:nvPr userDrawn="1"/>
          </p:nvSpPr>
          <p:spPr>
            <a:xfrm>
              <a:off x="9900000" y="6732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74" name="점 274"/>
            <p:cNvSpPr/>
            <p:nvPr userDrawn="1"/>
          </p:nvSpPr>
          <p:spPr>
            <a:xfrm>
              <a:off x="10154000" y="6732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75" name="점 275"/>
            <p:cNvSpPr/>
            <p:nvPr userDrawn="1"/>
          </p:nvSpPr>
          <p:spPr>
            <a:xfrm>
              <a:off x="10408000" y="6732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76" name="점 276"/>
            <p:cNvSpPr/>
            <p:nvPr userDrawn="1"/>
          </p:nvSpPr>
          <p:spPr>
            <a:xfrm>
              <a:off x="10662000" y="6732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77" name="점 277"/>
            <p:cNvSpPr/>
            <p:nvPr userDrawn="1"/>
          </p:nvSpPr>
          <p:spPr>
            <a:xfrm>
              <a:off x="10916000" y="6732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78" name="점 278"/>
            <p:cNvSpPr/>
            <p:nvPr userDrawn="1"/>
          </p:nvSpPr>
          <p:spPr>
            <a:xfrm>
              <a:off x="11170000" y="6732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79" name="점 279"/>
            <p:cNvSpPr/>
            <p:nvPr userDrawn="1"/>
          </p:nvSpPr>
          <p:spPr>
            <a:xfrm>
              <a:off x="11424000" y="6732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80" name="점 280"/>
            <p:cNvSpPr/>
            <p:nvPr userDrawn="1"/>
          </p:nvSpPr>
          <p:spPr>
            <a:xfrm>
              <a:off x="11678000" y="6732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81" name="점 281"/>
            <p:cNvSpPr/>
            <p:nvPr userDrawn="1"/>
          </p:nvSpPr>
          <p:spPr>
            <a:xfrm>
              <a:off x="11932000" y="6732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</p:grpSp>
      <p:sp>
        <p:nvSpPr>
          <p:cNvPr id="85" name="히어로 강조 룰"/>
          <p:cNvSpPr/>
          <p:nvPr userDrawn="1"/>
        </p:nvSpPr>
        <p:spPr>
          <a:xfrm>
            <a:off x="1615440" y="2900040"/>
            <a:ext cx="762000" cy="0"/>
          </a:xfrm>
          <a:prstGeom prst="line">
            <a:avLst/>
          </a:prstGeom>
          <a:noFill/>
          <a:ln w="38100" cap="flat">
            <a:solidFill>
              <a:srgbClr val="2EC4D9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9E38C119-E53F-2DA2-3F3A-62BF807009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438400"/>
            <a:ext cx="9525000" cy="1371600"/>
          </a:xfrm>
        </p:spPr>
        <p:txBody>
          <a:bodyPr anchor="b">
            <a:normAutofit/>
          </a:bodyPr>
          <a:lstStyle>
            <a:lvl1pPr algn="l">
              <a:lnSpc>
                <a:spcPct val="95000"/>
              </a:lnSpc>
              <a:defRPr sz="4000" b="0" spc="-40">
                <a:solidFill>
                  <a:srgbClr val="FFFFFF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4BB6797-A87E-4BFE-C9F3-8C995A6744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62400"/>
            <a:ext cx="9525000" cy="1143000"/>
          </a:xfrm>
        </p:spPr>
        <p:txBody>
          <a:bodyPr anchor="ctr">
            <a:normAutofit/>
          </a:bodyPr>
          <a:lstStyle>
            <a:lvl1pPr marL="0" indent="0" algn="l">
              <a:lnSpc>
                <a:spcPct val="115000"/>
              </a:lnSpc>
              <a:buNone/>
              <a:defRPr sz="2000">
                <a:solidFill>
                  <a:srgbClr val="8FB8C9"/>
                </a:solidFill>
              </a:defRPr>
            </a:lvl1pPr>
            <a:lvl2pPr marL="457200" indent="0" algn="l">
              <a:buNone/>
              <a:defRPr sz="2000"/>
            </a:lvl2pPr>
            <a:lvl3pPr marL="914400" indent="0" algn="l">
              <a:buNone/>
              <a:defRPr sz="1800"/>
            </a:lvl3pPr>
            <a:lvl4pPr marL="1371600" indent="0" algn="l">
              <a:buNone/>
              <a:defRPr sz="1600"/>
            </a:lvl4pPr>
            <a:lvl5pPr marL="1828800" indent="0" algn="l">
              <a:buNone/>
              <a:defRPr sz="1600"/>
            </a:lvl5pPr>
            <a:lvl6pPr marL="2286000" indent="0" algn="l">
              <a:buNone/>
              <a:defRPr sz="1600"/>
            </a:lvl6pPr>
            <a:lvl7pPr marL="2743200" indent="0" algn="l">
              <a:buNone/>
              <a:defRPr sz="1600"/>
            </a:lvl7pPr>
            <a:lvl8pPr marL="3200400" indent="0" algn="l">
              <a:buNone/>
              <a:defRPr sz="1600"/>
            </a:lvl8pPr>
            <a:lvl9pPr marL="3657600" indent="0" algn="l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2FD1BD7-7E65-3772-3007-1F34DBA0FA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000">
                <a:solidFill>
                  <a:srgbClr val="5A7A96"/>
                </a:solidFill>
              </a:defRPr>
            </a:lvl1pPr>
          </a:lstStyle>
          <a:p>
            <a:fld id="{2ADF637E-82D6-4563-BCF0-C9101F2B5148}" type="datetime1">
              <a:rPr lang="ko-KR" altLang="en-US" smtClean="0"/>
              <a:pPr/>
              <a:t>2026-09-07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8CF5ED1-6997-CD09-21BF-44F1DD239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000">
                <a:solidFill>
                  <a:srgbClr val="5A7A96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040E17D-D377-3A02-4E70-6AAE5C12D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000">
                <a:solidFill>
                  <a:srgbClr val="5A7A96"/>
                </a:solidFill>
              </a:defRPr>
            </a:lvl1pPr>
          </a:lstStyle>
          <a:p>
            <a:fld id="{4438A2D4-3867-488E-A04E-7BFFCAED45A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77359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31FD09-61A8-64FE-609A-5BC9FD80E7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753141"/>
          </a:xfrm>
        </p:spPr>
        <p:txBody>
          <a:bodyPr anchor="b">
            <a:normAutofit/>
          </a:bodyPr>
          <a:lstStyle>
            <a:lvl1pPr algn="l">
              <a:defRPr sz="2800" b="0" spc="-3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C7A10CA-AA0F-BD51-5B8E-5AE0726F06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5322"/>
            <a:ext cx="10515600" cy="4701089"/>
          </a:xfrm>
        </p:spPr>
        <p:txBody>
          <a:bodyPr anchor="t">
            <a:normAutofit/>
          </a:bodyPr>
          <a:lstStyle>
            <a:lvl1pPr>
              <a:lnSpc>
                <a:spcPct val="150000"/>
              </a:lnSpc>
              <a:defRPr sz="2000" b="0"/>
            </a:lvl1pPr>
            <a:lvl2pPr>
              <a:lnSpc>
                <a:spcPct val="150000"/>
              </a:lnSpc>
              <a:defRPr sz="1800"/>
            </a:lvl2pPr>
            <a:lvl3pPr>
              <a:lnSpc>
                <a:spcPct val="150000"/>
              </a:lnSpc>
              <a:defRPr sz="1600"/>
            </a:lvl3pPr>
            <a:lvl4pPr>
              <a:lnSpc>
                <a:spcPct val="150000"/>
              </a:lnSpc>
              <a:defRPr sz="1400"/>
            </a:lvl4pPr>
            <a:lvl5pPr>
              <a:lnSpc>
                <a:spcPct val="150000"/>
              </a:lnSpc>
              <a:defRPr sz="14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444F1B2-7ED6-C36F-405B-74D10A466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58CD677-7AD2-4A27-94BD-C65458D22428}" type="datetime1">
              <a:rPr lang="ko-KR" altLang="en-US" smtClean="0"/>
              <a:pPr/>
              <a:t>2026-09-07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5B54CE5-BA49-9B1F-44F6-BB6803967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CCEF06-AF2C-16E5-D994-94762FCED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438A2D4-3867-488E-A04E-7BFFCAED45A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49749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배경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14304F"/>
              </a:gs>
              <a:gs pos="60000">
                <a:srgbClr val="0F2540"/>
              </a:gs>
              <a:gs pos="100000">
                <a:srgbClr val="0A1B2E"/>
              </a:gs>
            </a:gsLst>
            <a:lin ang="270000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grpSp>
        <p:nvGrpSpPr>
          <p:cNvPr id="300" name="격자 패턴"/>
          <p:cNvGrpSpPr/>
          <p:nvPr userDrawn="1"/>
        </p:nvGrpSpPr>
        <p:grpSpPr>
          <a:xfrm>
            <a:off x="10033800" y="4300000"/>
            <a:ext cx="2108200" cy="1854200"/>
            <a:chOff x="10033800" y="4300000"/>
            <a:chExt cx="2108200" cy="1854200"/>
          </a:xfrm>
        </p:grpSpPr>
        <p:sp>
          <p:nvSpPr>
            <p:cNvPr id="301" name="점 301"/>
            <p:cNvSpPr/>
            <p:nvPr userDrawn="1"/>
          </p:nvSpPr>
          <p:spPr>
            <a:xfrm>
              <a:off x="10033800" y="430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02" name="점 302"/>
            <p:cNvSpPr/>
            <p:nvPr userDrawn="1"/>
          </p:nvSpPr>
          <p:spPr>
            <a:xfrm>
              <a:off x="10287800" y="430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03" name="점 303"/>
            <p:cNvSpPr/>
            <p:nvPr userDrawn="1"/>
          </p:nvSpPr>
          <p:spPr>
            <a:xfrm>
              <a:off x="10541800" y="430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04" name="점 304"/>
            <p:cNvSpPr/>
            <p:nvPr userDrawn="1"/>
          </p:nvSpPr>
          <p:spPr>
            <a:xfrm>
              <a:off x="10795800" y="430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05" name="점 305"/>
            <p:cNvSpPr/>
            <p:nvPr userDrawn="1"/>
          </p:nvSpPr>
          <p:spPr>
            <a:xfrm>
              <a:off x="11049800" y="4300000"/>
              <a:ext cx="76200" cy="76200"/>
            </a:xfrm>
            <a:prstGeom prst="ellipse">
              <a:avLst/>
            </a:prstGeom>
            <a:solidFill>
              <a:srgbClr val="2EC4D9">
                <a:alpha val="60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06" name="점 306"/>
            <p:cNvSpPr/>
            <p:nvPr userDrawn="1"/>
          </p:nvSpPr>
          <p:spPr>
            <a:xfrm>
              <a:off x="11303800" y="430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07" name="점 307"/>
            <p:cNvSpPr/>
            <p:nvPr userDrawn="1"/>
          </p:nvSpPr>
          <p:spPr>
            <a:xfrm>
              <a:off x="11557800" y="430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08" name="점 308"/>
            <p:cNvSpPr/>
            <p:nvPr userDrawn="1"/>
          </p:nvSpPr>
          <p:spPr>
            <a:xfrm>
              <a:off x="11811800" y="430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09" name="점 309"/>
            <p:cNvSpPr/>
            <p:nvPr userDrawn="1"/>
          </p:nvSpPr>
          <p:spPr>
            <a:xfrm>
              <a:off x="12065800" y="430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10" name="점 310"/>
            <p:cNvSpPr/>
            <p:nvPr userDrawn="1"/>
          </p:nvSpPr>
          <p:spPr>
            <a:xfrm>
              <a:off x="10033800" y="455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11" name="점 311"/>
            <p:cNvSpPr/>
            <p:nvPr userDrawn="1"/>
          </p:nvSpPr>
          <p:spPr>
            <a:xfrm>
              <a:off x="10287800" y="455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12" name="점 312"/>
            <p:cNvSpPr/>
            <p:nvPr userDrawn="1"/>
          </p:nvSpPr>
          <p:spPr>
            <a:xfrm>
              <a:off x="10541800" y="455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13" name="점 313"/>
            <p:cNvSpPr/>
            <p:nvPr userDrawn="1"/>
          </p:nvSpPr>
          <p:spPr>
            <a:xfrm>
              <a:off x="10795800" y="455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14" name="점 314"/>
            <p:cNvSpPr/>
            <p:nvPr userDrawn="1"/>
          </p:nvSpPr>
          <p:spPr>
            <a:xfrm>
              <a:off x="11049800" y="455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15" name="점 315"/>
            <p:cNvSpPr/>
            <p:nvPr userDrawn="1"/>
          </p:nvSpPr>
          <p:spPr>
            <a:xfrm>
              <a:off x="11303800" y="455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16" name="점 316"/>
            <p:cNvSpPr/>
            <p:nvPr userDrawn="1"/>
          </p:nvSpPr>
          <p:spPr>
            <a:xfrm>
              <a:off x="11557800" y="455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17" name="점 317"/>
            <p:cNvSpPr/>
            <p:nvPr userDrawn="1"/>
          </p:nvSpPr>
          <p:spPr>
            <a:xfrm>
              <a:off x="11811800" y="455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18" name="점 318"/>
            <p:cNvSpPr/>
            <p:nvPr userDrawn="1"/>
          </p:nvSpPr>
          <p:spPr>
            <a:xfrm>
              <a:off x="12065800" y="455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19" name="점 319"/>
            <p:cNvSpPr/>
            <p:nvPr userDrawn="1"/>
          </p:nvSpPr>
          <p:spPr>
            <a:xfrm>
              <a:off x="10033800" y="480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20" name="점 320"/>
            <p:cNvSpPr/>
            <p:nvPr userDrawn="1"/>
          </p:nvSpPr>
          <p:spPr>
            <a:xfrm>
              <a:off x="10287800" y="4808000"/>
              <a:ext cx="76200" cy="76200"/>
            </a:xfrm>
            <a:prstGeom prst="ellipse">
              <a:avLst/>
            </a:prstGeom>
            <a:solidFill>
              <a:srgbClr val="2EC4D9">
                <a:alpha val="60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21" name="점 321"/>
            <p:cNvSpPr/>
            <p:nvPr userDrawn="1"/>
          </p:nvSpPr>
          <p:spPr>
            <a:xfrm>
              <a:off x="10541800" y="480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22" name="점 322"/>
            <p:cNvSpPr/>
            <p:nvPr userDrawn="1"/>
          </p:nvSpPr>
          <p:spPr>
            <a:xfrm>
              <a:off x="10795800" y="480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23" name="점 323"/>
            <p:cNvSpPr/>
            <p:nvPr userDrawn="1"/>
          </p:nvSpPr>
          <p:spPr>
            <a:xfrm>
              <a:off x="11049800" y="480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24" name="점 324"/>
            <p:cNvSpPr/>
            <p:nvPr userDrawn="1"/>
          </p:nvSpPr>
          <p:spPr>
            <a:xfrm>
              <a:off x="11303800" y="480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25" name="점 325"/>
            <p:cNvSpPr/>
            <p:nvPr userDrawn="1"/>
          </p:nvSpPr>
          <p:spPr>
            <a:xfrm>
              <a:off x="11557800" y="480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26" name="점 326"/>
            <p:cNvSpPr/>
            <p:nvPr userDrawn="1"/>
          </p:nvSpPr>
          <p:spPr>
            <a:xfrm>
              <a:off x="11811800" y="480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27" name="점 327"/>
            <p:cNvSpPr/>
            <p:nvPr userDrawn="1"/>
          </p:nvSpPr>
          <p:spPr>
            <a:xfrm>
              <a:off x="12065800" y="480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28" name="점 328"/>
            <p:cNvSpPr/>
            <p:nvPr userDrawn="1"/>
          </p:nvSpPr>
          <p:spPr>
            <a:xfrm>
              <a:off x="10033800" y="5062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29" name="점 329"/>
            <p:cNvSpPr/>
            <p:nvPr userDrawn="1"/>
          </p:nvSpPr>
          <p:spPr>
            <a:xfrm>
              <a:off x="10287800" y="5062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30" name="점 330"/>
            <p:cNvSpPr/>
            <p:nvPr userDrawn="1"/>
          </p:nvSpPr>
          <p:spPr>
            <a:xfrm>
              <a:off x="10541800" y="5062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31" name="점 331"/>
            <p:cNvSpPr/>
            <p:nvPr userDrawn="1"/>
          </p:nvSpPr>
          <p:spPr>
            <a:xfrm>
              <a:off x="10795800" y="5062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32" name="점 332"/>
            <p:cNvSpPr/>
            <p:nvPr userDrawn="1"/>
          </p:nvSpPr>
          <p:spPr>
            <a:xfrm>
              <a:off x="11049800" y="5062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33" name="점 333"/>
            <p:cNvSpPr/>
            <p:nvPr userDrawn="1"/>
          </p:nvSpPr>
          <p:spPr>
            <a:xfrm>
              <a:off x="11303800" y="5062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34" name="점 334"/>
            <p:cNvSpPr/>
            <p:nvPr userDrawn="1"/>
          </p:nvSpPr>
          <p:spPr>
            <a:xfrm>
              <a:off x="11557800" y="5062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35" name="점 335"/>
            <p:cNvSpPr/>
            <p:nvPr userDrawn="1"/>
          </p:nvSpPr>
          <p:spPr>
            <a:xfrm>
              <a:off x="11811800" y="5062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36" name="점 336"/>
            <p:cNvSpPr/>
            <p:nvPr userDrawn="1"/>
          </p:nvSpPr>
          <p:spPr>
            <a:xfrm>
              <a:off x="12065800" y="5062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37" name="점 337"/>
            <p:cNvSpPr/>
            <p:nvPr userDrawn="1"/>
          </p:nvSpPr>
          <p:spPr>
            <a:xfrm>
              <a:off x="10033800" y="5316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38" name="점 338"/>
            <p:cNvSpPr/>
            <p:nvPr userDrawn="1"/>
          </p:nvSpPr>
          <p:spPr>
            <a:xfrm>
              <a:off x="10287800" y="5316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39" name="점 339"/>
            <p:cNvSpPr/>
            <p:nvPr userDrawn="1"/>
          </p:nvSpPr>
          <p:spPr>
            <a:xfrm>
              <a:off x="10541800" y="5316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40" name="점 340"/>
            <p:cNvSpPr/>
            <p:nvPr userDrawn="1"/>
          </p:nvSpPr>
          <p:spPr>
            <a:xfrm>
              <a:off x="10795800" y="5316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41" name="점 341"/>
            <p:cNvSpPr/>
            <p:nvPr userDrawn="1"/>
          </p:nvSpPr>
          <p:spPr>
            <a:xfrm>
              <a:off x="11049800" y="5316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42" name="점 342"/>
            <p:cNvSpPr/>
            <p:nvPr userDrawn="1"/>
          </p:nvSpPr>
          <p:spPr>
            <a:xfrm>
              <a:off x="11303800" y="5316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43" name="점 343"/>
            <p:cNvSpPr/>
            <p:nvPr userDrawn="1"/>
          </p:nvSpPr>
          <p:spPr>
            <a:xfrm>
              <a:off x="11557800" y="5316000"/>
              <a:ext cx="76200" cy="76200"/>
            </a:xfrm>
            <a:prstGeom prst="ellipse">
              <a:avLst/>
            </a:prstGeom>
            <a:solidFill>
              <a:srgbClr val="2EC4D9">
                <a:alpha val="60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44" name="점 344"/>
            <p:cNvSpPr/>
            <p:nvPr userDrawn="1"/>
          </p:nvSpPr>
          <p:spPr>
            <a:xfrm>
              <a:off x="11811800" y="5316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45" name="점 345"/>
            <p:cNvSpPr/>
            <p:nvPr userDrawn="1"/>
          </p:nvSpPr>
          <p:spPr>
            <a:xfrm>
              <a:off x="12065800" y="5316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46" name="점 346"/>
            <p:cNvSpPr/>
            <p:nvPr userDrawn="1"/>
          </p:nvSpPr>
          <p:spPr>
            <a:xfrm>
              <a:off x="10033800" y="557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47" name="점 347"/>
            <p:cNvSpPr/>
            <p:nvPr userDrawn="1"/>
          </p:nvSpPr>
          <p:spPr>
            <a:xfrm>
              <a:off x="10287800" y="557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48" name="점 348"/>
            <p:cNvSpPr/>
            <p:nvPr userDrawn="1"/>
          </p:nvSpPr>
          <p:spPr>
            <a:xfrm>
              <a:off x="10541800" y="557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49" name="점 349"/>
            <p:cNvSpPr/>
            <p:nvPr userDrawn="1"/>
          </p:nvSpPr>
          <p:spPr>
            <a:xfrm>
              <a:off x="10795800" y="557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50" name="점 350"/>
            <p:cNvSpPr/>
            <p:nvPr userDrawn="1"/>
          </p:nvSpPr>
          <p:spPr>
            <a:xfrm>
              <a:off x="11049800" y="557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51" name="점 351"/>
            <p:cNvSpPr/>
            <p:nvPr userDrawn="1"/>
          </p:nvSpPr>
          <p:spPr>
            <a:xfrm>
              <a:off x="11303800" y="557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52" name="점 352"/>
            <p:cNvSpPr/>
            <p:nvPr userDrawn="1"/>
          </p:nvSpPr>
          <p:spPr>
            <a:xfrm>
              <a:off x="11557800" y="557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53" name="점 353"/>
            <p:cNvSpPr/>
            <p:nvPr userDrawn="1"/>
          </p:nvSpPr>
          <p:spPr>
            <a:xfrm>
              <a:off x="11811800" y="557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54" name="점 354"/>
            <p:cNvSpPr/>
            <p:nvPr userDrawn="1"/>
          </p:nvSpPr>
          <p:spPr>
            <a:xfrm>
              <a:off x="12065800" y="557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55" name="점 355"/>
            <p:cNvSpPr/>
            <p:nvPr userDrawn="1"/>
          </p:nvSpPr>
          <p:spPr>
            <a:xfrm>
              <a:off x="10033800" y="582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56" name="점 356"/>
            <p:cNvSpPr/>
            <p:nvPr userDrawn="1"/>
          </p:nvSpPr>
          <p:spPr>
            <a:xfrm>
              <a:off x="10287800" y="582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57" name="점 357"/>
            <p:cNvSpPr/>
            <p:nvPr userDrawn="1"/>
          </p:nvSpPr>
          <p:spPr>
            <a:xfrm>
              <a:off x="10541800" y="582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58" name="점 358"/>
            <p:cNvSpPr/>
            <p:nvPr userDrawn="1"/>
          </p:nvSpPr>
          <p:spPr>
            <a:xfrm>
              <a:off x="10795800" y="582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59" name="점 359"/>
            <p:cNvSpPr/>
            <p:nvPr userDrawn="1"/>
          </p:nvSpPr>
          <p:spPr>
            <a:xfrm>
              <a:off x="11049800" y="582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60" name="점 360"/>
            <p:cNvSpPr/>
            <p:nvPr userDrawn="1"/>
          </p:nvSpPr>
          <p:spPr>
            <a:xfrm>
              <a:off x="11303800" y="582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61" name="점 361"/>
            <p:cNvSpPr/>
            <p:nvPr userDrawn="1"/>
          </p:nvSpPr>
          <p:spPr>
            <a:xfrm>
              <a:off x="11557800" y="582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62" name="점 362"/>
            <p:cNvSpPr/>
            <p:nvPr userDrawn="1"/>
          </p:nvSpPr>
          <p:spPr>
            <a:xfrm>
              <a:off x="11811800" y="582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63" name="점 363"/>
            <p:cNvSpPr/>
            <p:nvPr userDrawn="1"/>
          </p:nvSpPr>
          <p:spPr>
            <a:xfrm>
              <a:off x="12065800" y="582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64" name="점 364"/>
            <p:cNvSpPr/>
            <p:nvPr userDrawn="1"/>
          </p:nvSpPr>
          <p:spPr>
            <a:xfrm>
              <a:off x="10033800" y="607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65" name="점 365"/>
            <p:cNvSpPr/>
            <p:nvPr userDrawn="1"/>
          </p:nvSpPr>
          <p:spPr>
            <a:xfrm>
              <a:off x="10287800" y="607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66" name="점 366"/>
            <p:cNvSpPr/>
            <p:nvPr userDrawn="1"/>
          </p:nvSpPr>
          <p:spPr>
            <a:xfrm>
              <a:off x="10541800" y="607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67" name="점 367"/>
            <p:cNvSpPr/>
            <p:nvPr userDrawn="1"/>
          </p:nvSpPr>
          <p:spPr>
            <a:xfrm>
              <a:off x="10795800" y="607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68" name="점 368"/>
            <p:cNvSpPr/>
            <p:nvPr userDrawn="1"/>
          </p:nvSpPr>
          <p:spPr>
            <a:xfrm>
              <a:off x="11049800" y="607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69" name="점 369"/>
            <p:cNvSpPr/>
            <p:nvPr userDrawn="1"/>
          </p:nvSpPr>
          <p:spPr>
            <a:xfrm>
              <a:off x="11303800" y="607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70" name="점 370"/>
            <p:cNvSpPr/>
            <p:nvPr userDrawn="1"/>
          </p:nvSpPr>
          <p:spPr>
            <a:xfrm>
              <a:off x="11557800" y="607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71" name="점 371"/>
            <p:cNvSpPr/>
            <p:nvPr userDrawn="1"/>
          </p:nvSpPr>
          <p:spPr>
            <a:xfrm>
              <a:off x="11811800" y="607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72" name="점 372"/>
            <p:cNvSpPr/>
            <p:nvPr userDrawn="1"/>
          </p:nvSpPr>
          <p:spPr>
            <a:xfrm>
              <a:off x="12065800" y="607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</p:grpSp>
      <p:sp>
        <p:nvSpPr>
          <p:cNvPr id="85" name="구역 강조 룰"/>
          <p:cNvSpPr/>
          <p:nvPr userDrawn="1"/>
        </p:nvSpPr>
        <p:spPr>
          <a:xfrm>
            <a:off x="929640" y="2971800"/>
            <a:ext cx="762000" cy="0"/>
          </a:xfrm>
          <a:prstGeom prst="line">
            <a:avLst/>
          </a:prstGeom>
          <a:noFill/>
          <a:ln w="38100" cap="flat">
            <a:solidFill>
              <a:srgbClr val="2EC4D9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21E2741-8F1E-BB08-8064-ABB3B5172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48000"/>
            <a:ext cx="10515600" cy="800100"/>
          </a:xfrm>
        </p:spPr>
        <p:txBody>
          <a:bodyPr anchor="b"/>
          <a:lstStyle>
            <a:lvl1pPr algn="l">
              <a:defRPr sz="4400" b="0" spc="-4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FE217DB-F68B-0B02-0EE9-FC6D375A39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962400"/>
            <a:ext cx="10515600" cy="1143000"/>
          </a:xfrm>
        </p:spPr>
        <p:txBody>
          <a:bodyPr/>
          <a:lstStyle>
            <a:lvl1pPr marL="0" indent="0">
              <a:buNone/>
              <a:defRPr sz="2400">
                <a:solidFill>
                  <a:srgbClr val="8FB8C9"/>
                </a:solidFill>
              </a:defRPr>
            </a:lvl1pPr>
            <a:lvl2pPr marL="457200" indent="0">
              <a:buNone/>
              <a:defRPr sz="2000">
                <a:solidFill>
                  <a:srgbClr val="8FB8C9"/>
                </a:solidFill>
              </a:defRPr>
            </a:lvl2pPr>
            <a:lvl3pPr marL="914400" indent="0">
              <a:buNone/>
              <a:defRPr sz="1800">
                <a:solidFill>
                  <a:srgbClr val="8FB8C9"/>
                </a:solidFill>
              </a:defRPr>
            </a:lvl3pPr>
            <a:lvl4pPr marL="1371600" indent="0">
              <a:buNone/>
              <a:defRPr sz="1600">
                <a:solidFill>
                  <a:srgbClr val="8FB8C9"/>
                </a:solidFill>
              </a:defRPr>
            </a:lvl4pPr>
            <a:lvl5pPr marL="1828800" indent="0">
              <a:buNone/>
              <a:defRPr sz="1600">
                <a:solidFill>
                  <a:srgbClr val="8FB8C9"/>
                </a:solidFill>
              </a:defRPr>
            </a:lvl5pPr>
            <a:lvl6pPr marL="2286000" indent="0">
              <a:buNone/>
              <a:defRPr sz="1600">
                <a:solidFill>
                  <a:srgbClr val="8FB8C9"/>
                </a:solidFill>
              </a:defRPr>
            </a:lvl6pPr>
            <a:lvl7pPr marL="2743200" indent="0">
              <a:buNone/>
              <a:defRPr sz="1600">
                <a:solidFill>
                  <a:srgbClr val="8FB8C9"/>
                </a:solidFill>
              </a:defRPr>
            </a:lvl7pPr>
            <a:lvl8pPr marL="3200400" indent="0">
              <a:buNone/>
              <a:defRPr sz="1600">
                <a:solidFill>
                  <a:srgbClr val="8FB8C9"/>
                </a:solidFill>
              </a:defRPr>
            </a:lvl8pPr>
            <a:lvl9pPr marL="3657600" indent="0">
              <a:buNone/>
              <a:defRPr sz="1600">
                <a:solidFill>
                  <a:srgbClr val="8FB8C9"/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6F4ECD6-4F10-FAB4-9EC7-0A9BDDBBF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000">
                <a:solidFill>
                  <a:srgbClr val="5A7A96"/>
                </a:solidFill>
              </a:defRPr>
            </a:lvl1pPr>
          </a:lstStyle>
          <a:p>
            <a:fld id="{2BEF52EC-B397-4D0A-AE91-E0D6840C85A1}" type="datetime1">
              <a:rPr lang="ko-KR" altLang="en-US" smtClean="0"/>
              <a:t>2026-09-07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B089ED4-E191-9BE2-6362-00E940AF7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000">
                <a:solidFill>
                  <a:srgbClr val="5A7A96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F322432-D7EA-093F-001B-BC7E0D49E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000">
                <a:solidFill>
                  <a:srgbClr val="5A7A96"/>
                </a:solidFill>
              </a:defRPr>
            </a:lvl1pPr>
          </a:lstStyle>
          <a:p>
            <a:fld id="{4438A2D4-3867-488E-A04E-7BFFCAED45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47302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62A7E8-82BA-7B6E-F6E9-A98D3ECFF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CAEFAB5-2BD5-B266-2B90-5DF6C6BE75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DC97A80-9CA9-6C9D-98D1-D8A829894B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03A760F-4119-02E0-9047-FD4EFB030E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D6007-6A42-4C9B-B218-6A32B3A38C67}" type="datetime1">
              <a:rPr lang="ko-KR" altLang="en-US" smtClean="0"/>
              <a:t>2026-09-07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99B3A7E-6DE5-9DF0-CCF3-4E1506216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6664016-7B2A-6313-FDC2-8FA33EAC9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70877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D54C69-8E55-E9AE-CBD6-A0F2276D9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0B86DB8-CC8D-914E-CEFA-5DF480196E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B176446-C17B-7FD5-8DB2-B982801142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95D4D2A-9477-8669-492E-C33F3E9CD4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1BF0716-4A26-4EAB-6A93-C6203A8072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0F37FBA-7D77-22F4-B534-1653B07AD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658DF-8B5F-4351-A42C-BF3495DE7ABE}" type="datetime1">
              <a:rPr lang="ko-KR" altLang="en-US" smtClean="0"/>
              <a:t>2026-09-07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8DA361B-5E51-3A84-F540-036EB166C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AD90B8D-AC97-0E06-ED03-C9645D4A4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78775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F5235F-156B-75D6-B91A-2D25D5F31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0398CE0-1B1D-EF93-936A-A286EA577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59C48-8150-4FAB-8BEF-6AD61CFC9BBE}" type="datetime1">
              <a:rPr lang="ko-KR" altLang="en-US" smtClean="0"/>
              <a:t>2026-09-07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F4DC0FF-921E-80C0-450A-7B405750E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8CF709D-D3DC-4D1F-45FC-9F2F2C180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29880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E4D47D0-9EAC-3C67-62F1-6CC1BEC6F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1DBCF-1091-470D-AC72-5CF3D00280AC}" type="datetime1">
              <a:rPr lang="ko-KR" altLang="en-US" smtClean="0"/>
              <a:t>2026-09-07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A75CACA-850A-EA99-2A04-D33838FCC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504249E-807B-C0AC-5C11-E3AD439D7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90958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EF82BF-B27F-0EAB-B809-971BA3CE8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C4868F8-4EB2-B804-3AD6-7256AF1C68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C3E5F92-B2C2-8AB1-01C1-ED72DF18A6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243173C-11BF-A2F6-F013-59378849A4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4AE7C-57FB-4DBB-B90C-59145D637BF6}" type="datetime1">
              <a:rPr lang="ko-KR" altLang="en-US" smtClean="0"/>
              <a:t>2026-09-07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3D47E49-717B-A5BA-FB22-E4F74A03B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C7ED0F3-0EAE-43B7-F5D2-9F776B23F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23198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3DE7BB-65A1-98A0-61B2-9BA86EB8B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393FC40-79A0-A826-1CA9-EE7B1B8BF9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EB9879E-8AC3-D682-707C-4CCA3AC04C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C97A2B9-9192-6241-C6C5-2D7D678EE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92253-43A0-46E3-918E-3929407A8C01}" type="datetime1">
              <a:rPr lang="ko-KR" altLang="en-US" smtClean="0"/>
              <a:t>2026-09-07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B7311CB-F5C2-2F43-5CDB-47B621DB1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B7E252D-5421-B82E-B9DC-97D8A4F11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4345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A5921C-217D-706E-B4C1-8C4B415A8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FA49194-22FD-90CC-72D7-93BB89EBF3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E3072F4-8B76-D6AF-7D51-73F346613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178607-39E6-4CB2-B3CB-AB428B3B6195}" type="datetime1">
              <a:rPr lang="ko-KR" altLang="en-US" smtClean="0"/>
              <a:t>2026-09-07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903EEA5-CFF1-3A25-3757-289E51F27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0CA5D0D-C1A0-3A92-3E15-E7442EE12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9845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44A25BF-197E-B63E-7A73-089055E7BC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1D6C20F-2716-6230-FC15-8E28D820B1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32C15CE-BE12-96E8-58E3-B89CE71B7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8A2F2-325F-46A6-8956-F2A49A35BAF8}" type="datetime1">
              <a:rPr lang="ko-KR" altLang="en-US" smtClean="0"/>
              <a:t>2026-09-07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83C669E-1E2D-2737-7F44-4EF88AEE2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F1D9548-61EF-5EA9-3163-3C25E9287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97905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제목 헤어라인"/>
          <p:cNvSpPr/>
          <p:nvPr userDrawn="1"/>
        </p:nvSpPr>
        <p:spPr>
          <a:xfrm>
            <a:off x="929640" y="944880"/>
            <a:ext cx="10332720" cy="0"/>
          </a:xfrm>
          <a:prstGeom prst="line">
            <a:avLst/>
          </a:prstGeom>
          <a:noFill/>
          <a:ln w="9525" cap="flat">
            <a:solidFill>
              <a:srgbClr val="E4EAF0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91" name="제목 강조 룰"/>
          <p:cNvSpPr/>
          <p:nvPr userDrawn="1"/>
        </p:nvSpPr>
        <p:spPr>
          <a:xfrm>
            <a:off x="929640" y="944880"/>
            <a:ext cx="685800" cy="0"/>
          </a:xfrm>
          <a:prstGeom prst="line">
            <a:avLst/>
          </a:prstGeom>
          <a:noFill/>
          <a:ln w="28575" cap="flat">
            <a:solidFill>
              <a:srgbClr val="2EC4D9"/>
            </a:solidFill>
          </a:ln>
        </p:spPr>
        <p:txBody>
          <a:bodyPr/>
          <a:lstStyle/>
          <a:p>
            <a:endParaRPr lang="ko-KR"/>
          </a:p>
        </p:txBody>
      </p:sp>
      <p:grpSp>
        <p:nvGrpSpPr>
          <p:cNvPr id="100" name="격자 패턴"/>
          <p:cNvGrpSpPr/>
          <p:nvPr userDrawn="1"/>
        </p:nvGrpSpPr>
        <p:grpSpPr>
          <a:xfrm>
            <a:off x="11029950" y="6076950"/>
            <a:ext cx="1009650" cy="628650"/>
            <a:chOff x="11029950" y="6076950"/>
            <a:chExt cx="1009650" cy="628650"/>
          </a:xfrm>
        </p:grpSpPr>
        <p:sp>
          <p:nvSpPr>
            <p:cNvPr id="101" name="점 101"/>
            <p:cNvSpPr/>
            <p:nvPr userDrawn="1"/>
          </p:nvSpPr>
          <p:spPr>
            <a:xfrm>
              <a:off x="11029950" y="6076950"/>
              <a:ext cx="57150" cy="57150"/>
            </a:xfrm>
            <a:prstGeom prst="ellipse">
              <a:avLst/>
            </a:prstGeom>
            <a:solidFill>
              <a:srgbClr val="0F2540">
                <a:alpha val="13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102" name="점 102"/>
            <p:cNvSpPr/>
            <p:nvPr userDrawn="1"/>
          </p:nvSpPr>
          <p:spPr>
            <a:xfrm>
              <a:off x="11220450" y="6076950"/>
              <a:ext cx="57150" cy="57150"/>
            </a:xfrm>
            <a:prstGeom prst="ellipse">
              <a:avLst/>
            </a:prstGeom>
            <a:solidFill>
              <a:srgbClr val="0F2540">
                <a:alpha val="13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103" name="점 103"/>
            <p:cNvSpPr/>
            <p:nvPr userDrawn="1"/>
          </p:nvSpPr>
          <p:spPr>
            <a:xfrm>
              <a:off x="11410950" y="6076950"/>
              <a:ext cx="57150" cy="57150"/>
            </a:xfrm>
            <a:prstGeom prst="ellipse">
              <a:avLst/>
            </a:prstGeom>
            <a:solidFill>
              <a:srgbClr val="0F2540">
                <a:alpha val="13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104" name="점 104"/>
            <p:cNvSpPr/>
            <p:nvPr userDrawn="1"/>
          </p:nvSpPr>
          <p:spPr>
            <a:xfrm>
              <a:off x="11601450" y="6076950"/>
              <a:ext cx="57150" cy="57150"/>
            </a:xfrm>
            <a:prstGeom prst="ellipse">
              <a:avLst/>
            </a:prstGeom>
            <a:solidFill>
              <a:srgbClr val="2EC4D9">
                <a:alpha val="50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105" name="점 105"/>
            <p:cNvSpPr/>
            <p:nvPr userDrawn="1"/>
          </p:nvSpPr>
          <p:spPr>
            <a:xfrm>
              <a:off x="11791950" y="6076950"/>
              <a:ext cx="57150" cy="57150"/>
            </a:xfrm>
            <a:prstGeom prst="ellipse">
              <a:avLst/>
            </a:prstGeom>
            <a:solidFill>
              <a:srgbClr val="0F2540">
                <a:alpha val="13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106" name="점 106"/>
            <p:cNvSpPr/>
            <p:nvPr userDrawn="1"/>
          </p:nvSpPr>
          <p:spPr>
            <a:xfrm>
              <a:off x="11982450" y="6076950"/>
              <a:ext cx="57150" cy="57150"/>
            </a:xfrm>
            <a:prstGeom prst="ellipse">
              <a:avLst/>
            </a:prstGeom>
            <a:solidFill>
              <a:srgbClr val="0F2540">
                <a:alpha val="13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107" name="점 107"/>
            <p:cNvSpPr/>
            <p:nvPr userDrawn="1"/>
          </p:nvSpPr>
          <p:spPr>
            <a:xfrm>
              <a:off x="11029950" y="6267450"/>
              <a:ext cx="57150" cy="57150"/>
            </a:xfrm>
            <a:prstGeom prst="ellipse">
              <a:avLst/>
            </a:prstGeom>
            <a:solidFill>
              <a:srgbClr val="0F2540">
                <a:alpha val="13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108" name="점 108"/>
            <p:cNvSpPr/>
            <p:nvPr userDrawn="1"/>
          </p:nvSpPr>
          <p:spPr>
            <a:xfrm>
              <a:off x="11220450" y="6267450"/>
              <a:ext cx="57150" cy="57150"/>
            </a:xfrm>
            <a:prstGeom prst="ellipse">
              <a:avLst/>
            </a:prstGeom>
            <a:solidFill>
              <a:srgbClr val="2EC4D9">
                <a:alpha val="50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109" name="점 109"/>
            <p:cNvSpPr/>
            <p:nvPr userDrawn="1"/>
          </p:nvSpPr>
          <p:spPr>
            <a:xfrm>
              <a:off x="11410950" y="6267450"/>
              <a:ext cx="57150" cy="57150"/>
            </a:xfrm>
            <a:prstGeom prst="ellipse">
              <a:avLst/>
            </a:prstGeom>
            <a:solidFill>
              <a:srgbClr val="0F2540">
                <a:alpha val="13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110" name="점 110"/>
            <p:cNvSpPr/>
            <p:nvPr userDrawn="1"/>
          </p:nvSpPr>
          <p:spPr>
            <a:xfrm>
              <a:off x="11601450" y="6267450"/>
              <a:ext cx="57150" cy="57150"/>
            </a:xfrm>
            <a:prstGeom prst="ellipse">
              <a:avLst/>
            </a:prstGeom>
            <a:solidFill>
              <a:srgbClr val="0F2540">
                <a:alpha val="13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111" name="점 111"/>
            <p:cNvSpPr/>
            <p:nvPr userDrawn="1"/>
          </p:nvSpPr>
          <p:spPr>
            <a:xfrm>
              <a:off x="11791950" y="6267450"/>
              <a:ext cx="57150" cy="57150"/>
            </a:xfrm>
            <a:prstGeom prst="ellipse">
              <a:avLst/>
            </a:prstGeom>
            <a:solidFill>
              <a:srgbClr val="0F2540">
                <a:alpha val="13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112" name="점 112"/>
            <p:cNvSpPr/>
            <p:nvPr userDrawn="1"/>
          </p:nvSpPr>
          <p:spPr>
            <a:xfrm>
              <a:off x="11982450" y="6267450"/>
              <a:ext cx="57150" cy="57150"/>
            </a:xfrm>
            <a:prstGeom prst="ellipse">
              <a:avLst/>
            </a:prstGeom>
            <a:solidFill>
              <a:srgbClr val="0F2540">
                <a:alpha val="13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113" name="점 113"/>
            <p:cNvSpPr/>
            <p:nvPr userDrawn="1"/>
          </p:nvSpPr>
          <p:spPr>
            <a:xfrm>
              <a:off x="11029950" y="6457950"/>
              <a:ext cx="57150" cy="57150"/>
            </a:xfrm>
            <a:prstGeom prst="ellipse">
              <a:avLst/>
            </a:prstGeom>
            <a:solidFill>
              <a:srgbClr val="0F2540">
                <a:alpha val="13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114" name="점 114"/>
            <p:cNvSpPr/>
            <p:nvPr userDrawn="1"/>
          </p:nvSpPr>
          <p:spPr>
            <a:xfrm>
              <a:off x="11220450" y="6457950"/>
              <a:ext cx="57150" cy="57150"/>
            </a:xfrm>
            <a:prstGeom prst="ellipse">
              <a:avLst/>
            </a:prstGeom>
            <a:solidFill>
              <a:srgbClr val="0F2540">
                <a:alpha val="13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115" name="점 115"/>
            <p:cNvSpPr/>
            <p:nvPr userDrawn="1"/>
          </p:nvSpPr>
          <p:spPr>
            <a:xfrm>
              <a:off x="11410950" y="6457950"/>
              <a:ext cx="57150" cy="57150"/>
            </a:xfrm>
            <a:prstGeom prst="ellipse">
              <a:avLst/>
            </a:prstGeom>
            <a:solidFill>
              <a:srgbClr val="0F2540">
                <a:alpha val="13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116" name="점 116"/>
            <p:cNvSpPr/>
            <p:nvPr userDrawn="1"/>
          </p:nvSpPr>
          <p:spPr>
            <a:xfrm>
              <a:off x="11601450" y="6457950"/>
              <a:ext cx="57150" cy="57150"/>
            </a:xfrm>
            <a:prstGeom prst="ellipse">
              <a:avLst/>
            </a:prstGeom>
            <a:solidFill>
              <a:srgbClr val="0F2540">
                <a:alpha val="13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117" name="점 117"/>
            <p:cNvSpPr/>
            <p:nvPr userDrawn="1"/>
          </p:nvSpPr>
          <p:spPr>
            <a:xfrm>
              <a:off x="11791950" y="6457950"/>
              <a:ext cx="57150" cy="57150"/>
            </a:xfrm>
            <a:prstGeom prst="ellipse">
              <a:avLst/>
            </a:prstGeom>
            <a:solidFill>
              <a:srgbClr val="0F2540">
                <a:alpha val="13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118" name="점 118"/>
            <p:cNvSpPr/>
            <p:nvPr userDrawn="1"/>
          </p:nvSpPr>
          <p:spPr>
            <a:xfrm>
              <a:off x="11982450" y="6457950"/>
              <a:ext cx="57150" cy="57150"/>
            </a:xfrm>
            <a:prstGeom prst="ellipse">
              <a:avLst/>
            </a:prstGeom>
            <a:solidFill>
              <a:srgbClr val="0F2540">
                <a:alpha val="13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119" name="점 119"/>
            <p:cNvSpPr/>
            <p:nvPr userDrawn="1"/>
          </p:nvSpPr>
          <p:spPr>
            <a:xfrm>
              <a:off x="11029950" y="6648450"/>
              <a:ext cx="57150" cy="57150"/>
            </a:xfrm>
            <a:prstGeom prst="ellipse">
              <a:avLst/>
            </a:prstGeom>
            <a:solidFill>
              <a:srgbClr val="0F2540">
                <a:alpha val="13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120" name="점 120"/>
            <p:cNvSpPr/>
            <p:nvPr userDrawn="1"/>
          </p:nvSpPr>
          <p:spPr>
            <a:xfrm>
              <a:off x="11220450" y="6648450"/>
              <a:ext cx="57150" cy="57150"/>
            </a:xfrm>
            <a:prstGeom prst="ellipse">
              <a:avLst/>
            </a:prstGeom>
            <a:solidFill>
              <a:srgbClr val="0F2540">
                <a:alpha val="13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121" name="점 121"/>
            <p:cNvSpPr/>
            <p:nvPr userDrawn="1"/>
          </p:nvSpPr>
          <p:spPr>
            <a:xfrm>
              <a:off x="11410950" y="6648450"/>
              <a:ext cx="57150" cy="57150"/>
            </a:xfrm>
            <a:prstGeom prst="ellipse">
              <a:avLst/>
            </a:prstGeom>
            <a:solidFill>
              <a:srgbClr val="2EC4D9">
                <a:alpha val="50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122" name="점 122"/>
            <p:cNvSpPr/>
            <p:nvPr userDrawn="1"/>
          </p:nvSpPr>
          <p:spPr>
            <a:xfrm>
              <a:off x="11601450" y="6648450"/>
              <a:ext cx="57150" cy="57150"/>
            </a:xfrm>
            <a:prstGeom prst="ellipse">
              <a:avLst/>
            </a:prstGeom>
            <a:solidFill>
              <a:srgbClr val="0F2540">
                <a:alpha val="13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123" name="점 123"/>
            <p:cNvSpPr/>
            <p:nvPr userDrawn="1"/>
          </p:nvSpPr>
          <p:spPr>
            <a:xfrm>
              <a:off x="11791950" y="6648450"/>
              <a:ext cx="57150" cy="57150"/>
            </a:xfrm>
            <a:prstGeom prst="ellipse">
              <a:avLst/>
            </a:prstGeom>
            <a:solidFill>
              <a:srgbClr val="0F2540">
                <a:alpha val="13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124" name="점 124"/>
            <p:cNvSpPr/>
            <p:nvPr userDrawn="1"/>
          </p:nvSpPr>
          <p:spPr>
            <a:xfrm>
              <a:off x="11982450" y="6648450"/>
              <a:ext cx="57150" cy="57150"/>
            </a:xfrm>
            <a:prstGeom prst="ellipse">
              <a:avLst/>
            </a:prstGeom>
            <a:solidFill>
              <a:srgbClr val="0F2540">
                <a:alpha val="13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</p:grpSp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3AFC0F6-4140-2489-D0A3-0A632697E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6866"/>
            <a:ext cx="10515600" cy="662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5E886E5-5DD8-BA48-583F-AAA217E8DD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23922"/>
            <a:ext cx="10515600" cy="47530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69862E1-2ECD-F622-0F74-FDC2E7199A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30000"/>
            <a:ext cx="3200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spc="20">
                <a:solidFill>
                  <a:srgbClr val="7E94A8"/>
                </a:solidFill>
                <a:latin typeface="+mn-lt"/>
                <a:ea typeface="+mn-ea"/>
              </a:defRPr>
            </a:lvl1pPr>
          </a:lstStyle>
          <a:p>
            <a:fld id="{75D61A29-800E-482A-B0FD-5A04401ECD92}" type="datetime1">
              <a:rPr lang="ko-KR" altLang="en-US" smtClean="0"/>
              <a:t>2026-09-07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F2E1796-7D1E-1254-446E-8BAA61680C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00000" y="633000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spc="20">
                <a:solidFill>
                  <a:srgbClr val="7E94A8"/>
                </a:solidFill>
                <a:latin typeface="+mn-lt"/>
                <a:ea typeface="+mn-ea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EB692A8-3D04-14CA-0956-516C70492A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30000"/>
            <a:ext cx="2286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pc="20">
                <a:solidFill>
                  <a:srgbClr val="7E94A8"/>
                </a:solidFill>
                <a:latin typeface="+mn-lt"/>
                <a:ea typeface="+mn-ea"/>
              </a:defRPr>
            </a:lvl1pPr>
          </a:lstStyle>
          <a:p>
            <a:fld id="{4438A2D4-3867-488E-A04E-7BFFCAED45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6133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2800" b="0" kern="1200" spc="-3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Clr>
          <a:srgbClr val="2EC4D9"/>
        </a:buClr>
        <a:buSzPct val="85000"/>
        <a:buFont typeface="Arial" panose="020B0604020202020204" pitchFamily="34" charset="0"/>
        <a:buChar char="▪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Clr>
          <a:srgbClr val="5A7A96"/>
        </a:buClr>
        <a:buSzPct val="100000"/>
        <a:buFont typeface="Arial" panose="020B0604020202020204" pitchFamily="34" charset="0"/>
        <a:buChar char="–"/>
        <a:defRPr sz="2400" kern="1200">
          <a:solidFill>
            <a:schemeClr val="tx1">
              <a:alpha val="88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Clr>
          <a:srgbClr val="8FB8C9"/>
        </a:buClr>
        <a:buSzPct val="80000"/>
        <a:buFont typeface="Arial" panose="020B0604020202020204" pitchFamily="34" charset="0"/>
        <a:buChar char="•"/>
        <a:defRPr sz="2000" kern="1200">
          <a:solidFill>
            <a:schemeClr val="tx1">
              <a:alpha val="72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Clr>
          <a:srgbClr val="5A7A96"/>
        </a:buClr>
        <a:buSzPct val="100000"/>
        <a:buFont typeface="Arial" panose="020B0604020202020204" pitchFamily="34" charset="0"/>
        <a:buChar char="–"/>
        <a:defRPr sz="1800" kern="1200">
          <a:solidFill>
            <a:schemeClr val="tx1">
              <a:alpha val="72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Clr>
          <a:srgbClr val="5A7A96"/>
        </a:buClr>
        <a:buSzPct val="100000"/>
        <a:buFont typeface="Arial" panose="020B0604020202020204" pitchFamily="34" charset="0"/>
        <a:buChar char="–"/>
        <a:defRPr sz="1800" kern="1200">
          <a:solidFill>
            <a:schemeClr val="tx1">
              <a:alpha val="72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Clr>
          <a:srgbClr val="5A7A96"/>
        </a:buClr>
        <a:buSzPct val="100000"/>
        <a:buFont typeface="Arial" panose="020B0604020202020204" pitchFamily="34" charset="0"/>
        <a:buChar char="–"/>
        <a:defRPr sz="1800" kern="1200">
          <a:solidFill>
            <a:schemeClr val="tx1">
              <a:alpha val="72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Clr>
          <a:srgbClr val="5A7A96"/>
        </a:buClr>
        <a:buSzPct val="100000"/>
        <a:buFont typeface="Arial" panose="020B0604020202020204" pitchFamily="34" charset="0"/>
        <a:buChar char="–"/>
        <a:defRPr sz="1800" kern="1200">
          <a:solidFill>
            <a:schemeClr val="tx1">
              <a:alpha val="72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Clr>
          <a:srgbClr val="5A7A96"/>
        </a:buClr>
        <a:buSzPct val="100000"/>
        <a:buFont typeface="Arial" panose="020B0604020202020204" pitchFamily="34" charset="0"/>
        <a:buChar char="–"/>
        <a:defRPr sz="1800" kern="1200">
          <a:solidFill>
            <a:schemeClr val="tx1">
              <a:alpha val="72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Clr>
          <a:srgbClr val="5A7A96"/>
        </a:buClr>
        <a:buSzPct val="100000"/>
        <a:buFont typeface="Arial" panose="020B0604020202020204" pitchFamily="34" charset="0"/>
        <a:buChar char="–"/>
        <a:defRPr sz="1800" kern="1200">
          <a:solidFill>
            <a:schemeClr val="tx1">
              <a:alpha val="72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Post-Quantum Cryptography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15. Hash Functions and the Lamport One-Time Signature Scheme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sz="1800"/>
              <a:t>해시 함수의 정의</a:t>
            </a:r>
          </a:p>
          <a:p>
            <a:pPr marL="342900" indent="-342900">
              <a:buFont typeface="+mj-lt"/>
              <a:buAutoNum type="arabicPeriod"/>
            </a:pPr>
            <a:r>
              <a:rPr sz="1800"/>
              <a:t>세 가지 안전성 성질</a:t>
            </a:r>
          </a:p>
          <a:p>
            <a:pPr marL="342900" indent="-342900">
              <a:buFont typeface="+mj-lt"/>
              <a:buAutoNum type="arabicPeriod"/>
            </a:pPr>
            <a:r>
              <a:rPr sz="1800"/>
              <a:t>안전성 성질 간의 관계</a:t>
            </a:r>
          </a:p>
          <a:p>
            <a:pPr marL="342900" indent="-342900">
              <a:buFont typeface="+mj-lt"/>
              <a:buAutoNum type="arabicPeriod"/>
            </a:pPr>
            <a:r>
              <a:rPr sz="1800"/>
              <a:t>공격 비용과 SHA-2/SHA-3의 안전성</a:t>
            </a:r>
          </a:p>
          <a:p>
            <a:pPr marL="342900" indent="-342900">
              <a:buFont typeface="+mj-lt"/>
              <a:buAutoNum type="arabicPeriod"/>
            </a:pPr>
            <a:r>
              <a:rPr sz="1800"/>
              <a:t>Lamport 일회성 서명 스킴</a:t>
            </a:r>
          </a:p>
          <a:p>
            <a:pPr marL="342900" indent="-342900">
              <a:buFont typeface="+mj-lt"/>
              <a:buAutoNum type="arabicPeriod"/>
            </a:pPr>
            <a:r>
              <a:rPr sz="1800"/>
              <a:t>Lamport의 안전성과 효율성</a:t>
            </a:r>
          </a:p>
        </p:txBody>
      </p:sp>
      <p:sp>
        <p:nvSpPr>
          <p:cNvPr id="4" name="슬라이드 번호 개체 틀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2</a:t>
            </a:fld>
            <a:endParaRPr lang="ko-KR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해시 함수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Hash Functions</a:t>
            </a:r>
          </a:p>
        </p:txBody>
      </p:sp>
      <p:sp>
        <p:nvSpPr>
          <p:cNvPr id="4" name="슬라이드 번호 개체 틀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3</a:t>
            </a:fld>
            <a:endParaRPr lang="ko-KR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해시 함수란 무엇인가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해시 함수 H는 길이가 L 이하인 메시지를 고정 길이 n비트 출력으로 매핑한다</a:t>
            </a:r>
          </a:p>
          <a:p>
            <a:pPr mar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 xmlns:m="http://schemas.openxmlformats.org/officeDocument/2006/math">
                  <m:r>
                    <a:rPr lang="en-US" i="1">
                      <a:latin typeface="Cambria Math"/>
                    </a:rPr>
                    <m:t>𝐻</m:t>
                  </m:r>
                  <m:r>
                    <a:rPr lang="en-US" i="1">
                      <a:latin typeface="Cambria Math"/>
                    </a:rPr>
                    <m:t>:{0,1</m:t>
                  </m:r>
                  <m:sSup>
                    <m:sSupPr>
                      <m:ctrlPr>
                        <a:rPr lang="en-US" i="1">
                          <a:latin typeface="Cambria Math" panose="02040503050406030204" pitchFamily="18" charset="0"/>
                        </a:rPr>
                      </m:ctrlPr>
                    </m:sSupPr>
                    <m:e>
                      <m:r>
                        <a:rPr lang="en-US" i="1">
                          <a:latin typeface="Cambria Math"/>
                        </a:rPr>
                        <m:t>}</m:t>
                      </m:r>
                    </m:e>
                    <m:sup>
                      <m:r>
                        <a:rPr lang="en-US" i="1">
                          <a:latin typeface="Cambria Math"/>
                        </a:rPr>
                        <m:t>≤</m:t>
                      </m:r>
                      <m:r>
                        <a:rPr lang="en-US" i="1">
                          <a:latin typeface="Cambria Math"/>
                        </a:rPr>
                        <m:t>𝐿</m:t>
                      </m:r>
                    </m:sup>
                  </m:sSup>
                  <m:r>
                    <a:rPr lang="en-US" i="1">
                      <a:latin typeface="Cambria Math"/>
                    </a:rPr>
                    <m:t>→{0,1</m:t>
                  </m:r>
                  <m:sSup>
                    <m:sSupPr>
                      <m:ctrlPr>
                        <a:rPr lang="en-US" i="1">
                          <a:latin typeface="Cambria Math" panose="02040503050406030204" pitchFamily="18" charset="0"/>
                        </a:rPr>
                      </m:ctrlPr>
                    </m:sSupPr>
                    <m:e>
                      <m:r>
                        <a:rPr lang="en-US" i="1">
                          <a:latin typeface="Cambria Math"/>
                        </a:rPr>
                        <m:t>}</m:t>
                      </m:r>
                    </m:e>
                    <m:sup>
                      <m:r>
                        <a:rPr lang="en-US" i="1">
                          <a:latin typeface="Cambria Math"/>
                        </a:rPr>
                        <m:t>𝑛</m:t>
                      </m:r>
                    </m:sup>
                  </m:sSup>
                </m:oMath>
              </m:oMathPara>
            </a14:m>
            <a:endParaRPr sz="1800"/>
          </a:p>
          <a:p>
            <a:r>
              <a:rPr sz="1800"/>
              <a:t>L은 매우 크고(예: </a:t>
            </a:r>
            <a14:m xmlns:a14="http://schemas.microsoft.com/office/drawing/2010/main">
              <m:oMath xmlns:m="http://schemas.openxmlformats.org/officeDocument/2006/math">
                <m:r>
                  <a:rPr lang="en-US" i="1">
                    <a:latin typeface="Cambria Math"/>
                  </a:rPr>
                  <m:t>𝐿</m:t>
                </m:r>
                <m:r>
                  <a:rPr lang="en-US" i="1">
                    <a:latin typeface="Cambria Math"/>
                  </a:rPr>
                  <m:t>=</m:t>
                </m:r>
                <m:sSup>
                  <m:sSupPr>
                    <m:ctrlPr>
                      <a:rPr lang="en-US" i="1"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i="1">
                        <a:latin typeface="Cambria Math"/>
                      </a:rPr>
                      <m:t>2</m:t>
                    </m:r>
                  </m:e>
                  <m:sup>
                    <m:r>
                      <a:rPr lang="en-US" i="1">
                        <a:latin typeface="Cambria Math"/>
                      </a:rPr>
                      <m:t>64</m:t>
                    </m:r>
                  </m:sup>
                </m:sSup>
              </m:oMath>
            </a14:m>
            <a:r>
              <a:rPr sz="1800"/>
              <a:t>), n은 작다(예: </a:t>
            </a:r>
            <a14:m xmlns:a14="http://schemas.microsoft.com/office/drawing/2010/main">
              <m:oMath xmlns:m="http://schemas.openxmlformats.org/officeDocument/2006/math">
                <m:r>
                  <a:rPr lang="en-US" i="1">
                    <a:latin typeface="Cambria Math"/>
                  </a:rPr>
                  <m:t>𝑛</m:t>
                </m:r>
                <m:r>
                  <a:rPr lang="en-US" i="1">
                    <a:latin typeface="Cambria Math"/>
                  </a:rPr>
                  <m:t>=256</m:t>
                </m:r>
              </m:oMath>
            </a14:m>
            <a:r>
              <a:rPr sz="1800"/>
              <a:t>)</a:t>
            </a:r>
          </a:p>
          <a:p>
            <a:r>
              <a:rPr sz="1800"/>
              <a:t>모든 </a:t>
            </a:r>
            <a14:m xmlns:a14="http://schemas.microsoft.com/office/drawing/2010/main">
              <m:oMath xmlns:m="http://schemas.openxmlformats.org/officeDocument/2006/math">
                <m:r>
                  <a:rPr lang="en-US" i="1">
                    <a:latin typeface="Cambria Math"/>
                  </a:rPr>
                  <m:t>𝑥</m:t>
                </m:r>
              </m:oMath>
            </a14:m>
            <a:r>
              <a:rPr sz="1800"/>
              <a:t>에 대해 </a:t>
            </a:r>
            <a14:m xmlns:a14="http://schemas.microsoft.com/office/drawing/2010/main">
              <m:oMath xmlns:m="http://schemas.openxmlformats.org/officeDocument/2006/math">
                <m:r>
                  <a:rPr lang="en-US" i="1">
                    <a:latin typeface="Cambria Math"/>
                  </a:rPr>
                  <m:t>𝐻</m:t>
                </m:r>
                <m:r>
                  <a:rPr lang="en-US" i="1">
                    <a:latin typeface="Cambria Math"/>
                  </a:rPr>
                  <m:t>(</m:t>
                </m:r>
                <m:r>
                  <a:rPr lang="en-US" i="1">
                    <a:latin typeface="Cambria Math"/>
                  </a:rPr>
                  <m:t>𝑥</m:t>
                </m:r>
                <m:r>
                  <a:rPr lang="en-US" i="1">
                    <a:latin typeface="Cambria Math"/>
                  </a:rPr>
                  <m:t>)</m:t>
                </m:r>
              </m:oMath>
            </a14:m>
            <a:r>
              <a:rPr sz="1800"/>
              <a:t>를 효율적으로 계산할 수 있어야 한다</a:t>
            </a:r>
          </a:p>
          <a:p>
            <a:r>
              <a:rPr sz="1800"/>
              <a:t>설명은 공개이며 비밀키가 없다 — 표기를 간단히 </a:t>
            </a:r>
            <a14:m xmlns:a14="http://schemas.microsoft.com/office/drawing/2010/main">
              <m:oMath xmlns:m="http://schemas.openxmlformats.org/officeDocument/2006/math">
                <m:r>
                  <a:rPr lang="en-US" i="1">
                    <a:latin typeface="Cambria Math"/>
                  </a:rPr>
                  <m:t>{0,1</m:t>
                </m:r>
                <m:sSup>
                  <m:sSupPr>
                    <m:ctrlPr>
                      <a:rPr lang="en-US" i="1"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i="1">
                        <a:latin typeface="Cambria Math"/>
                      </a:rPr>
                      <m:t>}</m:t>
                    </m:r>
                  </m:e>
                  <m:sup>
                    <m:r>
                      <a:rPr lang="en-US" i="1">
                        <a:latin typeface="Cambria Math"/>
                      </a:rPr>
                      <m:t>∗</m:t>
                    </m:r>
                  </m:sup>
                </m:sSup>
              </m:oMath>
            </a14:m>
            <a:r>
              <a:rPr sz="1800"/>
              <a:t>로 쓴다</a:t>
            </a:r>
          </a:p>
        </p:txBody>
      </p:sp>
      <p:sp>
        <p:nvSpPr>
          <p:cNvPr id="4" name="슬라이드 번호 개체 틀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4</a:t>
            </a:fld>
            <a:endParaRPr lang="ko-KR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세 가지 안전성 성질: 정의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사전영상 저항성 (PR)</a:t>
            </a:r>
          </a:p>
          <a:p>
            <a:pPr lvl="1"/>
            <a:r>
              <a:rPr sz="1800"/>
              <a:t>무작위로 고른 </a:t>
            </a:r>
            <a14:m xmlns:a14="http://schemas.microsoft.com/office/drawing/2010/main">
              <m:oMath xmlns:m="http://schemas.openxmlformats.org/officeDocument/2006/math">
                <m:r>
                  <a:rPr lang="en-US" i="1">
                    <a:latin typeface="Cambria Math"/>
                  </a:rPr>
                  <m:t>𝑦</m:t>
                </m:r>
              </m:oMath>
            </a14:m>
            <a:r>
              <a:rPr sz="1800"/>
              <a:t>에 대해 </a:t>
            </a:r>
            <a14:m xmlns:a14="http://schemas.microsoft.com/office/drawing/2010/main">
              <m:oMath xmlns:m="http://schemas.openxmlformats.org/officeDocument/2006/math">
                <m:r>
                  <a:rPr lang="en-US" i="1">
                    <a:latin typeface="Cambria Math"/>
                  </a:rPr>
                  <m:t>𝐻</m:t>
                </m:r>
                <m:r>
                  <a:rPr lang="en-US" i="1">
                    <a:latin typeface="Cambria Math"/>
                  </a:rPr>
                  <m:t>(</m:t>
                </m:r>
                <m:r>
                  <a:rPr lang="en-US" i="1">
                    <a:latin typeface="Cambria Math"/>
                  </a:rPr>
                  <m:t>𝑥</m:t>
                </m:r>
                <m:r>
                  <a:rPr lang="en-US" i="1">
                    <a:latin typeface="Cambria Math"/>
                  </a:rPr>
                  <m:t>)=</m:t>
                </m:r>
                <m:r>
                  <a:rPr lang="en-US" i="1">
                    <a:latin typeface="Cambria Math"/>
                  </a:rPr>
                  <m:t>𝑦</m:t>
                </m:r>
              </m:oMath>
            </a14:m>
            <a:r>
              <a:rPr sz="1800"/>
              <a:t>인 </a:t>
            </a:r>
            <a14:m xmlns:a14="http://schemas.microsoft.com/office/drawing/2010/main">
              <m:oMath xmlns:m="http://schemas.openxmlformats.org/officeDocument/2006/math">
                <m:r>
                  <a:rPr lang="en-US" i="1">
                    <a:latin typeface="Cambria Math"/>
                  </a:rPr>
                  <m:t>𝑥</m:t>
                </m:r>
              </m:oMath>
            </a14:m>
            <a:r>
              <a:rPr sz="1800"/>
              <a:t>를 찾기가 계산적으로 불가능</a:t>
            </a:r>
          </a:p>
          <a:p>
            <a:r>
              <a:rPr sz="1800"/>
              <a:t>2차 사전영상 저항성 (2PR)</a:t>
            </a:r>
          </a:p>
          <a:p>
            <a:pPr lvl="1"/>
            <a:r>
              <a:rPr sz="1800"/>
              <a:t>무작위로 고른 </a:t>
            </a:r>
            <a14:m xmlns:a14="http://schemas.microsoft.com/office/drawing/2010/main">
              <m:oMath xmlns:m="http://schemas.openxmlformats.org/officeDocument/2006/math">
                <m:r>
                  <a:rPr lang="en-US" i="1">
                    <a:latin typeface="Cambria Math"/>
                  </a:rPr>
                  <m:t>𝑥</m:t>
                </m:r>
              </m:oMath>
            </a14:m>
            <a:r>
              <a:rPr sz="1800"/>
              <a:t>에 대해 </a:t>
            </a:r>
            <a14:m xmlns:a14="http://schemas.microsoft.com/office/drawing/2010/main">
              <m:oMath xmlns:m="http://schemas.openxmlformats.org/officeDocument/2006/math">
                <m:sSup>
                  <m:sSupPr>
                    <m:ctrlPr>
                      <a:rPr lang="en-US"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i="1">
                        <a:latin typeface="Cambria Math"/>
                      </a:rPr>
                      <m:t>𝑥</m:t>
                    </m:r>
                  </m:e>
                  <m:sup>
                    <m:r>
                      <a:rPr lang="en-US" i="1">
                        <a:latin typeface="Cambria Math"/>
                      </a:rPr>
                      <m:t>′</m:t>
                    </m:r>
                  </m:sup>
                </m:sSup>
                <m:r>
                  <a:rPr lang="en-US" i="1">
                    <a:latin typeface="Cambria Math"/>
                  </a:rPr>
                  <m:t>≠</m:t>
                </m:r>
                <m:r>
                  <a:rPr lang="en-US" i="1">
                    <a:latin typeface="Cambria Math"/>
                  </a:rPr>
                  <m:t>𝑥</m:t>
                </m:r>
              </m:oMath>
            </a14:m>
            <a:r>
              <a:rPr sz="1800"/>
              <a:t>이고 </a:t>
            </a:r>
            <a14:m xmlns:a14="http://schemas.microsoft.com/office/drawing/2010/main">
              <m:oMath xmlns:m="http://schemas.openxmlformats.org/officeDocument/2006/math">
                <m:r>
                  <a:rPr lang="en-US" i="1">
                    <a:latin typeface="Cambria Math"/>
                  </a:rPr>
                  <m:t>𝐻</m:t>
                </m:r>
                <m:r>
                  <a:rPr lang="en-US" i="1">
                    <a:latin typeface="Cambria Math"/>
                  </a:rPr>
                  <m:t>(</m:t>
                </m:r>
                <m:sSup>
                  <m:sSupPr>
                    <m:ctrlPr>
                      <a:rPr lang="en-US" i="1"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i="1">
                        <a:latin typeface="Cambria Math"/>
                      </a:rPr>
                      <m:t>𝑥</m:t>
                    </m:r>
                  </m:e>
                  <m:sup>
                    <m:r>
                      <a:rPr lang="en-US" i="1">
                        <a:latin typeface="Cambria Math"/>
                      </a:rPr>
                      <m:t>′</m:t>
                    </m:r>
                  </m:sup>
                </m:sSup>
                <m:r>
                  <a:rPr lang="en-US" i="1">
                    <a:latin typeface="Cambria Math"/>
                  </a:rPr>
                  <m:t>)=</m:t>
                </m:r>
                <m:r>
                  <a:rPr lang="en-US" i="1">
                    <a:latin typeface="Cambria Math"/>
                  </a:rPr>
                  <m:t>𝐻</m:t>
                </m:r>
                <m:r>
                  <a:rPr lang="en-US" i="1">
                    <a:latin typeface="Cambria Math"/>
                  </a:rPr>
                  <m:t>(</m:t>
                </m:r>
                <m:r>
                  <a:rPr lang="en-US" i="1">
                    <a:latin typeface="Cambria Math"/>
                  </a:rPr>
                  <m:t>𝑥</m:t>
                </m:r>
                <m:r>
                  <a:rPr lang="en-US" i="1">
                    <a:latin typeface="Cambria Math"/>
                  </a:rPr>
                  <m:t>)</m:t>
                </m:r>
              </m:oMath>
            </a14:m>
            <a:r>
              <a:rPr sz="1800"/>
              <a:t>인 </a:t>
            </a:r>
            <a14:m xmlns:a14="http://schemas.microsoft.com/office/drawing/2010/main">
              <m:oMath xmlns:m="http://schemas.openxmlformats.org/officeDocument/2006/math">
                <m:sSup>
                  <m:sSupPr>
                    <m:ctrlPr>
                      <a:rPr lang="en-US"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i="1">
                        <a:latin typeface="Cambria Math"/>
                      </a:rPr>
                      <m:t>𝑥</m:t>
                    </m:r>
                  </m:e>
                  <m:sup>
                    <m:r>
                      <a:rPr lang="en-US" i="1">
                        <a:latin typeface="Cambria Math"/>
                      </a:rPr>
                      <m:t>′</m:t>
                    </m:r>
                  </m:sup>
                </m:sSup>
              </m:oMath>
            </a14:m>
            <a:r>
              <a:rPr sz="1800"/>
              <a:t>를 찾기가 불가능</a:t>
            </a:r>
          </a:p>
          <a:p>
            <a:r>
              <a:rPr sz="1800"/>
              <a:t>충돌 저항성 (CR)</a:t>
            </a:r>
          </a:p>
          <a:p>
            <a:pPr lvl="1"/>
            <a14:m xmlns:a14="http://schemas.microsoft.com/office/drawing/2010/main">
              <m:oMath xmlns:m="http://schemas.openxmlformats.org/officeDocument/2006/math">
                <m:sSup>
                  <m:sSupPr>
                    <m:ctrlPr>
                      <a:rPr lang="en-US"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i="1">
                        <a:latin typeface="Cambria Math"/>
                      </a:rPr>
                      <m:t>𝑥</m:t>
                    </m:r>
                  </m:e>
                  <m:sup>
                    <m:r>
                      <a:rPr lang="en-US" i="1">
                        <a:latin typeface="Cambria Math"/>
                      </a:rPr>
                      <m:t>′</m:t>
                    </m:r>
                  </m:sup>
                </m:sSup>
                <m:r>
                  <a:rPr lang="en-US" i="1">
                    <a:latin typeface="Cambria Math"/>
                  </a:rPr>
                  <m:t>≠</m:t>
                </m:r>
                <m:r>
                  <a:rPr lang="en-US" i="1">
                    <a:latin typeface="Cambria Math"/>
                  </a:rPr>
                  <m:t>𝑥</m:t>
                </m:r>
              </m:oMath>
            </a14:m>
            <a:r>
              <a:rPr sz="1800"/>
              <a:t>이고 </a:t>
            </a:r>
            <a14:m xmlns:a14="http://schemas.microsoft.com/office/drawing/2010/main">
              <m:oMath xmlns:m="http://schemas.openxmlformats.org/officeDocument/2006/math">
                <m:r>
                  <a:rPr lang="en-US" i="1">
                    <a:latin typeface="Cambria Math"/>
                  </a:rPr>
                  <m:t>𝐻</m:t>
                </m:r>
                <m:r>
                  <a:rPr lang="en-US" i="1">
                    <a:latin typeface="Cambria Math"/>
                  </a:rPr>
                  <m:t>(</m:t>
                </m:r>
                <m:sSup>
                  <m:sSupPr>
                    <m:ctrlPr>
                      <a:rPr lang="en-US" i="1"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i="1">
                        <a:latin typeface="Cambria Math"/>
                      </a:rPr>
                      <m:t>𝑥</m:t>
                    </m:r>
                  </m:e>
                  <m:sup>
                    <m:r>
                      <a:rPr lang="en-US" i="1">
                        <a:latin typeface="Cambria Math"/>
                      </a:rPr>
                      <m:t>′</m:t>
                    </m:r>
                  </m:sup>
                </m:sSup>
                <m:r>
                  <a:rPr lang="en-US" i="1">
                    <a:latin typeface="Cambria Math"/>
                  </a:rPr>
                  <m:t>)=</m:t>
                </m:r>
                <m:r>
                  <a:rPr lang="en-US" i="1">
                    <a:latin typeface="Cambria Math"/>
                  </a:rPr>
                  <m:t>𝐻</m:t>
                </m:r>
                <m:r>
                  <a:rPr lang="en-US" i="1">
                    <a:latin typeface="Cambria Math"/>
                  </a:rPr>
                  <m:t>(</m:t>
                </m:r>
                <m:r>
                  <a:rPr lang="en-US" i="1">
                    <a:latin typeface="Cambria Math"/>
                  </a:rPr>
                  <m:t>𝑥</m:t>
                </m:r>
                <m:r>
                  <a:rPr lang="en-US" i="1">
                    <a:latin typeface="Cambria Math"/>
                  </a:rPr>
                  <m:t>)</m:t>
                </m:r>
              </m:oMath>
            </a14:m>
            <a:r>
              <a:rPr sz="1800"/>
              <a:t>인 </a:t>
            </a:r>
            <a14:m xmlns:a14="http://schemas.microsoft.com/office/drawing/2010/main">
              <m:oMath xmlns:m="http://schemas.openxmlformats.org/officeDocument/2006/math">
                <m:r>
                  <a:rPr lang="en-US" i="1">
                    <a:latin typeface="Cambria Math"/>
                  </a:rPr>
                  <m:t>𝑥</m:t>
                </m:r>
                <m:r>
                  <a:rPr lang="en-US" i="1">
                    <a:latin typeface="Cambria Math"/>
                  </a:rPr>
                  <m:t>,</m:t>
                </m:r>
                <m:sSup>
                  <m:sSupPr>
                    <m:ctrlPr>
                      <a:rPr lang="en-US" i="1"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i="1">
                        <a:latin typeface="Cambria Math"/>
                      </a:rPr>
                      <m:t>𝑥</m:t>
                    </m:r>
                  </m:e>
                  <m:sup>
                    <m:r>
                      <a:rPr lang="en-US" i="1">
                        <a:latin typeface="Cambria Math"/>
                      </a:rPr>
                      <m:t>′</m:t>
                    </m:r>
                  </m:sup>
                </m:sSup>
              </m:oMath>
            </a14:m>
            <a:r>
              <a:rPr sz="1800"/>
              <a:t> 쌍을 (입력 없이) 찾기가 불가능</a:t>
            </a:r>
          </a:p>
          <a:p>
            <a:r>
              <a:rPr sz="1800"/>
              <a:t>충돌은 비둘기집 원리로 항상 존재한다 — 관건은 효율적으로 찾을 수 있는가</a:t>
            </a:r>
          </a:p>
        </p:txBody>
      </p:sp>
      <p:sp>
        <p:nvSpPr>
          <p:cNvPr id="4" name="슬라이드 번호 개체 틀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5</a:t>
            </a:fld>
            <a:endParaRPr lang="ko-KR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세 성질 깨기: Given/Required 요약</a:t>
            </a:r>
          </a:p>
        </p:txBody>
      </p:sp>
      <p:sp>
        <p:nvSpPr>
          <p:cNvPr id="4" name="슬라이드 번호 개체 틀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6</a:t>
            </a:fld>
            <a:endParaRPr lang="ko-KR" alt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2969984"/>
              </p:ext>
            </p:extLst>
          </p:nvPr>
        </p:nvGraphicFramePr>
        <p:xfrm>
          <a:off x="838200" y="2240280"/>
          <a:ext cx="105156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chemeClr val="bg1"/>
                          </a:solidFill>
                        </a:rPr>
                        <a:t>성질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chemeClr val="bg1"/>
                          </a:solidFill>
                        </a:rPr>
                        <a:t>Given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chemeClr val="bg1"/>
                          </a:solidFill>
                        </a:rPr>
                        <a:t>Required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PR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y ∈ {0,1}</a:t>
                      </a:r>
                      <a:r>
                        <a:rPr sz="1800" baseline="30000"/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x ∈ {0,1}*, H(x) = 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2PR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x ∈ {0,1}*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x' ≠ x, H(x') = H(x)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CR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x, x' (</a:t>
                      </a:r>
                      <a:r>
                        <a:rPr sz="1800" dirty="0" err="1"/>
                        <a:t>x'≠x</a:t>
                      </a:r>
                      <a:r>
                        <a:rPr sz="1800" dirty="0"/>
                        <a:t>), H(x') = H(x)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숫자 예제: 토이 해시 함수로 세 게임 확인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토이 함수 </a:t>
            </a:r>
            <a14:m xmlns:a14="http://schemas.microsoft.com/office/drawing/2010/main">
              <m:oMath xmlns:m="http://schemas.openxmlformats.org/officeDocument/2006/math">
                <m:r>
                  <a:rPr lang="en-US" i="1">
                    <a:latin typeface="Cambria Math"/>
                  </a:rPr>
                  <m:t>h</m:t>
                </m:r>
                <m:r>
                  <a:rPr lang="en-US" i="1">
                    <a:latin typeface="Cambria Math"/>
                  </a:rPr>
                  <m:t>:{0,…,7}→{0,…,4},</m:t>
                </m:r>
                <m:r>
                  <m:rPr>
                    <m:nor/>
                  </m:rPr>
                  <a:rPr lang="en-US" i="0">
                    <a:latin typeface="Cambria Math"/>
                  </a:rPr>
                  <m:t> </m:t>
                </m:r>
                <m:r>
                  <a:rPr lang="en-US" i="1">
                    <a:latin typeface="Cambria Math"/>
                  </a:rPr>
                  <m:t>h</m:t>
                </m:r>
                <m:r>
                  <a:rPr lang="en-US" i="1">
                    <a:latin typeface="Cambria Math"/>
                  </a:rPr>
                  <m:t>(</m:t>
                </m:r>
                <m:r>
                  <a:rPr lang="en-US" i="1">
                    <a:latin typeface="Cambria Math"/>
                  </a:rPr>
                  <m:t>𝑥</m:t>
                </m:r>
                <m:r>
                  <a:rPr lang="en-US" i="1">
                    <a:latin typeface="Cambria Math"/>
                  </a:rPr>
                  <m:t>)=(3</m:t>
                </m:r>
                <m:r>
                  <a:rPr lang="en-US" i="1">
                    <a:latin typeface="Cambria Math"/>
                  </a:rPr>
                  <m:t>𝑥</m:t>
                </m:r>
                <m:r>
                  <a:rPr lang="en-US" i="1">
                    <a:latin typeface="Cambria Math"/>
                  </a:rPr>
                  <m:t>+1)</m:t>
                </m:r>
                <m:r>
                  <m:rPr>
                    <m:nor/>
                  </m:rPr>
                  <a:rPr lang="en-US" i="0">
                    <a:latin typeface="Cambria Math"/>
                  </a:rPr>
                  <m:t> </m:t>
                </m:r>
                <m:r>
                  <m:rPr>
                    <m:sty m:val="p"/>
                  </m:rPr>
                  <a:rPr lang="en-US" i="0">
                    <a:latin typeface="Cambria Math"/>
                  </a:rPr>
                  <m:t>mod</m:t>
                </m:r>
                <m:r>
                  <m:rPr>
                    <m:nor/>
                  </m:rPr>
                  <a:rPr lang="en-US" i="0">
                    <a:latin typeface="Cambria Math"/>
                  </a:rPr>
                  <m:t> </m:t>
                </m:r>
                <m:r>
                  <a:rPr lang="en-US" i="1">
                    <a:latin typeface="Cambria Math"/>
                  </a:rPr>
                  <m:t>5</m:t>
                </m:r>
              </m:oMath>
            </a14:m>
            <a:r>
              <a:rPr sz="1800"/>
              <a:t> — 비둘기집 원리로 충돌이 반드시 존재</a:t>
            </a:r>
          </a:p>
          <a:p>
            <a:r>
              <a:rPr sz="1800"/>
              <a:t>사전영상 게임: y=2 → h(x)=2인 x=2, 7 (선형 합동식으로 즉시 풀림) → PR 깨짐</a:t>
            </a:r>
          </a:p>
          <a:p>
            <a:r>
              <a:rPr sz="1800"/>
              <a:t>2차 사전영상 게임: x=0 → h(0)=1과 같은 값 x'=5 (표 훑기) → 2PR 깨짐</a:t>
            </a:r>
          </a:p>
          <a:p>
            <a:r>
              <a:rPr sz="1800"/>
              <a:t>충돌 게임: 표에서 (1,6)이 h=4로 즉시 관찰됨 → CR 깨짐</a:t>
            </a:r>
          </a:p>
        </p:txBody>
      </p:sp>
      <p:sp>
        <p:nvSpPr>
          <p:cNvPr id="4" name="슬라이드 번호 개체 틀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7</a:t>
            </a:fld>
            <a:endParaRPr lang="ko-KR" alt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0285611"/>
              </p:ext>
            </p:extLst>
          </p:nvPr>
        </p:nvGraphicFramePr>
        <p:xfrm>
          <a:off x="841248" y="4297680"/>
          <a:ext cx="10552176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04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04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04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704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043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7043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7043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7043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chemeClr val="bg1"/>
                          </a:solidFill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chemeClr val="bg1"/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chemeClr val="bg1"/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chemeClr val="bg1"/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h(x)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함의 관계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39" y="1294790"/>
            <a:ext cx="5303520" cy="4700016"/>
          </a:xfrm>
        </p:spPr>
        <p:txBody>
          <a:bodyPr/>
          <a:lstStyle/>
          <a:p>
            <a:r>
              <a:rPr sz="1800"/>
              <a:t>CR ⇒ 2PR (항상 성립)</a:t>
            </a:r>
          </a:p>
          <a:p>
            <a:r>
              <a:rPr sz="1800"/>
              <a:t>CR ⇒ PR (균일한 해시 함수라는 가정 하에 성립)</a:t>
            </a:r>
          </a:p>
          <a:p>
            <a:r>
              <a:rPr sz="1800"/>
              <a:t>2PR ⇒ PR (균일한 해시 함수라는 가정 하에 성립)</a:t>
            </a:r>
          </a:p>
          <a:p>
            <a:r>
              <a:rPr sz="1800"/>
              <a:t>PR ⇏ 2PR (성립하지 않음)</a:t>
            </a:r>
          </a:p>
          <a:p>
            <a:r>
              <a:rPr sz="1800"/>
              <a:t>2PR ⇏ CR (성립하지 않음)</a:t>
            </a:r>
          </a:p>
          <a:p>
            <a:r>
              <a:rPr sz="1800"/>
              <a:t>PR ⇏ CR (성립하지 않음)</a:t>
            </a:r>
          </a:p>
        </p:txBody>
      </p:sp>
      <p:sp>
        <p:nvSpPr>
          <p:cNvPr id="4" name="슬라이드 번호 개체 틀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5" name="Rectangle 4"/>
          <p:cNvSpPr/>
          <p:nvPr/>
        </p:nvSpPr>
        <p:spPr>
          <a:xfrm>
            <a:off x="6400800" y="1645920"/>
            <a:ext cx="5029200" cy="3840480"/>
          </a:xfrm>
          <a:prstGeom prst="rect">
            <a:avLst/>
          </a:prstGeom>
          <a:noFill/>
          <a:ln>
            <a:solidFill>
              <a:srgbClr val="A0A0A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rPr dirty="0"/>
              <a:t>[</a:t>
            </a:r>
            <a:r>
              <a:rPr dirty="0" err="1"/>
              <a:t>그림</a:t>
            </a:r>
            <a:r>
              <a:rPr dirty="0"/>
              <a:t>] Hash2.pdf p.14 — </a:t>
            </a:r>
            <a:r>
              <a:rPr dirty="0" err="1"/>
              <a:t>안전성</a:t>
            </a:r>
            <a:r>
              <a:rPr dirty="0"/>
              <a:t> </a:t>
            </a:r>
            <a:r>
              <a:rPr dirty="0" err="1"/>
              <a:t>성질</a:t>
            </a:r>
            <a:r>
              <a:rPr dirty="0"/>
              <a:t> 간 </a:t>
            </a:r>
            <a:r>
              <a:rPr dirty="0" err="1"/>
              <a:t>관계</a:t>
            </a:r>
            <a:r>
              <a:rPr dirty="0"/>
              <a:t>(CR/PR/2PR) </a:t>
            </a:r>
            <a:r>
              <a:rPr dirty="0" err="1"/>
              <a:t>다이어그램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증명: 충돌 저항성 ⇒ 2차 사전영상 저항성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대우를 보인다: H가 2PR을 깨는 알고리즘 A가 있다고 하자</a:t>
            </a:r>
          </a:p>
          <a:p>
            <a:r>
              <a:rPr sz="1800"/>
              <a:t>A는 무작위 </a:t>
            </a:r>
            <a14:m xmlns:a14="http://schemas.microsoft.com/office/drawing/2010/main">
              <m:oMath xmlns:m="http://schemas.openxmlformats.org/officeDocument/2006/math">
                <m:r>
                  <a:rPr lang="en-US" i="1">
                    <a:latin typeface="Cambria Math"/>
                  </a:rPr>
                  <m:t>𝑥</m:t>
                </m:r>
              </m:oMath>
            </a14:m>
            <a:r>
              <a:rPr sz="1800"/>
              <a:t>가 주어지면 </a:t>
            </a:r>
            <a14:m xmlns:a14="http://schemas.microsoft.com/office/drawing/2010/main">
              <m:oMath xmlns:m="http://schemas.openxmlformats.org/officeDocument/2006/math">
                <m:sSup>
                  <m:sSupPr>
                    <m:ctrlPr>
                      <a:rPr lang="en-US"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i="1">
                        <a:latin typeface="Cambria Math"/>
                      </a:rPr>
                      <m:t>𝑥</m:t>
                    </m:r>
                  </m:e>
                  <m:sup>
                    <m:r>
                      <a:rPr lang="en-US" i="1">
                        <a:latin typeface="Cambria Math"/>
                      </a:rPr>
                      <m:t>′</m:t>
                    </m:r>
                  </m:sup>
                </m:sSup>
                <m:r>
                  <a:rPr lang="en-US" i="1">
                    <a:latin typeface="Cambria Math"/>
                  </a:rPr>
                  <m:t>≠</m:t>
                </m:r>
                <m:r>
                  <a:rPr lang="en-US" i="1">
                    <a:latin typeface="Cambria Math"/>
                  </a:rPr>
                  <m:t>𝑥</m:t>
                </m:r>
                <m:r>
                  <a:rPr lang="en-US" i="1">
                    <a:latin typeface="Cambria Math"/>
                  </a:rPr>
                  <m:t>,</m:t>
                </m:r>
                <m:r>
                  <m:rPr>
                    <m:nor/>
                  </m:rPr>
                  <a:rPr lang="en-US" i="0">
                    <a:latin typeface="Cambria Math"/>
                  </a:rPr>
                  <m:t> </m:t>
                </m:r>
                <m:r>
                  <a:rPr lang="en-US" i="1">
                    <a:latin typeface="Cambria Math"/>
                  </a:rPr>
                  <m:t>𝐻</m:t>
                </m:r>
                <m:r>
                  <a:rPr lang="en-US" i="1">
                    <a:latin typeface="Cambria Math"/>
                  </a:rPr>
                  <m:t>(</m:t>
                </m:r>
                <m:sSup>
                  <m:sSupPr>
                    <m:ctrlPr>
                      <a:rPr lang="en-US" i="1"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i="1">
                        <a:latin typeface="Cambria Math"/>
                      </a:rPr>
                      <m:t>𝑥</m:t>
                    </m:r>
                  </m:e>
                  <m:sup>
                    <m:r>
                      <a:rPr lang="en-US" i="1">
                        <a:latin typeface="Cambria Math"/>
                      </a:rPr>
                      <m:t>′</m:t>
                    </m:r>
                  </m:sup>
                </m:sSup>
                <m:r>
                  <a:rPr lang="en-US" i="1">
                    <a:latin typeface="Cambria Math"/>
                  </a:rPr>
                  <m:t>)=</m:t>
                </m:r>
                <m:r>
                  <a:rPr lang="en-US" i="1">
                    <a:latin typeface="Cambria Math"/>
                  </a:rPr>
                  <m:t>𝐻</m:t>
                </m:r>
                <m:r>
                  <a:rPr lang="en-US" i="1">
                    <a:latin typeface="Cambria Math"/>
                  </a:rPr>
                  <m:t>(</m:t>
                </m:r>
                <m:r>
                  <a:rPr lang="en-US" i="1">
                    <a:latin typeface="Cambria Math"/>
                  </a:rPr>
                  <m:t>𝑥</m:t>
                </m:r>
                <m:r>
                  <a:rPr lang="en-US" i="1">
                    <a:latin typeface="Cambria Math"/>
                  </a:rPr>
                  <m:t>)</m:t>
                </m:r>
              </m:oMath>
            </a14:m>
            <a:r>
              <a:rPr sz="1800"/>
              <a:t>인 </a:t>
            </a:r>
            <a14:m xmlns:a14="http://schemas.microsoft.com/office/drawing/2010/main">
              <m:oMath xmlns:m="http://schemas.openxmlformats.org/officeDocument/2006/math">
                <m:sSup>
                  <m:sSupPr>
                    <m:ctrlPr>
                      <a:rPr lang="en-US"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i="1">
                        <a:latin typeface="Cambria Math"/>
                      </a:rPr>
                      <m:t>𝑥</m:t>
                    </m:r>
                  </m:e>
                  <m:sup>
                    <m:r>
                      <a:rPr lang="en-US" i="1">
                        <a:latin typeface="Cambria Math"/>
                      </a:rPr>
                      <m:t>′</m:t>
                    </m:r>
                  </m:sup>
                </m:sSup>
              </m:oMath>
            </a14:m>
            <a:r>
              <a:rPr sz="1800"/>
              <a:t>를 찾아낸다</a:t>
            </a:r>
          </a:p>
          <a:p>
            <a:r>
              <a:rPr sz="1800"/>
              <a:t>충돌 탐색기 B를 구성: </a:t>
            </a:r>
            <a14:m xmlns:a14="http://schemas.microsoft.com/office/drawing/2010/main">
              <m:oMath xmlns:m="http://schemas.openxmlformats.org/officeDocument/2006/math">
                <m:r>
                  <a:rPr lang="en-US" i="1">
                    <a:latin typeface="Cambria Math"/>
                  </a:rPr>
                  <m:t>𝑥</m:t>
                </m:r>
              </m:oMath>
            </a14:m>
            <a:r>
              <a:rPr sz="1800"/>
              <a:t>를 무작위로 뽑고 </a:t>
            </a:r>
            <a14:m xmlns:a14="http://schemas.microsoft.com/office/drawing/2010/main">
              <m:oMath xmlns:m="http://schemas.openxmlformats.org/officeDocument/2006/math">
                <m:r>
                  <a:rPr lang="en-US" i="1">
                    <a:latin typeface="Cambria Math"/>
                  </a:rPr>
                  <m:t>𝐴</m:t>
                </m:r>
                <m:r>
                  <a:rPr lang="en-US" i="1">
                    <a:latin typeface="Cambria Math"/>
                  </a:rPr>
                  <m:t>(</m:t>
                </m:r>
                <m:r>
                  <a:rPr lang="en-US" i="1">
                    <a:latin typeface="Cambria Math"/>
                  </a:rPr>
                  <m:t>𝑥</m:t>
                </m:r>
                <m:r>
                  <a:rPr lang="en-US" i="1">
                    <a:latin typeface="Cambria Math"/>
                  </a:rPr>
                  <m:t>)</m:t>
                </m:r>
              </m:oMath>
            </a14:m>
            <a:r>
              <a:rPr sz="1800"/>
              <a:t>를 실행해 </a:t>
            </a:r>
            <a14:m xmlns:a14="http://schemas.microsoft.com/office/drawing/2010/main">
              <m:oMath xmlns:m="http://schemas.openxmlformats.org/officeDocument/2006/math">
                <m:sSup>
                  <m:sSupPr>
                    <m:ctrlPr>
                      <a:rPr lang="en-US"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i="1">
                        <a:latin typeface="Cambria Math"/>
                      </a:rPr>
                      <m:t>𝑥</m:t>
                    </m:r>
                  </m:e>
                  <m:sup>
                    <m:r>
                      <a:rPr lang="en-US" i="1">
                        <a:latin typeface="Cambria Math"/>
                      </a:rPr>
                      <m:t>′</m:t>
                    </m:r>
                  </m:sup>
                </m:sSup>
              </m:oMath>
            </a14:m>
            <a:r>
              <a:rPr sz="1800"/>
              <a:t>를 얻은 뒤 </a:t>
            </a:r>
            <a14:m xmlns:a14="http://schemas.microsoft.com/office/drawing/2010/main">
              <m:oMath xmlns:m="http://schemas.openxmlformats.org/officeDocument/2006/math">
                <m:r>
                  <a:rPr lang="en-US" i="1">
                    <a:latin typeface="Cambria Math"/>
                  </a:rPr>
                  <m:t>(</m:t>
                </m:r>
                <m:r>
                  <a:rPr lang="en-US" i="1">
                    <a:latin typeface="Cambria Math"/>
                  </a:rPr>
                  <m:t>𝑥</m:t>
                </m:r>
                <m:r>
                  <a:rPr lang="en-US" i="1">
                    <a:latin typeface="Cambria Math"/>
                  </a:rPr>
                  <m:t>,</m:t>
                </m:r>
                <m:sSup>
                  <m:sSupPr>
                    <m:ctrlPr>
                      <a:rPr lang="en-US" i="1"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i="1">
                        <a:latin typeface="Cambria Math"/>
                      </a:rPr>
                      <m:t>𝑥</m:t>
                    </m:r>
                  </m:e>
                  <m:sup>
                    <m:r>
                      <a:rPr lang="en-US" i="1">
                        <a:latin typeface="Cambria Math"/>
                      </a:rPr>
                      <m:t>′</m:t>
                    </m:r>
                  </m:sup>
                </m:sSup>
                <m:r>
                  <a:rPr lang="en-US" i="1">
                    <a:latin typeface="Cambria Math"/>
                  </a:rPr>
                  <m:t>)</m:t>
                </m:r>
              </m:oMath>
            </a14:m>
            <a:r>
              <a:rPr sz="1800"/>
              <a:t>를 출력</a:t>
            </a:r>
          </a:p>
          <a:p>
            <a:r>
              <a:rPr sz="1800"/>
              <a:t>A가 성공할 때마다 </a:t>
            </a:r>
            <a14:m xmlns:a14="http://schemas.microsoft.com/office/drawing/2010/main">
              <m:oMath xmlns:m="http://schemas.openxmlformats.org/officeDocument/2006/math">
                <m:sSup>
                  <m:sSupPr>
                    <m:ctrlPr>
                      <a:rPr lang="en-US"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i="1">
                        <a:latin typeface="Cambria Math"/>
                      </a:rPr>
                      <m:t>𝑥</m:t>
                    </m:r>
                  </m:e>
                  <m:sup>
                    <m:r>
                      <a:rPr lang="en-US" i="1">
                        <a:latin typeface="Cambria Math"/>
                      </a:rPr>
                      <m:t>′</m:t>
                    </m:r>
                  </m:sup>
                </m:sSup>
                <m:r>
                  <a:rPr lang="en-US" i="1">
                    <a:latin typeface="Cambria Math"/>
                  </a:rPr>
                  <m:t>≠</m:t>
                </m:r>
                <m:r>
                  <a:rPr lang="en-US" i="1">
                    <a:latin typeface="Cambria Math"/>
                  </a:rPr>
                  <m:t>𝑥</m:t>
                </m:r>
                <m:r>
                  <a:rPr lang="en-US" i="1">
                    <a:latin typeface="Cambria Math"/>
                  </a:rPr>
                  <m:t>,</m:t>
                </m:r>
                <m:r>
                  <m:rPr>
                    <m:nor/>
                  </m:rPr>
                  <a:rPr lang="en-US" i="0">
                    <a:latin typeface="Cambria Math"/>
                  </a:rPr>
                  <m:t> </m:t>
                </m:r>
                <m:r>
                  <a:rPr lang="en-US" i="1">
                    <a:latin typeface="Cambria Math"/>
                  </a:rPr>
                  <m:t>𝐻</m:t>
                </m:r>
                <m:r>
                  <a:rPr lang="en-US" i="1">
                    <a:latin typeface="Cambria Math"/>
                  </a:rPr>
                  <m:t>(</m:t>
                </m:r>
                <m:r>
                  <a:rPr lang="en-US" i="1">
                    <a:latin typeface="Cambria Math"/>
                  </a:rPr>
                  <m:t>𝑥</m:t>
                </m:r>
                <m:r>
                  <a:rPr lang="en-US" i="1">
                    <a:latin typeface="Cambria Math"/>
                  </a:rPr>
                  <m:t>)=</m:t>
                </m:r>
                <m:r>
                  <a:rPr lang="en-US" i="1">
                    <a:latin typeface="Cambria Math"/>
                  </a:rPr>
                  <m:t>𝐻</m:t>
                </m:r>
                <m:r>
                  <a:rPr lang="en-US" i="1">
                    <a:latin typeface="Cambria Math"/>
                  </a:rPr>
                  <m:t>(</m:t>
                </m:r>
                <m:sSup>
                  <m:sSupPr>
                    <m:ctrlPr>
                      <a:rPr lang="en-US" i="1"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i="1">
                        <a:latin typeface="Cambria Math"/>
                      </a:rPr>
                      <m:t>𝑥</m:t>
                    </m:r>
                  </m:e>
                  <m:sup>
                    <m:r>
                      <a:rPr lang="en-US" i="1">
                        <a:latin typeface="Cambria Math"/>
                      </a:rPr>
                      <m:t>′</m:t>
                    </m:r>
                  </m:sup>
                </m:sSup>
                <m:r>
                  <a:rPr lang="en-US" i="1">
                    <a:latin typeface="Cambria Math"/>
                  </a:rPr>
                  <m:t>)</m:t>
                </m:r>
              </m:oMath>
            </a14:m>
            <a:r>
              <a:rPr sz="1800"/>
              <a:t>이므로 이는 항상 유효한 충돌 → H는 CR도 아니다</a:t>
            </a:r>
          </a:p>
          <a:p>
            <a:r>
              <a:rPr sz="1800"/>
              <a:t>이 방향은 추가 가정이 필요 없다 — 2차 사전영상이 곧 충돌이기 때문</a:t>
            </a:r>
          </a:p>
        </p:txBody>
      </p:sp>
      <p:sp>
        <p:nvSpPr>
          <p:cNvPr id="4" name="슬라이드 번호 개체 틀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9</a:t>
            </a:fld>
            <a:endParaRPr lang="ko-KR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증명: 균일성 가정 하의 사전영상 저항성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CR ⇒ PR과 2PR ⇒ PR은 "균일한 해시 함수"라는 가정 하에 같은 기법으로 성립한다</a:t>
            </a:r>
          </a:p>
          <a:p>
            <a:r>
              <a:rPr sz="1800"/>
              <a:t>기법: 무작위 입력을 해싱해 얻은 목표값을 상대 게임의 오라클에 넘긴다</a:t>
            </a:r>
          </a:p>
          <a:p>
            <a:r>
              <a:rPr sz="1800"/>
              <a:t>CR ⇒ PR: </a:t>
            </a:r>
            <a14:m xmlns:a14="http://schemas.microsoft.com/office/drawing/2010/main">
              <m:oMath xmlns:m="http://schemas.openxmlformats.org/officeDocument/2006/math">
                <m:sSub>
                  <m:sSubPr>
                    <m:ctrlPr>
                      <a:rPr lang="en-US"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>
                        <a:latin typeface="Cambria Math"/>
                      </a:rPr>
                      <m:t>𝑥</m:t>
                    </m:r>
                  </m:e>
                  <m:sub>
                    <m:r>
                      <a:rPr lang="en-US" i="1">
                        <a:latin typeface="Cambria Math"/>
                      </a:rPr>
                      <m:t>1</m:t>
                    </m:r>
                  </m:sub>
                </m:sSub>
              </m:oMath>
            </a14:m>
            <a:r>
              <a:rPr sz="1800"/>
              <a:t>을 무작위로 뽑아 </a:t>
            </a:r>
            <a14:m xmlns:a14="http://schemas.microsoft.com/office/drawing/2010/main">
              <m:oMath xmlns:m="http://schemas.openxmlformats.org/officeDocument/2006/math">
                <m:r>
                  <a:rPr lang="en-US" i="1">
                    <a:latin typeface="Cambria Math"/>
                  </a:rPr>
                  <m:t>𝑦</m:t>
                </m:r>
                <m:r>
                  <a:rPr lang="en-US" i="1">
                    <a:latin typeface="Cambria Math"/>
                  </a:rPr>
                  <m:t>=</m:t>
                </m:r>
                <m:r>
                  <a:rPr lang="en-US" i="1">
                    <a:latin typeface="Cambria Math"/>
                  </a:rPr>
                  <m:t>𝐻</m:t>
                </m:r>
                <m:r>
                  <a:rPr lang="en-US" i="1">
                    <a:latin typeface="Cambria Math"/>
                  </a:rPr>
                  <m:t>(</m:t>
                </m:r>
                <m:sSub>
                  <m:sSubPr>
                    <m:ctrlPr>
                      <a:rPr lang="en-US" i="1"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>
                        <a:latin typeface="Cambria Math"/>
                      </a:rPr>
                      <m:t>𝑥</m:t>
                    </m:r>
                  </m:e>
                  <m:sub>
                    <m:r>
                      <a:rPr lang="en-US" i="1">
                        <a:latin typeface="Cambria Math"/>
                      </a:rPr>
                      <m:t>1</m:t>
                    </m:r>
                  </m:sub>
                </m:sSub>
                <m:r>
                  <a:rPr lang="en-US" i="1">
                    <a:latin typeface="Cambria Math"/>
                  </a:rPr>
                  <m:t>)</m:t>
                </m:r>
              </m:oMath>
            </a14:m>
            <a:r>
              <a:rPr sz="1800"/>
              <a:t> 계산 → PR 깨는 A로 </a:t>
            </a:r>
            <a14:m xmlns:a14="http://schemas.microsoft.com/office/drawing/2010/main">
              <m:oMath xmlns:m="http://schemas.openxmlformats.org/officeDocument/2006/math">
                <m:r>
                  <a:rPr lang="en-US" i="1">
                    <a:latin typeface="Cambria Math"/>
                  </a:rPr>
                  <m:t>𝐴</m:t>
                </m:r>
                <m:r>
                  <a:rPr lang="en-US" i="1">
                    <a:latin typeface="Cambria Math"/>
                  </a:rPr>
                  <m:t>(</m:t>
                </m:r>
                <m:r>
                  <a:rPr lang="en-US" i="1">
                    <a:latin typeface="Cambria Math"/>
                  </a:rPr>
                  <m:t>𝑦</m:t>
                </m:r>
                <m:r>
                  <a:rPr lang="en-US" i="1">
                    <a:latin typeface="Cambria Math"/>
                  </a:rPr>
                  <m:t>)=</m:t>
                </m:r>
                <m:sSub>
                  <m:sSubPr>
                    <m:ctrlPr>
                      <a:rPr lang="en-US" i="1"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>
                        <a:latin typeface="Cambria Math"/>
                      </a:rPr>
                      <m:t>𝑥</m:t>
                    </m:r>
                  </m:e>
                  <m:sub>
                    <m:r>
                      <a:rPr lang="en-US" i="1">
                        <a:latin typeface="Cambria Math"/>
                      </a:rPr>
                      <m:t>2</m:t>
                    </m:r>
                  </m:sub>
                </m:sSub>
              </m:oMath>
            </a14:m>
            <a:r>
              <a:rPr sz="1800"/>
              <a:t> 획득 → </a:t>
            </a:r>
            <a14:m xmlns:a14="http://schemas.microsoft.com/office/drawing/2010/main">
              <m:oMath xmlns:m="http://schemas.openxmlformats.org/officeDocument/2006/math">
                <m:r>
                  <a:rPr lang="en-US" i="1">
                    <a:latin typeface="Cambria Math"/>
                  </a:rPr>
                  <m:t>(</m:t>
                </m:r>
                <m:sSub>
                  <m:sSubPr>
                    <m:ctrlPr>
                      <a:rPr lang="en-US" i="1"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>
                        <a:latin typeface="Cambria Math"/>
                      </a:rPr>
                      <m:t>𝑥</m:t>
                    </m:r>
                  </m:e>
                  <m:sub>
                    <m:r>
                      <a:rPr lang="en-US" i="1">
                        <a:latin typeface="Cambria Math"/>
                      </a:rPr>
                      <m:t>1</m:t>
                    </m:r>
                  </m:sub>
                </m:sSub>
                <m:r>
                  <a:rPr lang="en-US" i="1">
                    <a:latin typeface="Cambria Math"/>
                  </a:rPr>
                  <m:t>,</m:t>
                </m:r>
                <m:sSub>
                  <m:sSubPr>
                    <m:ctrlPr>
                      <a:rPr lang="en-US" i="1"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>
                        <a:latin typeface="Cambria Math"/>
                      </a:rPr>
                      <m:t>𝑥</m:t>
                    </m:r>
                  </m:e>
                  <m:sub>
                    <m:r>
                      <a:rPr lang="en-US" i="1">
                        <a:latin typeface="Cambria Math"/>
                      </a:rPr>
                      <m:t>2</m:t>
                    </m:r>
                  </m:sub>
                </m:sSub>
                <m:r>
                  <a:rPr lang="en-US" i="1">
                    <a:latin typeface="Cambria Math"/>
                  </a:rPr>
                  <m:t>)</m:t>
                </m:r>
              </m:oMath>
            </a14:m>
            <a:r>
              <a:rPr sz="1800"/>
              <a:t>가 충돌 후보</a:t>
            </a:r>
          </a:p>
          <a:p>
            <a:r>
              <a:rPr sz="1800"/>
              <a:t>균일성 가정 하에 </a:t>
            </a:r>
            <a14:m xmlns:a14="http://schemas.microsoft.com/office/drawing/2010/main">
              <m:oMath xmlns:m="http://schemas.openxmlformats.org/officeDocument/2006/math">
                <m:r>
                  <a:rPr lang="en-US" i="1">
                    <a:latin typeface="Cambria Math"/>
                  </a:rPr>
                  <m:t>𝑦</m:t>
                </m:r>
              </m:oMath>
            </a14:m>
            <a:r>
              <a:rPr sz="1800"/>
              <a:t>의 사전영상이 다수 존재 → A가 정확히 </a:t>
            </a:r>
            <a14:m xmlns:a14="http://schemas.microsoft.com/office/drawing/2010/main">
              <m:oMath xmlns:m="http://schemas.openxmlformats.org/officeDocument/2006/math">
                <m:sSub>
                  <m:sSubPr>
                    <m:ctrlPr>
                      <a:rPr lang="en-US"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>
                        <a:latin typeface="Cambria Math"/>
                      </a:rPr>
                      <m:t>𝑥</m:t>
                    </m:r>
                  </m:e>
                  <m:sub>
                    <m:r>
                      <a:rPr lang="en-US" i="1">
                        <a:latin typeface="Cambria Math"/>
                      </a:rPr>
                      <m:t>1</m:t>
                    </m:r>
                  </m:sub>
                </m:sSub>
              </m:oMath>
            </a14:m>
            <a:r>
              <a:rPr sz="1800"/>
              <a:t>을 돌려줄 확률은 무시 가능 → </a:t>
            </a:r>
            <a14:m xmlns:a14="http://schemas.microsoft.com/office/drawing/2010/main">
              <m:oMath xmlns:m="http://schemas.openxmlformats.org/officeDocument/2006/math">
                <m:sSub>
                  <m:sSubPr>
                    <m:ctrlPr>
                      <a:rPr lang="en-US"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>
                        <a:latin typeface="Cambria Math"/>
                      </a:rPr>
                      <m:t>𝑥</m:t>
                    </m:r>
                  </m:e>
                  <m:sub>
                    <m:r>
                      <a:rPr lang="en-US" i="1">
                        <a:latin typeface="Cambria Math"/>
                      </a:rPr>
                      <m:t>2</m:t>
                    </m:r>
                  </m:sub>
                </m:sSub>
                <m:r>
                  <a:rPr lang="en-US" i="1">
                    <a:latin typeface="Cambria Math"/>
                  </a:rPr>
                  <m:t>≠</m:t>
                </m:r>
                <m:sSub>
                  <m:sSubPr>
                    <m:ctrlPr>
                      <a:rPr lang="en-US" i="1"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>
                        <a:latin typeface="Cambria Math"/>
                      </a:rPr>
                      <m:t>𝑥</m:t>
                    </m:r>
                  </m:e>
                  <m:sub>
                    <m:r>
                      <a:rPr lang="en-US" i="1">
                        <a:latin typeface="Cambria Math"/>
                      </a:rPr>
                      <m:t>1</m:t>
                    </m:r>
                  </m:sub>
                </m:sSub>
              </m:oMath>
            </a14:m>
            <a:r>
              <a:rPr sz="1800"/>
              <a:t>일 확률이 높다</a:t>
            </a:r>
          </a:p>
          <a:p>
            <a:r>
              <a:rPr sz="1800"/>
              <a:t>균일성이 없으면 깨진다: </a:t>
            </a:r>
            <a14:m xmlns:a14="http://schemas.microsoft.com/office/drawing/2010/main">
              <m:oMath xmlns:m="http://schemas.openxmlformats.org/officeDocument/2006/math">
                <m:r>
                  <a:rPr lang="en-US" i="1">
                    <a:latin typeface="Cambria Math"/>
                  </a:rPr>
                  <m:t>𝑦</m:t>
                </m:r>
              </m:oMath>
            </a14:m>
            <a:r>
              <a:rPr sz="1800"/>
              <a:t>의 사전영상이 유일하면 A는 항상 </a:t>
            </a:r>
            <a14:m xmlns:a14="http://schemas.microsoft.com/office/drawing/2010/main">
              <m:oMath xmlns:m="http://schemas.openxmlformats.org/officeDocument/2006/math">
                <m:sSub>
                  <m:sSubPr>
                    <m:ctrlPr>
                      <a:rPr lang="en-US"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>
                        <a:latin typeface="Cambria Math"/>
                      </a:rPr>
                      <m:t>𝑥</m:t>
                    </m:r>
                  </m:e>
                  <m:sub>
                    <m:r>
                      <a:rPr lang="en-US" i="1">
                        <a:latin typeface="Cambria Math"/>
                      </a:rPr>
                      <m:t>1</m:t>
                    </m:r>
                  </m:sub>
                </m:sSub>
              </m:oMath>
            </a14:m>
            <a:r>
              <a:rPr sz="1800"/>
              <a:t> 자체만 반환할 수 있다</a:t>
            </a:r>
          </a:p>
        </p:txBody>
      </p:sp>
      <p:sp>
        <p:nvSpPr>
          <p:cNvPr id="4" name="슬라이드 번호 개체 틀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10</a:t>
            </a:fld>
            <a:endParaRPr lang="ko-KR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일반 공격 비용: 고전 vs 양자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일반 공격(generic attack)은 해시 함수의 특정 설계를 이용하지 않는다</a:t>
            </a:r>
          </a:p>
          <a:p>
            <a:r>
              <a:rPr sz="1800"/>
              <a:t>안전하려면 출력 길이가 최소 256비트여야 한다 — 충돌 저항성엔 </a:t>
            </a:r>
            <a14:m xmlns:a14="http://schemas.microsoft.com/office/drawing/2010/main">
              <m:oMath xmlns:m="http://schemas.openxmlformats.org/officeDocument/2006/math">
                <m:sSup>
                  <m:sSupPr>
                    <m:ctrlPr>
                      <a:rPr lang="en-US"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i="1">
                        <a:latin typeface="Cambria Math"/>
                      </a:rPr>
                      <m:t>2</m:t>
                    </m:r>
                  </m:e>
                  <m:sup>
                    <m:r>
                      <a:rPr lang="en-US" i="1">
                        <a:latin typeface="Cambria Math"/>
                      </a:rPr>
                      <m:t>128</m:t>
                    </m:r>
                  </m:sup>
                </m:sSup>
              </m:oMath>
            </a14:m>
            <a:r>
              <a:rPr sz="1800"/>
              <a:t> 연산이 필요</a:t>
            </a:r>
          </a:p>
        </p:txBody>
      </p:sp>
      <p:sp>
        <p:nvSpPr>
          <p:cNvPr id="4" name="슬라이드 번호 개체 틀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11</a:t>
            </a:fld>
            <a:endParaRPr lang="ko-KR" alt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7529956"/>
              </p:ext>
            </p:extLst>
          </p:nvPr>
        </p:nvGraphicFramePr>
        <p:xfrm>
          <a:off x="838200" y="2548586"/>
          <a:ext cx="105156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chemeClr val="bg1"/>
                          </a:solidFill>
                        </a:rPr>
                        <a:t>공격 대상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chemeClr val="bg1"/>
                          </a:solidFill>
                        </a:rPr>
                        <a:t>고전 공격 비용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 err="1">
                          <a:solidFill>
                            <a:schemeClr val="bg1"/>
                          </a:solidFill>
                        </a:rPr>
                        <a:t>양자</a:t>
                      </a:r>
                      <a:r>
                        <a:rPr sz="1800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sz="1800" b="1" dirty="0" err="1">
                          <a:solidFill>
                            <a:schemeClr val="bg1"/>
                          </a:solidFill>
                        </a:rPr>
                        <a:t>공격</a:t>
                      </a:r>
                      <a:r>
                        <a:rPr sz="1800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sz="1800" b="1" dirty="0" err="1">
                          <a:solidFill>
                            <a:schemeClr val="bg1"/>
                          </a:solidFill>
                        </a:rPr>
                        <a:t>비용</a:t>
                      </a:r>
                      <a:endParaRPr sz="1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사전영상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2</a:t>
                      </a:r>
                      <a:r>
                        <a:rPr sz="1800" baseline="30000"/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2^(n/2) (Grover)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2차 사전영상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2</a:t>
                      </a:r>
                      <a:r>
                        <a:rPr sz="1800" baseline="30000"/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2^(n/2) (Grover)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충돌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2^(n/2) (VW)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2^(n/2) (VW)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SHA-2/SHA-3와 양자 보안 수준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SHA-2 계열(SHA-256/384/512)은 반복(iterated) 구조</a:t>
            </a:r>
          </a:p>
          <a:p>
            <a:r>
              <a:rPr sz="1800"/>
              <a:t>SHA-3 계열(Keccak, SHA3-256/384/512)은 스펀지(sponge) 구조</a:t>
            </a:r>
          </a:p>
        </p:txBody>
      </p:sp>
      <p:sp>
        <p:nvSpPr>
          <p:cNvPr id="4" name="슬라이드 번호 개체 틀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12</a:t>
            </a:fld>
            <a:endParaRPr lang="ko-KR" alt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41248" y="2743200"/>
          <a:ext cx="105156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chemeClr val="bg1"/>
                          </a:solidFill>
                        </a:rPr>
                        <a:t>해시 함수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chemeClr val="bg1"/>
                          </a:solidFill>
                        </a:rPr>
                        <a:t>사전영상 저항성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chemeClr val="bg1"/>
                          </a:solidFill>
                        </a:rPr>
                        <a:t>2차 사전영상 저항성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chemeClr val="bg1"/>
                          </a:solidFill>
                        </a:rPr>
                        <a:t>충돌 저항성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SHA-256/SHA3-256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128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128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128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SHA-384/SHA3-384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192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192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192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SHA-512/SHA3-512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256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256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256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Lamport 일회성 서명 스킴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Lamport one-time signature scheme</a:t>
            </a:r>
          </a:p>
        </p:txBody>
      </p:sp>
      <p:sp>
        <p:nvSpPr>
          <p:cNvPr id="4" name="슬라이드 번호 개체 틀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13</a:t>
            </a:fld>
            <a:endParaRPr lang="ko-KR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Lamport 서명 스킴의 역사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Leslie Lamport가 1975년 Whitfield Diffie에게 서명 스킴을 구두로 전달했다</a:t>
            </a:r>
          </a:p>
          <a:p>
            <a:r>
              <a:rPr sz="1800"/>
              <a:t>1976년 Diffie–Hellman의 기념비적 논문 “New Directions in Cryptography”에 수록됐다</a:t>
            </a:r>
          </a:p>
          <a:p>
            <a:r>
              <a:rPr sz="1800"/>
              <a:t>1979년 Lamport의 기술보고서 “Constructing Digital Signatures from a One-Way Function”에 상세히 기술됐다</a:t>
            </a:r>
          </a:p>
          <a:p>
            <a:r>
              <a:rPr sz="1800"/>
              <a:t>안전성이 수론적 가정이 아니라 해시 함수의 표준 성질에만 의존 — 고전·양자 공격 모두에 안전하다</a:t>
            </a:r>
          </a:p>
        </p:txBody>
      </p:sp>
      <p:sp>
        <p:nvSpPr>
          <p:cNvPr id="4" name="슬라이드 번호 개체 틀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14</a:t>
            </a:fld>
            <a:endParaRPr lang="ko-KR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단일 비트 토이 스킴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39" y="1294790"/>
            <a:ext cx="5303520" cy="4700016"/>
          </a:xfrm>
        </p:spPr>
        <p:txBody>
          <a:bodyPr/>
          <a:lstStyle/>
          <a:p>
            <a14:m xmlns:a14="http://schemas.microsoft.com/office/drawing/2010/main">
              <m:oMath xmlns:m="http://schemas.openxmlformats.org/officeDocument/2006/math">
                <m:r>
                  <a:rPr lang="en-US" i="1">
                    <a:latin typeface="Cambria Math"/>
                  </a:rPr>
                  <m:t>𝐺</m:t>
                </m:r>
                <m:r>
                  <a:rPr lang="en-US" i="1">
                    <a:latin typeface="Cambria Math"/>
                  </a:rPr>
                  <m:t>:{0,1</m:t>
                </m:r>
                <m:sSup>
                  <m:sSupPr>
                    <m:ctrlPr>
                      <a:rPr lang="en-US" i="1"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i="1">
                        <a:latin typeface="Cambria Math"/>
                      </a:rPr>
                      <m:t>}</m:t>
                    </m:r>
                  </m:e>
                  <m:sup>
                    <m:r>
                      <a:rPr lang="en-US" i="1">
                        <a:latin typeface="Cambria Math"/>
                      </a:rPr>
                      <m:t>𝑛</m:t>
                    </m:r>
                  </m:sup>
                </m:sSup>
                <m:r>
                  <a:rPr lang="en-US" i="1">
                    <a:latin typeface="Cambria Math"/>
                  </a:rPr>
                  <m:t>→{0,1</m:t>
                </m:r>
                <m:sSup>
                  <m:sSupPr>
                    <m:ctrlPr>
                      <a:rPr lang="en-US" i="1"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i="1">
                        <a:latin typeface="Cambria Math"/>
                      </a:rPr>
                      <m:t>}</m:t>
                    </m:r>
                  </m:e>
                  <m:sup>
                    <m:r>
                      <a:rPr lang="en-US" i="1">
                        <a:latin typeface="Cambria Math"/>
                      </a:rPr>
                      <m:t>𝑛</m:t>
                    </m:r>
                  </m:sup>
                </m:sSup>
              </m:oMath>
            </a14:m>
            <a:r>
              <a:rPr sz="1800"/>
              <a:t>은 사전영상 저항 해시 함수</a:t>
            </a:r>
          </a:p>
          <a:p>
            <a:r>
              <a:rPr sz="1800"/>
              <a:t>키 생성: </a:t>
            </a:r>
            <a14:m xmlns:a14="http://schemas.microsoft.com/office/drawing/2010/main">
              <m:oMath xmlns:m="http://schemas.openxmlformats.org/officeDocument/2006/math">
                <m:sSub>
                  <m:sSubPr>
                    <m:ctrlPr>
                      <a:rPr lang="en-US"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>
                        <a:latin typeface="Cambria Math"/>
                      </a:rPr>
                      <m:t>𝑥</m:t>
                    </m:r>
                  </m:e>
                  <m:sub>
                    <m:r>
                      <a:rPr lang="en-US" i="1">
                        <a:latin typeface="Cambria Math"/>
                      </a:rPr>
                      <m:t>0</m:t>
                    </m:r>
                  </m:sub>
                </m:sSub>
                <m:r>
                  <a:rPr lang="en-US" i="1">
                    <a:latin typeface="Cambria Math"/>
                  </a:rPr>
                  <m:t>,</m:t>
                </m:r>
                <m:sSub>
                  <m:sSubPr>
                    <m:ctrlPr>
                      <a:rPr lang="en-US" i="1"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>
                        <a:latin typeface="Cambria Math"/>
                      </a:rPr>
                      <m:t>𝑥</m:t>
                    </m:r>
                  </m:e>
                  <m:sub>
                    <m:r>
                      <a:rPr lang="en-US" i="1">
                        <a:latin typeface="Cambria Math"/>
                      </a:rPr>
                      <m:t>1</m:t>
                    </m:r>
                  </m:sub>
                </m:sSub>
                <m:r>
                  <a:rPr lang="en-US" i="1">
                    <a:latin typeface="Cambria Math"/>
                  </a:rPr>
                  <m:t>∈{0,1</m:t>
                </m:r>
                <m:sSup>
                  <m:sSupPr>
                    <m:ctrlPr>
                      <a:rPr lang="en-US" i="1"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i="1">
                        <a:latin typeface="Cambria Math"/>
                      </a:rPr>
                      <m:t>}</m:t>
                    </m:r>
                  </m:e>
                  <m:sup>
                    <m:r>
                      <a:rPr lang="en-US" i="1">
                        <a:latin typeface="Cambria Math"/>
                      </a:rPr>
                      <m:t>𝑛</m:t>
                    </m:r>
                  </m:sup>
                </m:sSup>
              </m:oMath>
            </a14:m>
            <a:r>
              <a:rPr sz="1800"/>
              <a:t>를 무작위 선택, </a:t>
            </a:r>
            <a14:m xmlns:a14="http://schemas.microsoft.com/office/drawing/2010/main">
              <m:oMath xmlns:m="http://schemas.openxmlformats.org/officeDocument/2006/math">
                <m:sSub>
                  <m:sSubPr>
                    <m:ctrlPr>
                      <a:rPr lang="en-US"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>
                        <a:latin typeface="Cambria Math"/>
                      </a:rPr>
                      <m:t>𝑦</m:t>
                    </m:r>
                  </m:e>
                  <m:sub>
                    <m:r>
                      <a:rPr lang="en-US" i="1">
                        <a:latin typeface="Cambria Math"/>
                      </a:rPr>
                      <m:t>0</m:t>
                    </m:r>
                  </m:sub>
                </m:sSub>
                <m:r>
                  <a:rPr lang="en-US" i="1">
                    <a:latin typeface="Cambria Math"/>
                  </a:rPr>
                  <m:t>=</m:t>
                </m:r>
                <m:r>
                  <a:rPr lang="en-US" i="1">
                    <a:latin typeface="Cambria Math"/>
                  </a:rPr>
                  <m:t>𝐺</m:t>
                </m:r>
                <m:r>
                  <a:rPr lang="en-US" i="1">
                    <a:latin typeface="Cambria Math"/>
                  </a:rPr>
                  <m:t>(</m:t>
                </m:r>
                <m:sSub>
                  <m:sSubPr>
                    <m:ctrlPr>
                      <a:rPr lang="en-US" i="1"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>
                        <a:latin typeface="Cambria Math"/>
                      </a:rPr>
                      <m:t>𝑥</m:t>
                    </m:r>
                  </m:e>
                  <m:sub>
                    <m:r>
                      <a:rPr lang="en-US" i="1">
                        <a:latin typeface="Cambria Math"/>
                      </a:rPr>
                      <m:t>0</m:t>
                    </m:r>
                  </m:sub>
                </m:sSub>
                <m:r>
                  <a:rPr lang="en-US" i="1">
                    <a:latin typeface="Cambria Math"/>
                  </a:rPr>
                  <m:t>),</m:t>
                </m:r>
                <m:r>
                  <m:rPr>
                    <m:nor/>
                  </m:rPr>
                  <a:rPr lang="en-US" i="0">
                    <a:latin typeface="Cambria Math"/>
                  </a:rPr>
                  <m:t> </m:t>
                </m:r>
                <m:sSub>
                  <m:sSubPr>
                    <m:ctrlPr>
                      <a:rPr lang="en-US" i="1"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>
                        <a:latin typeface="Cambria Math"/>
                      </a:rPr>
                      <m:t>𝑦</m:t>
                    </m:r>
                  </m:e>
                  <m:sub>
                    <m:r>
                      <a:rPr lang="en-US" i="1">
                        <a:latin typeface="Cambria Math"/>
                      </a:rPr>
                      <m:t>1</m:t>
                    </m:r>
                  </m:sub>
                </m:sSub>
                <m:r>
                  <a:rPr lang="en-US" i="1">
                    <a:latin typeface="Cambria Math"/>
                  </a:rPr>
                  <m:t>=</m:t>
                </m:r>
                <m:r>
                  <a:rPr lang="en-US" i="1">
                    <a:latin typeface="Cambria Math"/>
                  </a:rPr>
                  <m:t>𝐺</m:t>
                </m:r>
                <m:r>
                  <a:rPr lang="en-US" i="1">
                    <a:latin typeface="Cambria Math"/>
                  </a:rPr>
                  <m:t>(</m:t>
                </m:r>
                <m:sSub>
                  <m:sSubPr>
                    <m:ctrlPr>
                      <a:rPr lang="en-US" i="1"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>
                        <a:latin typeface="Cambria Math"/>
                      </a:rPr>
                      <m:t>𝑥</m:t>
                    </m:r>
                  </m:e>
                  <m:sub>
                    <m:r>
                      <a:rPr lang="en-US" i="1">
                        <a:latin typeface="Cambria Math"/>
                      </a:rPr>
                      <m:t>1</m:t>
                    </m:r>
                  </m:sub>
                </m:sSub>
                <m:r>
                  <a:rPr lang="en-US" i="1">
                    <a:latin typeface="Cambria Math"/>
                  </a:rPr>
                  <m:t>)</m:t>
                </m:r>
              </m:oMath>
            </a14:m>
            <a:r>
              <a:rPr sz="1800"/>
              <a:t> — 개인키 </a:t>
            </a:r>
            <a14:m xmlns:a14="http://schemas.microsoft.com/office/drawing/2010/main">
              <m:oMath xmlns:m="http://schemas.openxmlformats.org/officeDocument/2006/math">
                <m:r>
                  <a:rPr lang="en-US" i="1">
                    <a:latin typeface="Cambria Math"/>
                  </a:rPr>
                  <m:t>(</m:t>
                </m:r>
                <m:sSub>
                  <m:sSubPr>
                    <m:ctrlPr>
                      <a:rPr lang="en-US" i="1"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>
                        <a:latin typeface="Cambria Math"/>
                      </a:rPr>
                      <m:t>𝑥</m:t>
                    </m:r>
                  </m:e>
                  <m:sub>
                    <m:r>
                      <a:rPr lang="en-US" i="1">
                        <a:latin typeface="Cambria Math"/>
                      </a:rPr>
                      <m:t>0</m:t>
                    </m:r>
                  </m:sub>
                </m:sSub>
                <m:r>
                  <a:rPr lang="en-US" i="1">
                    <a:latin typeface="Cambria Math"/>
                  </a:rPr>
                  <m:t>,</m:t>
                </m:r>
                <m:sSub>
                  <m:sSubPr>
                    <m:ctrlPr>
                      <a:rPr lang="en-US" i="1"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>
                        <a:latin typeface="Cambria Math"/>
                      </a:rPr>
                      <m:t>𝑥</m:t>
                    </m:r>
                  </m:e>
                  <m:sub>
                    <m:r>
                      <a:rPr lang="en-US" i="1">
                        <a:latin typeface="Cambria Math"/>
                      </a:rPr>
                      <m:t>1</m:t>
                    </m:r>
                  </m:sub>
                </m:sSub>
                <m:r>
                  <a:rPr lang="en-US" i="1">
                    <a:latin typeface="Cambria Math"/>
                  </a:rPr>
                  <m:t>)</m:t>
                </m:r>
              </m:oMath>
            </a14:m>
            <a:r>
              <a:rPr sz="1800"/>
              <a:t>, 공개키 </a:t>
            </a:r>
            <a14:m xmlns:a14="http://schemas.microsoft.com/office/drawing/2010/main">
              <m:oMath xmlns:m="http://schemas.openxmlformats.org/officeDocument/2006/math">
                <m:r>
                  <a:rPr lang="en-US" i="1">
                    <a:latin typeface="Cambria Math"/>
                  </a:rPr>
                  <m:t>(</m:t>
                </m:r>
                <m:sSub>
                  <m:sSubPr>
                    <m:ctrlPr>
                      <a:rPr lang="en-US" i="1"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>
                        <a:latin typeface="Cambria Math"/>
                      </a:rPr>
                      <m:t>𝑦</m:t>
                    </m:r>
                  </m:e>
                  <m:sub>
                    <m:r>
                      <a:rPr lang="en-US" i="1">
                        <a:latin typeface="Cambria Math"/>
                      </a:rPr>
                      <m:t>0</m:t>
                    </m:r>
                  </m:sub>
                </m:sSub>
                <m:r>
                  <a:rPr lang="en-US" i="1">
                    <a:latin typeface="Cambria Math"/>
                  </a:rPr>
                  <m:t>,</m:t>
                </m:r>
                <m:sSub>
                  <m:sSubPr>
                    <m:ctrlPr>
                      <a:rPr lang="en-US" i="1"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>
                        <a:latin typeface="Cambria Math"/>
                      </a:rPr>
                      <m:t>𝑦</m:t>
                    </m:r>
                  </m:e>
                  <m:sub>
                    <m:r>
                      <a:rPr lang="en-US" i="1">
                        <a:latin typeface="Cambria Math"/>
                      </a:rPr>
                      <m:t>1</m:t>
                    </m:r>
                  </m:sub>
                </m:sSub>
                <m:r>
                  <a:rPr lang="en-US" i="1">
                    <a:latin typeface="Cambria Math"/>
                  </a:rPr>
                  <m:t>)</m:t>
                </m:r>
              </m:oMath>
            </a14:m>
            <a:endParaRPr sz="1800"/>
          </a:p>
          <a:p>
            <a:r>
              <a:rPr sz="1800"/>
              <a:t>서명 생성: 비트 </a:t>
            </a:r>
            <a14:m xmlns:a14="http://schemas.microsoft.com/office/drawing/2010/main">
              <m:oMath xmlns:m="http://schemas.openxmlformats.org/officeDocument/2006/math">
                <m:r>
                  <a:rPr lang="en-US" i="1">
                    <a:latin typeface="Cambria Math"/>
                  </a:rPr>
                  <m:t>𝑚</m:t>
                </m:r>
              </m:oMath>
            </a14:m>
            <a:r>
              <a:rPr sz="1800"/>
              <a:t>을 서명 — </a:t>
            </a:r>
            <a14:m xmlns:a14="http://schemas.microsoft.com/office/drawing/2010/main">
              <m:oMath xmlns:m="http://schemas.openxmlformats.org/officeDocument/2006/math">
                <m:r>
                  <a:rPr lang="en-US" i="1">
                    <a:latin typeface="Cambria Math"/>
                  </a:rPr>
                  <m:t>𝑆</m:t>
                </m:r>
                <m:r>
                  <a:rPr lang="en-US" i="1">
                    <a:latin typeface="Cambria Math"/>
                  </a:rPr>
                  <m:t>=</m:t>
                </m:r>
                <m:sSub>
                  <m:sSubPr>
                    <m:ctrlPr>
                      <a:rPr lang="en-US" i="1"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>
                        <a:latin typeface="Cambria Math"/>
                      </a:rPr>
                      <m:t>𝑥</m:t>
                    </m:r>
                  </m:e>
                  <m:sub>
                    <m:r>
                      <a:rPr lang="en-US" i="1">
                        <a:latin typeface="Cambria Math"/>
                      </a:rPr>
                      <m:t>𝑚</m:t>
                    </m:r>
                  </m:sub>
                </m:sSub>
              </m:oMath>
            </a14:m>
            <a:r>
              <a:rPr sz="1800"/>
              <a:t>, 서명된 메시지는 </a:t>
            </a:r>
            <a14:m xmlns:a14="http://schemas.microsoft.com/office/drawing/2010/main">
              <m:oMath xmlns:m="http://schemas.openxmlformats.org/officeDocument/2006/math">
                <m:r>
                  <a:rPr lang="en-US" i="1">
                    <a:latin typeface="Cambria Math"/>
                  </a:rPr>
                  <m:t>(</m:t>
                </m:r>
                <m:r>
                  <a:rPr lang="en-US" i="1">
                    <a:latin typeface="Cambria Math"/>
                  </a:rPr>
                  <m:t>𝑚</m:t>
                </m:r>
                <m:r>
                  <a:rPr lang="en-US" i="1">
                    <a:latin typeface="Cambria Math"/>
                  </a:rPr>
                  <m:t>,</m:t>
                </m:r>
                <m:r>
                  <a:rPr lang="en-US" i="1">
                    <a:latin typeface="Cambria Math"/>
                  </a:rPr>
                  <m:t>𝑆</m:t>
                </m:r>
                <m:r>
                  <a:rPr lang="en-US" i="1">
                    <a:latin typeface="Cambria Math"/>
                  </a:rPr>
                  <m:t>)</m:t>
                </m:r>
              </m:oMath>
            </a14:m>
            <a:endParaRPr sz="1800"/>
          </a:p>
          <a:p>
            <a:r>
              <a:rPr sz="1800"/>
              <a:t>서명 검증: 공개키를 가진 사람은 </a:t>
            </a:r>
            <a14:m xmlns:a14="http://schemas.microsoft.com/office/drawing/2010/main">
              <m:oMath xmlns:m="http://schemas.openxmlformats.org/officeDocument/2006/math">
                <m:sSub>
                  <m:sSubPr>
                    <m:ctrlPr>
                      <a:rPr lang="en-US"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>
                        <a:latin typeface="Cambria Math"/>
                      </a:rPr>
                      <m:t>𝑦</m:t>
                    </m:r>
                  </m:e>
                  <m:sub>
                    <m:r>
                      <a:rPr lang="en-US" i="1">
                        <a:latin typeface="Cambria Math"/>
                      </a:rPr>
                      <m:t>𝑚</m:t>
                    </m:r>
                  </m:sub>
                </m:sSub>
                <m:r>
                  <a:rPr lang="en-US" i="1">
                    <a:latin typeface="Cambria Math"/>
                  </a:rPr>
                  <m:t>=</m:t>
                </m:r>
                <m:r>
                  <a:rPr lang="en-US" i="1">
                    <a:latin typeface="Cambria Math"/>
                  </a:rPr>
                  <m:t>𝐺</m:t>
                </m:r>
                <m:r>
                  <a:rPr lang="en-US" i="1">
                    <a:latin typeface="Cambria Math"/>
                  </a:rPr>
                  <m:t>(</m:t>
                </m:r>
                <m:r>
                  <a:rPr lang="en-US" i="1">
                    <a:latin typeface="Cambria Math"/>
                  </a:rPr>
                  <m:t>𝑆</m:t>
                </m:r>
                <m:r>
                  <a:rPr lang="en-US" i="1">
                    <a:latin typeface="Cambria Math"/>
                  </a:rPr>
                  <m:t>)</m:t>
                </m:r>
              </m:oMath>
            </a14:m>
            <a:r>
              <a:rPr sz="1800"/>
              <a:t>를 확인</a:t>
            </a:r>
          </a:p>
        </p:txBody>
      </p:sp>
      <p:sp>
        <p:nvSpPr>
          <p:cNvPr id="4" name="슬라이드 번호 개체 틀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15</a:t>
            </a:fld>
            <a:endParaRPr lang="ko-KR" altLang="en-US"/>
          </a:p>
        </p:txBody>
      </p:sp>
      <p:sp>
        <p:nvSpPr>
          <p:cNvPr id="5" name="Rectangle 4"/>
          <p:cNvSpPr/>
          <p:nvPr/>
        </p:nvSpPr>
        <p:spPr>
          <a:xfrm>
            <a:off x="6400800" y="1645920"/>
            <a:ext cx="5029200" cy="3840480"/>
          </a:xfrm>
          <a:prstGeom prst="rect">
            <a:avLst/>
          </a:prstGeom>
          <a:noFill/>
          <a:ln>
            <a:solidFill>
              <a:srgbClr val="A0A0A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t>[그림] Hash3.pdf p.21 — 단일 비트 서명 다이어그램(x0,x1,y</a:t>
            </a:r>
            <a:r>
              <a:rPr baseline="-25000"/>
              <a:t>0</a:t>
            </a:r>
            <a:r>
              <a:t>,y</a:t>
            </a:r>
            <a:r>
              <a:rPr baseline="-25000"/>
              <a:t>1</a:t>
            </a:r>
            <a:r>
              <a:t>,G)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숫자 예제: 단일 비트 서명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G(x)는 SHA-256(x)의 첫 바이트로 정의한 </a:t>
            </a:r>
            <a14:m xmlns:a14="http://schemas.microsoft.com/office/drawing/2010/main">
              <m:oMath xmlns:m="http://schemas.openxmlformats.org/officeDocument/2006/math">
                <m:r>
                  <a:rPr lang="en-US" i="1">
                    <a:latin typeface="Cambria Math"/>
                  </a:rPr>
                  <m:t>𝑛</m:t>
                </m:r>
                <m:r>
                  <a:rPr lang="en-US" i="1">
                    <a:latin typeface="Cambria Math"/>
                  </a:rPr>
                  <m:t>=8</m:t>
                </m:r>
              </m:oMath>
            </a14:m>
            <a:r>
              <a:rPr sz="1800"/>
              <a:t> 토이 버전으로 시연</a:t>
            </a:r>
          </a:p>
          <a:p>
            <a:r>
              <a:rPr sz="1800"/>
              <a:t>Alice가 </a:t>
            </a:r>
            <a14:m xmlns:a14="http://schemas.microsoft.com/office/drawing/2010/main">
              <m:oMath xmlns:m="http://schemas.openxmlformats.org/officeDocument/2006/math">
                <m:sSub>
                  <m:sSubPr>
                    <m:ctrlPr>
                      <a:rPr lang="en-US"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>
                        <a:latin typeface="Cambria Math"/>
                      </a:rPr>
                      <m:t>𝑥</m:t>
                    </m:r>
                  </m:e>
                  <m:sub>
                    <m:r>
                      <a:rPr lang="en-US" i="1">
                        <a:latin typeface="Cambria Math"/>
                      </a:rPr>
                      <m:t>0</m:t>
                    </m:r>
                  </m:sub>
                </m:sSub>
              </m:oMath>
            </a14:m>
            <a:r>
              <a:rPr sz="1800"/>
              <a:t> = 0x3A, </a:t>
            </a:r>
            <a14:m xmlns:a14="http://schemas.microsoft.com/office/drawing/2010/main">
              <m:oMath xmlns:m="http://schemas.openxmlformats.org/officeDocument/2006/math">
                <m:sSub>
                  <m:sSubPr>
                    <m:ctrlPr>
                      <a:rPr lang="en-US"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>
                        <a:latin typeface="Cambria Math"/>
                      </a:rPr>
                      <m:t>𝑥</m:t>
                    </m:r>
                  </m:e>
                  <m:sub>
                    <m:r>
                      <a:rPr lang="en-US" i="1">
                        <a:latin typeface="Cambria Math"/>
                      </a:rPr>
                      <m:t>1</m:t>
                    </m:r>
                  </m:sub>
                </m:sSub>
              </m:oMath>
            </a14:m>
            <a:r>
              <a:rPr sz="1800"/>
              <a:t> = 0x7E를 선택</a:t>
            </a:r>
          </a:p>
          <a:p>
            <a:r>
              <a:rPr sz="1800"/>
              <a:t>해시 계산: </a:t>
            </a:r>
            <a14:m xmlns:a14="http://schemas.microsoft.com/office/drawing/2010/main">
              <m:oMath xmlns:m="http://schemas.openxmlformats.org/officeDocument/2006/math">
                <m:sSub>
                  <m:sSubPr>
                    <m:ctrlPr>
                      <a:rPr lang="en-US"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>
                        <a:latin typeface="Cambria Math"/>
                      </a:rPr>
                      <m:t>𝑦</m:t>
                    </m:r>
                  </m:e>
                  <m:sub>
                    <m:r>
                      <a:rPr lang="en-US" i="1">
                        <a:latin typeface="Cambria Math"/>
                      </a:rPr>
                      <m:t>0</m:t>
                    </m:r>
                  </m:sub>
                </m:sSub>
                <m:r>
                  <a:rPr lang="en-US" i="1">
                    <a:latin typeface="Cambria Math"/>
                  </a:rPr>
                  <m:t>=</m:t>
                </m:r>
                <m:r>
                  <a:rPr lang="en-US" i="1">
                    <a:latin typeface="Cambria Math"/>
                  </a:rPr>
                  <m:t>𝐺</m:t>
                </m:r>
                <m:r>
                  <a:rPr lang="en-US" i="1">
                    <a:latin typeface="Cambria Math"/>
                  </a:rPr>
                  <m:t>(</m:t>
                </m:r>
                <m:sSub>
                  <m:sSubPr>
                    <m:ctrlPr>
                      <a:rPr lang="en-US" i="1"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>
                        <a:latin typeface="Cambria Math"/>
                      </a:rPr>
                      <m:t>𝑥</m:t>
                    </m:r>
                  </m:e>
                  <m:sub>
                    <m:r>
                      <a:rPr lang="en-US" i="1">
                        <a:latin typeface="Cambria Math"/>
                      </a:rPr>
                      <m:t>0</m:t>
                    </m:r>
                  </m:sub>
                </m:sSub>
                <m:r>
                  <a:rPr lang="en-US" i="1">
                    <a:latin typeface="Cambria Math"/>
                  </a:rPr>
                  <m:t>)</m:t>
                </m:r>
              </m:oMath>
            </a14:m>
            <a:r>
              <a:rPr sz="1800"/>
              <a:t> = 0xE7, </a:t>
            </a:r>
            <a14:m xmlns:a14="http://schemas.microsoft.com/office/drawing/2010/main">
              <m:oMath xmlns:m="http://schemas.openxmlformats.org/officeDocument/2006/math">
                <m:sSub>
                  <m:sSubPr>
                    <m:ctrlPr>
                      <a:rPr lang="en-US"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>
                        <a:latin typeface="Cambria Math"/>
                      </a:rPr>
                      <m:t>𝑦</m:t>
                    </m:r>
                  </m:e>
                  <m:sub>
                    <m:r>
                      <a:rPr lang="en-US" i="1">
                        <a:latin typeface="Cambria Math"/>
                      </a:rPr>
                      <m:t>1</m:t>
                    </m:r>
                  </m:sub>
                </m:sSub>
                <m:r>
                  <a:rPr lang="en-US" i="1">
                    <a:latin typeface="Cambria Math"/>
                  </a:rPr>
                  <m:t>=</m:t>
                </m:r>
                <m:r>
                  <a:rPr lang="en-US" i="1">
                    <a:latin typeface="Cambria Math"/>
                  </a:rPr>
                  <m:t>𝐺</m:t>
                </m:r>
                <m:r>
                  <a:rPr lang="en-US" i="1">
                    <a:latin typeface="Cambria Math"/>
                  </a:rPr>
                  <m:t>(</m:t>
                </m:r>
                <m:sSub>
                  <m:sSubPr>
                    <m:ctrlPr>
                      <a:rPr lang="en-US" i="1"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>
                        <a:latin typeface="Cambria Math"/>
                      </a:rPr>
                      <m:t>𝑥</m:t>
                    </m:r>
                  </m:e>
                  <m:sub>
                    <m:r>
                      <a:rPr lang="en-US" i="1">
                        <a:latin typeface="Cambria Math"/>
                      </a:rPr>
                      <m:t>1</m:t>
                    </m:r>
                  </m:sub>
                </m:sSub>
                <m:r>
                  <a:rPr lang="en-US" i="1">
                    <a:latin typeface="Cambria Math"/>
                  </a:rPr>
                  <m:t>)</m:t>
                </m:r>
              </m:oMath>
            </a14:m>
            <a:r>
              <a:rPr sz="1800"/>
              <a:t> = 0x7A → 공개키 </a:t>
            </a:r>
            <a14:m xmlns:a14="http://schemas.microsoft.com/office/drawing/2010/main">
              <m:oMath xmlns:m="http://schemas.openxmlformats.org/officeDocument/2006/math">
                <m:r>
                  <a:rPr lang="en-US" i="1">
                    <a:latin typeface="Cambria Math"/>
                  </a:rPr>
                  <m:t>𝑌</m:t>
                </m:r>
                <m:r>
                  <a:rPr lang="en-US" i="1">
                    <a:latin typeface="Cambria Math"/>
                  </a:rPr>
                  <m:t>=(</m:t>
                </m:r>
                <m:sSub>
                  <m:sSubPr>
                    <m:ctrlPr>
                      <a:rPr lang="en-US" i="1"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>
                        <a:latin typeface="Cambria Math"/>
                      </a:rPr>
                      <m:t>𝑦</m:t>
                    </m:r>
                  </m:e>
                  <m:sub>
                    <m:r>
                      <a:rPr lang="en-US" i="1">
                        <a:latin typeface="Cambria Math"/>
                      </a:rPr>
                      <m:t>0</m:t>
                    </m:r>
                  </m:sub>
                </m:sSub>
                <m:r>
                  <a:rPr lang="en-US" i="1">
                    <a:latin typeface="Cambria Math"/>
                  </a:rPr>
                  <m:t>,</m:t>
                </m:r>
                <m:sSub>
                  <m:sSubPr>
                    <m:ctrlPr>
                      <a:rPr lang="en-US" i="1"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>
                        <a:latin typeface="Cambria Math"/>
                      </a:rPr>
                      <m:t>𝑦</m:t>
                    </m:r>
                  </m:e>
                  <m:sub>
                    <m:r>
                      <a:rPr lang="en-US" i="1">
                        <a:latin typeface="Cambria Math"/>
                      </a:rPr>
                      <m:t>1</m:t>
                    </m:r>
                  </m:sub>
                </m:sSub>
                <m:r>
                  <a:rPr lang="en-US" i="1">
                    <a:latin typeface="Cambria Math"/>
                  </a:rPr>
                  <m:t>)</m:t>
                </m:r>
              </m:oMath>
            </a14:m>
            <a:r>
              <a:rPr sz="1800"/>
              <a:t> = (0xE7, 0x7A)</a:t>
            </a:r>
          </a:p>
          <a:p>
            <a:r>
              <a:rPr sz="1800"/>
              <a:t>비트 </a:t>
            </a:r>
            <a14:m xmlns:a14="http://schemas.microsoft.com/office/drawing/2010/main">
              <m:oMath xmlns:m="http://schemas.openxmlformats.org/officeDocument/2006/math">
                <m:r>
                  <a:rPr lang="en-US" i="1">
                    <a:latin typeface="Cambria Math"/>
                  </a:rPr>
                  <m:t>𝑚</m:t>
                </m:r>
                <m:r>
                  <a:rPr lang="en-US" i="1">
                    <a:latin typeface="Cambria Math"/>
                  </a:rPr>
                  <m:t>=0</m:t>
                </m:r>
              </m:oMath>
            </a14:m>
            <a:r>
              <a:rPr sz="1800"/>
              <a:t>을 서명 → </a:t>
            </a:r>
            <a14:m xmlns:a14="http://schemas.microsoft.com/office/drawing/2010/main">
              <m:oMath xmlns:m="http://schemas.openxmlformats.org/officeDocument/2006/math">
                <m:r>
                  <a:rPr lang="en-US" i="1">
                    <a:latin typeface="Cambria Math"/>
                  </a:rPr>
                  <m:t>𝑆</m:t>
                </m:r>
                <m:r>
                  <a:rPr lang="en-US" i="1">
                    <a:latin typeface="Cambria Math"/>
                  </a:rPr>
                  <m:t>=</m:t>
                </m:r>
                <m:sSub>
                  <m:sSubPr>
                    <m:ctrlPr>
                      <a:rPr lang="en-US" i="1"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>
                        <a:latin typeface="Cambria Math"/>
                      </a:rPr>
                      <m:t>𝑥</m:t>
                    </m:r>
                  </m:e>
                  <m:sub>
                    <m:r>
                      <a:rPr lang="en-US" i="1">
                        <a:latin typeface="Cambria Math"/>
                      </a:rPr>
                      <m:t>0</m:t>
                    </m:r>
                  </m:sub>
                </m:sSub>
              </m:oMath>
            </a14:m>
            <a:r>
              <a:rPr sz="1800"/>
              <a:t> = 0x3A 공개</a:t>
            </a:r>
          </a:p>
          <a:p>
            <a:r>
              <a:rPr sz="1800"/>
              <a:t>검증: </a:t>
            </a:r>
            <a14:m xmlns:a14="http://schemas.microsoft.com/office/drawing/2010/main">
              <m:oMath xmlns:m="http://schemas.openxmlformats.org/officeDocument/2006/math">
                <m:r>
                  <a:rPr lang="en-US" i="1">
                    <a:latin typeface="Cambria Math"/>
                  </a:rPr>
                  <m:t>𝐺</m:t>
                </m:r>
                <m:r>
                  <a:rPr lang="en-US" i="1">
                    <a:latin typeface="Cambria Math"/>
                  </a:rPr>
                  <m:t>(</m:t>
                </m:r>
                <m:r>
                  <a:rPr lang="en-US" i="1">
                    <a:latin typeface="Cambria Math"/>
                  </a:rPr>
                  <m:t>𝑆</m:t>
                </m:r>
                <m:r>
                  <a:rPr lang="en-US" i="1">
                    <a:latin typeface="Cambria Math"/>
                  </a:rPr>
                  <m:t>)</m:t>
                </m:r>
              </m:oMath>
            </a14:m>
            <a:r>
              <a:rPr sz="1800"/>
              <a:t> = 0xE7 = </a:t>
            </a:r>
            <a14:m xmlns:a14="http://schemas.microsoft.com/office/drawing/2010/main">
              <m:oMath xmlns:m="http://schemas.openxmlformats.org/officeDocument/2006/math">
                <m:sSub>
                  <m:sSubPr>
                    <m:ctrlPr>
                      <a:rPr lang="en-US"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>
                        <a:latin typeface="Cambria Math"/>
                      </a:rPr>
                      <m:t>𝑦</m:t>
                    </m:r>
                  </m:e>
                  <m:sub>
                    <m:r>
                      <a:rPr lang="en-US" i="1">
                        <a:latin typeface="Cambria Math"/>
                      </a:rPr>
                      <m:t>0</m:t>
                    </m:r>
                  </m:sub>
                </m:sSub>
              </m:oMath>
            </a14:m>
            <a:r>
              <a:rPr sz="1800"/>
              <a:t> → 수락 (만약 </a:t>
            </a:r>
            <a14:m xmlns:a14="http://schemas.microsoft.com/office/drawing/2010/main">
              <m:oMath xmlns:m="http://schemas.openxmlformats.org/officeDocument/2006/math">
                <m:r>
                  <a:rPr lang="en-US" i="1">
                    <a:latin typeface="Cambria Math"/>
                  </a:rPr>
                  <m:t>𝑆</m:t>
                </m:r>
              </m:oMath>
            </a14:m>
            <a:r>
              <a:rPr sz="1800"/>
              <a:t> = 0x7E였다면 </a:t>
            </a:r>
            <a14:m xmlns:a14="http://schemas.microsoft.com/office/drawing/2010/main">
              <m:oMath xmlns:m="http://schemas.openxmlformats.org/officeDocument/2006/math">
                <m:r>
                  <a:rPr lang="en-US" i="1">
                    <a:latin typeface="Cambria Math"/>
                  </a:rPr>
                  <m:t>𝐺</m:t>
                </m:r>
                <m:r>
                  <a:rPr lang="en-US" i="1">
                    <a:latin typeface="Cambria Math"/>
                  </a:rPr>
                  <m:t>(</m:t>
                </m:r>
                <m:r>
                  <a:rPr lang="en-US" i="1">
                    <a:latin typeface="Cambria Math"/>
                  </a:rPr>
                  <m:t>𝑆</m:t>
                </m:r>
                <m:r>
                  <a:rPr lang="en-US" i="1">
                    <a:latin typeface="Cambria Math"/>
                  </a:rPr>
                  <m:t>)</m:t>
                </m:r>
              </m:oMath>
            </a14:m>
            <a:r>
              <a:rPr sz="1800"/>
              <a:t> = 0x7A ≠ </a:t>
            </a:r>
            <a14:m xmlns:a14="http://schemas.microsoft.com/office/drawing/2010/main">
              <m:oMath xmlns:m="http://schemas.openxmlformats.org/officeDocument/2006/math">
                <m:sSub>
                  <m:sSubPr>
                    <m:ctrlPr>
                      <a:rPr lang="en-US"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>
                        <a:latin typeface="Cambria Math"/>
                      </a:rPr>
                      <m:t>𝑦</m:t>
                    </m:r>
                  </m:e>
                  <m:sub>
                    <m:r>
                      <a:rPr lang="en-US" i="1">
                        <a:latin typeface="Cambria Math"/>
                      </a:rPr>
                      <m:t>0</m:t>
                    </m:r>
                  </m:sub>
                </m:sSub>
              </m:oMath>
            </a14:m>
            <a:r>
              <a:rPr sz="1800"/>
              <a:t> → 기각)</a:t>
            </a:r>
          </a:p>
        </p:txBody>
      </p:sp>
      <p:sp>
        <p:nvSpPr>
          <p:cNvPr id="4" name="슬라이드 번호 개체 틀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16</a:t>
            </a:fld>
            <a:endParaRPr lang="ko-KR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Lamport 스킴: 키 생성 (임의 길이 메시지)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39" y="1294790"/>
            <a:ext cx="5303520" cy="4700016"/>
          </a:xfrm>
        </p:spPr>
        <p:txBody>
          <a:bodyPr/>
          <a:lstStyle/>
          <a:p>
            <a:r>
              <a:rPr sz="1800"/>
              <a:t>G는 사전영상 저항, H는 충돌 저항 해시 함수 — 메시지 길이는 임의</a:t>
            </a:r>
          </a:p>
          <a:p>
            <a:r>
              <a:rPr sz="1800"/>
              <a:t>n쌍의 </a:t>
            </a:r>
            <a14:m xmlns:a14="http://schemas.microsoft.com/office/drawing/2010/main">
              <m:oMath xmlns:m="http://schemas.openxmlformats.org/officeDocument/2006/math">
                <m:sSub>
                  <m:sSubPr>
                    <m:ctrlPr>
                      <a:rPr lang="en-US"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>
                        <a:latin typeface="Cambria Math"/>
                      </a:rPr>
                      <m:t>𝑥</m:t>
                    </m:r>
                  </m:e>
                  <m:sub>
                    <m:r>
                      <a:rPr lang="en-US" i="1">
                        <a:latin typeface="Cambria Math"/>
                      </a:rPr>
                      <m:t>𝑖</m:t>
                    </m:r>
                    <m:r>
                      <a:rPr lang="en-US" i="1">
                        <a:latin typeface="Cambria Math"/>
                      </a:rPr>
                      <m:t>,</m:t>
                    </m:r>
                    <m:r>
                      <a:rPr lang="en-US" i="1">
                        <a:latin typeface="Cambria Math"/>
                      </a:rPr>
                      <m:t>𝑗</m:t>
                    </m:r>
                  </m:sub>
                </m:sSub>
              </m:oMath>
            </a14:m>
            <a:r>
              <a:rPr sz="1800"/>
              <a:t> (</a:t>
            </a:r>
            <a14:m xmlns:a14="http://schemas.microsoft.com/office/drawing/2010/main">
              <m:oMath xmlns:m="http://schemas.openxmlformats.org/officeDocument/2006/math">
                <m:r>
                  <a:rPr lang="en-US" i="1">
                    <a:latin typeface="Cambria Math"/>
                  </a:rPr>
                  <m:t>𝑖</m:t>
                </m:r>
                <m:r>
                  <a:rPr lang="en-US" i="1">
                    <a:latin typeface="Cambria Math"/>
                  </a:rPr>
                  <m:t>=0,1,</m:t>
                </m:r>
                <m:r>
                  <m:rPr>
                    <m:nor/>
                  </m:rPr>
                  <a:rPr lang="en-US" i="0">
                    <a:latin typeface="Cambria Math"/>
                  </a:rPr>
                  <m:t> </m:t>
                </m:r>
                <m:r>
                  <a:rPr lang="en-US" i="1">
                    <a:latin typeface="Cambria Math"/>
                  </a:rPr>
                  <m:t>𝑗</m:t>
                </m:r>
                <m:r>
                  <a:rPr lang="en-US" i="1">
                    <a:latin typeface="Cambria Math"/>
                  </a:rPr>
                  <m:t>=0,1,…,</m:t>
                </m:r>
                <m:r>
                  <a:rPr lang="en-US" i="1">
                    <a:latin typeface="Cambria Math"/>
                  </a:rPr>
                  <m:t>𝑛</m:t>
                </m:r>
                <m:r>
                  <a:rPr lang="en-US" i="1">
                    <a:latin typeface="Cambria Math"/>
                  </a:rPr>
                  <m:t>−1</m:t>
                </m:r>
              </m:oMath>
            </a14:m>
            <a:r>
              <a:rPr sz="1800"/>
              <a:t>)을 무작위로 선택하고 </a:t>
            </a:r>
            <a14:m xmlns:a14="http://schemas.microsoft.com/office/drawing/2010/main">
              <m:oMath xmlns:m="http://schemas.openxmlformats.org/officeDocument/2006/math">
                <m:sSub>
                  <m:sSubPr>
                    <m:ctrlPr>
                      <a:rPr lang="en-US"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>
                        <a:latin typeface="Cambria Math"/>
                      </a:rPr>
                      <m:t>𝑦</m:t>
                    </m:r>
                  </m:e>
                  <m:sub>
                    <m:r>
                      <a:rPr lang="en-US" i="1">
                        <a:latin typeface="Cambria Math"/>
                      </a:rPr>
                      <m:t>𝑖</m:t>
                    </m:r>
                    <m:r>
                      <a:rPr lang="en-US" i="1">
                        <a:latin typeface="Cambria Math"/>
                      </a:rPr>
                      <m:t>,</m:t>
                    </m:r>
                    <m:r>
                      <a:rPr lang="en-US" i="1">
                        <a:latin typeface="Cambria Math"/>
                      </a:rPr>
                      <m:t>𝑗</m:t>
                    </m:r>
                  </m:sub>
                </m:sSub>
                <m:r>
                  <a:rPr lang="en-US" i="1">
                    <a:latin typeface="Cambria Math"/>
                  </a:rPr>
                  <m:t>=</m:t>
                </m:r>
                <m:r>
                  <a:rPr lang="en-US" i="1">
                    <a:latin typeface="Cambria Math"/>
                  </a:rPr>
                  <m:t>𝐺</m:t>
                </m:r>
                <m:r>
                  <a:rPr lang="en-US" i="1">
                    <a:latin typeface="Cambria Math"/>
                  </a:rPr>
                  <m:t>(</m:t>
                </m:r>
                <m:sSub>
                  <m:sSubPr>
                    <m:ctrlPr>
                      <a:rPr lang="en-US" i="1"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>
                        <a:latin typeface="Cambria Math"/>
                      </a:rPr>
                      <m:t>𝑥</m:t>
                    </m:r>
                  </m:e>
                  <m:sub>
                    <m:r>
                      <a:rPr lang="en-US" i="1">
                        <a:latin typeface="Cambria Math"/>
                      </a:rPr>
                      <m:t>𝑖</m:t>
                    </m:r>
                    <m:r>
                      <a:rPr lang="en-US" i="1">
                        <a:latin typeface="Cambria Math"/>
                      </a:rPr>
                      <m:t>,</m:t>
                    </m:r>
                    <m:r>
                      <a:rPr lang="en-US" i="1">
                        <a:latin typeface="Cambria Math"/>
                      </a:rPr>
                      <m:t>𝑗</m:t>
                    </m:r>
                  </m:sub>
                </m:sSub>
                <m:r>
                  <a:rPr lang="en-US" i="1">
                    <a:latin typeface="Cambria Math"/>
                  </a:rPr>
                  <m:t>)</m:t>
                </m:r>
              </m:oMath>
            </a14:m>
            <a:r>
              <a:rPr sz="1800"/>
              <a:t>를 계산</a:t>
            </a:r>
          </a:p>
          <a:p>
            <a:r>
              <a:rPr sz="1800"/>
              <a:t>개인키 </a:t>
            </a:r>
            <a14:m xmlns:a14="http://schemas.microsoft.com/office/drawing/2010/main">
              <m:oMath xmlns:m="http://schemas.openxmlformats.org/officeDocument/2006/math">
                <m:r>
                  <a:rPr lang="en-US" i="1">
                    <a:latin typeface="Cambria Math"/>
                  </a:rPr>
                  <m:t>𝑋</m:t>
                </m:r>
                <m:r>
                  <a:rPr lang="en-US" i="1">
                    <a:latin typeface="Cambria Math"/>
                  </a:rPr>
                  <m:t>=(</m:t>
                </m:r>
                <m:sSub>
                  <m:sSubPr>
                    <m:ctrlPr>
                      <a:rPr lang="en-US" i="1"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>
                        <a:latin typeface="Cambria Math"/>
                      </a:rPr>
                      <m:t>𝑥</m:t>
                    </m:r>
                  </m:e>
                  <m:sub>
                    <m:r>
                      <a:rPr lang="en-US" i="1">
                        <a:latin typeface="Cambria Math"/>
                      </a:rPr>
                      <m:t>𝑖</m:t>
                    </m:r>
                    <m:r>
                      <a:rPr lang="en-US" i="1">
                        <a:latin typeface="Cambria Math"/>
                      </a:rPr>
                      <m:t>,</m:t>
                    </m:r>
                    <m:r>
                      <a:rPr lang="en-US" i="1">
                        <a:latin typeface="Cambria Math"/>
                      </a:rPr>
                      <m:t>𝑗</m:t>
                    </m:r>
                  </m:sub>
                </m:sSub>
                <m:r>
                  <a:rPr lang="en-US" i="1">
                    <a:latin typeface="Cambria Math"/>
                  </a:rPr>
                  <m:t>)</m:t>
                </m:r>
              </m:oMath>
            </a14:m>
            <a:r>
              <a:rPr sz="1800"/>
              <a:t>, 공개키 </a:t>
            </a:r>
            <a14:m xmlns:a14="http://schemas.microsoft.com/office/drawing/2010/main">
              <m:oMath xmlns:m="http://schemas.openxmlformats.org/officeDocument/2006/math">
                <m:r>
                  <a:rPr lang="en-US" i="1">
                    <a:latin typeface="Cambria Math"/>
                  </a:rPr>
                  <m:t>𝑌</m:t>
                </m:r>
                <m:r>
                  <a:rPr lang="en-US" i="1">
                    <a:latin typeface="Cambria Math"/>
                  </a:rPr>
                  <m:t>=(</m:t>
                </m:r>
                <m:sSub>
                  <m:sSubPr>
                    <m:ctrlPr>
                      <a:rPr lang="en-US" i="1"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>
                        <a:latin typeface="Cambria Math"/>
                      </a:rPr>
                      <m:t>𝑦</m:t>
                    </m:r>
                  </m:e>
                  <m:sub>
                    <m:r>
                      <a:rPr lang="en-US" i="1">
                        <a:latin typeface="Cambria Math"/>
                      </a:rPr>
                      <m:t>𝑖</m:t>
                    </m:r>
                    <m:r>
                      <a:rPr lang="en-US" i="1">
                        <a:latin typeface="Cambria Math"/>
                      </a:rPr>
                      <m:t>,</m:t>
                    </m:r>
                    <m:r>
                      <a:rPr lang="en-US" i="1">
                        <a:latin typeface="Cambria Math"/>
                      </a:rPr>
                      <m:t>𝑗</m:t>
                    </m:r>
                  </m:sub>
                </m:sSub>
                <m:r>
                  <a:rPr lang="en-US" i="1">
                    <a:latin typeface="Cambria Math"/>
                  </a:rPr>
                  <m:t>)</m:t>
                </m:r>
              </m:oMath>
            </a14:m>
            <a:endParaRPr sz="1800"/>
          </a:p>
        </p:txBody>
      </p:sp>
      <p:sp>
        <p:nvSpPr>
          <p:cNvPr id="4" name="슬라이드 번호 개체 틀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17</a:t>
            </a:fld>
            <a:endParaRPr lang="ko-KR" altLang="en-US"/>
          </a:p>
        </p:txBody>
      </p:sp>
      <p:sp>
        <p:nvSpPr>
          <p:cNvPr id="5" name="Rectangle 4"/>
          <p:cNvSpPr/>
          <p:nvPr/>
        </p:nvSpPr>
        <p:spPr>
          <a:xfrm>
            <a:off x="6400800" y="1645920"/>
            <a:ext cx="5029200" cy="3840480"/>
          </a:xfrm>
          <a:prstGeom prst="rect">
            <a:avLst/>
          </a:prstGeom>
          <a:noFill/>
          <a:ln>
            <a:solidFill>
              <a:srgbClr val="A0A0A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t>[그림] Hash3.pdf p.22 — Lamport 키 생성 구조 다이어그램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Lamport 스킴: 서명 생성과 검증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39" y="1294790"/>
            <a:ext cx="5303520" cy="4700016"/>
          </a:xfrm>
        </p:spPr>
        <p:txBody>
          <a:bodyPr/>
          <a:lstStyle/>
          <a:p>
            <a:r>
              <a:rPr sz="1800"/>
              <a:t>서명 생성: </a:t>
            </a:r>
            <a14:m xmlns:a14="http://schemas.microsoft.com/office/drawing/2010/main">
              <m:oMath xmlns:m="http://schemas.openxmlformats.org/officeDocument/2006/math">
                <m:r>
                  <a:rPr lang="en-US" i="1">
                    <a:latin typeface="Cambria Math"/>
                  </a:rPr>
                  <m:t>h</m:t>
                </m:r>
                <m:r>
                  <a:rPr lang="en-US" i="1">
                    <a:latin typeface="Cambria Math"/>
                  </a:rPr>
                  <m:t>=</m:t>
                </m:r>
                <m:r>
                  <a:rPr lang="en-US" i="1">
                    <a:latin typeface="Cambria Math"/>
                  </a:rPr>
                  <m:t>𝐻</m:t>
                </m:r>
                <m:r>
                  <a:rPr lang="en-US" i="1">
                    <a:latin typeface="Cambria Math"/>
                  </a:rPr>
                  <m:t>(</m:t>
                </m:r>
                <m:r>
                  <a:rPr lang="en-US" i="1">
                    <a:latin typeface="Cambria Math"/>
                  </a:rPr>
                  <m:t>𝑀</m:t>
                </m:r>
                <m:r>
                  <a:rPr lang="en-US" i="1">
                    <a:latin typeface="Cambria Math"/>
                  </a:rPr>
                  <m:t>)=(</m:t>
                </m:r>
                <m:sSub>
                  <m:sSubPr>
                    <m:ctrlPr>
                      <a:rPr lang="en-US" i="1"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>
                        <a:latin typeface="Cambria Math"/>
                      </a:rPr>
                      <m:t>h</m:t>
                    </m:r>
                  </m:e>
                  <m:sub>
                    <m:r>
                      <a:rPr lang="en-US" i="1">
                        <a:latin typeface="Cambria Math"/>
                      </a:rPr>
                      <m:t>0</m:t>
                    </m:r>
                  </m:sub>
                </m:sSub>
                <m:r>
                  <a:rPr lang="en-US" i="1">
                    <a:latin typeface="Cambria Math"/>
                  </a:rPr>
                  <m:t>,</m:t>
                </m:r>
                <m:sSub>
                  <m:sSubPr>
                    <m:ctrlPr>
                      <a:rPr lang="en-US" i="1"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>
                        <a:latin typeface="Cambria Math"/>
                      </a:rPr>
                      <m:t>h</m:t>
                    </m:r>
                  </m:e>
                  <m:sub>
                    <m:r>
                      <a:rPr lang="en-US" i="1">
                        <a:latin typeface="Cambria Math"/>
                      </a:rPr>
                      <m:t>1</m:t>
                    </m:r>
                  </m:sub>
                </m:sSub>
                <m:r>
                  <a:rPr lang="en-US" i="1">
                    <a:latin typeface="Cambria Math"/>
                  </a:rPr>
                  <m:t>,…,</m:t>
                </m:r>
                <m:sSub>
                  <m:sSubPr>
                    <m:ctrlPr>
                      <a:rPr lang="en-US" i="1"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>
                        <a:latin typeface="Cambria Math"/>
                      </a:rPr>
                      <m:t>h</m:t>
                    </m:r>
                  </m:e>
                  <m:sub>
                    <m:r>
                      <a:rPr lang="en-US" i="1">
                        <a:latin typeface="Cambria Math"/>
                      </a:rPr>
                      <m:t>𝑛</m:t>
                    </m:r>
                    <m:r>
                      <a:rPr lang="en-US" i="1">
                        <a:latin typeface="Cambria Math"/>
                      </a:rPr>
                      <m:t>−1</m:t>
                    </m:r>
                  </m:sub>
                </m:sSub>
                <m:r>
                  <a:rPr lang="en-US" i="1">
                    <a:latin typeface="Cambria Math"/>
                  </a:rPr>
                  <m:t>)</m:t>
                </m:r>
              </m:oMath>
            </a14:m>
            <a:r>
              <a:rPr sz="1800"/>
              <a:t> 계산, </a:t>
            </a:r>
            <a14:m xmlns:a14="http://schemas.microsoft.com/office/drawing/2010/main">
              <m:oMath xmlns:m="http://schemas.openxmlformats.org/officeDocument/2006/math">
                <m:sSub>
                  <m:sSubPr>
                    <m:ctrlPr>
                      <a:rPr lang="en-US"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>
                        <a:latin typeface="Cambria Math"/>
                      </a:rPr>
                      <m:t>𝑠</m:t>
                    </m:r>
                  </m:e>
                  <m:sub>
                    <m:r>
                      <a:rPr lang="en-US" i="1">
                        <a:latin typeface="Cambria Math"/>
                      </a:rPr>
                      <m:t>𝑗</m:t>
                    </m:r>
                  </m:sub>
                </m:sSub>
                <m:r>
                  <a:rPr lang="en-US" i="1">
                    <a:latin typeface="Cambria Math"/>
                  </a:rPr>
                  <m:t>=</m:t>
                </m:r>
                <m:sSub>
                  <m:sSubPr>
                    <m:ctrlPr>
                      <a:rPr lang="en-US" i="1"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>
                        <a:latin typeface="Cambria Math"/>
                      </a:rPr>
                      <m:t>𝑥</m:t>
                    </m:r>
                  </m:e>
                  <m: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h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𝑗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,</m:t>
                    </m:r>
                    <m:r>
                      <a:rPr lang="en-US" i="1">
                        <a:latin typeface="Cambria Math"/>
                      </a:rPr>
                      <m:t>𝑗</m:t>
                    </m:r>
                  </m:sub>
                </m:sSub>
              </m:oMath>
            </a14:m>
            <a:r>
              <a:rPr sz="1800"/>
              <a:t> → 서명 </a:t>
            </a:r>
            <a14:m xmlns:a14="http://schemas.microsoft.com/office/drawing/2010/main">
              <m:oMath xmlns:m="http://schemas.openxmlformats.org/officeDocument/2006/math">
                <m:r>
                  <a:rPr lang="en-US" i="1">
                    <a:latin typeface="Cambria Math"/>
                  </a:rPr>
                  <m:t>𝑆</m:t>
                </m:r>
                <m:r>
                  <a:rPr lang="en-US" i="1">
                    <a:latin typeface="Cambria Math"/>
                  </a:rPr>
                  <m:t>=(</m:t>
                </m:r>
                <m:sSub>
                  <m:sSubPr>
                    <m:ctrlPr>
                      <a:rPr lang="en-US" i="1"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>
                        <a:latin typeface="Cambria Math"/>
                      </a:rPr>
                      <m:t>𝑠</m:t>
                    </m:r>
                  </m:e>
                  <m:sub>
                    <m:r>
                      <a:rPr lang="en-US" i="1">
                        <a:latin typeface="Cambria Math"/>
                      </a:rPr>
                      <m:t>0</m:t>
                    </m:r>
                  </m:sub>
                </m:sSub>
                <m:r>
                  <a:rPr lang="en-US" i="1">
                    <a:latin typeface="Cambria Math"/>
                  </a:rPr>
                  <m:t>,…,</m:t>
                </m:r>
                <m:sSub>
                  <m:sSubPr>
                    <m:ctrlPr>
                      <a:rPr lang="en-US" i="1"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>
                        <a:latin typeface="Cambria Math"/>
                      </a:rPr>
                      <m:t>𝑠</m:t>
                    </m:r>
                  </m:e>
                  <m:sub>
                    <m:r>
                      <a:rPr lang="en-US" i="1">
                        <a:latin typeface="Cambria Math"/>
                      </a:rPr>
                      <m:t>𝑛</m:t>
                    </m:r>
                    <m:r>
                      <a:rPr lang="en-US" i="1">
                        <a:latin typeface="Cambria Math"/>
                      </a:rPr>
                      <m:t>−1</m:t>
                    </m:r>
                  </m:sub>
                </m:sSub>
                <m:r>
                  <a:rPr lang="en-US" i="1">
                    <a:latin typeface="Cambria Math"/>
                  </a:rPr>
                  <m:t>)</m:t>
                </m:r>
              </m:oMath>
            </a14:m>
            <a:endParaRPr sz="1800"/>
          </a:p>
          <a:p>
            <a:r>
              <a:rPr sz="1800"/>
              <a:t>서명 검증: </a:t>
            </a:r>
            <a14:m xmlns:a14="http://schemas.microsoft.com/office/drawing/2010/main">
              <m:oMath xmlns:m="http://schemas.openxmlformats.org/officeDocument/2006/math">
                <m:r>
                  <a:rPr lang="en-US" i="1">
                    <a:latin typeface="Cambria Math"/>
                  </a:rPr>
                  <m:t>h</m:t>
                </m:r>
                <m:r>
                  <a:rPr lang="en-US" i="1">
                    <a:latin typeface="Cambria Math"/>
                  </a:rPr>
                  <m:t>=</m:t>
                </m:r>
                <m:r>
                  <a:rPr lang="en-US" i="1">
                    <a:latin typeface="Cambria Math"/>
                  </a:rPr>
                  <m:t>𝐻</m:t>
                </m:r>
                <m:r>
                  <a:rPr lang="en-US" i="1">
                    <a:latin typeface="Cambria Math"/>
                  </a:rPr>
                  <m:t>(</m:t>
                </m:r>
                <m:r>
                  <a:rPr lang="en-US" i="1">
                    <a:latin typeface="Cambria Math"/>
                  </a:rPr>
                  <m:t>𝑀</m:t>
                </m:r>
                <m:r>
                  <a:rPr lang="en-US" i="1">
                    <a:latin typeface="Cambria Math"/>
                  </a:rPr>
                  <m:t>)</m:t>
                </m:r>
              </m:oMath>
            </a14:m>
            <a:r>
              <a:rPr sz="1800"/>
              <a:t> 재계산 후 모든 </a:t>
            </a:r>
            <a14:m xmlns:a14="http://schemas.microsoft.com/office/drawing/2010/main">
              <m:oMath xmlns:m="http://schemas.openxmlformats.org/officeDocument/2006/math">
                <m:r>
                  <a:rPr lang="en-US" i="1">
                    <a:latin typeface="Cambria Math"/>
                  </a:rPr>
                  <m:t>𝑗</m:t>
                </m:r>
              </m:oMath>
            </a14:m>
            <a:r>
              <a:rPr sz="1800"/>
              <a:t>에 대해 </a:t>
            </a:r>
            <a14:m xmlns:a14="http://schemas.microsoft.com/office/drawing/2010/main">
              <m:oMath xmlns:m="http://schemas.openxmlformats.org/officeDocument/2006/math">
                <m:sSub>
                  <m:sSubPr>
                    <m:ctrlPr>
                      <a:rPr lang="en-US"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>
                        <a:latin typeface="Cambria Math"/>
                      </a:rPr>
                      <m:t>𝑦</m:t>
                    </m:r>
                  </m:e>
                  <m: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h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𝑗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,</m:t>
                    </m:r>
                    <m:r>
                      <a:rPr lang="en-US" i="1">
                        <a:latin typeface="Cambria Math"/>
                      </a:rPr>
                      <m:t>𝑗</m:t>
                    </m:r>
                  </m:sub>
                </m:sSub>
                <m:r>
                  <a:rPr lang="en-US" i="1">
                    <a:latin typeface="Cambria Math"/>
                  </a:rPr>
                  <m:t>=</m:t>
                </m:r>
                <m:r>
                  <a:rPr lang="en-US" i="1">
                    <a:latin typeface="Cambria Math"/>
                  </a:rPr>
                  <m:t>𝐺</m:t>
                </m:r>
                <m:r>
                  <a:rPr lang="en-US" i="1">
                    <a:latin typeface="Cambria Math"/>
                  </a:rPr>
                  <m:t>(</m:t>
                </m:r>
                <m:sSub>
                  <m:sSubPr>
                    <m:ctrlPr>
                      <a:rPr lang="en-US" i="1"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>
                        <a:latin typeface="Cambria Math"/>
                      </a:rPr>
                      <m:t>𝑠</m:t>
                    </m:r>
                  </m:e>
                  <m:sub>
                    <m:r>
                      <a:rPr lang="en-US" i="1">
                        <a:latin typeface="Cambria Math"/>
                      </a:rPr>
                      <m:t>𝑗</m:t>
                    </m:r>
                  </m:sub>
                </m:sSub>
                <m:r>
                  <a:rPr lang="en-US" i="1">
                    <a:latin typeface="Cambria Math"/>
                  </a:rPr>
                  <m:t>)</m:t>
                </m:r>
              </m:oMath>
            </a14:m>
            <a:r>
              <a:rPr sz="1800"/>
              <a:t>를 확인</a:t>
            </a:r>
          </a:p>
        </p:txBody>
      </p:sp>
      <p:sp>
        <p:nvSpPr>
          <p:cNvPr id="4" name="슬라이드 번호 개체 틀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18</a:t>
            </a:fld>
            <a:endParaRPr lang="ko-KR" altLang="en-US"/>
          </a:p>
        </p:txBody>
      </p:sp>
      <p:sp>
        <p:nvSpPr>
          <p:cNvPr id="5" name="Rectangle 4"/>
          <p:cNvSpPr/>
          <p:nvPr/>
        </p:nvSpPr>
        <p:spPr>
          <a:xfrm>
            <a:off x="6400800" y="1645920"/>
            <a:ext cx="5029200" cy="3840480"/>
          </a:xfrm>
          <a:prstGeom prst="rect">
            <a:avLst/>
          </a:prstGeom>
          <a:noFill/>
          <a:ln>
            <a:solidFill>
              <a:srgbClr val="A0A0A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t>[그림] Hash3.pdf p.23 — 서명 생성·검증 다이어그램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숫자 예제: 키 생성 결과 (n=8)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앞서와 같은 토이 함수(G, H 모두 SHA-256의 첫 바이트)로 </a:t>
            </a:r>
            <a14:m xmlns:a14="http://schemas.microsoft.com/office/drawing/2010/main">
              <m:oMath xmlns:m="http://schemas.openxmlformats.org/officeDocument/2006/math">
                <m:r>
                  <a:rPr lang="en-US" i="1">
                    <a:latin typeface="Cambria Math"/>
                  </a:rPr>
                  <m:t>𝑛</m:t>
                </m:r>
                <m:r>
                  <a:rPr lang="en-US" i="1">
                    <a:latin typeface="Cambria Math"/>
                  </a:rPr>
                  <m:t>=8</m:t>
                </m:r>
              </m:oMath>
            </a14:m>
            <a:r>
              <a:rPr sz="1800"/>
              <a:t> 예제를 구성</a:t>
            </a:r>
          </a:p>
          <a:p>
            <a:r>
              <a:rPr sz="1800"/>
              <a:t>원래는 완전히 무작위여야 하지만, 재현 가능하도록 </a:t>
            </a:r>
            <a14:m xmlns:a14="http://schemas.microsoft.com/office/drawing/2010/main">
              <m:oMath xmlns:m="http://schemas.openxmlformats.org/officeDocument/2006/math">
                <m:sSub>
                  <m:sSubPr>
                    <m:ctrlPr>
                      <a:rPr lang="en-US"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>
                        <a:latin typeface="Cambria Math"/>
                      </a:rPr>
                      <m:t>𝑥</m:t>
                    </m:r>
                  </m:e>
                  <m:sub>
                    <m:r>
                      <a:rPr lang="en-US" i="1">
                        <a:latin typeface="Cambria Math"/>
                      </a:rPr>
                      <m:t>𝑖</m:t>
                    </m:r>
                    <m:r>
                      <a:rPr lang="en-US" i="1">
                        <a:latin typeface="Cambria Math"/>
                      </a:rPr>
                      <m:t>,</m:t>
                    </m:r>
                    <m:r>
                      <a:rPr lang="en-US" i="1">
                        <a:latin typeface="Cambria Math"/>
                      </a:rPr>
                      <m:t>𝑗</m:t>
                    </m:r>
                  </m:sub>
                </m:sSub>
                <m:r>
                  <a:rPr lang="en-US" i="1">
                    <a:latin typeface="Cambria Math"/>
                  </a:rPr>
                  <m:t>=100</m:t>
                </m:r>
                <m:r>
                  <a:rPr lang="en-US" i="1">
                    <a:latin typeface="Cambria Math"/>
                  </a:rPr>
                  <m:t>𝑖</m:t>
                </m:r>
                <m:r>
                  <a:rPr lang="en-US" i="1">
                    <a:latin typeface="Cambria Math"/>
                  </a:rPr>
                  <m:t>+</m:t>
                </m:r>
                <m:r>
                  <a:rPr lang="en-US" i="1">
                    <a:latin typeface="Cambria Math"/>
                  </a:rPr>
                  <m:t>𝑗</m:t>
                </m:r>
              </m:oMath>
            </a14:m>
            <a:r>
              <a:rPr sz="1800"/>
              <a:t>(1바이트)로 고정</a:t>
            </a:r>
          </a:p>
        </p:txBody>
      </p:sp>
      <p:sp>
        <p:nvSpPr>
          <p:cNvPr id="4" name="슬라이드 번호 개체 틀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19</a:t>
            </a:fld>
            <a:endParaRPr lang="ko-KR" alt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2289788"/>
              </p:ext>
            </p:extLst>
          </p:nvPr>
        </p:nvGraphicFramePr>
        <p:xfrm>
          <a:off x="838200" y="2704571"/>
          <a:ext cx="105156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9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264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264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264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264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5440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chemeClr val="bg1"/>
                          </a:solidFill>
                        </a:rPr>
                        <a:t>j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chemeClr val="bg1"/>
                          </a:solidFill>
                        </a:rPr>
                        <a:t>x0,j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chemeClr val="bg1"/>
                          </a:solidFill>
                        </a:rPr>
                        <a:t>y</a:t>
                      </a:r>
                      <a:r>
                        <a:rPr sz="1800" b="1" baseline="-25000">
                          <a:solidFill>
                            <a:schemeClr val="bg1"/>
                          </a:solidFill>
                        </a:rPr>
                        <a:t>0</a:t>
                      </a:r>
                      <a:r>
                        <a:rPr sz="1800" b="1">
                          <a:solidFill>
                            <a:schemeClr val="bg1"/>
                          </a:solidFill>
                        </a:rPr>
                        <a:t>,j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chemeClr val="bg1"/>
                          </a:solidFill>
                        </a:rPr>
                        <a:t>x1,j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chemeClr val="bg1"/>
                          </a:solidFill>
                        </a:rPr>
                        <a:t>y</a:t>
                      </a:r>
                      <a:r>
                        <a:rPr sz="1800" b="1" baseline="-25000">
                          <a:solidFill>
                            <a:schemeClr val="bg1"/>
                          </a:solidFill>
                        </a:rPr>
                        <a:t>1</a:t>
                      </a:r>
                      <a:r>
                        <a:rPr sz="1800" b="1">
                          <a:solidFill>
                            <a:schemeClr val="bg1"/>
                          </a:solidFill>
                        </a:rPr>
                        <a:t>,j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5440"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0x00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0x6E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0x64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0x18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5440"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0x01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0x4B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0x65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0x3F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5440"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0x02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0xDB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0x66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0x25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5440"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0x03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0x08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0x67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0xCD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5440"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0x04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0xE5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0x68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0xAA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5440"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0x05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0xE7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0x69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0xDE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5440"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0x06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0x67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0x6A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0x18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5440"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0x07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0xCA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0x6B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0x82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숫자 예제: 서명과 검증 (M="PQC")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메시지 </a:t>
            </a:r>
            <a14:m xmlns:a14="http://schemas.microsoft.com/office/drawing/2010/main">
              <m:oMath xmlns:m="http://schemas.openxmlformats.org/officeDocument/2006/math">
                <m:r>
                  <a:rPr lang="en-US" i="1">
                    <a:latin typeface="Cambria Math"/>
                  </a:rPr>
                  <m:t>𝑀</m:t>
                </m:r>
              </m:oMath>
            </a14:m>
            <a:r>
              <a:rPr sz="1800"/>
              <a:t> = "PQC"(ASCII 3바이트)를 서명</a:t>
            </a:r>
          </a:p>
          <a:p>
            <a:r>
              <a:rPr sz="1800"/>
              <a:t>해시: </a:t>
            </a:r>
            <a14:m xmlns:a14="http://schemas.microsoft.com/office/drawing/2010/main">
              <m:oMath xmlns:m="http://schemas.openxmlformats.org/officeDocument/2006/math">
                <m:r>
                  <a:rPr lang="en-US" i="1">
                    <a:latin typeface="Cambria Math"/>
                  </a:rPr>
                  <m:t>𝐻</m:t>
                </m:r>
                <m:r>
                  <a:rPr lang="en-US" i="1">
                    <a:latin typeface="Cambria Math"/>
                  </a:rPr>
                  <m:t>(</m:t>
                </m:r>
                <m:r>
                  <a:rPr lang="en-US" i="1">
                    <a:latin typeface="Cambria Math"/>
                  </a:rPr>
                  <m:t>𝑀</m:t>
                </m:r>
                <m:r>
                  <a:rPr lang="en-US" i="1">
                    <a:latin typeface="Cambria Math"/>
                  </a:rPr>
                  <m:t>)</m:t>
                </m:r>
              </m:oMath>
            </a14:m>
            <a:r>
              <a:rPr sz="1800"/>
              <a:t> = 0x1E = 00011110₂ → </a:t>
            </a:r>
            <a14:m xmlns:a14="http://schemas.microsoft.com/office/drawing/2010/main">
              <m:oMath xmlns:m="http://schemas.openxmlformats.org/officeDocument/2006/math">
                <m:r>
                  <a:rPr lang="en-US" i="1">
                    <a:latin typeface="Cambria Math"/>
                  </a:rPr>
                  <m:t>h</m:t>
                </m:r>
                <m:r>
                  <a:rPr lang="en-US" i="1">
                    <a:latin typeface="Cambria Math"/>
                  </a:rPr>
                  <m:t>=(</m:t>
                </m:r>
                <m:sSub>
                  <m:sSubPr>
                    <m:ctrlPr>
                      <a:rPr lang="en-US" i="1"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>
                        <a:latin typeface="Cambria Math"/>
                      </a:rPr>
                      <m:t>h</m:t>
                    </m:r>
                  </m:e>
                  <m:sub>
                    <m:r>
                      <a:rPr lang="en-US" i="1">
                        <a:latin typeface="Cambria Math"/>
                      </a:rPr>
                      <m:t>0</m:t>
                    </m:r>
                  </m:sub>
                </m:sSub>
                <m:r>
                  <a:rPr lang="en-US" i="1">
                    <a:latin typeface="Cambria Math"/>
                  </a:rPr>
                  <m:t>,…,</m:t>
                </m:r>
                <m:sSub>
                  <m:sSubPr>
                    <m:ctrlPr>
                      <a:rPr lang="en-US" i="1"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>
                        <a:latin typeface="Cambria Math"/>
                      </a:rPr>
                      <m:t>h</m:t>
                    </m:r>
                  </m:e>
                  <m:sub>
                    <m:r>
                      <a:rPr lang="en-US" i="1">
                        <a:latin typeface="Cambria Math"/>
                      </a:rPr>
                      <m:t>7</m:t>
                    </m:r>
                  </m:sub>
                </m:sSub>
                <m:r>
                  <a:rPr lang="en-US" i="1">
                    <a:latin typeface="Cambria Math"/>
                  </a:rPr>
                  <m:t>)=(0,0,0,1,1,1,1,0)</m:t>
                </m:r>
              </m:oMath>
            </a14:m>
            <a:endParaRPr sz="1800"/>
          </a:p>
        </p:txBody>
      </p:sp>
      <p:sp>
        <p:nvSpPr>
          <p:cNvPr id="4" name="슬라이드 번호 개체 틀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20</a:t>
            </a:fld>
            <a:endParaRPr lang="ko-KR" alt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787029"/>
              </p:ext>
            </p:extLst>
          </p:nvPr>
        </p:nvGraphicFramePr>
        <p:xfrm>
          <a:off x="841247" y="2704571"/>
          <a:ext cx="10512553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83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83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12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367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603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7753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chemeClr val="bg1"/>
                          </a:solidFill>
                        </a:rPr>
                        <a:t>j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chemeClr val="bg1"/>
                          </a:solidFill>
                        </a:rPr>
                        <a:t>hj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chemeClr val="bg1"/>
                          </a:solidFill>
                        </a:rPr>
                        <a:t>sj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chemeClr val="bg1"/>
                          </a:solidFill>
                        </a:rPr>
                        <a:t>G(sj)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chemeClr val="bg1"/>
                          </a:solidFill>
                        </a:rPr>
                        <a:t>y(hj,j)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chemeClr val="bg1"/>
                          </a:solidFill>
                        </a:rPr>
                        <a:t>일치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0x00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0x6E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0x6E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✓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0x01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0x4B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0x4B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✓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0x02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0xDB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0xDB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✓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0x67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0xCD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0xCD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✓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0x68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0xAA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0xAA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✓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0x69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0xDE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0xDE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✓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0x6A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0x18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0x18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✓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0x07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0xCA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0xCA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✓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노출 문제와 OTS 안전성 정의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39" y="1294790"/>
            <a:ext cx="5303520" cy="4700016"/>
          </a:xfrm>
        </p:spPr>
        <p:txBody>
          <a:bodyPr/>
          <a:lstStyle/>
          <a:p>
            <a:r>
              <a:rPr sz="1800"/>
              <a:t>서명 하나 (M, S)는 개인키 X의 절반 성분을 노출한다</a:t>
            </a:r>
          </a:p>
          <a:p>
            <a:r>
              <a:rPr sz="1800"/>
              <a:t>두 번째 서명은 추가로 1/4을 노출 — 같은 개인키로 메시지 하나만 서명해야 함 → 일회성 서명 스킴(OTS)</a:t>
            </a:r>
          </a:p>
          <a:p>
            <a:r>
              <a:rPr sz="1800"/>
              <a:t>OTS 안전성: 계산량 제한된 공격자가 서명 오라클에 단 한 번만 질의할 수 있는 조건에서 존재적 위조 불가능</a:t>
            </a:r>
          </a:p>
        </p:txBody>
      </p:sp>
      <p:sp>
        <p:nvSpPr>
          <p:cNvPr id="4" name="슬라이드 번호 개체 틀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21</a:t>
            </a:fld>
            <a:endParaRPr lang="ko-KR" altLang="en-US"/>
          </a:p>
        </p:txBody>
      </p:sp>
      <p:sp>
        <p:nvSpPr>
          <p:cNvPr id="5" name="Rectangle 4"/>
          <p:cNvSpPr/>
          <p:nvPr/>
        </p:nvSpPr>
        <p:spPr>
          <a:xfrm>
            <a:off x="6400800" y="1645920"/>
            <a:ext cx="5029200" cy="3840480"/>
          </a:xfrm>
          <a:prstGeom prst="rect">
            <a:avLst/>
          </a:prstGeom>
          <a:noFill/>
          <a:ln>
            <a:solidFill>
              <a:srgbClr val="A0A0A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t>[그림] Hash3.pdf p.24 — 서명 노출 성분(파란/빨간 점) 다이어그램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안전성 증명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Claim: H가 충돌 저항이고 G가 사전영상 저항이면 Lamport 스킴은 안전한 OTS다</a:t>
            </a:r>
          </a:p>
          <a:p>
            <a:r>
              <a:rPr sz="1800"/>
              <a:t>공격자가 </a:t>
            </a:r>
            <a14:m xmlns:a14="http://schemas.microsoft.com/office/drawing/2010/main">
              <m:oMath xmlns:m="http://schemas.openxmlformats.org/officeDocument/2006/math">
                <m:sSub>
                  <m:sSubPr>
                    <m:ctrlPr>
                      <a:rPr lang="en-US"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>
                        <a:latin typeface="Cambria Math"/>
                      </a:rPr>
                      <m:t>𝑀</m:t>
                    </m:r>
                  </m:e>
                  <m:sub>
                    <m:r>
                      <a:rPr lang="en-US" i="1">
                        <a:latin typeface="Cambria Math"/>
                      </a:rPr>
                      <m:t>1</m:t>
                    </m:r>
                  </m:sub>
                </m:sSub>
              </m:oMath>
            </a14:m>
            <a:r>
              <a:rPr sz="1800"/>
              <a:t>의 서명 </a:t>
            </a:r>
            <a14:m xmlns:a14="http://schemas.microsoft.com/office/drawing/2010/main">
              <m:oMath xmlns:m="http://schemas.openxmlformats.org/officeDocument/2006/math">
                <m:r>
                  <a:rPr lang="en-US" i="1">
                    <a:latin typeface="Cambria Math"/>
                  </a:rPr>
                  <m:t>(</m:t>
                </m:r>
                <m:sSub>
                  <m:sSubPr>
                    <m:ctrlPr>
                      <a:rPr lang="en-US" i="1"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>
                        <a:latin typeface="Cambria Math"/>
                      </a:rPr>
                      <m:t>𝑀</m:t>
                    </m:r>
                  </m:e>
                  <m:sub>
                    <m:r>
                      <a:rPr lang="en-US" i="1">
                        <a:latin typeface="Cambria Math"/>
                      </a:rPr>
                      <m:t>1</m:t>
                    </m:r>
                  </m:sub>
                </m:sSub>
                <m:r>
                  <a:rPr lang="en-US" i="1">
                    <a:latin typeface="Cambria Math"/>
                  </a:rPr>
                  <m:t>,</m:t>
                </m:r>
                <m:r>
                  <a:rPr lang="en-US" i="1">
                    <a:latin typeface="Cambria Math"/>
                  </a:rPr>
                  <m:t>𝑆</m:t>
                </m:r>
                <m:r>
                  <a:rPr lang="en-US" i="1">
                    <a:latin typeface="Cambria Math"/>
                  </a:rPr>
                  <m:t>)</m:t>
                </m:r>
              </m:oMath>
            </a14:m>
            <a:r>
              <a:rPr sz="1800"/>
              <a:t>을 획득한 뒤 </a:t>
            </a:r>
            <a14:m xmlns:a14="http://schemas.microsoft.com/office/drawing/2010/main">
              <m:oMath xmlns:m="http://schemas.openxmlformats.org/officeDocument/2006/math">
                <m:sSub>
                  <m:sSubPr>
                    <m:ctrlPr>
                      <a:rPr lang="en-US"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>
                        <a:latin typeface="Cambria Math"/>
                      </a:rPr>
                      <m:t>𝑀</m:t>
                    </m:r>
                  </m:e>
                  <m:sub>
                    <m:r>
                      <a:rPr lang="en-US" i="1">
                        <a:latin typeface="Cambria Math"/>
                      </a:rPr>
                      <m:t>2</m:t>
                    </m:r>
                  </m:sub>
                </m:sSub>
                <m:r>
                  <a:rPr lang="en-US" i="1">
                    <a:latin typeface="Cambria Math"/>
                  </a:rPr>
                  <m:t>≠</m:t>
                </m:r>
                <m:sSub>
                  <m:sSubPr>
                    <m:ctrlPr>
                      <a:rPr lang="en-US" i="1"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>
                        <a:latin typeface="Cambria Math"/>
                      </a:rPr>
                      <m:t>𝑀</m:t>
                    </m:r>
                  </m:e>
                  <m:sub>
                    <m:r>
                      <a:rPr lang="en-US" i="1">
                        <a:latin typeface="Cambria Math"/>
                      </a:rPr>
                      <m:t>1</m:t>
                    </m:r>
                  </m:sub>
                </m:sSub>
              </m:oMath>
            </a14:m>
            <a:r>
              <a:rPr sz="1800"/>
              <a:t>에 대한 위조를 시도한다고 하자</a:t>
            </a:r>
          </a:p>
          <a:p>
            <a:r>
              <a:rPr sz="1800"/>
              <a:t>H의 충돌 저항성에 의해 </a:t>
            </a:r>
            <a14:m xmlns:a14="http://schemas.microsoft.com/office/drawing/2010/main">
              <m:oMath xmlns:m="http://schemas.openxmlformats.org/officeDocument/2006/math">
                <m:r>
                  <a:rPr lang="en-US" i="1">
                    <a:latin typeface="Cambria Math"/>
                  </a:rPr>
                  <m:t>𝐻</m:t>
                </m:r>
                <m:r>
                  <a:rPr lang="en-US" i="1">
                    <a:latin typeface="Cambria Math"/>
                  </a:rPr>
                  <m:t>(</m:t>
                </m:r>
                <m:sSub>
                  <m:sSubPr>
                    <m:ctrlPr>
                      <a:rPr lang="en-US" i="1"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>
                        <a:latin typeface="Cambria Math"/>
                      </a:rPr>
                      <m:t>𝑀</m:t>
                    </m:r>
                  </m:e>
                  <m:sub>
                    <m:r>
                      <a:rPr lang="en-US" i="1">
                        <a:latin typeface="Cambria Math"/>
                      </a:rPr>
                      <m:t>1</m:t>
                    </m:r>
                  </m:sub>
                </m:sSub>
                <m:r>
                  <a:rPr lang="en-US" i="1">
                    <a:latin typeface="Cambria Math"/>
                  </a:rPr>
                  <m:t>)≠</m:t>
                </m:r>
                <m:r>
                  <a:rPr lang="en-US" i="1">
                    <a:latin typeface="Cambria Math"/>
                  </a:rPr>
                  <m:t>𝐻</m:t>
                </m:r>
                <m:r>
                  <a:rPr lang="en-US" i="1">
                    <a:latin typeface="Cambria Math"/>
                  </a:rPr>
                  <m:t>(</m:t>
                </m:r>
                <m:sSub>
                  <m:sSubPr>
                    <m:ctrlPr>
                      <a:rPr lang="en-US" i="1"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>
                        <a:latin typeface="Cambria Math"/>
                      </a:rPr>
                      <m:t>𝑀</m:t>
                    </m:r>
                  </m:e>
                  <m:sub>
                    <m:r>
                      <a:rPr lang="en-US" i="1">
                        <a:latin typeface="Cambria Math"/>
                      </a:rPr>
                      <m:t>2</m:t>
                    </m:r>
                  </m:sub>
                </m:sSub>
                <m:r>
                  <a:rPr lang="en-US" i="1">
                    <a:latin typeface="Cambria Math"/>
                  </a:rPr>
                  <m:t>)</m:t>
                </m:r>
              </m:oMath>
            </a14:m>
            <a:r>
              <a:rPr sz="1800"/>
              <a:t> → 최소 한 위치 j에서 비트가 다르다</a:t>
            </a:r>
          </a:p>
          <a:p>
            <a:r>
              <a:rPr sz="1800"/>
              <a:t>일반성 있게 </a:t>
            </a:r>
            <a14:m xmlns:a14="http://schemas.microsoft.com/office/drawing/2010/main">
              <m:oMath xmlns:m="http://schemas.openxmlformats.org/officeDocument/2006/math">
                <m:sSub>
                  <m:sSubPr>
                    <m:ctrlPr>
                      <a:rPr lang="en-US"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>
                        <a:latin typeface="Cambria Math"/>
                      </a:rPr>
                      <m:t>h</m:t>
                    </m:r>
                  </m:e>
                  <m:sub>
                    <m:r>
                      <a:rPr lang="en-US" i="1">
                        <a:latin typeface="Cambria Math"/>
                      </a:rPr>
                      <m:t>𝑗</m:t>
                    </m:r>
                  </m:sub>
                </m:sSub>
                <m:r>
                  <a:rPr lang="en-US" i="1">
                    <a:latin typeface="Cambria Math"/>
                  </a:rPr>
                  <m:t>=0,</m:t>
                </m:r>
                <m:r>
                  <m:rPr>
                    <m:nor/>
                  </m:rPr>
                  <a:rPr lang="en-US" i="0">
                    <a:latin typeface="Cambria Math"/>
                  </a:rPr>
                  <m:t> </m:t>
                </m:r>
                <m:sSubSup>
                  <m:sSubSupPr>
                    <m:ctrlPr>
                      <a:rPr lang="en-US" i="1">
                        <a:latin typeface="Cambria Math" panose="02040503050406030204" pitchFamily="18" charset="0"/>
                      </a:rPr>
                    </m:ctrlPr>
                  </m:sSubSupPr>
                  <m:e>
                    <m:r>
                      <a:rPr lang="en-US" i="1">
                        <a:latin typeface="Cambria Math"/>
                      </a:rPr>
                      <m:t>h</m:t>
                    </m:r>
                  </m:e>
                  <m:sub>
                    <m:r>
                      <a:rPr lang="en-US" i="1">
                        <a:latin typeface="Cambria Math"/>
                      </a:rPr>
                      <m:t>𝑗</m:t>
                    </m:r>
                  </m:sub>
                  <m:sup>
                    <m:r>
                      <a:rPr lang="en-US" i="1">
                        <a:latin typeface="Cambria Math"/>
                      </a:rPr>
                      <m:t>′</m:t>
                    </m:r>
                  </m:sup>
                </m:sSubSup>
                <m:r>
                  <a:rPr lang="en-US" i="1">
                    <a:latin typeface="Cambria Math"/>
                  </a:rPr>
                  <m:t>=1</m:t>
                </m:r>
              </m:oMath>
            </a14:m>
            <a:r>
              <a:rPr sz="1800"/>
              <a:t>이라 하면, </a:t>
            </a:r>
            <a14:m xmlns:a14="http://schemas.microsoft.com/office/drawing/2010/main">
              <m:oMath xmlns:m="http://schemas.openxmlformats.org/officeDocument/2006/math">
                <m:sSub>
                  <m:sSubPr>
                    <m:ctrlPr>
                      <a:rPr lang="en-US"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>
                        <a:latin typeface="Cambria Math"/>
                      </a:rPr>
                      <m:t>𝑀</m:t>
                    </m:r>
                  </m:e>
                  <m:sub>
                    <m:r>
                      <a:rPr lang="en-US" i="1">
                        <a:latin typeface="Cambria Math"/>
                      </a:rPr>
                      <m:t>1</m:t>
                    </m:r>
                  </m:sub>
                </m:sSub>
              </m:oMath>
            </a14:m>
            <a:r>
              <a:rPr sz="1800"/>
              <a:t>의 서명은 </a:t>
            </a:r>
            <a14:m xmlns:a14="http://schemas.microsoft.com/office/drawing/2010/main">
              <m:oMath xmlns:m="http://schemas.openxmlformats.org/officeDocument/2006/math">
                <m:sSub>
                  <m:sSubPr>
                    <m:ctrlPr>
                      <a:rPr lang="en-US"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>
                        <a:latin typeface="Cambria Math"/>
                      </a:rPr>
                      <m:t>𝑥</m:t>
                    </m:r>
                  </m:e>
                  <m:sub>
                    <m:r>
                      <a:rPr lang="en-US" i="1">
                        <a:latin typeface="Cambria Math"/>
                      </a:rPr>
                      <m:t>0,</m:t>
                    </m:r>
                    <m:r>
                      <a:rPr lang="en-US" i="1">
                        <a:latin typeface="Cambria Math"/>
                      </a:rPr>
                      <m:t>𝑗</m:t>
                    </m:r>
                  </m:sub>
                </m:sSub>
              </m:oMath>
            </a14:m>
            <a:r>
              <a:rPr sz="1800"/>
              <a:t>, </a:t>
            </a:r>
            <a14:m xmlns:a14="http://schemas.microsoft.com/office/drawing/2010/main">
              <m:oMath xmlns:m="http://schemas.openxmlformats.org/officeDocument/2006/math">
                <m:sSub>
                  <m:sSubPr>
                    <m:ctrlPr>
                      <a:rPr lang="en-US"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>
                        <a:latin typeface="Cambria Math"/>
                      </a:rPr>
                      <m:t>𝑀</m:t>
                    </m:r>
                  </m:e>
                  <m:sub>
                    <m:r>
                      <a:rPr lang="en-US" i="1">
                        <a:latin typeface="Cambria Math"/>
                      </a:rPr>
                      <m:t>2</m:t>
                    </m:r>
                  </m:sub>
                </m:sSub>
              </m:oMath>
            </a14:m>
            <a:r>
              <a:rPr sz="1800"/>
              <a:t>의 위조엔 </a:t>
            </a:r>
            <a14:m xmlns:a14="http://schemas.microsoft.com/office/drawing/2010/main">
              <m:oMath xmlns:m="http://schemas.openxmlformats.org/officeDocument/2006/math">
                <m:sSub>
                  <m:sSubPr>
                    <m:ctrlPr>
                      <a:rPr lang="en-US"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>
                        <a:latin typeface="Cambria Math"/>
                      </a:rPr>
                      <m:t>𝑥</m:t>
                    </m:r>
                  </m:e>
                  <m:sub>
                    <m:r>
                      <a:rPr lang="en-US" i="1">
                        <a:latin typeface="Cambria Math"/>
                      </a:rPr>
                      <m:t>1,</m:t>
                    </m:r>
                    <m:r>
                      <a:rPr lang="en-US" i="1">
                        <a:latin typeface="Cambria Math"/>
                      </a:rPr>
                      <m:t>𝑗</m:t>
                    </m:r>
                  </m:sub>
                </m:sSub>
              </m:oMath>
            </a14:m>
            <a:r>
              <a:rPr sz="1800"/>
              <a:t>가 필요하다</a:t>
            </a:r>
          </a:p>
          <a:p>
            <a14:m xmlns:a14="http://schemas.microsoft.com/office/drawing/2010/main">
              <m:oMath xmlns:m="http://schemas.openxmlformats.org/officeDocument/2006/math">
                <m:sSub>
                  <m:sSubPr>
                    <m:ctrlPr>
                      <a:rPr lang="en-US"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>
                        <a:latin typeface="Cambria Math"/>
                      </a:rPr>
                      <m:t>𝑥</m:t>
                    </m:r>
                  </m:e>
                  <m:sub>
                    <m:r>
                      <a:rPr lang="en-US" i="1">
                        <a:latin typeface="Cambria Math"/>
                      </a:rPr>
                      <m:t>1,</m:t>
                    </m:r>
                    <m:r>
                      <a:rPr lang="en-US" i="1">
                        <a:latin typeface="Cambria Math"/>
                      </a:rPr>
                      <m:t>𝑗</m:t>
                    </m:r>
                  </m:sub>
                </m:sSub>
              </m:oMath>
            </a14:m>
            <a:r>
              <a:rPr sz="1800"/>
              <a:t>는 공개키 </a:t>
            </a:r>
            <a14:m xmlns:a14="http://schemas.microsoft.com/office/drawing/2010/main">
              <m:oMath xmlns:m="http://schemas.openxmlformats.org/officeDocument/2006/math">
                <m:sSub>
                  <m:sSubPr>
                    <m:ctrlPr>
                      <a:rPr lang="en-US"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>
                        <a:latin typeface="Cambria Math"/>
                      </a:rPr>
                      <m:t>𝑦</m:t>
                    </m:r>
                  </m:e>
                  <m:sub>
                    <m:r>
                      <a:rPr lang="en-US" i="1">
                        <a:latin typeface="Cambria Math"/>
                      </a:rPr>
                      <m:t>1,</m:t>
                    </m:r>
                    <m:r>
                      <a:rPr lang="en-US" i="1">
                        <a:latin typeface="Cambria Math"/>
                      </a:rPr>
                      <m:t>𝑗</m:t>
                    </m:r>
                  </m:sub>
                </m:sSub>
              </m:oMath>
            </a14:m>
            <a:r>
              <a:rPr sz="1800"/>
              <a:t>의 사전영상 → G의 사전영상 저항성과 모순</a:t>
            </a:r>
          </a:p>
        </p:txBody>
      </p:sp>
      <p:sp>
        <p:nvSpPr>
          <p:cNvPr id="4" name="슬라이드 번호 개체 틀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22</a:t>
            </a:fld>
            <a:endParaRPr lang="ko-KR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정량적 보안 수준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앞서 본 일반 공격 비용을 그대로 적용하면 Lamport OTS는 양자 기준 </a:t>
            </a:r>
            <a14:m xmlns:a14="http://schemas.microsoft.com/office/drawing/2010/main">
              <m:oMath xmlns:m="http://schemas.openxmlformats.org/officeDocument/2006/math">
                <m:f>
                  <m:fPr>
                    <m:type m:val="lin"/>
                    <m:ctrlPr>
                      <a:rPr lang="en-US">
                        <a:latin typeface="Cambria Math" panose="02040503050406030204" pitchFamily="18" charset="0"/>
                      </a:rPr>
                    </m:ctrlPr>
                  </m:fPr>
                  <m:num>
                    <m:r>
                      <a:rPr lang="en-US" i="1">
                        <a:latin typeface="Cambria Math"/>
                      </a:rPr>
                      <m:t>𝑛</m:t>
                    </m:r>
                  </m:num>
                  <m:den>
                    <m:r>
                      <a:rPr lang="en-US" i="1">
                        <a:latin typeface="Cambria Math"/>
                      </a:rPr>
                      <m:t>2</m:t>
                    </m:r>
                  </m:den>
                </m:f>
              </m:oMath>
            </a14:m>
            <a:r>
              <a:rPr sz="1800"/>
              <a:t>비트 보안 수준을 갖는다</a:t>
            </a:r>
          </a:p>
          <a:p>
            <a:r>
              <a:rPr sz="1800"/>
              <a:t>G의 사전영상: Grover로 </a:t>
            </a:r>
            <a14:m xmlns:a14="http://schemas.microsoft.com/office/drawing/2010/main">
              <m:oMath xmlns:m="http://schemas.openxmlformats.org/officeDocument/2006/math">
                <m:r>
                  <a:rPr lang="en-US" i="1">
                    <a:latin typeface="Cambria Math"/>
                  </a:rPr>
                  <m:t>𝑂</m:t>
                </m:r>
                <m:r>
                  <a:rPr lang="en-US" i="1">
                    <a:latin typeface="Cambria Math"/>
                  </a:rPr>
                  <m:t>(</m:t>
                </m:r>
                <m:sSup>
                  <m:sSupPr>
                    <m:ctrlPr>
                      <a:rPr lang="en-US" i="1"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i="1">
                        <a:latin typeface="Cambria Math"/>
                      </a:rPr>
                      <m:t>2</m:t>
                    </m:r>
                  </m:e>
                  <m:sup>
                    <m:f>
                      <m:fPr>
                        <m:type m:val="li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/>
                          </a:rPr>
                          <m:t>𝑛</m:t>
                        </m:r>
                      </m:num>
                      <m:den>
                        <m:r>
                          <a:rPr lang="en-US" i="1">
                            <a:latin typeface="Cambria Math"/>
                          </a:rPr>
                          <m:t>2</m:t>
                        </m:r>
                      </m:den>
                    </m:f>
                  </m:sup>
                </m:sSup>
                <m:r>
                  <a:rPr lang="en-US" i="1">
                    <a:latin typeface="Cambria Math"/>
                  </a:rPr>
                  <m:t>)</m:t>
                </m:r>
              </m:oMath>
            </a14:m>
            <a:r>
              <a:rPr sz="1800"/>
              <a:t>, H의 충돌: van Oorschot–Wiener로 </a:t>
            </a:r>
            <a14:m xmlns:a14="http://schemas.microsoft.com/office/drawing/2010/main">
              <m:oMath xmlns:m="http://schemas.openxmlformats.org/officeDocument/2006/math">
                <m:r>
                  <a:rPr lang="en-US" i="1">
                    <a:latin typeface="Cambria Math"/>
                  </a:rPr>
                  <m:t>𝑂</m:t>
                </m:r>
                <m:r>
                  <a:rPr lang="en-US" i="1">
                    <a:latin typeface="Cambria Math"/>
                  </a:rPr>
                  <m:t>(</m:t>
                </m:r>
                <m:sSup>
                  <m:sSupPr>
                    <m:ctrlPr>
                      <a:rPr lang="en-US" i="1"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i="1">
                        <a:latin typeface="Cambria Math"/>
                      </a:rPr>
                      <m:t>2</m:t>
                    </m:r>
                  </m:e>
                  <m:sup>
                    <m:f>
                      <m:fPr>
                        <m:type m:val="li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/>
                          </a:rPr>
                          <m:t>𝑛</m:t>
                        </m:r>
                      </m:num>
                      <m:den>
                        <m:r>
                          <a:rPr lang="en-US" i="1">
                            <a:latin typeface="Cambria Math"/>
                          </a:rPr>
                          <m:t>2</m:t>
                        </m:r>
                      </m:den>
                    </m:f>
                  </m:sup>
                </m:sSup>
                <m:r>
                  <a:rPr lang="en-US" i="1">
                    <a:latin typeface="Cambria Math"/>
                  </a:rPr>
                  <m:t>)</m:t>
                </m:r>
              </m:oMath>
            </a14:m>
            <a:r>
              <a:rPr sz="1800"/>
              <a:t> — 둘 다 같은 비용으로 수렴</a:t>
            </a:r>
          </a:p>
          <a:p>
            <a:r>
              <a:rPr sz="1800"/>
              <a:t>고전·양자 모두에서 128비트 보안을 얻으려면 </a:t>
            </a:r>
            <a14:m xmlns:a14="http://schemas.microsoft.com/office/drawing/2010/main">
              <m:oMath xmlns:m="http://schemas.openxmlformats.org/officeDocument/2006/math">
                <m:r>
                  <a:rPr lang="en-US" i="1">
                    <a:latin typeface="Cambria Math"/>
                  </a:rPr>
                  <m:t>𝑛</m:t>
                </m:r>
                <m:r>
                  <a:rPr lang="en-US" i="1">
                    <a:latin typeface="Cambria Math"/>
                  </a:rPr>
                  <m:t>=256</m:t>
                </m:r>
              </m:oMath>
            </a14:m>
            <a:r>
              <a:rPr sz="1800"/>
              <a:t>을 쓰면 된다</a:t>
            </a:r>
          </a:p>
        </p:txBody>
      </p:sp>
      <p:sp>
        <p:nvSpPr>
          <p:cNvPr id="4" name="슬라이드 번호 개체 틀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23</a:t>
            </a:fld>
            <a:endParaRPr lang="ko-KR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효율성</a:t>
            </a:r>
          </a:p>
        </p:txBody>
      </p:sp>
      <p:sp>
        <p:nvSpPr>
          <p:cNvPr id="4" name="슬라이드 번호 개체 틀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24</a:t>
            </a:fld>
            <a:endParaRPr lang="ko-KR" alt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1970555"/>
              </p:ext>
            </p:extLst>
          </p:nvPr>
        </p:nvGraphicFramePr>
        <p:xfrm>
          <a:off x="838200" y="1874520"/>
          <a:ext cx="10518648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9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59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86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8160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chemeClr val="bg1"/>
                          </a:solidFill>
                        </a:rPr>
                        <a:t>항목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 err="1">
                          <a:solidFill>
                            <a:schemeClr val="bg1"/>
                          </a:solidFill>
                        </a:rPr>
                        <a:t>크기</a:t>
                      </a:r>
                      <a:r>
                        <a:rPr sz="1800" b="1" dirty="0">
                          <a:solidFill>
                            <a:schemeClr val="bg1"/>
                          </a:solidFill>
                        </a:rPr>
                        <a:t> / </a:t>
                      </a:r>
                      <a:r>
                        <a:rPr sz="1800" b="1" dirty="0" err="1">
                          <a:solidFill>
                            <a:schemeClr val="bg1"/>
                          </a:solidFill>
                        </a:rPr>
                        <a:t>비용</a:t>
                      </a:r>
                      <a:endParaRPr sz="1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chemeClr val="bg1"/>
                          </a:solidFill>
                        </a:rPr>
                        <a:t>n=256일 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개인키·공개키 크기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2n</a:t>
                      </a:r>
                      <a:r>
                        <a:rPr sz="1800" baseline="30000"/>
                        <a:t>2</a:t>
                      </a:r>
                      <a:r>
                        <a:rPr sz="1800"/>
                        <a:t> bits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16,384 bytes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서명 크기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n</a:t>
                      </a:r>
                      <a:r>
                        <a:rPr sz="1800" baseline="30000"/>
                        <a:t>2</a:t>
                      </a:r>
                      <a:r>
                        <a:rPr sz="1800"/>
                        <a:t> bits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8,192 bytes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키 생성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2n회 G 계산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서명 생성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1회 H 계산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서명 검증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1회 H + n회 G 계산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마무리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해시 함수는 PR·2PR·CR 세 안전성 성질을 가지며, CR이 가장 강하고 나머지를 함의한다</a:t>
            </a:r>
          </a:p>
          <a:p>
            <a:r>
              <a:rPr sz="1800"/>
              <a:t>일반 공격 비용은 고전 2</a:t>
            </a:r>
            <a:r>
              <a:rPr sz="1800" baseline="30000"/>
              <a:t>n</a:t>
            </a:r>
            <a:r>
              <a:rPr sz="1800"/>
              <a:t> (사전·2차사전영상), 2^(n/2) (충돌), 양자는 Grover로 모두 2^(n/2) — 안전을 위해 n≥256 필요</a:t>
            </a:r>
          </a:p>
          <a:p>
            <a:r>
              <a:rPr sz="1800"/>
              <a:t>Lamport 스킴은 해시 함수 성질만으로 서명을 구성해 양자 공격에도 안전하다</a:t>
            </a:r>
          </a:p>
          <a:p>
            <a:r>
              <a:rPr sz="1800"/>
              <a:t>서명 한 번에 개인키 절반이 노출되므로 일회성(OTS)으로만 안전하다</a:t>
            </a:r>
          </a:p>
          <a:p>
            <a:r>
              <a:rPr sz="1800"/>
              <a:t>개인키·공개키·서명 크기가 모두 커서 실용성에는 제약이 있다</a:t>
            </a:r>
          </a:p>
        </p:txBody>
      </p:sp>
      <p:sp>
        <p:nvSpPr>
          <p:cNvPr id="4" name="슬라이드 번호 개체 틀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25</a:t>
            </a:fld>
            <a:endParaRPr lang="ko-KR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PQC Navy">
      <a:dk1>
        <a:srgbClr val="0F2540"/>
      </a:dk1>
      <a:lt1>
        <a:srgbClr val="FFFFFF"/>
      </a:lt1>
      <a:dk2>
        <a:srgbClr val="0A1B2E"/>
      </a:dk2>
      <a:lt2>
        <a:srgbClr val="EEF3F7"/>
      </a:lt2>
      <a:accent1>
        <a:srgbClr val="2EC4D9"/>
      </a:accent1>
      <a:accent2>
        <a:srgbClr val="1B4B7A"/>
      </a:accent2>
      <a:accent3>
        <a:srgbClr val="5A7A96"/>
      </a:accent3>
      <a:accent4>
        <a:srgbClr val="F2A65A"/>
      </a:accent4>
      <a:accent5>
        <a:srgbClr val="8FB8C9"/>
      </a:accent5>
      <a:accent6>
        <a:srgbClr val="3F8F7A"/>
      </a:accent6>
      <a:hlink>
        <a:srgbClr val="1B7FA8"/>
      </a:hlink>
      <a:folHlink>
        <a:srgbClr val="5A7A96"/>
      </a:folHlink>
    </a:clrScheme>
    <a:fontScheme name="PQC">
      <a:majorFont>
        <a:latin typeface="Segoe UI" panose="020B05020402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 panose="020B05020402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3">
          <a:schemeClr val="lt1"/>
        </a:lnRef>
        <a:fillRef idx="1">
          <a:schemeClr val="accent6"/>
        </a:fillRef>
        <a:effectRef idx="1">
          <a:schemeClr val="accent6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3316</TotalTime>
  <Words>1908</Words>
  <Application>Microsoft Office PowerPoint</Application>
  <PresentationFormat>와이드스크린</PresentationFormat>
  <Paragraphs>312</Paragraphs>
  <Slides>25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25</vt:i4>
      </vt:variant>
    </vt:vector>
  </HeadingPairs>
  <TitlesOfParts>
    <vt:vector size="30" baseType="lpstr">
      <vt:lpstr>맑은 고딕</vt:lpstr>
      <vt:lpstr>Arial</vt:lpstr>
      <vt:lpstr>Cambria Math</vt:lpstr>
      <vt:lpstr>Segoe UI</vt:lpstr>
      <vt:lpstr>Office 테마</vt:lpstr>
      <vt:lpstr>Post-Quantum Cryptography</vt:lpstr>
      <vt:lpstr>Plan</vt:lpstr>
      <vt:lpstr>해시 함수</vt:lpstr>
      <vt:lpstr>해시 함수란 무엇인가</vt:lpstr>
      <vt:lpstr>세 가지 안전성 성질: 정의</vt:lpstr>
      <vt:lpstr>세 성질 깨기: Given/Required 요약</vt:lpstr>
      <vt:lpstr>숫자 예제: 토이 해시 함수로 세 게임 확인</vt:lpstr>
      <vt:lpstr>함의 관계</vt:lpstr>
      <vt:lpstr>증명: 충돌 저항성 ⇒ 2차 사전영상 저항성</vt:lpstr>
      <vt:lpstr>증명: 균일성 가정 하의 사전영상 저항성</vt:lpstr>
      <vt:lpstr>일반 공격 비용: 고전 vs 양자</vt:lpstr>
      <vt:lpstr>SHA-2/SHA-3와 양자 보안 수준</vt:lpstr>
      <vt:lpstr>Lamport 일회성 서명 스킴</vt:lpstr>
      <vt:lpstr>Lamport 서명 스킴의 역사</vt:lpstr>
      <vt:lpstr>단일 비트 토이 스킴</vt:lpstr>
      <vt:lpstr>숫자 예제: 단일 비트 서명</vt:lpstr>
      <vt:lpstr>Lamport 스킴: 키 생성 (임의 길이 메시지)</vt:lpstr>
      <vt:lpstr>Lamport 스킴: 서명 생성과 검증</vt:lpstr>
      <vt:lpstr>숫자 예제: 키 생성 결과 (n=8)</vt:lpstr>
      <vt:lpstr>숫자 예제: 서명과 검증 (M="PQC")</vt:lpstr>
      <vt:lpstr>노출 문제와 OTS 안전성 정의</vt:lpstr>
      <vt:lpstr>안전성 증명</vt:lpstr>
      <vt:lpstr>정량적 보안 수준</vt:lpstr>
      <vt:lpstr>효율성</vt:lpstr>
      <vt:lpstr>마무리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규빈 박</dc:creator>
  <cp:lastModifiedBy>규빈 박</cp:lastModifiedBy>
  <cp:revision>709</cp:revision>
  <dcterms:created xsi:type="dcterms:W3CDTF">2026-03-17T05:07:50Z</dcterms:created>
  <dcterms:modified xsi:type="dcterms:W3CDTF">2026-09-07T12:43:27Z</dcterms:modified>
</cp:coreProperties>
</file>