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76" r:id="rId18"/>
    <p:sldId id="277" r:id="rId19"/>
    <p:sldId id="278" r:id="rId20"/>
    <p:sldId id="279" r:id="rId21"/>
    <p:sldId id="280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987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15. Hash Functions and the Lamport One-Time Signature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sz="1800" dirty="0"/>
              <a:t>해시 함수의 정의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세 가지 안전성 성질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안전성 성질 간의 관계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공격 비용과 SHA-2/SHA-3의 안전성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 일회성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Lamport의 안전성과 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Hash Functions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함수란 무엇인가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해시 함수 H는 길이가 L 이하인 메시지를 고정 길이 n비트 출력으로 매핑한다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𝐻</m:t>
                      </m:r>
                      <m:r>
                        <a:rPr lang="en-US" i="1">
                          <a:latin typeface="Cambria Math"/>
                        </a:rPr>
                        <m:t>:{0,1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≤</m:t>
                          </m:r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→{0,1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sz="1800" dirty="0"/>
              </a:p>
              <a:p>
                <a:r>
                  <a:rPr sz="1800" dirty="0"/>
                  <a:t>L은 매우 크고(예: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𝐿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64</m:t>
                        </m:r>
                      </m:sup>
                    </m:sSup>
                  </m:oMath>
                </a14:m>
                <a:r>
                  <a:rPr sz="1800" dirty="0"/>
                  <a:t>), n은 작다(예: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)</a:t>
                </a:r>
              </a:p>
              <a:p>
                <a:r>
                  <a:rPr sz="1800" dirty="0"/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효율적으로 계산할 수 있어야 한다</a:t>
                </a:r>
              </a:p>
              <a:p>
                <a:r>
                  <a:rPr sz="1800" dirty="0"/>
                  <a:t>설명은 공개이며 비밀키가 없다 — 표기를 간단히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sz="1800" dirty="0"/>
                  <a:t>로 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안전성 성질: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사전영상 저항성 (PR)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찾기가 계산적으로 불가능</a:t>
                </a:r>
              </a:p>
              <a:p>
                <a:r>
                  <a:rPr sz="1800" dirty="0"/>
                  <a:t>2차 사전영상 저항성 (2PR)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찾기가 불가능</a:t>
                </a:r>
              </a:p>
              <a:p>
                <a:r>
                  <a:rPr sz="1800" dirty="0"/>
                  <a:t>충돌 저항성 (CR)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 쌍을 (입력 없이) 찾기가 불가능</a:t>
                </a:r>
              </a:p>
              <a:p>
                <a:r>
                  <a:rPr sz="1800" dirty="0"/>
                  <a:t>충돌은 비둘기집 원리로 항상 존재한다 — 관건은 효율적으로 찾을 수 있는가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성질 깨기: Given/Required 요약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598341"/>
              </p:ext>
            </p:extLst>
          </p:nvPr>
        </p:nvGraphicFramePr>
        <p:xfrm>
          <a:off x="838200" y="224028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성질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Given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 ∈ {0,1}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{0,1}*, H(x) = 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x' ≠ x,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x, x' (x'≠x),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함의 관계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600" cy="4700016"/>
          </a:xfrm>
        </p:spPr>
        <p:txBody>
          <a:bodyPr/>
          <a:lstStyle/>
          <a:p>
            <a:r>
              <a:rPr sz="1800" dirty="0"/>
              <a:t>CR ⇒ 2PR (항상 성립)</a:t>
            </a:r>
          </a:p>
          <a:p>
            <a:r>
              <a:rPr sz="1800" dirty="0"/>
              <a:t>CR ⇒ PR (균일한 해시 함수라는 가정 하에 성립)</a:t>
            </a:r>
          </a:p>
          <a:p>
            <a:r>
              <a:rPr sz="1800" dirty="0"/>
              <a:t>2PR ⇒ PR (균일한 해시 함수라는 가정 하에 성립)</a:t>
            </a:r>
          </a:p>
          <a:p>
            <a:r>
              <a:rPr sz="1800" dirty="0"/>
              <a:t>PR ⇏ 2PR (성립하지 않음)</a:t>
            </a:r>
          </a:p>
          <a:p>
            <a:r>
              <a:rPr sz="1800" dirty="0"/>
              <a:t>2PR ⇏ CR (성립하지 않음)</a:t>
            </a:r>
          </a:p>
          <a:p>
            <a:r>
              <a:rPr sz="1800" dirty="0"/>
              <a:t>PR ⇏ CR (성립하지 않음)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621E2F-3755-8254-921C-67B361914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97" y="2555644"/>
            <a:ext cx="4754941" cy="30075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충돌 저항성 ⇒ 2차 사전영상 저항성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대우를 보인다: H가 2PR을 깨는 알고리즘 A가 있다고 하자</a:t>
                </a:r>
              </a:p>
              <a:p>
                <a:r>
                  <a:rPr sz="1800" dirty="0"/>
                  <a:t>A는 무작위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가 주어지면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찾아낸다</a:t>
                </a:r>
              </a:p>
              <a:p>
                <a:r>
                  <a:rPr sz="1800" dirty="0"/>
                  <a:t>충돌 탐색기 B를 구성: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무작위로 뽑고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실행해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얻은 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출력</a:t>
                </a:r>
              </a:p>
              <a:p>
                <a:r>
                  <a:rPr sz="1800" dirty="0"/>
                  <a:t>A가 성공할 때마다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이므로 이는 항상 유효한 충돌 → H는 CR도 아니다</a:t>
                </a:r>
              </a:p>
              <a:p>
                <a:r>
                  <a:rPr sz="1800" dirty="0"/>
                  <a:t>이 방향은 추가 가정이 필요 없다 — 2차 사전영상이 곧 충돌이기 때문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균일성 가정 하의 사전영상 저항성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CR ⇒ PR과 2PR ⇒ PR은 "균일한 해시 함수"라는 가정 하에 같은 기법으로 성립한다</a:t>
                </a:r>
              </a:p>
              <a:p>
                <a:r>
                  <a:rPr sz="1800" dirty="0"/>
                  <a:t>기법: 무작위 입력을 해싱해 얻은 목표값을 상대 게임의 오라클에 넘긴다</a:t>
                </a:r>
              </a:p>
              <a:p>
                <a:r>
                  <a:rPr sz="1800" dirty="0"/>
                  <a:t>CR ⇒ PR: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무작위로 뽑아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 → PR 깨는 A로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 획득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가 충돌 후보</a:t>
                </a:r>
              </a:p>
              <a:p>
                <a:r>
                  <a:rPr sz="1800" dirty="0"/>
                  <a:t>균일성 가정 하에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다수 존재 → A가 정확히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돌려줄 확률은 무시 가능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일 확률이 높다</a:t>
                </a:r>
              </a:p>
              <a:p>
                <a:r>
                  <a:rPr sz="1800" dirty="0"/>
                  <a:t>균일성이 없으면 깨진다: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유일하면 A는 항상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 자체만 반환할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일반 공격 비용: 고전 vs 양자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일반 공격(generic attack)은 해시 함수의 특정 설계를 이용하지 않는다</a:t>
                </a:r>
              </a:p>
              <a:p>
                <a:r>
                  <a:rPr sz="1800" dirty="0"/>
                  <a:t>안전하려면 출력 길이가 최소 256비트여야 한다 — 충돌 저항성엔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128</m:t>
                        </m:r>
                      </m:sup>
                    </m:sSup>
                  </m:oMath>
                </a14:m>
                <a:r>
                  <a:rPr sz="1800" dirty="0"/>
                  <a:t> 연산이 필요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966175"/>
              </p:ext>
            </p:extLst>
          </p:nvPr>
        </p:nvGraphicFramePr>
        <p:xfrm>
          <a:off x="838200" y="2548586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공격 대상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고전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양자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2차 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충돌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SHA-2/SHA-3와 양자 보안 수준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SHA-2 계열(SHA-256/384/512)은 반복(iterated) 구조</a:t>
            </a:r>
          </a:p>
          <a:p>
            <a:r>
              <a:rPr sz="1800" dirty="0"/>
              <a:t>SHA-3 계열(Keccak, SHA3-256/384/512)은 스펀지(sponge) 구조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979373"/>
              </p:ext>
            </p:extLst>
          </p:nvPr>
        </p:nvGraphicFramePr>
        <p:xfrm>
          <a:off x="841248" y="274320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해시 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2차 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충돌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SHA-256/SHA3-256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SHA-384/SHA3-384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SHA-512/SHA3-512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일회성 서명 스킴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Lamport one-time signature scheme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서명 스킴의 역사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1975년 Whitfield Diffie에게 서명 스킴을 구두로 전달했다</a:t>
            </a:r>
          </a:p>
          <a:p>
            <a:r>
              <a:rPr sz="1800" dirty="0"/>
              <a:t>1976년 Diffie–Hellman의 논문 “New Directions in Cryptography”에 수록됐다</a:t>
            </a:r>
          </a:p>
          <a:p>
            <a:r>
              <a:rPr sz="1800" dirty="0"/>
              <a:t>1979년 Lamport의 기술보고서 “Constructing Digital Signatures from a One-Way Function”에 상세히 기술됐다</a:t>
            </a:r>
          </a:p>
          <a:p>
            <a:r>
              <a:rPr sz="1800" dirty="0"/>
              <a:t>안전성이 수론적 가정이 아니라 해시 함수의 표준 성질에만 의존 — 고전·양자 공격 모두에 안전하다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단일 비트 토이 스킴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𝐺</m:t>
                    </m:r>
                    <m:r>
                      <a:rPr lang="en-US" i="1" smtClean="0">
                        <a:latin typeface="Cambria Math"/>
                      </a:rPr>
                      <m:t>:{0,1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은 사전영상 저항 해시 함수</a:t>
                </a:r>
              </a:p>
              <a:p>
                <a:r>
                  <a:rPr sz="1800" dirty="0"/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∈{0,1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를 무작위 선택,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— 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생성: 비트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</m:oMath>
                </a14:m>
                <a:r>
                  <a:rPr sz="1800" dirty="0"/>
                  <a:t>을 서명 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</m:oMath>
                </a14:m>
                <a:r>
                  <a:rPr sz="1800" dirty="0"/>
                  <a:t>, 서명된 메시지는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공개키를 가진 사람은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  <a:blipFill>
                <a:blip r:embed="rId2"/>
                <a:stretch>
                  <a:fillRect l="-1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741ABFE-E4CA-EC4C-5180-E0A0CC5DC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7837" y="3453820"/>
            <a:ext cx="1076325" cy="28761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키 생성 (임의 길이 메시지)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8" y="1294790"/>
                <a:ext cx="10515599" cy="4615185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G는 사전영상 저항, H는 충돌 저항 해시 함수 — 메시지 길이는 임의</a:t>
                </a:r>
              </a:p>
              <a:p>
                <a:r>
                  <a:rPr sz="1800" dirty="0"/>
                  <a:t>n쌍의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=0,1,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𝑗</m:t>
                    </m:r>
                    <m:r>
                      <a:rPr lang="en-US" i="1">
                        <a:latin typeface="Cambria Math"/>
                      </a:rPr>
                      <m:t>=0,1,…,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sz="1800" dirty="0"/>
                  <a:t>)을 무작위로 선택하고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계산</a:t>
                </a:r>
              </a:p>
              <a:p>
                <a:r>
                  <a:rPr sz="1800" dirty="0"/>
                  <a:t>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𝑋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𝑌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8" y="1294790"/>
                <a:ext cx="10515599" cy="4615185"/>
              </a:xfrm>
              <a:blipFill>
                <a:blip r:embed="rId2"/>
                <a:stretch>
                  <a:fillRect l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3F9183-BA63-B193-3C25-8E4D47AC1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599" y="3479763"/>
            <a:ext cx="3872802" cy="251504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서명 생성과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서명 생성: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→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재계산 후 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𝑗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  <a:blipFill>
                <a:blip r:embed="rId2"/>
                <a:stretch>
                  <a:fillRect l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BE239A4-5FCF-BE3D-31F8-D9635D839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239" y="2725094"/>
            <a:ext cx="3467400" cy="37874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노출 문제와 OTS 안전성 정의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599" cy="4700016"/>
          </a:xfrm>
        </p:spPr>
        <p:txBody>
          <a:bodyPr/>
          <a:lstStyle/>
          <a:p>
            <a:r>
              <a:rPr sz="1800" dirty="0"/>
              <a:t>서명 하나 (M, S)는 개인키 X의 절반 성분을 노출한다</a:t>
            </a:r>
          </a:p>
          <a:p>
            <a:r>
              <a:rPr sz="1800" dirty="0"/>
              <a:t>두 번째 서명은 추가로 1/4을 노출 </a:t>
            </a:r>
            <a:br>
              <a:rPr lang="en-US" sz="1800" dirty="0"/>
            </a:br>
            <a:r>
              <a:rPr sz="1800" dirty="0"/>
              <a:t>— 같은 개인키로 메시지 하나만 서명해야 함 → 일회성 서명 스킴(</a:t>
            </a:r>
            <a:r>
              <a:rPr lang="en-US" sz="1800" dirty="0"/>
              <a:t>one-time</a:t>
            </a:r>
            <a:r>
              <a:rPr lang="ko-KR" altLang="en-US" sz="1800" dirty="0"/>
              <a:t> </a:t>
            </a:r>
            <a:r>
              <a:rPr lang="en-US" altLang="ko-KR" sz="1800" dirty="0"/>
              <a:t>signature</a:t>
            </a:r>
            <a:r>
              <a:rPr lang="ko-KR" altLang="en-US" sz="1800" dirty="0"/>
              <a:t> </a:t>
            </a:r>
            <a:r>
              <a:rPr lang="en-US" altLang="ko-KR" sz="1800" dirty="0"/>
              <a:t>scheme</a:t>
            </a:r>
            <a:r>
              <a:rPr lang="en-US" sz="1800" dirty="0"/>
              <a:t>, </a:t>
            </a:r>
            <a:r>
              <a:rPr sz="1800" dirty="0"/>
              <a:t>OTS)</a:t>
            </a:r>
          </a:p>
          <a:p>
            <a:r>
              <a:rPr sz="1800" dirty="0"/>
              <a:t>OTS 안전성: 계산량 제한된 공격자가 서명 오라클에 단 한 번만 질의할 수 있는 조건에서 존재적 위조 불가능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E63E38A-36C4-FAC5-D41E-2045D69C3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358" y="3644798"/>
            <a:ext cx="4115157" cy="265199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안전성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Claim: H가 충돌 저항이고 G가 사전영상 저항이면 Lamport 스킴은 안전한 OTS다</a:t>
                </a:r>
              </a:p>
              <a:p>
                <a:r>
                  <a:rPr sz="1800" dirty="0"/>
                  <a:t>공격자가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을 획득한 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에 대한 위조를 시도한다고 하자</a:t>
                </a:r>
              </a:p>
              <a:p>
                <a:r>
                  <a:rPr sz="1800" dirty="0"/>
                  <a:t>H의 충돌 저항성에 의해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→ 최소 한 위치 j에서 비트가 다르다</a:t>
                </a:r>
              </a:p>
              <a:p>
                <a:r>
                  <a:rPr sz="1800" dirty="0"/>
                  <a:t>일반성 있게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=0,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=1</m:t>
                    </m:r>
                  </m:oMath>
                </a14:m>
                <a:r>
                  <a:rPr sz="1800" dirty="0"/>
                  <a:t>이라 하면,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의 위조엔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가 필요하다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는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의 사전영상 → G의 사전영상 저항성과 모순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정량적 보안 수준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앞서 본 일반 공격 비용을 그대로 적용하면 Lamport OTS는 양자 기준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sz="1800" dirty="0"/>
                  <a:t>비트 보안 수준을 갖는다</a:t>
                </a:r>
              </a:p>
              <a:p>
                <a:r>
                  <a:rPr sz="1800" dirty="0"/>
                  <a:t>G의 사전영상: Grover로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H의 충돌: van Oorschot–Wiener로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— 둘 다 같은 비용으로 수렴</a:t>
                </a:r>
              </a:p>
              <a:p>
                <a:r>
                  <a:rPr sz="1800" dirty="0"/>
                  <a:t>고전·양자 모두에서 128비트 보안을 얻으려면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을 쓰면 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79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461498"/>
              </p:ext>
            </p:extLst>
          </p:nvPr>
        </p:nvGraphicFramePr>
        <p:xfrm>
          <a:off x="838200" y="1874520"/>
          <a:ext cx="1051864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59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8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크기 /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n=256일 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개인키·공개키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16,384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8,192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+ 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해시 함수는 PR·2PR·CR 세 안전성 성질을 가지며, CR이 가장 강하고 나머지를 함의한다</a:t>
            </a:r>
          </a:p>
          <a:p>
            <a:r>
              <a:rPr sz="1800" dirty="0"/>
              <a:t>일반 공격 비용은 고전 2</a:t>
            </a:r>
            <a:r>
              <a:rPr sz="1800" baseline="30000" dirty="0"/>
              <a:t>n</a:t>
            </a:r>
            <a:r>
              <a:rPr sz="1800" dirty="0"/>
              <a:t> (사전·2차사전영상), 2</a:t>
            </a:r>
            <a:r>
              <a:rPr sz="1800" baseline="30000" dirty="0"/>
              <a:t>n/2</a:t>
            </a:r>
            <a:r>
              <a:rPr sz="1800" dirty="0"/>
              <a:t> (충돌), 양자는 Grover로 모두 2</a:t>
            </a:r>
            <a:r>
              <a:rPr sz="1800" baseline="30000" dirty="0"/>
              <a:t>n/2</a:t>
            </a:r>
            <a:r>
              <a:rPr sz="1800" dirty="0"/>
              <a:t> </a:t>
            </a:r>
            <a:br>
              <a:rPr lang="en-US" sz="1800" dirty="0"/>
            </a:br>
            <a:r>
              <a:rPr sz="1800" dirty="0"/>
              <a:t>— 안전을 위해 n≥256 필요</a:t>
            </a:r>
          </a:p>
          <a:p>
            <a:r>
              <a:rPr sz="1800" dirty="0"/>
              <a:t>Lamport 스킴은 해시 함수 성질만으로 서명을 구성해 양자 공격에도 안전하다</a:t>
            </a:r>
          </a:p>
          <a:p>
            <a:r>
              <a:rPr sz="1800" dirty="0"/>
              <a:t>서명 한 번에 개인키 절반이 노출되므로 일회성(OTS)으로만 안전하다</a:t>
            </a:r>
          </a:p>
          <a:p>
            <a:r>
              <a:rPr sz="1800" dirty="0"/>
              <a:t>개인키·공개키·서명 크기가 모두 커서 실용성에는 제약이 있다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3380</TotalTime>
  <Words>1344</Words>
  <Application>Microsoft Office PowerPoint</Application>
  <PresentationFormat>와이드스크린</PresentationFormat>
  <Paragraphs>170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맑은 고딕</vt:lpstr>
      <vt:lpstr>Arial</vt:lpstr>
      <vt:lpstr>Cambria Math</vt:lpstr>
      <vt:lpstr>Segoe UI</vt:lpstr>
      <vt:lpstr>Office 테마</vt:lpstr>
      <vt:lpstr>Post-Quantum Cryptography</vt:lpstr>
      <vt:lpstr>Plan</vt:lpstr>
      <vt:lpstr>해시 함수</vt:lpstr>
      <vt:lpstr>해시 함수란 무엇인가</vt:lpstr>
      <vt:lpstr>세 가지 안전성 성질: 정의</vt:lpstr>
      <vt:lpstr>세 성질 깨기: Given/Required 요약</vt:lpstr>
      <vt:lpstr>함의 관계</vt:lpstr>
      <vt:lpstr>증명: 충돌 저항성 ⇒ 2차 사전영상 저항성</vt:lpstr>
      <vt:lpstr>증명: 균일성 가정 하의 사전영상 저항성</vt:lpstr>
      <vt:lpstr>일반 공격 비용: 고전 vs 양자</vt:lpstr>
      <vt:lpstr>SHA-2/SHA-3와 양자 보안 수준</vt:lpstr>
      <vt:lpstr>Lamport 일회성 서명 스킴</vt:lpstr>
      <vt:lpstr>Lamport 서명 스킴의 역사</vt:lpstr>
      <vt:lpstr>단일 비트 토이 스킴</vt:lpstr>
      <vt:lpstr>Lamport 스킴: 키 생성 (임의 길이 메시지)</vt:lpstr>
      <vt:lpstr>Lamport 스킴: 서명 생성과 검증</vt:lpstr>
      <vt:lpstr>노출 문제와 OTS 안전성 정의</vt:lpstr>
      <vt:lpstr>안전성 증명</vt:lpstr>
      <vt:lpstr>정량적 보안 수준</vt:lpstr>
      <vt:lpstr>효율성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728</cp:revision>
  <dcterms:created xsi:type="dcterms:W3CDTF">2026-03-17T05:07:50Z</dcterms:created>
  <dcterms:modified xsi:type="dcterms:W3CDTF">2026-09-08T14:02:09Z</dcterms:modified>
</cp:coreProperties>
</file>