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332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59" r:id="rId14"/>
    <p:sldId id="357" r:id="rId15"/>
    <p:sldId id="358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60" r:id="rId28"/>
    <p:sldId id="356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20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altLang="ko-KR" dirty="0"/>
          </a:p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637E-82D6-4563-BCF0-C9101F2B5148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200000"/>
              </a:lnSpc>
              <a:defRPr sz="2000"/>
            </a:lvl1pPr>
            <a:lvl2pPr>
              <a:lnSpc>
                <a:spcPct val="200000"/>
              </a:lnSpc>
              <a:defRPr sz="2000"/>
            </a:lvl2pPr>
            <a:lvl3pPr>
              <a:lnSpc>
                <a:spcPct val="200000"/>
              </a:lnSpc>
              <a:defRPr sz="2000"/>
            </a:lvl3pPr>
            <a:lvl4pPr>
              <a:lnSpc>
                <a:spcPct val="200000"/>
              </a:lnSpc>
              <a:defRPr sz="2000"/>
            </a:lvl4pPr>
            <a:lvl5pPr>
              <a:lnSpc>
                <a:spcPct val="200000"/>
              </a:lnSpc>
              <a:defRPr sz="20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D677-7AD2-4A27-94BD-C65458D22428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5C70B-7871-D2F3-E49B-85D4BEBA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Post-Quantum Cryptography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4BB57-D4CA-4972-9722-922AA1C02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ko-KR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Latti</a:t>
            </a:r>
            <a:r>
              <a:rPr lang="en-US" altLang="ko-KR" dirty="0"/>
              <a:t>ces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27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DB61-F834-D9E7-299E-9100B8F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2A060-71A6-5EA2-F906-1524933F5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962"/>
            <a:ext cx="10515600" cy="5037388"/>
          </a:xfrm>
        </p:spPr>
        <p:txBody>
          <a:bodyPr anchor="t">
            <a:norm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격자</a:t>
            </a:r>
            <a:r>
              <a:rPr lang="en-US" altLang="ko-KR" dirty="0"/>
              <a:t>(Lattice)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기저</a:t>
            </a:r>
            <a:r>
              <a:rPr lang="en-US" altLang="ko-KR" dirty="0"/>
              <a:t>(Basis)</a:t>
            </a:r>
            <a:r>
              <a:rPr lang="ko-KR" altLang="en-US" dirty="0"/>
              <a:t>의 특성화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격자의 부피</a:t>
            </a:r>
            <a:r>
              <a:rPr lang="en-US" altLang="ko-KR" dirty="0"/>
              <a:t>(Volume), Successive minima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/>
              <a:t>LLL </a:t>
            </a:r>
            <a:r>
              <a:rPr lang="ko-KR" altLang="en-US" dirty="0"/>
              <a:t>알고리즘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/>
              <a:t>SVP, SIVP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AA46B-FCCE-8A34-657F-EEC8E88D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6756302-4A72-F2DD-A7FF-B2186F87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/>
          <a:p>
            <a:r>
              <a:rPr lang="en-US" altLang="ko-KR" dirty="0"/>
              <a:t>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571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549E2-C10F-E7B3-0270-AA42CE7CB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격자의 정의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6EA0713-DD0C-7D35-A2F0-682697A3C2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dirty="0"/>
                  <a:t>R</a:t>
                </a:r>
                <a:r>
                  <a:rPr lang="en-US" altLang="ko-KR" baseline="30000" dirty="0"/>
                  <a:t>n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안의 격자 </a:t>
                </a:r>
                <a:r>
                  <a:rPr lang="en-US" altLang="ko-KR" dirty="0"/>
                  <a:t>L</a:t>
                </a:r>
                <a:r>
                  <a:rPr lang="ko-KR" altLang="en-US" dirty="0"/>
                  <a:t>은 선형 독립인 </a:t>
                </a:r>
                <a:r>
                  <a:rPr lang="en-US" altLang="ko-KR" dirty="0"/>
                  <a:t>m</a:t>
                </a:r>
                <a:r>
                  <a:rPr lang="ko-KR" altLang="en-US" dirty="0"/>
                  <a:t>개 벡터 </a:t>
                </a:r>
                <a:r>
                  <a:rPr lang="en-US" altLang="ko-KR" dirty="0"/>
                  <a:t>b</a:t>
                </a:r>
                <a:r>
                  <a:rPr lang="en-US" altLang="ko-KR" baseline="-25000" dirty="0"/>
                  <a:t>1</a:t>
                </a:r>
                <a:r>
                  <a:rPr lang="en-US" altLang="ko-KR" dirty="0"/>
                  <a:t>, b</a:t>
                </a:r>
                <a:r>
                  <a:rPr lang="en-US" altLang="ko-KR" baseline="-25000" dirty="0"/>
                  <a:t>2</a:t>
                </a:r>
                <a:r>
                  <a:rPr lang="en-US" altLang="ko-KR" dirty="0"/>
                  <a:t>, ..., b</a:t>
                </a:r>
                <a:r>
                  <a:rPr lang="en-US" altLang="ko-KR" baseline="-25000" dirty="0"/>
                  <a:t>m</a:t>
                </a:r>
                <a:r>
                  <a:rPr lang="en-US" altLang="ko-KR" dirty="0"/>
                  <a:t> (m</a:t>
                </a:r>
                <a:r>
                  <a:rPr lang="ko-KR" altLang="en-US" dirty="0"/>
                  <a:t> ≤ </a:t>
                </a:r>
                <a:r>
                  <a:rPr lang="en-US" altLang="ko-KR" dirty="0"/>
                  <a:t>n)</a:t>
                </a:r>
                <a:r>
                  <a:rPr lang="ko-KR" altLang="en-US" dirty="0"/>
                  <a:t>의 모든 정수 선형 결합의 집합</a:t>
                </a:r>
                <a:endParaRPr lang="en-US" altLang="ko-KR" dirty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/>
                        </a:rPr>
                        <m:t>𝐿</m:t>
                      </m:r>
                      <m:r>
                        <a:rPr lang="en-US" altLang="ko-KR" i="1"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/>
                        </a:rPr>
                        <m:t>+⋯+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altLang="ko-KR" i="1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en-US" altLang="ko-KR" i="1">
                          <a:latin typeface="Cambria Math"/>
                        </a:rPr>
                        <m:t>∈</m:t>
                      </m:r>
                      <m:r>
                        <a:rPr lang="en-US" altLang="ko-KR" i="1">
                          <a:latin typeface="Cambria Math"/>
                        </a:rPr>
                        <m:t>ℤ</m:t>
                      </m:r>
                      <m:r>
                        <a:rPr lang="en-US" altLang="ko-KR" i="1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lnSpc>
                    <a:spcPct val="200000"/>
                  </a:lnSpc>
                </a:pPr>
                <a:r>
                  <a:rPr lang="en-US" altLang="ko-KR" dirty="0"/>
                  <a:t>B = {b</a:t>
                </a:r>
                <a:r>
                  <a:rPr lang="en-US" altLang="ko-KR" baseline="-25000" dirty="0"/>
                  <a:t>1</a:t>
                </a:r>
                <a:r>
                  <a:rPr lang="en-US" altLang="ko-KR" dirty="0"/>
                  <a:t>, b</a:t>
                </a:r>
                <a:r>
                  <a:rPr lang="en-US" altLang="ko-KR" baseline="-25000" dirty="0"/>
                  <a:t>2</a:t>
                </a:r>
                <a:r>
                  <a:rPr lang="en-US" altLang="ko-KR" dirty="0"/>
                  <a:t>, …, b</a:t>
                </a:r>
                <a:r>
                  <a:rPr lang="en-US" altLang="ko-KR" baseline="-25000" dirty="0"/>
                  <a:t>m</a:t>
                </a:r>
                <a:r>
                  <a:rPr lang="en-US" altLang="ko-KR" dirty="0"/>
                  <a:t>}</a:t>
                </a:r>
                <a:r>
                  <a:rPr lang="ko-KR" altLang="en-US" dirty="0"/>
                  <a:t>을 </a:t>
                </a:r>
                <a:r>
                  <a:rPr lang="en-US" altLang="ko-KR" dirty="0"/>
                  <a:t>L</a:t>
                </a:r>
                <a:r>
                  <a:rPr lang="ko-KR" altLang="en-US" dirty="0"/>
                  <a:t>의 기저</a:t>
                </a:r>
                <a:r>
                  <a:rPr lang="en-US" altLang="ko-KR" dirty="0"/>
                  <a:t>(Basis), L = L(B)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dirty="0"/>
                  <a:t>L</a:t>
                </a:r>
                <a:r>
                  <a:rPr lang="ko-KR" altLang="en-US" dirty="0"/>
                  <a:t>의 차원</a:t>
                </a:r>
                <a:r>
                  <a:rPr lang="en-US" altLang="ko-KR" dirty="0"/>
                  <a:t>(Dimension)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= n, Rank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dirty="0"/>
                  <a:t>이후 기저 벡터는 모두 정수 좌표를 갖는다고 가정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ko-KR" altLang="en-US" dirty="0"/>
                  <a:t> </a:t>
                </a:r>
                <a:r>
                  <a:rPr lang="it-IT" altLang="ko-KR" dirty="0"/>
                  <a:t>L ⊆ Z</a:t>
                </a:r>
                <a:r>
                  <a:rPr lang="it-IT" altLang="ko-KR" baseline="30000" dirty="0"/>
                  <a:t>n</a:t>
                </a:r>
                <a:r>
                  <a:rPr lang="it-IT" altLang="ko-KR" dirty="0"/>
                  <a:t> (integer lattice)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6EA0713-DD0C-7D35-A2F0-682697A3C2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7D0669-F8EB-FBE0-AC35-DFAE2E7A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39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492B3-4459-E0A2-6EF8-10DD42ADD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격자의 행렬 표현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155157-D8AA-A335-ACD8-68323888D4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200000"/>
                  </a:lnSpc>
                </a:pPr>
                <a:r>
                  <a:rPr lang="en-US" altLang="ko-KR" dirty="0"/>
                  <a:t>B: </a:t>
                </a:r>
                <a:r>
                  <a:rPr lang="ko-KR" altLang="en-US" dirty="0"/>
                  <a:t>기저벡터 </a:t>
                </a:r>
                <a:r>
                  <a:rPr lang="en-US" altLang="ko-KR" dirty="0"/>
                  <a:t>b</a:t>
                </a:r>
                <a:r>
                  <a:rPr lang="en-US" altLang="ko-KR" baseline="-25000" dirty="0"/>
                  <a:t>1</a:t>
                </a:r>
                <a:r>
                  <a:rPr lang="en-US" altLang="ko-KR" dirty="0"/>
                  <a:t>, b</a:t>
                </a:r>
                <a:r>
                  <a:rPr lang="en-US" altLang="ko-KR" baseline="-25000" dirty="0"/>
                  <a:t>2</a:t>
                </a:r>
                <a:r>
                  <a:rPr lang="en-US" altLang="ko-KR" dirty="0"/>
                  <a:t>, ..., b</a:t>
                </a:r>
                <a:r>
                  <a:rPr lang="en-US" altLang="ko-KR" baseline="-25000" dirty="0"/>
                  <a:t>m</a:t>
                </a:r>
                <a:r>
                  <a:rPr lang="ko-KR" altLang="en-US" dirty="0"/>
                  <a:t>을 열</a:t>
                </a:r>
                <a:r>
                  <a:rPr lang="en-US" altLang="ko-KR" dirty="0"/>
                  <a:t>(column)</a:t>
                </a:r>
                <a:r>
                  <a:rPr lang="ko-KR" altLang="en-US" dirty="0"/>
                  <a:t>로 갖는 </a:t>
                </a:r>
                <a:r>
                  <a:rPr lang="en-US" altLang="ko-KR" dirty="0" err="1"/>
                  <a:t>n×m</a:t>
                </a:r>
                <a:r>
                  <a:rPr lang="ko-KR" altLang="en-US" dirty="0"/>
                  <a:t> 행렬</a:t>
                </a:r>
                <a:endParaRPr lang="en-US" altLang="ko-KR" dirty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𝐵</m:t>
                      </m:r>
                      <m:r>
                        <a:rPr lang="ar-AE" altLang="ko-KR" i="1">
                          <a:latin typeface="Cambria Math"/>
                        </a:rPr>
                        <m:t>=[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|</m:t>
                            </m:r>
                          </m:e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|</m:t>
                            </m:r>
                          </m:e>
                          <m:e/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|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ar-AE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ar-AE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 altLang="ko-KR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ar-AE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ar-AE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ar-AE" altLang="ko-KR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⋯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ar-AE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ko-KR" altLang="ar-AE" i="1">
                                    <a:latin typeface="Cambria Math"/>
                                  </a:rPr>
                                  <m:t>𝑚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|</m:t>
                            </m:r>
                          </m:e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|</m:t>
                            </m:r>
                          </m:e>
                          <m:e/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|</m:t>
                            </m:r>
                          </m:e>
                        </m:mr>
                      </m:m>
                      <m:r>
                        <a:rPr lang="ar-AE" altLang="ko-KR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ar-AE" altLang="ko-KR" dirty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𝐿</m:t>
                      </m:r>
                      <m:r>
                        <a:rPr lang="ar-AE" altLang="ko-KR" i="1">
                          <a:latin typeface="Cambria Math"/>
                        </a:rPr>
                        <m:t>={</m:t>
                      </m:r>
                      <m:r>
                        <a:rPr lang="ko-KR" altLang="ar-AE" i="1">
                          <a:latin typeface="Cambria Math"/>
                        </a:rPr>
                        <m:t>𝐵𝑥</m:t>
                      </m:r>
                      <m:r>
                        <a:rPr lang="ar-AE" altLang="ko-KR" i="1">
                          <a:latin typeface="Cambria Math"/>
                        </a:rPr>
                        <m:t>:</m:t>
                      </m:r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ko-KR" altLang="ar-AE" i="1"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/>
                            </a:rPr>
                            <m:t>ℤ</m:t>
                          </m:r>
                        </m:e>
                        <m:sup>
                          <m:r>
                            <a:rPr lang="ko-KR" altLang="ar-AE" i="1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ar-AE" altLang="ko-KR" dirty="0"/>
              </a:p>
              <a:p>
                <a:pPr>
                  <a:lnSpc>
                    <a:spcPct val="200000"/>
                  </a:lnSpc>
                </a:pPr>
                <a:r>
                  <a:rPr lang="en-US" altLang="ko-KR" dirty="0"/>
                  <a:t>x</a:t>
                </a:r>
                <a:r>
                  <a:rPr lang="ko-KR" altLang="en-US" dirty="0"/>
                  <a:t>는 모든 길이 </a:t>
                </a:r>
                <a:r>
                  <a:rPr lang="en-US" altLang="ko-KR" dirty="0"/>
                  <a:t>m</a:t>
                </a:r>
                <a:r>
                  <a:rPr lang="ko-KR" altLang="en-US" dirty="0"/>
                  <a:t>의 정수 벡터</a:t>
                </a:r>
                <a:endParaRPr lang="en-US" altLang="ko-KR" dirty="0"/>
              </a:p>
              <a:p>
                <a:pPr>
                  <a:lnSpc>
                    <a:spcPct val="200000"/>
                  </a:lnSpc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155157-D8AA-A335-ACD8-68323888D4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22CAE9-5420-5A68-B41F-1297095C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36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294EB-75CA-8C4B-58AA-88D5DEC0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7A355-AD2F-2BD1-6BED-373047F59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Full-rank </a:t>
            </a:r>
            <a:r>
              <a:rPr lang="ko-KR" altLang="en-US" dirty="0"/>
              <a:t>격자와 부분격자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D4D0A2-3DC7-DC45-ED55-9ED793AAC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Full-rank </a:t>
            </a:r>
            <a:r>
              <a:rPr lang="ko-KR" altLang="en-US" dirty="0"/>
              <a:t>격자</a:t>
            </a:r>
            <a:r>
              <a:rPr lang="en-US" altLang="ko-KR" dirty="0"/>
              <a:t>: rank = n (</a:t>
            </a:r>
            <a:r>
              <a:rPr lang="ko-KR" altLang="en-US" dirty="0"/>
              <a:t>즉 </a:t>
            </a:r>
            <a:r>
              <a:rPr lang="en-US" altLang="ko-KR" dirty="0"/>
              <a:t>m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n)</a:t>
            </a:r>
            <a:r>
              <a:rPr lang="ko-KR" altLang="en-US" dirty="0"/>
              <a:t>인 격자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sz="2000" dirty="0"/>
              <a:t>- Full-rank </a:t>
            </a:r>
            <a:r>
              <a:rPr lang="ko-KR" altLang="en-US" sz="2000" dirty="0"/>
              <a:t>격자의 기저 </a:t>
            </a:r>
            <a:r>
              <a:rPr lang="en-US" altLang="ko-KR" sz="2000" dirty="0"/>
              <a:t>B</a:t>
            </a:r>
            <a:r>
              <a:rPr lang="ko-KR" altLang="en-US" sz="2000" dirty="0"/>
              <a:t>는 벡터공간 </a:t>
            </a:r>
            <a:r>
              <a:rPr lang="en-US" altLang="ko-KR" sz="2000" dirty="0"/>
              <a:t>R</a:t>
            </a:r>
            <a:r>
              <a:rPr lang="en-US" altLang="ko-KR" sz="2000" baseline="30000" dirty="0"/>
              <a:t>n</a:t>
            </a:r>
            <a:r>
              <a:rPr lang="ko-KR" altLang="en-US" sz="2000" dirty="0"/>
              <a:t>의 기저이기도 함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/>
              <a:t>차이</a:t>
            </a:r>
            <a:r>
              <a:rPr lang="en-US" altLang="ko-KR" sz="2000" dirty="0"/>
              <a:t>: </a:t>
            </a:r>
            <a:r>
              <a:rPr lang="ko-KR" altLang="en-US" sz="2000" dirty="0"/>
              <a:t>격자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정수 선형결합</a:t>
            </a:r>
            <a:r>
              <a:rPr lang="en-US" altLang="ko-KR" sz="2000" dirty="0">
                <a:sym typeface="Wingdings" panose="05000000000000000000" pitchFamily="2" charset="2"/>
              </a:rPr>
              <a:t>(</a:t>
            </a:r>
            <a:r>
              <a:rPr lang="ko-KR" altLang="en-US" sz="2000" dirty="0">
                <a:sym typeface="Wingdings" panose="05000000000000000000" pitchFamily="2" charset="2"/>
              </a:rPr>
              <a:t>격자점만</a:t>
            </a:r>
            <a:r>
              <a:rPr lang="en-US" altLang="ko-KR" sz="2000" dirty="0">
                <a:sym typeface="Wingdings" panose="05000000000000000000" pitchFamily="2" charset="2"/>
              </a:rPr>
              <a:t>); </a:t>
            </a:r>
            <a:r>
              <a:rPr lang="ko-KR" altLang="en-US" sz="2000" dirty="0">
                <a:sym typeface="Wingdings" panose="05000000000000000000" pitchFamily="2" charset="2"/>
              </a:rPr>
              <a:t>벡터공간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실수 선형결합</a:t>
            </a:r>
            <a:r>
              <a:rPr lang="en-US" altLang="ko-KR" sz="2000" dirty="0">
                <a:sym typeface="Wingdings" panose="05000000000000000000" pitchFamily="2" charset="2"/>
              </a:rPr>
              <a:t>(R</a:t>
            </a:r>
            <a:r>
              <a:rPr lang="en-US" altLang="ko-KR" sz="2000" baseline="30000" dirty="0">
                <a:sym typeface="Wingdings" panose="05000000000000000000" pitchFamily="2" charset="2"/>
              </a:rPr>
              <a:t>n</a:t>
            </a:r>
            <a:r>
              <a:rPr lang="en-US" altLang="ko-KR" sz="2000" dirty="0"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ym typeface="Wingdings" panose="05000000000000000000" pitchFamily="2" charset="2"/>
              </a:rPr>
              <a:t>전체</a:t>
            </a:r>
            <a:r>
              <a:rPr lang="en-US" altLang="ko-KR" sz="2000" dirty="0">
                <a:sym typeface="Wingdings" panose="05000000000000000000" pitchFamily="2" charset="2"/>
              </a:rPr>
              <a:t>)</a:t>
            </a:r>
            <a:endParaRPr lang="en-US" altLang="ko-KR" sz="2000" dirty="0"/>
          </a:p>
          <a:p>
            <a:r>
              <a:rPr lang="ko-KR" altLang="en-US" dirty="0"/>
              <a:t>부분격자</a:t>
            </a:r>
            <a:r>
              <a:rPr lang="en-US" altLang="ko-KR" dirty="0"/>
              <a:t>(Sublattice): L, L’</a:t>
            </a:r>
            <a:r>
              <a:rPr lang="ko-KR" altLang="en-US" dirty="0"/>
              <a:t>이 </a:t>
            </a:r>
            <a:r>
              <a:rPr lang="en-US" altLang="ko-KR" dirty="0"/>
              <a:t>R</a:t>
            </a:r>
            <a:r>
              <a:rPr lang="en-US" altLang="ko-KR" baseline="30000" dirty="0"/>
              <a:t>n</a:t>
            </a:r>
            <a:r>
              <a:rPr lang="ko-KR" altLang="en-US" dirty="0"/>
              <a:t>의 격자이고 </a:t>
            </a:r>
            <a:r>
              <a:rPr lang="en-US" altLang="ko-KR" dirty="0"/>
              <a:t>L′ ⊆ L</a:t>
            </a:r>
            <a:r>
              <a:rPr lang="ko-KR" altLang="en-US" dirty="0"/>
              <a:t>이면 </a:t>
            </a:r>
            <a:r>
              <a:rPr lang="en-US" altLang="ko-KR" dirty="0"/>
              <a:t>L′</a:t>
            </a:r>
            <a:r>
              <a:rPr lang="ko-KR" altLang="en-US" dirty="0"/>
              <a:t>은 </a:t>
            </a:r>
            <a:r>
              <a:rPr lang="en-US" altLang="ko-KR" dirty="0"/>
              <a:t>L</a:t>
            </a:r>
            <a:r>
              <a:rPr lang="ko-KR" altLang="en-US" dirty="0"/>
              <a:t>의 부분격자</a:t>
            </a:r>
            <a:endParaRPr lang="en-US" altLang="ko-KR" dirty="0"/>
          </a:p>
          <a:p>
            <a:r>
              <a:rPr lang="ko-KR" altLang="en-US" dirty="0"/>
              <a:t>이후 별다른 언급이 없는 한 모든 격자</a:t>
            </a:r>
            <a:r>
              <a:rPr lang="en-US" altLang="ko-KR" dirty="0"/>
              <a:t>·</a:t>
            </a:r>
            <a:r>
              <a:rPr lang="ko-KR" altLang="en-US" dirty="0"/>
              <a:t>부분격자는 </a:t>
            </a:r>
            <a:r>
              <a:rPr lang="en-US" altLang="ko-KR" dirty="0"/>
              <a:t>full-rank </a:t>
            </a:r>
            <a:r>
              <a:rPr lang="ko-KR" altLang="en-US" dirty="0"/>
              <a:t>정수격자로 가정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BB9F6B-015B-C4D6-B187-1936A93B3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466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894D-6B79-F1BC-0083-139E52F97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D596F-D985-C1F9-B071-FB07D7BF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1: L</a:t>
            </a:r>
            <a:r>
              <a:rPr lang="en-US" altLang="ko-KR" baseline="-25000" dirty="0"/>
              <a:t>1</a:t>
            </a:r>
            <a:r>
              <a:rPr lang="en-US" altLang="ko-KR" dirty="0"/>
              <a:t> = Z</a:t>
            </a:r>
            <a:r>
              <a:rPr lang="en-US" altLang="ko-KR" baseline="30000" dirty="0"/>
              <a:t>2</a:t>
            </a:r>
            <a:endParaRPr lang="ko-KR" altLang="en-US" baseline="30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6AAB5-1186-5E88-8BA6-A9A943010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B₁ = {(1,0), (0,1)}</a:t>
            </a:r>
          </a:p>
          <a:p>
            <a:r>
              <a:rPr lang="pl-PL" altLang="ko-KR" dirty="0"/>
              <a:t>L₁ = L(B₁) = {B₁x : x ∈ Z²} = Z²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평면 위 모든 정수 좌표 점</a:t>
            </a:r>
            <a:endParaRPr lang="pl-PL" altLang="ko-KR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B9508-B61D-BC46-CD03-3FDCBFF9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F33B61-F38C-DF8C-C1FA-1CDB801EE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679" y="1580667"/>
            <a:ext cx="4397121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78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8EC09-EEE9-9C1C-EFB3-FD007763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E2370B-10D5-86FB-E559-FAEB5CF3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2: L₂ ⊆ L₁ (L₂ ≠ L₁)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FC4516-3E27-33B4-897D-E4EDB0AD4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B₂ = {(2,0), (0,1)}</a:t>
            </a:r>
          </a:p>
          <a:p>
            <a:r>
              <a:rPr lang="en-US" altLang="ko-KR" dirty="0"/>
              <a:t>L₂ = L(B₂) = {</a:t>
            </a:r>
            <a:r>
              <a:rPr lang="en-US" altLang="ko-KR" dirty="0" err="1"/>
              <a:t>B₂x</a:t>
            </a:r>
            <a:r>
              <a:rPr lang="en-US" altLang="ko-KR" dirty="0"/>
              <a:t> : x ∈ Z²}</a:t>
            </a:r>
          </a:p>
          <a:p>
            <a:r>
              <a:rPr lang="en-US" altLang="ko-KR" dirty="0"/>
              <a:t>L₂</a:t>
            </a:r>
            <a:r>
              <a:rPr lang="ko-KR" altLang="en-US" dirty="0"/>
              <a:t>는 </a:t>
            </a:r>
            <a:r>
              <a:rPr lang="en-US" altLang="ko-KR" dirty="0"/>
              <a:t>L₁</a:t>
            </a:r>
            <a:r>
              <a:rPr lang="ko-KR" altLang="en-US" dirty="0"/>
              <a:t>의 부분격자</a:t>
            </a:r>
            <a:r>
              <a:rPr lang="en-US" altLang="ko-KR" dirty="0"/>
              <a:t>, L₂ ≠ L₁</a:t>
            </a:r>
          </a:p>
          <a:p>
            <a:r>
              <a:rPr lang="en-US" altLang="ko-KR" dirty="0"/>
              <a:t>(1,0) = ½·(2,0) + 0·(0,1)</a:t>
            </a:r>
          </a:p>
          <a:p>
            <a:r>
              <a:rPr lang="ko-KR" altLang="en-US" dirty="0"/>
              <a:t>계수 </a:t>
            </a:r>
            <a:r>
              <a:rPr lang="en-US" altLang="ko-KR" dirty="0"/>
              <a:t>½</a:t>
            </a:r>
            <a:r>
              <a:rPr lang="ko-KR" altLang="en-US" dirty="0"/>
              <a:t>이 정수가 아니므로 </a:t>
            </a:r>
            <a:r>
              <a:rPr lang="en-US" altLang="ko-KR" dirty="0"/>
              <a:t>(1,0) ∉ L₂</a:t>
            </a:r>
          </a:p>
          <a:p>
            <a:pPr marL="3657600" lvl="8" indent="0">
              <a:buNone/>
            </a:pPr>
            <a:r>
              <a:rPr lang="ko-KR" altLang="en-US" sz="1600" dirty="0"/>
              <a:t>회색 점</a:t>
            </a:r>
            <a:r>
              <a:rPr lang="en-US" altLang="ko-KR" sz="1600" dirty="0"/>
              <a:t>: L</a:t>
            </a:r>
            <a:r>
              <a:rPr lang="en-US" altLang="ko-KR" sz="1600" baseline="-25000" dirty="0"/>
              <a:t>1</a:t>
            </a:r>
          </a:p>
          <a:p>
            <a:pPr marL="3657600" lvl="8" indent="0">
              <a:buNone/>
            </a:pPr>
            <a:r>
              <a:rPr lang="ko-KR" altLang="en-US" sz="1600" dirty="0"/>
              <a:t>검은 점</a:t>
            </a:r>
            <a:r>
              <a:rPr lang="en-US" altLang="ko-KR" sz="1600" dirty="0"/>
              <a:t>: L</a:t>
            </a:r>
            <a:r>
              <a:rPr lang="en-US" altLang="ko-KR" sz="1600" baseline="-25000" dirty="0"/>
              <a:t>2</a:t>
            </a:r>
            <a:endParaRPr lang="ko-KR" altLang="en-US" sz="1600" baseline="-25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1DDF68-5FD0-1BC4-146E-71AFC614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609106-4963-99E3-5BE7-3E2FD14B4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402" y="1481921"/>
            <a:ext cx="4130398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1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E78A-3D4B-676C-ACC3-150C98DD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1CC65-45B9-145C-B81A-C6ABA006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3: L</a:t>
            </a:r>
            <a:r>
              <a:rPr lang="en-US" altLang="ko-KR" baseline="-25000" dirty="0"/>
              <a:t>3</a:t>
            </a:r>
            <a:r>
              <a:rPr lang="en-US" altLang="ko-KR" dirty="0"/>
              <a:t> = L</a:t>
            </a:r>
            <a:r>
              <a:rPr lang="en-US" altLang="ko-KR" baseline="-25000" dirty="0"/>
              <a:t>2</a:t>
            </a:r>
            <a:endParaRPr lang="ko-KR" altLang="en-US" baseline="-25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C57E44-12ED-0A5E-DFEB-57FA487E3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B₃ = {(−2,−2), (4,3)}</a:t>
            </a:r>
          </a:p>
          <a:p>
            <a:r>
              <a:rPr lang="ko-KR" altLang="en-US" dirty="0"/>
              <a:t>양방향 포함으로 확인</a:t>
            </a:r>
            <a:r>
              <a:rPr lang="en-US" altLang="ko-KR" dirty="0"/>
              <a:t>:</a:t>
            </a:r>
          </a:p>
          <a:p>
            <a:pPr marL="457200" lvl="1" indent="0">
              <a:buNone/>
            </a:pPr>
            <a:r>
              <a:rPr lang="en-US" altLang="ko-KR" dirty="0"/>
              <a:t>- (2,0)=3(−2,−2)+2(4,3), (0,1)=−2(−2,−2)−1(4,3)</a:t>
            </a:r>
          </a:p>
          <a:p>
            <a:pPr marL="457200" lvl="1" indent="0">
              <a:buNone/>
            </a:pPr>
            <a:r>
              <a:rPr lang="en-US" altLang="ko-KR" dirty="0"/>
              <a:t>- (−2,−2)=−1(2,0)−2(0,1), (4,3)=2(2,0)+3(0,1)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</a:t>
            </a:r>
            <a:r>
              <a:rPr lang="en-US" altLang="ko-KR" dirty="0"/>
              <a:t>L₃ = L₂  (</a:t>
            </a:r>
            <a:r>
              <a:rPr lang="ko-KR" altLang="en-US" dirty="0"/>
              <a:t>같은 격자</a:t>
            </a:r>
            <a:r>
              <a:rPr lang="en-US" altLang="ko-KR" dirty="0"/>
              <a:t>, </a:t>
            </a:r>
            <a:r>
              <a:rPr lang="ko-KR" altLang="en-US" dirty="0"/>
              <a:t>다른 기저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B₂</a:t>
            </a:r>
            <a:r>
              <a:rPr lang="ko-KR" altLang="en-US" dirty="0"/>
              <a:t>가 </a:t>
            </a:r>
            <a:r>
              <a:rPr lang="en-US" altLang="ko-KR" dirty="0"/>
              <a:t>B₃</a:t>
            </a:r>
            <a:r>
              <a:rPr lang="ko-KR" altLang="en-US" dirty="0"/>
              <a:t>보다 더 좋은 기저 </a:t>
            </a:r>
            <a:r>
              <a:rPr lang="en-US" altLang="ko-KR" dirty="0"/>
              <a:t>(</a:t>
            </a:r>
            <a:r>
              <a:rPr lang="ko-KR" altLang="en-US" dirty="0"/>
              <a:t>벡터가 짧고 직교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6C663F-00E5-D396-4A13-9D68F3D3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E1554C-AA07-FA9F-342F-4EE1F3258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196" y="1576856"/>
            <a:ext cx="4427604" cy="41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3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A64F-4555-0BB6-6711-50034F59C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34B14-5ABB-4C89-9816-F53A0B2B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더 좋은 </a:t>
            </a:r>
            <a:r>
              <a:rPr lang="ko-KR" altLang="en-US" dirty="0" err="1"/>
              <a:t>기저란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11E2D10-2058-20F2-65BB-2A8F55959A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/>
                  <a:t>벡터 </a:t>
                </a:r>
                <a:r>
                  <a:rPr lang="en-US" altLang="ko-KR" dirty="0"/>
                  <a:t>a = (a</a:t>
                </a:r>
                <a:r>
                  <a:rPr lang="en-US" altLang="ko-KR" baseline="-25000" dirty="0"/>
                  <a:t>1</a:t>
                </a:r>
                <a:r>
                  <a:rPr lang="en-US" altLang="ko-KR" dirty="0"/>
                  <a:t>, a</a:t>
                </a:r>
                <a:r>
                  <a:rPr lang="en-US" altLang="ko-KR" baseline="-25000" dirty="0"/>
                  <a:t>2</a:t>
                </a:r>
                <a:r>
                  <a:rPr lang="en-US" altLang="ko-KR" dirty="0"/>
                  <a:t>, ..., a</a:t>
                </a:r>
                <a:r>
                  <a:rPr lang="en-US" altLang="ko-KR" baseline="-25000" dirty="0"/>
                  <a:t>n</a:t>
                </a:r>
                <a:r>
                  <a:rPr lang="en-US" altLang="ko-KR" dirty="0"/>
                  <a:t>) ∈ R</a:t>
                </a:r>
                <a:r>
                  <a:rPr lang="en-US" altLang="ko-KR" baseline="30000" dirty="0"/>
                  <a:t>n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의 길이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i="1">
                          <a:latin typeface="Cambria Math"/>
                        </a:rPr>
                        <m:t>‖</m:t>
                      </m:r>
                      <m:r>
                        <a:rPr lang="ko-KR" altLang="ar-AE" i="1">
                          <a:latin typeface="Cambria Math"/>
                        </a:rPr>
                        <m:t>𝑎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altLang="ko-KR" i="1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ar-AE" altLang="ko-KR" i="1">
                              <a:latin typeface="Cambria Math"/>
                            </a:rPr>
                            <m:t>+⋯+</m:t>
                          </m:r>
                          <m:sSubSup>
                            <m:sSub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ar-AE" i="1">
                                  <a:latin typeface="Cambria Math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ar-AE" altLang="ko-KR" dirty="0"/>
              </a:p>
              <a:p>
                <a:pPr marL="3657600" lvl="8" indent="0">
                  <a:buNone/>
                </a:pPr>
                <a:r>
                  <a:rPr lang="en-US" altLang="ko-KR" sz="2000" dirty="0"/>
                  <a:t>- </a:t>
                </a:r>
                <a:r>
                  <a:rPr lang="ko-KR" altLang="en-US" sz="2000" dirty="0"/>
                  <a:t>유클리드 길이</a:t>
                </a:r>
                <a:r>
                  <a:rPr lang="en-US" altLang="ko-KR" sz="2000" dirty="0"/>
                  <a:t>(ℓ₂-norm)</a:t>
                </a:r>
              </a:p>
              <a:p>
                <a:r>
                  <a:rPr lang="en-US" altLang="ko-KR" dirty="0"/>
                  <a:t>B₂ = {(2,0),(0,1)} </a:t>
                </a:r>
                <a:r>
                  <a:rPr lang="ko-KR" altLang="en-US" dirty="0"/>
                  <a:t>이 </a:t>
                </a:r>
                <a:r>
                  <a:rPr lang="en-US" altLang="ko-KR" dirty="0"/>
                  <a:t>B₃ = {(−2,−2),(4,3)} </a:t>
                </a:r>
                <a:r>
                  <a:rPr lang="ko-KR" altLang="en-US" dirty="0"/>
                  <a:t>보다 더 좋은 기저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- B₂</a:t>
                </a:r>
                <a:r>
                  <a:rPr lang="ko-KR" altLang="en-US" dirty="0"/>
                  <a:t>의 벡터가 더 짧다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- B₂</a:t>
                </a:r>
                <a:r>
                  <a:rPr lang="ko-KR" altLang="en-US" dirty="0"/>
                  <a:t>의 벡터가 서로 직교한다</a:t>
                </a: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11E2D10-2058-20F2-65BB-2A8F55959A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45DE10-828D-9375-A7A0-D63049BD6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C28E5E-275F-DB2F-C3B3-A8D23E23E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709" y="998009"/>
            <a:ext cx="3353091" cy="48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5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E5EFD-DF12-0910-7E75-ECCC0943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C5402-F307-1FB7-A620-2405820A6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4: L</a:t>
            </a:r>
            <a:r>
              <a:rPr lang="en-US" altLang="ko-KR" baseline="-25000" dirty="0"/>
              <a:t>4</a:t>
            </a:r>
            <a:endParaRPr lang="ko-KR" altLang="en-US" baseline="-25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F639CD-6E0E-A637-9BEA-F986CDC13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B₄ = {(2,0), (1,1)}</a:t>
            </a:r>
          </a:p>
          <a:p>
            <a:r>
              <a:rPr lang="en-US" altLang="ko-KR" dirty="0"/>
              <a:t>L₄ ≠ L₁, L₄ ≠ L₂</a:t>
            </a:r>
          </a:p>
          <a:p>
            <a:pPr marL="45720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: (1,0) = a(2,0)+b(1,1) ⇒ b=0, a=½ ∉ Z</a:t>
            </a:r>
          </a:p>
          <a:p>
            <a:r>
              <a:rPr lang="en-US" altLang="ko-KR" dirty="0"/>
              <a:t>{(1,−1),(1,1)}</a:t>
            </a:r>
            <a:r>
              <a:rPr lang="ko-KR" altLang="en-US" dirty="0"/>
              <a:t>도 </a:t>
            </a:r>
            <a:r>
              <a:rPr lang="en-US" altLang="ko-KR" dirty="0"/>
              <a:t>L₄</a:t>
            </a:r>
            <a:r>
              <a:rPr lang="ko-KR" altLang="en-US" dirty="0"/>
              <a:t>의 기저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/>
              <a:t>B₄</a:t>
            </a:r>
            <a:r>
              <a:rPr lang="ko-KR" altLang="en-US" dirty="0"/>
              <a:t>보다 더 좋은 기저 </a:t>
            </a:r>
            <a:r>
              <a:rPr lang="en-US" altLang="ko-KR" dirty="0"/>
              <a:t>(</a:t>
            </a:r>
            <a:r>
              <a:rPr lang="ko-KR" altLang="en-US" dirty="0"/>
              <a:t>더 짧고 직교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E2792-8548-20DD-D11E-3DDF88DA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8B71EAE-E4A6-7F77-49EA-821055343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645" y="1287594"/>
            <a:ext cx="4557155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9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6083A-508C-DF96-36EB-CB6490658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E9997-C9B6-5E55-F689-668BABED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Parallelepiped (</a:t>
            </a:r>
            <a:r>
              <a:rPr lang="ko-KR" altLang="en-US" dirty="0" err="1"/>
              <a:t>기본평행육면체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FCE63B2-8EF3-B026-017E-8C8E36E0C6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 = L(B), B = {b</a:t>
                </a:r>
                <a:r>
                  <a:rPr lang="en-US" altLang="ko-KR" baseline="-25000" dirty="0"/>
                  <a:t>1</a:t>
                </a:r>
                <a:r>
                  <a:rPr lang="en-US" altLang="ko-KR" dirty="0"/>
                  <a:t>, b</a:t>
                </a:r>
                <a:r>
                  <a:rPr lang="en-US" altLang="ko-KR" baseline="-25000" dirty="0"/>
                  <a:t>2</a:t>
                </a:r>
                <a:r>
                  <a:rPr lang="en-US" altLang="ko-KR" dirty="0"/>
                  <a:t>, ..., b</a:t>
                </a:r>
                <a:r>
                  <a:rPr lang="en-US" altLang="ko-KR" baseline="-25000" dirty="0"/>
                  <a:t>n</a:t>
                </a:r>
                <a:r>
                  <a:rPr lang="en-US" altLang="ko-KR" dirty="0"/>
                  <a:t>} </a:t>
                </a:r>
                <a:r>
                  <a:rPr lang="ko-KR" altLang="en-US" dirty="0"/>
                  <a:t>일 때 </a:t>
                </a:r>
                <a:r>
                  <a:rPr lang="en-US" altLang="ko-KR" dirty="0"/>
                  <a:t>L</a:t>
                </a:r>
                <a:r>
                  <a:rPr lang="ko-KR" altLang="en-US" dirty="0"/>
                  <a:t>의 </a:t>
                </a:r>
                <a:r>
                  <a:rPr lang="ko-KR" altLang="en-US" dirty="0" err="1"/>
                  <a:t>기본평행육면체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𝑃</m:t>
                      </m:r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𝐵</m:t>
                      </m:r>
                      <m:r>
                        <a:rPr lang="ar-AE" altLang="ko-KR" i="1">
                          <a:latin typeface="Cambria Math"/>
                        </a:rPr>
                        <m:t>)={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+⋯+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∈[</m:t>
                      </m:r>
                      <m:r>
                        <a:rPr lang="ar-AE" altLang="ko-KR" i="1">
                          <a:latin typeface="Cambria Math"/>
                        </a:rPr>
                        <m:t>0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ar-AE" altLang="ko-KR" i="1">
                          <a:latin typeface="Cambria Math"/>
                        </a:rPr>
                        <m:t>1</m:t>
                      </m:r>
                      <m:r>
                        <a:rPr lang="ar-AE" altLang="ko-KR" i="1">
                          <a:latin typeface="Cambria Math"/>
                        </a:rPr>
                        <m:t>)}={</m:t>
                      </m:r>
                      <m:r>
                        <a:rPr lang="ko-KR" altLang="ar-AE" i="1">
                          <a:latin typeface="Cambria Math"/>
                        </a:rPr>
                        <m:t>𝐵𝑥</m:t>
                      </m:r>
                      <m:r>
                        <a:rPr lang="ar-AE" altLang="ko-KR" i="1">
                          <a:latin typeface="Cambria Math"/>
                        </a:rPr>
                        <m:t>:</m:t>
                      </m:r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ko-KR" altLang="ar-AE" i="1">
                          <a:latin typeface="Cambria Math"/>
                        </a:rPr>
                        <m:t>∈[</m:t>
                      </m:r>
                      <m:r>
                        <a:rPr lang="ar-AE" altLang="ko-KR" i="1">
                          <a:latin typeface="Cambria Math"/>
                        </a:rPr>
                        <m:t>0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ar-AE" altLang="ko-KR" i="1">
                          <a:latin typeface="Cambria Math"/>
                        </a:rPr>
                        <m:t>1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ar-AE" altLang="ko-KR" dirty="0"/>
              </a:p>
              <a:p>
                <a:r>
                  <a:rPr lang="en-US" altLang="ko-KR" dirty="0"/>
                  <a:t>R</a:t>
                </a:r>
                <a:r>
                  <a:rPr lang="en-US" altLang="ko-KR" baseline="30000" dirty="0"/>
                  <a:t>n</a:t>
                </a:r>
                <a:r>
                  <a:rPr lang="ko-KR" altLang="en-US" dirty="0"/>
                  <a:t>을 겹치지 않는 평행육면체</a:t>
                </a:r>
                <a:r>
                  <a:rPr lang="en-US" altLang="ko-KR" dirty="0"/>
                  <a:t>(parallelepiped)</a:t>
                </a:r>
                <a:r>
                  <a:rPr lang="ko-KR" altLang="en-US" dirty="0"/>
                  <a:t>들로 </a:t>
                </a:r>
                <a:r>
                  <a:rPr lang="ko-KR" altLang="en-US" dirty="0" err="1"/>
                  <a:t>타일링하는</a:t>
                </a:r>
                <a:r>
                  <a:rPr lang="ko-KR" altLang="en-US" dirty="0"/>
                  <a:t> 데 사용</a:t>
                </a:r>
              </a:p>
              <a:p>
                <a:r>
                  <a:rPr lang="ko-KR" altLang="en-US" dirty="0"/>
                  <a:t>각 </a:t>
                </a:r>
                <a:r>
                  <a:rPr lang="ko-KR" altLang="en-US" dirty="0" err="1"/>
                  <a:t>평행육면체의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"</a:t>
                </a:r>
                <a:r>
                  <a:rPr lang="ko-KR" altLang="en-US" dirty="0"/>
                  <a:t>모서리</a:t>
                </a:r>
                <a:r>
                  <a:rPr lang="en-US" altLang="ko-KR" dirty="0"/>
                  <a:t>(corner)”</a:t>
                </a:r>
                <a:r>
                  <a:rPr lang="ko-KR" altLang="en-US" dirty="0"/>
                  <a:t>가 정확히 </a:t>
                </a:r>
                <a:r>
                  <a:rPr lang="en-US" altLang="ko-KR" dirty="0"/>
                  <a:t>L(B)</a:t>
                </a:r>
                <a:r>
                  <a:rPr lang="ko-KR" altLang="en-US" dirty="0"/>
                  <a:t>의 원소들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FCE63B2-8EF3-B026-017E-8C8E36E0C6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16CDA0-1D5D-3CC7-9CF7-40755EFC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838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BB11-2D44-EF32-24C3-B21A4066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75C41-37F8-706D-28EA-EA2E2F83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기저의 특성화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66D7B77-41E6-EF62-17F6-4B15C4714D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L = L(B₁)</a:t>
                </a:r>
                <a:r>
                  <a:rPr lang="ko-KR" altLang="en-US" dirty="0"/>
                  <a:t>이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차원 격자라 하자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 err="1"/>
                  <a:t>n×n</a:t>
                </a:r>
                <a:r>
                  <a:rPr lang="ko-KR" altLang="en-US" dirty="0"/>
                  <a:t> 정수행렬 </a:t>
                </a:r>
                <a:r>
                  <a:rPr lang="en-US" altLang="ko-KR" dirty="0"/>
                  <a:t>B₂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L</a:t>
                </a:r>
                <a:r>
                  <a:rPr lang="ko-KR" altLang="en-US" dirty="0"/>
                  <a:t>의 또 다른 기저일 필요충분조건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ko-KR" altLang="ar-AE" i="1">
                          <a:latin typeface="Cambria Math"/>
                        </a:rPr>
                        <m:t>𝑈</m:t>
                      </m:r>
                    </m:oMath>
                  </m:oMathPara>
                </a14:m>
                <a:endParaRPr lang="ar-AE" altLang="ko-KR" dirty="0"/>
              </a:p>
              <a:p>
                <a:pPr marL="2286000" lvl="5" indent="0">
                  <a:lnSpc>
                    <a:spcPct val="200000"/>
                  </a:lnSpc>
                  <a:buNone/>
                </a:pPr>
                <a:r>
                  <a:rPr lang="ko-KR" altLang="en-US" sz="2000" dirty="0"/>
                  <a:t>을 만족하는 </a:t>
                </a:r>
                <a:r>
                  <a:rPr lang="ko-KR" altLang="en-US" sz="2000" dirty="0" err="1"/>
                  <a:t>유니모듈러</a:t>
                </a:r>
                <a:r>
                  <a:rPr lang="ko-KR" altLang="en-US" sz="2000" dirty="0"/>
                  <a:t> 행렬 </a:t>
                </a:r>
                <a:r>
                  <a:rPr lang="en-US" altLang="ko-KR" sz="2000" dirty="0"/>
                  <a:t>U (</a:t>
                </a:r>
                <a:r>
                  <a:rPr lang="ko-KR" altLang="en-US" sz="2000" dirty="0"/>
                  <a:t>기저변환행렬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가 존재</a:t>
                </a:r>
              </a:p>
              <a:p>
                <a:pPr marL="457200" lvl="1" indent="0">
                  <a:buNone/>
                </a:pP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ko-KR" altLang="en-US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/>
                  <a:t>증명을 위해 행렬식</a:t>
                </a:r>
                <a:r>
                  <a:rPr lang="en-US" altLang="ko-KR" dirty="0"/>
                  <a:t>·</a:t>
                </a:r>
                <a:r>
                  <a:rPr lang="ko-KR" altLang="en-US" dirty="0" err="1"/>
                  <a:t>역행렬</a:t>
                </a:r>
                <a:r>
                  <a:rPr lang="en-US" altLang="ko-KR" dirty="0"/>
                  <a:t>·</a:t>
                </a:r>
                <a:r>
                  <a:rPr lang="ko-KR" altLang="en-US" dirty="0" err="1"/>
                  <a:t>행렬곱</a:t>
                </a:r>
                <a:r>
                  <a:rPr lang="ko-KR" altLang="en-US" dirty="0"/>
                  <a:t> 세 가지 도구가 필요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66D7B77-41E6-EF62-17F6-4B15C4714D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042B28-C2CD-B448-593A-85AC66A1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16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BD74-E241-6058-024E-E295F075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92901-9C1E-68F9-CF56-E4348099E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행렬식 </a:t>
            </a:r>
            <a:r>
              <a:rPr lang="en-US" altLang="ko-KR" dirty="0"/>
              <a:t>(Determinant)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0BA5DF9-FD15-D5C0-66E2-2B80F68807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2×2 </a:t>
                </a:r>
                <a:r>
                  <a:rPr lang="ko-KR" altLang="en-US" dirty="0"/>
                  <a:t>행렬 </a:t>
                </a:r>
                <a:r>
                  <a:rPr lang="en-US" altLang="ko-KR" dirty="0"/>
                  <a:t>A = [[</a:t>
                </a:r>
                <a:r>
                  <a:rPr lang="en-US" altLang="ko-KR" dirty="0" err="1"/>
                  <a:t>a,b</a:t>
                </a:r>
                <a:r>
                  <a:rPr lang="en-US" altLang="ko-KR" dirty="0"/>
                  <a:t>],[</a:t>
                </a:r>
                <a:r>
                  <a:rPr lang="en-US" altLang="ko-KR" dirty="0" err="1"/>
                  <a:t>c,d</a:t>
                </a:r>
                <a:r>
                  <a:rPr lang="en-US" altLang="ko-KR" dirty="0"/>
                  <a:t>]] </a:t>
                </a:r>
                <a:r>
                  <a:rPr lang="ko-KR" altLang="en-US" dirty="0"/>
                  <a:t>의 행렬식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/>
                        </a:rPr>
                        <m:t>𝑑𝑒𝑡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𝐴</m:t>
                      </m:r>
                      <m:r>
                        <a:rPr lang="en-US" altLang="ko-KR" i="1">
                          <a:latin typeface="Cambria Math"/>
                        </a:rPr>
                        <m:t>)=</m:t>
                      </m:r>
                      <m:r>
                        <a:rPr lang="ko-KR" altLang="en-US" i="1">
                          <a:latin typeface="Cambria Math"/>
                        </a:rPr>
                        <m:t>𝑎𝑑</m:t>
                      </m:r>
                      <m:r>
                        <a:rPr lang="ko-KR" altLang="en-US" i="1">
                          <a:latin typeface="Cambria Math"/>
                        </a:rPr>
                        <m:t>−</m:t>
                      </m:r>
                      <m:r>
                        <a:rPr lang="ko-KR" altLang="en-US" i="1">
                          <a:latin typeface="Cambria Math"/>
                        </a:rPr>
                        <m:t>𝑏𝑐</m:t>
                      </m:r>
                    </m:oMath>
                  </m:oMathPara>
                </a14:m>
                <a:endParaRPr lang="en-US" altLang="ko-KR" dirty="0"/>
              </a:p>
              <a:p>
                <a:r>
                  <a:rPr lang="ko-KR" altLang="en-US" dirty="0"/>
                  <a:t>기하적 의미</a:t>
                </a:r>
                <a:r>
                  <a:rPr lang="en-US" altLang="ko-KR" dirty="0"/>
                  <a:t>: A</a:t>
                </a:r>
                <a:r>
                  <a:rPr lang="ko-KR" altLang="en-US" dirty="0"/>
                  <a:t>의 두 열벡터가 만드는 평행사변형의 부호 있는 넓이</a:t>
                </a:r>
              </a:p>
              <a:p>
                <a:r>
                  <a:rPr lang="ko-KR" altLang="en-US" dirty="0"/>
                  <a:t>곱셈적</a:t>
                </a:r>
                <a:r>
                  <a:rPr lang="en-US" altLang="ko-KR" dirty="0"/>
                  <a:t>(multiplicative) </a:t>
                </a:r>
                <a:r>
                  <a:rPr lang="ko-KR" altLang="en-US" dirty="0"/>
                  <a:t>성질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/>
                        </a:rPr>
                        <m:t>𝑑𝑒𝑡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𝐴𝐵</m:t>
                      </m:r>
                      <m:r>
                        <a:rPr lang="en-US" altLang="ko-KR" i="1">
                          <a:latin typeface="Cambria Math"/>
                        </a:rPr>
                        <m:t>)=</m:t>
                      </m:r>
                      <m:r>
                        <a:rPr lang="ko-KR" altLang="en-US" i="1">
                          <a:latin typeface="Cambria Math"/>
                        </a:rPr>
                        <m:t>𝑑𝑒𝑡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𝐴</m:t>
                      </m:r>
                      <m:r>
                        <a:rPr lang="en-US" altLang="ko-KR" i="1">
                          <a:latin typeface="Cambria Math"/>
                        </a:rPr>
                        <m:t>)</m:t>
                      </m:r>
                      <m:r>
                        <a:rPr lang="ko-KR" altLang="en-US" i="1">
                          <a:latin typeface="Cambria Math"/>
                        </a:rPr>
                        <m:t>𝑑𝑒𝑡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𝐵</m:t>
                      </m:r>
                      <m:r>
                        <a:rPr lang="en-US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  <a:p>
                <a:r>
                  <a:rPr lang="ko-KR" altLang="en-US" dirty="0"/>
                  <a:t>예</a:t>
                </a:r>
                <a:r>
                  <a:rPr lang="en-US" altLang="ko-KR" dirty="0"/>
                  <a:t>: A = [[3,4],[1,2]] → det(A) = 6−4 = 2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0BA5DF9-FD15-D5C0-66E2-2B80F68807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18B394-C274-9CAA-042A-87BBAC71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438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17C9D-D46E-126C-D39B-A3800479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역행렬</a:t>
            </a:r>
            <a:r>
              <a:rPr lang="ko-KR" altLang="en-US" dirty="0"/>
              <a:t> </a:t>
            </a:r>
            <a:r>
              <a:rPr lang="en-US" altLang="ko-KR" dirty="0"/>
              <a:t>(Inverse Matrix)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553D3E-5828-8E6F-6B79-E3EB4BA26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A</a:t>
                </a:r>
                <a:r>
                  <a:rPr lang="ko-KR" altLang="en-US" dirty="0"/>
                  <a:t>의 </a:t>
                </a:r>
                <a:r>
                  <a:rPr lang="ko-KR" altLang="en-US" dirty="0" err="1"/>
                  <a:t>역행렬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A⁻¹: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𝐴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−</m:t>
                          </m:r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−</m:t>
                          </m:r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ko-KR" altLang="ar-AE" i="1">
                          <a:latin typeface="Cambria Math"/>
                        </a:rPr>
                        <m:t>𝐴</m:t>
                      </m:r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  <a:p>
                <a:r>
                  <a:rPr lang="ko-KR" altLang="en-US" dirty="0"/>
                  <a:t>존재조건</a:t>
                </a:r>
                <a:r>
                  <a:rPr lang="en-US" altLang="ko-KR" dirty="0"/>
                  <a:t>: det(A) ≠ 0 (A</a:t>
                </a:r>
                <a:r>
                  <a:rPr lang="ko-KR" altLang="en-US" dirty="0"/>
                  <a:t>가 가역</a:t>
                </a:r>
                <a:r>
                  <a:rPr lang="en-US" altLang="ko-KR" dirty="0"/>
                  <a:t>/invertible)</a:t>
                </a:r>
              </a:p>
              <a:p>
                <a:r>
                  <a:rPr lang="en-US" altLang="ko-KR" dirty="0"/>
                  <a:t>2×2 </a:t>
                </a:r>
                <a:r>
                  <a:rPr lang="ko-KR" altLang="en-US" dirty="0"/>
                  <a:t>명시적 공식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−</m:t>
                          </m:r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ko-KR" altLang="ar-AE" i="1">
                              <a:latin typeface="Cambria Math"/>
                            </a:rPr>
                            <m:t>𝑑𝑒𝑡</m:t>
                          </m:r>
                          <m:r>
                            <a:rPr lang="ar-AE" altLang="ko-KR" i="1">
                              <a:latin typeface="Cambria Math"/>
                            </a:rPr>
                            <m:t>(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𝐴</m:t>
                          </m:r>
                          <m:r>
                            <a:rPr lang="ar-AE" altLang="ko-KR" i="1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ar-AE" altLang="ko-KR" i="1">
                          <a:latin typeface="Cambria Math"/>
                        </a:rPr>
                        <m:t>[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𝑑</m:t>
                            </m:r>
                          </m:e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−</m:t>
                            </m:r>
                            <m:r>
                              <a:rPr lang="ko-KR" altLang="ar-AE" i="1">
                                <a:latin typeface="Cambria Math"/>
                              </a:rPr>
                              <m:t>𝑏</m:t>
                            </m:r>
                          </m:e>
                        </m:mr>
                        <m:m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−</m:t>
                            </m:r>
                            <m:r>
                              <a:rPr lang="ko-KR" altLang="ar-AE" i="1">
                                <a:latin typeface="Cambria Math"/>
                              </a:rPr>
                              <m:t>𝑐</m:t>
                            </m:r>
                          </m:e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𝑎</m:t>
                            </m:r>
                          </m:e>
                        </m:mr>
                      </m:m>
                      <m:r>
                        <a:rPr lang="ar-AE" altLang="ko-KR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ar-AE" altLang="ko-KR" dirty="0"/>
              </a:p>
              <a:p>
                <a:r>
                  <a:rPr lang="ko-KR" altLang="en-US" dirty="0"/>
                  <a:t>예</a:t>
                </a:r>
                <a:r>
                  <a:rPr lang="en-US" altLang="ko-KR" dirty="0"/>
                  <a:t>: A=[[2,1],[1,1]], det(A)=1 → A⁻¹=[[1,−1],[−1,2]]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553D3E-5828-8E6F-6B79-E3EB4BA26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b="-16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5B74A6-3DC1-4C55-81B5-71BB2EB4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336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B6EB2-F3DF-F768-1AD8-3F3A310A2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48BD3-7687-2488-8C9F-8486B06D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</a:t>
            </a:r>
            <a:r>
              <a:rPr lang="en-US" altLang="ko-KR" dirty="0"/>
              <a:t>-</a:t>
            </a:r>
            <a:r>
              <a:rPr lang="ko-KR" altLang="en-US" dirty="0"/>
              <a:t>행렬 곱셈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62E50BF-4560-40FB-FFB5-33534D8A3A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A</a:t>
                </a:r>
                <a:r>
                  <a:rPr lang="ko-KR" altLang="en-US" dirty="0"/>
                  <a:t>가 </a:t>
                </a:r>
                <a:r>
                  <a:rPr lang="en-US" altLang="ko-KR" dirty="0" err="1"/>
                  <a:t>n×k</a:t>
                </a:r>
                <a:r>
                  <a:rPr lang="en-US" altLang="ko-KR" dirty="0"/>
                  <a:t>, B</a:t>
                </a:r>
                <a:r>
                  <a:rPr lang="ko-KR" altLang="en-US" dirty="0"/>
                  <a:t>가 </a:t>
                </a:r>
                <a:r>
                  <a:rPr lang="en-US" altLang="ko-KR" dirty="0" err="1"/>
                  <a:t>k×m</a:t>
                </a:r>
                <a:r>
                  <a:rPr lang="ko-KR" altLang="en-US" dirty="0"/>
                  <a:t> 행렬일 때 </a:t>
                </a:r>
                <a:r>
                  <a:rPr lang="en-US" altLang="ko-KR" dirty="0"/>
                  <a:t>C = AB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i,j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성분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ar-AE" i="1">
                              <a:latin typeface="Cambria Math"/>
                            </a:rPr>
                            <m:t>𝑡</m:t>
                          </m:r>
                          <m:r>
                            <a:rPr lang="ar-AE" altLang="ko-KR" i="1">
                              <a:latin typeface="Cambria Math"/>
                            </a:rPr>
                            <m:t>=</m:t>
                          </m:r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ko-KR" altLang="ar-AE" i="1">
                              <a:latin typeface="Cambria Math"/>
                            </a:rPr>
                            <m:t>𝑘</m:t>
                          </m:r>
                        </m:sup>
                        <m:e/>
                      </m:nary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𝑖𝑡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𝑡𝑗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  <a:p>
                <a:pPr marL="3200400" lvl="7" indent="0">
                  <a:buNone/>
                </a:pPr>
                <a:r>
                  <a:rPr lang="en-US" altLang="ko-KR" sz="2000" dirty="0"/>
                  <a:t>A</a:t>
                </a:r>
                <a:r>
                  <a:rPr lang="ko-KR" altLang="en-US" sz="2000" dirty="0"/>
                  <a:t>의 </a:t>
                </a:r>
                <a:r>
                  <a:rPr lang="en-US" altLang="ko-KR" sz="2000" dirty="0" err="1"/>
                  <a:t>i</a:t>
                </a:r>
                <a:r>
                  <a:rPr lang="ko-KR" altLang="en-US" sz="2000" dirty="0"/>
                  <a:t>번째 행과 </a:t>
                </a:r>
                <a:r>
                  <a:rPr lang="en-US" altLang="ko-KR" sz="2000" dirty="0"/>
                  <a:t>B</a:t>
                </a:r>
                <a:r>
                  <a:rPr lang="ko-KR" altLang="en-US" sz="2000" dirty="0"/>
                  <a:t>의 </a:t>
                </a:r>
                <a:r>
                  <a:rPr lang="en-US" altLang="ko-KR" sz="2000" dirty="0"/>
                  <a:t>j</a:t>
                </a:r>
                <a:r>
                  <a:rPr lang="ko-KR" altLang="en-US" sz="2000" dirty="0"/>
                  <a:t>번째 열의 내적</a:t>
                </a:r>
              </a:p>
              <a:p>
                <a:r>
                  <a:rPr lang="ko-KR" altLang="en-US" dirty="0"/>
                  <a:t>의미</a:t>
                </a:r>
                <a:r>
                  <a:rPr lang="en-US" altLang="ko-KR" dirty="0"/>
                  <a:t>: C</a:t>
                </a:r>
                <a:r>
                  <a:rPr lang="ko-KR" altLang="en-US" dirty="0"/>
                  <a:t>의 각 열은 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의 대응 열을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로 선형 변환한 결과</a:t>
                </a:r>
              </a:p>
              <a:p>
                <a:r>
                  <a:rPr lang="en-US" altLang="ko-KR" dirty="0"/>
                  <a:t>B₂ = B₁U </a:t>
                </a:r>
                <a:r>
                  <a:rPr lang="ko-KR" altLang="en-US" dirty="0"/>
                  <a:t>해석</a:t>
                </a:r>
                <a:r>
                  <a:rPr lang="en-US" altLang="ko-KR" dirty="0"/>
                  <a:t>: U</a:t>
                </a:r>
                <a:r>
                  <a:rPr lang="ko-KR" altLang="en-US" dirty="0"/>
                  <a:t>의 각 열 </a:t>
                </a:r>
                <a:r>
                  <a:rPr lang="en-US" altLang="ko-KR" dirty="0"/>
                  <a:t>= B₁ </a:t>
                </a:r>
                <a:r>
                  <a:rPr lang="ko-KR" altLang="en-US" dirty="0"/>
                  <a:t>기준으로 표현한 </a:t>
                </a:r>
                <a:r>
                  <a:rPr lang="en-US" altLang="ko-KR" dirty="0"/>
                  <a:t>B₂ </a:t>
                </a:r>
                <a:r>
                  <a:rPr lang="ko-KR" altLang="en-US" dirty="0"/>
                  <a:t>새 기저벡터의 정수 계수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62E50BF-4560-40FB-FFB5-33534D8A3A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1FBBFE-1989-29F0-BE20-FF2E48D9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832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52858-4181-3EEF-B1EE-9D1F7947B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C4EC9-3B90-B65C-C550-1346FE39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유니모듈러</a:t>
            </a:r>
            <a:r>
              <a:rPr lang="en-US" altLang="ko-KR" dirty="0"/>
              <a:t>(Unimodular) </a:t>
            </a:r>
            <a:r>
              <a:rPr lang="ko-KR" altLang="en-US" dirty="0"/>
              <a:t>행렬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9B473A6-B663-2730-1679-7518E154C8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정의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정수 성분을 갖고 행렬식이 </a:t>
                </a:r>
                <a:r>
                  <a:rPr lang="en-US" altLang="ko-KR" dirty="0"/>
                  <a:t>±1</a:t>
                </a:r>
                <a:r>
                  <a:rPr lang="ko-KR" altLang="en-US" dirty="0"/>
                  <a:t>인 정사각행렬</a:t>
                </a:r>
                <a:endParaRPr lang="en-US" altLang="ko-KR" dirty="0"/>
              </a:p>
              <a:p>
                <a:r>
                  <a:rPr lang="ko-KR" altLang="en-US" dirty="0"/>
                  <a:t>예제 </a:t>
                </a:r>
                <a:r>
                  <a:rPr lang="en-US" altLang="ko-KR" dirty="0"/>
                  <a:t>2·3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B₂, B₃: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i="1">
                          <a:latin typeface="Cambria Math"/>
                        </a:rPr>
                        <m:t>[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e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0</m:t>
                            </m:r>
                          </m:e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1</m:t>
                            </m:r>
                          </m:e>
                        </m:mr>
                      </m:m>
                      <m:r>
                        <a:rPr lang="ar-AE" altLang="ko-KR" i="1">
                          <a:latin typeface="Cambria Math"/>
                        </a:rPr>
                        <m:t>]=[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−</m:t>
                            </m:r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e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4</m:t>
                            </m:r>
                          </m:e>
                        </m:mr>
                        <m:m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−</m:t>
                            </m:r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e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3</m:t>
                            </m:r>
                          </m:e>
                        </m:mr>
                      </m:m>
                      <m:r>
                        <a:rPr lang="ar-AE" altLang="ko-KR" i="1">
                          <a:latin typeface="Cambria Math"/>
                        </a:rPr>
                        <m:t>][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3</m:t>
                            </m:r>
                          </m:e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−</m:t>
                            </m:r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e>
                          <m:e>
                            <m:r>
                              <a:rPr lang="ar-AE" altLang="ko-KR" i="1">
                                <a:latin typeface="Cambria Math"/>
                              </a:rPr>
                              <m:t>−</m:t>
                            </m:r>
                            <m:r>
                              <a:rPr lang="ar-AE" altLang="ko-KR" i="1">
                                <a:latin typeface="Cambria Math"/>
                              </a:rPr>
                              <m:t>1</m:t>
                            </m:r>
                          </m:e>
                        </m:mr>
                      </m:m>
                      <m:r>
                        <a:rPr lang="ar-AE" altLang="ko-KR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ar-AE" altLang="ko-KR" dirty="0"/>
              </a:p>
              <a:p>
                <a:r>
                  <a:rPr lang="en-US" altLang="ko-KR" dirty="0"/>
                  <a:t>det(U) = 3·(−1) − (−2)·2 = −3+4 = 1 → U</a:t>
                </a:r>
                <a:r>
                  <a:rPr lang="ko-KR" altLang="en-US" dirty="0"/>
                  <a:t>는 </a:t>
                </a:r>
                <a:r>
                  <a:rPr lang="ko-KR" altLang="en-US" dirty="0" err="1"/>
                  <a:t>유니모듈러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9B473A6-B663-2730-1679-7518E154C8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F66E91-1E05-68AF-95D8-3D522792F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22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7591-4BC0-E3A1-AAE2-2E9ADA36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BA06B8-C3F9-7FB2-3404-85BCDFE3B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기저 특성화 정리의 증명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34496AE-92DE-9D28-B1B7-904DF7F72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B₁, B₂</a:t>
                </a:r>
                <a:r>
                  <a:rPr lang="ko-KR" altLang="en-US" dirty="0"/>
                  <a:t>가 모두 </a:t>
                </a:r>
                <a:r>
                  <a:rPr lang="en-US" altLang="ko-KR" dirty="0"/>
                  <a:t>L</a:t>
                </a:r>
                <a:r>
                  <a:rPr lang="ko-KR" altLang="en-US" dirty="0"/>
                  <a:t>의 기저라 하자</a:t>
                </a:r>
                <a:endParaRPr lang="en-US" altLang="ko-KR" dirty="0"/>
              </a:p>
              <a:p>
                <a:r>
                  <a:rPr lang="en-US" altLang="ko-KR" dirty="0"/>
                  <a:t>B₂</a:t>
                </a:r>
                <a:r>
                  <a:rPr lang="ko-KR" altLang="en-US" dirty="0"/>
                  <a:t>의 각 열은 </a:t>
                </a:r>
                <a:r>
                  <a:rPr lang="en-US" altLang="ko-KR" dirty="0"/>
                  <a:t>B₁</a:t>
                </a:r>
                <a:r>
                  <a:rPr lang="ko-KR" altLang="en-US" dirty="0"/>
                  <a:t>의 정수결합 ⇒ </a:t>
                </a:r>
                <a:r>
                  <a:rPr lang="en-US" altLang="ko-KR" dirty="0"/>
                  <a:t>B₂ = B₁U (U: </a:t>
                </a:r>
                <a:r>
                  <a:rPr lang="ko-KR" altLang="en-US" dirty="0"/>
                  <a:t>정수행렬</a:t>
                </a:r>
                <a:r>
                  <a:rPr lang="en-US" altLang="ko-KR" dirty="0"/>
                  <a:t>)</a:t>
                </a:r>
              </a:p>
              <a:p>
                <a:r>
                  <a:rPr lang="ko-KR" altLang="en-US" dirty="0"/>
                  <a:t>대칭적으로 </a:t>
                </a:r>
                <a:r>
                  <a:rPr lang="en-US" altLang="ko-KR" dirty="0"/>
                  <a:t>B₁ = B₂V (V: </a:t>
                </a:r>
                <a:r>
                  <a:rPr lang="ko-KR" altLang="en-US" dirty="0"/>
                  <a:t>정수행렬</a:t>
                </a:r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ko-KR" altLang="ar-AE" i="1">
                          <a:latin typeface="Cambria Math"/>
                        </a:rPr>
                        <m:t>𝑉</m:t>
                      </m:r>
                      <m:r>
                        <a:rPr lang="ar-AE" altLang="ko-KR" i="1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ko-KR" altLang="ar-AE" i="1">
                          <a:latin typeface="Cambria Math"/>
                        </a:rPr>
                        <m:t>𝑈</m:t>
                      </m:r>
                      <m:r>
                        <a:rPr lang="ar-AE" altLang="ko-KR" i="1">
                          <a:latin typeface="Cambria Math"/>
                        </a:rPr>
                        <m:t>)</m:t>
                      </m:r>
                      <m:r>
                        <a:rPr lang="ko-KR" altLang="ar-AE" i="1">
                          <a:latin typeface="Cambria Math"/>
                        </a:rPr>
                        <m:t>𝑉</m:t>
                      </m:r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𝑈𝑉</m:t>
                      </m:r>
                      <m:r>
                        <a:rPr lang="ar-AE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altLang="ko-KR" dirty="0"/>
              </a:p>
              <a:p>
                <a:r>
                  <a:rPr lang="en-US" altLang="ko-KR" dirty="0"/>
                  <a:t>B₁</a:t>
                </a:r>
                <a:r>
                  <a:rPr lang="ko-KR" altLang="en-US" dirty="0"/>
                  <a:t>이 가역이므로 </a:t>
                </a:r>
                <a:r>
                  <a:rPr lang="en-US" altLang="ko-KR" dirty="0"/>
                  <a:t>UV = I ⇒ det(U)det(V) = 1</a:t>
                </a:r>
              </a:p>
              <a:p>
                <a:r>
                  <a:rPr lang="en-US" altLang="ko-KR" dirty="0"/>
                  <a:t>U, V</a:t>
                </a:r>
                <a:r>
                  <a:rPr lang="ko-KR" altLang="en-US" dirty="0"/>
                  <a:t>가 정수행렬 ⇒ </a:t>
                </a:r>
                <a:r>
                  <a:rPr lang="en-US" altLang="ko-KR" dirty="0"/>
                  <a:t>det(U) = det(V) = ±1 → U, V</a:t>
                </a:r>
                <a:r>
                  <a:rPr lang="ko-KR" altLang="en-US" dirty="0"/>
                  <a:t>는 </a:t>
                </a:r>
                <a:r>
                  <a:rPr lang="ko-KR" altLang="en-US" dirty="0" err="1"/>
                  <a:t>유니모듈러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34496AE-92DE-9D28-B1B7-904DF7F72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DE3FCA-04C1-B5EF-803F-022D5B437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663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37C6D-398A-F036-EA89-B429CE9D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07F45-CE65-0D6D-B41E-36526B73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격자의 부피 </a:t>
            </a:r>
            <a:r>
              <a:rPr lang="en-US" altLang="ko-KR" dirty="0"/>
              <a:t>(Volume)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B6AAD9F-F8ED-7B31-E976-CFE1035B2A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L = L(B)</a:t>
                </a:r>
                <a:r>
                  <a:rPr lang="ko-KR" altLang="en-US" dirty="0"/>
                  <a:t>의 부피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>
                          <a:latin typeface="Cambria Math"/>
                        </a:rPr>
                        <m:t>vol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𝐿</m:t>
                      </m:r>
                      <m:r>
                        <a:rPr lang="en-US" altLang="ko-KR" i="1">
                          <a:latin typeface="Cambria Math"/>
                        </a:rPr>
                        <m:t>)=|</m:t>
                      </m:r>
                      <m:r>
                        <a:rPr lang="ko-KR" altLang="en-US" i="1">
                          <a:latin typeface="Cambria Math"/>
                        </a:rPr>
                        <m:t>𝑑𝑒𝑡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𝐵</m:t>
                      </m:r>
                      <m:r>
                        <a:rPr lang="en-US" altLang="ko-KR" i="1">
                          <a:latin typeface="Cambria Math"/>
                        </a:rPr>
                        <m:t>)|</m:t>
                      </m:r>
                    </m:oMath>
                  </m:oMathPara>
                </a14:m>
                <a:endParaRPr lang="en-US" altLang="ko-KR" dirty="0"/>
              </a:p>
              <a:p>
                <a:pPr marL="457200" lvl="1" indent="0">
                  <a:buNone/>
                </a:pPr>
                <a:r>
                  <a:rPr lang="en-US" altLang="ko-KR" dirty="0"/>
                  <a:t>= </a:t>
                </a:r>
                <a:r>
                  <a:rPr lang="ko-KR" altLang="en-US" dirty="0" err="1"/>
                  <a:t>기본평행육면체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P(B)</a:t>
                </a:r>
                <a:r>
                  <a:rPr lang="ko-KR" altLang="en-US" dirty="0"/>
                  <a:t>의 부피</a:t>
                </a:r>
                <a:endParaRPr lang="en-US" altLang="ko-KR" dirty="0"/>
              </a:p>
              <a:p>
                <a:r>
                  <a:rPr lang="ko-KR" altLang="en-US" dirty="0"/>
                  <a:t>직관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부피가 클수록 격자점이 성기다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듬성듬성하다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L' ⊆ L</a:t>
                </a:r>
                <a:r>
                  <a:rPr lang="ko-KR" altLang="en-US" dirty="0"/>
                  <a:t>이면 </a:t>
                </a:r>
                <a:r>
                  <a:rPr lang="en-US" altLang="ko-KR" dirty="0"/>
                  <a:t>vol(L') ≥ vol(L)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- </a:t>
                </a:r>
                <a:r>
                  <a:rPr lang="ko-KR" altLang="en-US" dirty="0"/>
                  <a:t>예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예제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L₂ ⊆ L₁, vol(L₁)=1 &lt; vol(L₂)=2</a:t>
                </a:r>
                <a:r>
                  <a:rPr lang="ko-KR" altLang="en-US" dirty="0"/>
                  <a:t> (</a:t>
                </a:r>
                <a:r>
                  <a:rPr lang="en-US" altLang="ko-KR" dirty="0"/>
                  <a:t>L₂</a:t>
                </a:r>
                <a:r>
                  <a:rPr lang="ko-KR" altLang="en-US" dirty="0"/>
                  <a:t>가 더 듬성듬성하다</a:t>
                </a:r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B6AAD9F-F8ED-7B31-E976-CFE1035B2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9A4E2F-E3D9-DA3B-910D-1FAF316D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BFA322-D7D2-854E-BA5C-18FDF9EAF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302" y="1249605"/>
            <a:ext cx="3025498" cy="285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20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F57D9-9A9B-6D91-3409-DAC99E52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50F85-33B2-5ED8-5386-8F9284CF2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부피는 기저</a:t>
            </a:r>
            <a:r>
              <a:rPr lang="en-US" altLang="ko-KR" dirty="0"/>
              <a:t>-</a:t>
            </a:r>
            <a:r>
              <a:rPr lang="ko-KR" altLang="en-US" dirty="0" err="1"/>
              <a:t>불변량이다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7F346E7-6026-73D8-27CB-664E38DA76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B′</a:t>
                </a:r>
                <a:r>
                  <a:rPr lang="ko-KR" altLang="en-US" dirty="0"/>
                  <a:t>도 </a:t>
                </a:r>
                <a:r>
                  <a:rPr lang="en-US" altLang="ko-KR" dirty="0"/>
                  <a:t>L</a:t>
                </a:r>
                <a:r>
                  <a:rPr lang="ko-KR" altLang="en-US" dirty="0"/>
                  <a:t>의 기저이면</a:t>
                </a:r>
                <a:r>
                  <a:rPr lang="en-US" altLang="ko-KR" dirty="0"/>
                  <a:t>, B′ = BU (U </a:t>
                </a:r>
                <a:r>
                  <a:rPr lang="ko-KR" altLang="en-US" dirty="0" err="1"/>
                  <a:t>유니모듈러</a:t>
                </a:r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𝑑𝑒𝑡</m:t>
                      </m:r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𝐵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)=</m:t>
                      </m:r>
                      <m:r>
                        <a:rPr lang="ko-KR" altLang="ar-AE" i="1">
                          <a:latin typeface="Cambria Math"/>
                        </a:rPr>
                        <m:t>𝑑𝑒𝑡</m:t>
                      </m:r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𝐵</m:t>
                      </m:r>
                      <m:r>
                        <a:rPr lang="ar-AE" altLang="ko-KR" i="1">
                          <a:latin typeface="Cambria Math"/>
                        </a:rPr>
                        <m:t>)</m:t>
                      </m:r>
                      <m:r>
                        <a:rPr lang="ko-KR" altLang="ar-AE" i="1">
                          <a:latin typeface="Cambria Math"/>
                        </a:rPr>
                        <m:t>𝑑𝑒𝑡</m:t>
                      </m:r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𝑈</m:t>
                      </m:r>
                      <m:r>
                        <a:rPr lang="ar-AE" altLang="ko-KR" i="1">
                          <a:latin typeface="Cambria Math"/>
                        </a:rPr>
                        <m:t>)=±</m:t>
                      </m:r>
                      <m:r>
                        <a:rPr lang="ko-KR" altLang="ar-AE" i="1">
                          <a:latin typeface="Cambria Math"/>
                        </a:rPr>
                        <m:t>𝑑𝑒𝑡</m:t>
                      </m:r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𝐵</m:t>
                      </m:r>
                      <m:r>
                        <a:rPr lang="ar-AE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altLang="ko-KR" dirty="0"/>
              </a:p>
              <a:p>
                <a:pPr marL="457200" lvl="1" indent="0">
                  <a:buNone/>
                </a:pPr>
                <a:r>
                  <a:rPr lang="ko-KR" altLang="en-US" dirty="0"/>
                  <a:t>→ </a:t>
                </a:r>
                <a:r>
                  <a:rPr lang="en-US" altLang="ko-KR" dirty="0"/>
                  <a:t>|det(B′)| = |det(B)|  → vol(L)</a:t>
                </a:r>
                <a:r>
                  <a:rPr lang="ko-KR" altLang="en-US" dirty="0"/>
                  <a:t>은 기저 선택과 무관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7F346E7-6026-73D8-27CB-664E38DA76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47E4A1-8286-C3B9-9EAE-E4A9E280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81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A27A4-6046-CB26-4576-9C861D7B1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BD2AAA-DF0D-8456-DDB2-08052200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좋은 기저 </a:t>
            </a:r>
            <a:r>
              <a:rPr lang="en-US" altLang="ko-KR" dirty="0"/>
              <a:t>vs </a:t>
            </a:r>
            <a:r>
              <a:rPr lang="ko-KR" altLang="en-US" dirty="0"/>
              <a:t>나쁜 기저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427A51-D608-8442-02A2-D01E78F28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SVP (Shortest Vector Problem): 0</a:t>
            </a:r>
            <a:r>
              <a:rPr lang="ko-KR" altLang="en-US" dirty="0"/>
              <a:t>이 아닌 최단벡터를 찾는 문제</a:t>
            </a:r>
            <a:endParaRPr lang="en-US" altLang="ko-KR" dirty="0"/>
          </a:p>
          <a:p>
            <a:r>
              <a:rPr lang="en-US" altLang="ko-KR" dirty="0"/>
              <a:t>L₂ = L₃ </a:t>
            </a:r>
            <a:r>
              <a:rPr lang="ko-KR" altLang="en-US" dirty="0"/>
              <a:t>를 </a:t>
            </a:r>
            <a:r>
              <a:rPr lang="en-US" altLang="ko-KR" dirty="0"/>
              <a:t>B₂ = {(2,0),(0,1)}</a:t>
            </a:r>
            <a:r>
              <a:rPr lang="ko-KR" altLang="en-US" dirty="0"/>
              <a:t>로 주면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</a:t>
            </a:r>
            <a:r>
              <a:rPr lang="en-US" altLang="ko-KR" dirty="0"/>
              <a:t>(0,1)</a:t>
            </a:r>
            <a:r>
              <a:rPr lang="ko-KR" altLang="en-US" dirty="0"/>
              <a:t>이 최단 벡터임이 자명</a:t>
            </a:r>
            <a:endParaRPr lang="en-US" altLang="ko-KR" dirty="0"/>
          </a:p>
          <a:p>
            <a:r>
              <a:rPr lang="ko-KR" altLang="en-US" dirty="0"/>
              <a:t>같은 격자를 </a:t>
            </a:r>
            <a:r>
              <a:rPr lang="en-US" altLang="ko-KR" dirty="0"/>
              <a:t>B₃ = {(−2,−2),(4,3)}</a:t>
            </a:r>
            <a:r>
              <a:rPr lang="ko-KR" altLang="en-US" dirty="0"/>
              <a:t>로 주면 → 훨씬 어려움</a:t>
            </a:r>
            <a:endParaRPr lang="en-US" altLang="ko-KR" dirty="0"/>
          </a:p>
          <a:p>
            <a:r>
              <a:rPr lang="en-US" altLang="ko-KR" dirty="0"/>
              <a:t>SVP </a:t>
            </a:r>
            <a:r>
              <a:rPr lang="ko-KR" altLang="en-US" dirty="0"/>
              <a:t>인스턴스 </a:t>
            </a:r>
            <a:r>
              <a:rPr lang="en-US" altLang="ko-KR" dirty="0"/>
              <a:t>L(B)</a:t>
            </a:r>
            <a:r>
              <a:rPr lang="ko-KR" altLang="en-US" dirty="0"/>
              <a:t>의 난이도는 주어진 기저 </a:t>
            </a:r>
            <a:r>
              <a:rPr lang="en-US" altLang="ko-KR" dirty="0"/>
              <a:t>B</a:t>
            </a:r>
            <a:r>
              <a:rPr lang="ko-KR" altLang="en-US" dirty="0"/>
              <a:t>의 품질에 좌우됨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- 2</a:t>
            </a:r>
            <a:r>
              <a:rPr lang="ko-KR" altLang="en-US" dirty="0"/>
              <a:t>차원 격자의 </a:t>
            </a:r>
            <a:r>
              <a:rPr lang="en-US" altLang="ko-KR" dirty="0"/>
              <a:t>SVP</a:t>
            </a:r>
            <a:r>
              <a:rPr lang="ko-KR" altLang="en-US" dirty="0"/>
              <a:t>는 쉽지만</a:t>
            </a:r>
            <a:r>
              <a:rPr lang="en-US" altLang="ko-KR" dirty="0"/>
              <a:t>, </a:t>
            </a:r>
            <a:r>
              <a:rPr lang="ko-KR" altLang="en-US" dirty="0"/>
              <a:t>차원이 커질수록 훨씬 </a:t>
            </a:r>
            <a:r>
              <a:rPr lang="ko-KR" altLang="en-US" dirty="0" err="1"/>
              <a:t>어려워짐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57BBF7-FC26-2DC0-7249-EAFD9DE5D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887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F2DAB-6E11-32B5-C06C-86ADCC14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A9D6E-D964-45B8-E573-68E9E77E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Successive minima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A3270A0-142B-EDF6-F252-D7C10B93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 ⊆ Z</a:t>
            </a:r>
            <a:r>
              <a:rPr lang="en-US" altLang="ko-KR" baseline="30000" dirty="0"/>
              <a:t>n</a:t>
            </a:r>
            <a:r>
              <a:rPr lang="ko-KR" altLang="en-US" dirty="0"/>
              <a:t>이 </a:t>
            </a:r>
            <a:r>
              <a:rPr lang="en-US" altLang="ko-KR" dirty="0"/>
              <a:t>n</a:t>
            </a:r>
            <a:r>
              <a:rPr lang="ko-KR" altLang="en-US" dirty="0"/>
              <a:t>차원 격자일 때</a:t>
            </a:r>
            <a:r>
              <a:rPr lang="en-US" altLang="ko-KR" dirty="0"/>
              <a:t>, </a:t>
            </a:r>
            <a:r>
              <a:rPr lang="en-US" altLang="ko-KR" dirty="0" err="1"/>
              <a:t>i</a:t>
            </a:r>
            <a:r>
              <a:rPr lang="ko-KR" altLang="en-US" dirty="0"/>
              <a:t>번째 </a:t>
            </a:r>
            <a:r>
              <a:rPr lang="en-US" altLang="ko-KR" dirty="0"/>
              <a:t>successive minimum </a:t>
            </a:r>
            <a:r>
              <a:rPr lang="el-GR" altLang="ko-KR" dirty="0"/>
              <a:t>λ</a:t>
            </a:r>
            <a:r>
              <a:rPr lang="en-US" altLang="ko-KR" baseline="-25000" dirty="0" err="1"/>
              <a:t>i</a:t>
            </a:r>
            <a:r>
              <a:rPr lang="en-US" altLang="ko-KR" dirty="0"/>
              <a:t>(L):</a:t>
            </a:r>
          </a:p>
          <a:p>
            <a:pPr marL="457200" lvl="1" indent="0">
              <a:buNone/>
            </a:pPr>
            <a:r>
              <a:rPr lang="en-US" altLang="ko-KR" dirty="0"/>
              <a:t>- L</a:t>
            </a:r>
            <a:r>
              <a:rPr lang="ko-KR" altLang="en-US" dirty="0"/>
              <a:t>이 길이 </a:t>
            </a:r>
            <a:r>
              <a:rPr lang="en-US" altLang="ko-KR" dirty="0"/>
              <a:t>r </a:t>
            </a:r>
            <a:r>
              <a:rPr lang="ko-KR" altLang="en-US" dirty="0"/>
              <a:t>이하인 </a:t>
            </a:r>
            <a:r>
              <a:rPr lang="en-US" altLang="ko-KR" dirty="0" err="1"/>
              <a:t>i</a:t>
            </a:r>
            <a:r>
              <a:rPr lang="ko-KR" altLang="en-US" dirty="0"/>
              <a:t>개의 선형독립 벡터를 갖는 가장 작은 실수 </a:t>
            </a:r>
            <a:r>
              <a:rPr lang="en-US" altLang="ko-KR" dirty="0"/>
              <a:t>r</a:t>
            </a:r>
          </a:p>
          <a:p>
            <a:r>
              <a:rPr lang="en-US" altLang="ko-KR" dirty="0"/>
              <a:t>λ</a:t>
            </a:r>
            <a:r>
              <a:rPr lang="en-US" altLang="ko-KR" baseline="-25000" dirty="0"/>
              <a:t>1</a:t>
            </a:r>
            <a:r>
              <a:rPr lang="en-US" altLang="ko-KR" dirty="0"/>
              <a:t>(L) ≤ λ</a:t>
            </a:r>
            <a:r>
              <a:rPr lang="en-US" altLang="ko-KR" baseline="-25000" dirty="0"/>
              <a:t>2</a:t>
            </a:r>
            <a:r>
              <a:rPr lang="en-US" altLang="ko-KR" dirty="0"/>
              <a:t>(L) ≤ ... ≤ </a:t>
            </a:r>
            <a:r>
              <a:rPr lang="en-US" altLang="ko-KR" dirty="0" err="1"/>
              <a:t>λ</a:t>
            </a:r>
            <a:r>
              <a:rPr lang="en-US" altLang="ko-KR" baseline="-25000" dirty="0" err="1"/>
              <a:t>n</a:t>
            </a:r>
            <a:r>
              <a:rPr lang="en-US" altLang="ko-KR" dirty="0"/>
              <a:t>(L) (</a:t>
            </a:r>
            <a:r>
              <a:rPr lang="ko-KR" altLang="en-US" dirty="0"/>
              <a:t>감소하지 않는 수열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λ</a:t>
            </a:r>
            <a:r>
              <a:rPr lang="en-US" altLang="ko-KR" baseline="-25000" dirty="0"/>
              <a:t>1</a:t>
            </a:r>
            <a:r>
              <a:rPr lang="en-US" altLang="ko-KR" dirty="0"/>
              <a:t>(L) = L</a:t>
            </a:r>
            <a:r>
              <a:rPr lang="ko-KR" altLang="en-US" dirty="0"/>
              <a:t>의 </a:t>
            </a:r>
            <a:r>
              <a:rPr lang="en-US" altLang="ko-KR" dirty="0"/>
              <a:t>0</a:t>
            </a:r>
            <a:r>
              <a:rPr lang="ko-KR" altLang="en-US" dirty="0"/>
              <a:t>이 아닌 최단벡터의 길이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8CEC5-4A75-F6A4-DE22-83E5E58F0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628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678DD8-2309-D83E-38D5-FDAB80CA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Minkowski </a:t>
            </a:r>
            <a:r>
              <a:rPr lang="ko-KR" altLang="en-US" dirty="0"/>
              <a:t>정리와 </a:t>
            </a:r>
            <a:r>
              <a:rPr lang="en-US" altLang="ko-KR" dirty="0"/>
              <a:t>Gaussian Heuristic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E6758ED-7081-7B70-DEDC-5E492D4AC0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(</a:t>
                </a:r>
                <a:r>
                  <a:rPr lang="en-US" altLang="ko-KR" i="1" dirty="0"/>
                  <a:t>Minkowski’s Theorem</a:t>
                </a:r>
                <a:r>
                  <a:rPr lang="en-US" altLang="ko-KR" dirty="0"/>
                  <a:t>) L ⊆ Z</a:t>
                </a:r>
                <a:r>
                  <a:rPr lang="en-US" altLang="ko-KR" baseline="30000" dirty="0"/>
                  <a:t>n</a:t>
                </a:r>
                <a:r>
                  <a:rPr lang="ko-KR" altLang="en-US" dirty="0"/>
                  <a:t>이 </a:t>
                </a:r>
                <a:r>
                  <a:rPr lang="en-US" altLang="ko-KR" dirty="0"/>
                  <a:t>full-rank </a:t>
                </a:r>
                <a:r>
                  <a:rPr lang="ko-KR" altLang="en-US" dirty="0"/>
                  <a:t>격자이면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𝐿</m:t>
                      </m:r>
                      <m:r>
                        <a:rPr lang="ar-AE" altLang="ko-KR" i="1">
                          <a:latin typeface="Cambria Math"/>
                        </a:rPr>
                        <m:t>)≤</m:t>
                      </m:r>
                      <m:rad>
                        <m:radPr>
                          <m:degHide m:val="on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</m:e>
                      </m:rad>
                      <m:r>
                        <m:rPr>
                          <m:sty m:val="p"/>
                        </m:rPr>
                        <a:rPr lang="en-US" altLang="ko-KR" i="1">
                          <a:latin typeface="Cambria Math"/>
                        </a:rPr>
                        <m:t>vol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𝐿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ko-KR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ar-AE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ar-AE" altLang="ko-KR" dirty="0"/>
              </a:p>
              <a:p>
                <a:r>
                  <a:rPr lang="ko-KR" altLang="en-US" dirty="0"/>
                  <a:t>무작위</a:t>
                </a:r>
                <a:r>
                  <a:rPr lang="en-US" altLang="ko-KR" dirty="0"/>
                  <a:t> n</a:t>
                </a:r>
                <a:r>
                  <a:rPr lang="ko-KR" altLang="en-US" dirty="0"/>
                  <a:t>차원 격자에서는 </a:t>
                </a:r>
                <a:r>
                  <a:rPr lang="en-US" altLang="ko-KR" dirty="0"/>
                  <a:t>(</a:t>
                </a:r>
                <a:r>
                  <a:rPr lang="en-US" altLang="ko-KR" i="1" dirty="0"/>
                  <a:t>Gaussian Heuristic</a:t>
                </a:r>
                <a:r>
                  <a:rPr lang="en-US" altLang="ko-KR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𝐿</m:t>
                      </m:r>
                      <m:r>
                        <a:rPr lang="ar-AE" altLang="ko-KR" i="1">
                          <a:latin typeface="Cambria Math"/>
                        </a:rPr>
                        <m:t>)≈</m:t>
                      </m:r>
                      <m:rad>
                        <m:radPr>
                          <m:degHide m:val="on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ar-AE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ko-KR" altLang="ar-AE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ko-KR" altLang="ar-AE" i="1">
                                  <a:latin typeface="Cambria Math"/>
                                </a:rPr>
                                <m:t>𝑒</m:t>
                              </m:r>
                            </m:den>
                          </m:f>
                        </m:e>
                      </m:rad>
                      <m:r>
                        <m:rPr>
                          <m:sty m:val="p"/>
                        </m:rPr>
                        <a:rPr lang="en-US" altLang="ko-KR" i="1">
                          <a:latin typeface="Cambria Math"/>
                        </a:rPr>
                        <m:t>vol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𝐿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ko-KR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ar-AE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ar-AE" altLang="ko-KR" dirty="0"/>
              </a:p>
              <a:p>
                <a:r>
                  <a:rPr lang="ko-KR" altLang="en-US" dirty="0"/>
                  <a:t>그 길이의 벡터를 찾는 것은 별개의 어려운 문제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E6758ED-7081-7B70-DEDC-5E492D4AC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2BE0C-2E6E-231C-12CD-E0A2BF57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233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96357-688F-B0AB-0EE1-8C6AC487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F7E31-7BAA-10E8-3477-1AA750B1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ko-KR" dirty="0"/>
              <a:t>λ</a:t>
            </a:r>
            <a:r>
              <a:rPr lang="en-US" altLang="ko-KR" baseline="-25000" dirty="0"/>
              <a:t>n</a:t>
            </a:r>
            <a:r>
              <a:rPr lang="en-US" altLang="ko-KR" dirty="0"/>
              <a:t>(L)</a:t>
            </a:r>
            <a:r>
              <a:rPr lang="ko-KR" altLang="en-US" dirty="0"/>
              <a:t>과 최단 기저의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7EFBD-832E-3274-0064-6CC477E5C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λ</a:t>
            </a:r>
            <a:r>
              <a:rPr lang="en-US" altLang="ko-KR" baseline="-25000" dirty="0" err="1"/>
              <a:t>n</a:t>
            </a:r>
            <a:r>
              <a:rPr lang="en-US" altLang="ko-KR" dirty="0"/>
              <a:t>(L)</a:t>
            </a:r>
            <a:r>
              <a:rPr lang="ko-KR" altLang="en-US" dirty="0"/>
              <a:t>은 </a:t>
            </a:r>
            <a:r>
              <a:rPr lang="en-US" altLang="ko-KR" dirty="0"/>
              <a:t>L</a:t>
            </a:r>
            <a:r>
              <a:rPr lang="ko-KR" altLang="en-US" dirty="0"/>
              <a:t>의 최단 기저 길이의 하한</a:t>
            </a:r>
            <a:r>
              <a:rPr lang="en-US" altLang="ko-KR" dirty="0"/>
              <a:t>(lower bound)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기저의 길이 </a:t>
            </a:r>
            <a:r>
              <a:rPr lang="en-US" altLang="ko-KR" dirty="0"/>
              <a:t>= </a:t>
            </a:r>
            <a:r>
              <a:rPr lang="ko-KR" altLang="en-US" dirty="0"/>
              <a:t>기저벡터들 중 가장 긴 것의 길이</a:t>
            </a:r>
            <a:endParaRPr lang="en-US" altLang="ko-KR" dirty="0"/>
          </a:p>
          <a:p>
            <a:r>
              <a:rPr lang="ko-KR" altLang="en-US" dirty="0"/>
              <a:t>이유</a:t>
            </a:r>
            <a:r>
              <a:rPr lang="en-US" altLang="ko-KR" dirty="0"/>
              <a:t>: </a:t>
            </a:r>
            <a:r>
              <a:rPr lang="ko-KR" altLang="en-US" dirty="0"/>
              <a:t>어떤 기저의 </a:t>
            </a:r>
            <a:r>
              <a:rPr lang="en-US" altLang="ko-KR" dirty="0"/>
              <a:t>n</a:t>
            </a:r>
            <a:r>
              <a:rPr lang="ko-KR" altLang="en-US" dirty="0"/>
              <a:t>개 벡터도 결국 선형독립 </a:t>
            </a:r>
            <a:r>
              <a:rPr lang="en-US" altLang="ko-KR" dirty="0"/>
              <a:t>n</a:t>
            </a:r>
            <a:r>
              <a:rPr lang="ko-KR" altLang="en-US" dirty="0"/>
              <a:t>개 벡터의 한 예시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en-US" altLang="ko-KR" dirty="0" err="1"/>
              <a:t>λ</a:t>
            </a:r>
            <a:r>
              <a:rPr lang="en-US" altLang="ko-KR" baseline="-25000" dirty="0" err="1"/>
              <a:t>n</a:t>
            </a:r>
            <a:r>
              <a:rPr lang="en-US" altLang="ko-KR" dirty="0"/>
              <a:t>(L)</a:t>
            </a:r>
            <a:r>
              <a:rPr lang="ko-KR" altLang="en-US" dirty="0"/>
              <a:t>은 그런 벡터 </a:t>
            </a:r>
            <a:r>
              <a:rPr lang="en-US" altLang="ko-KR" dirty="0"/>
              <a:t>n</a:t>
            </a:r>
            <a:r>
              <a:rPr lang="ko-KR" altLang="en-US" dirty="0"/>
              <a:t>개 중 최댓값을 최소화한 값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하한이 됨</a:t>
            </a:r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최단 기저의 길이는 </a:t>
            </a:r>
            <a:r>
              <a:rPr lang="en-US" altLang="ko-KR" dirty="0" err="1"/>
              <a:t>λ</a:t>
            </a:r>
            <a:r>
              <a:rPr lang="en-US" altLang="ko-KR" baseline="-25000" dirty="0" err="1"/>
              <a:t>n</a:t>
            </a:r>
            <a:r>
              <a:rPr lang="en-US" altLang="ko-KR" dirty="0"/>
              <a:t>(L)</a:t>
            </a:r>
            <a:r>
              <a:rPr lang="ko-KR" altLang="en-US" dirty="0"/>
              <a:t>보다 클 수는 있어도 작을 수는 없다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452C5-D49F-2528-2018-EBED7790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807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54F59-1208-ACDA-A0EB-BFECFCA6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55448-A555-23B4-AB8F-C7BE2F91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LLL </a:t>
            </a:r>
            <a:r>
              <a:rPr lang="ko-KR" altLang="en-US" dirty="0"/>
              <a:t>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87EE62-9D58-3F89-462C-CAD956697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Lenstra–Lenstra–Lovász (LLL) </a:t>
            </a:r>
            <a:r>
              <a:rPr lang="ko-KR" altLang="en-US" dirty="0"/>
              <a:t>알고리즘 </a:t>
            </a:r>
            <a:r>
              <a:rPr lang="en-US" altLang="ko-KR" dirty="0"/>
              <a:t>(1982):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격자 </a:t>
            </a:r>
            <a:r>
              <a:rPr lang="en-US" altLang="ko-KR" dirty="0"/>
              <a:t>L</a:t>
            </a:r>
            <a:r>
              <a:rPr lang="ko-KR" altLang="en-US" dirty="0"/>
              <a:t>의 상대적으로 짧은 기저를 찾는 다항식 시간</a:t>
            </a:r>
            <a:r>
              <a:rPr lang="en-US" altLang="ko-KR" dirty="0"/>
              <a:t>(polynomial-time) </a:t>
            </a:r>
            <a:r>
              <a:rPr lang="ko-KR" altLang="en-US" dirty="0"/>
              <a:t>알고리즘</a:t>
            </a:r>
            <a:endParaRPr lang="en-US" altLang="ko-KR" dirty="0"/>
          </a:p>
          <a:p>
            <a:r>
              <a:rPr lang="ko-KR" altLang="en-US" dirty="0" err="1"/>
              <a:t>그람</a:t>
            </a:r>
            <a:r>
              <a:rPr lang="en-US" altLang="ko-KR" dirty="0"/>
              <a:t>-</a:t>
            </a:r>
            <a:r>
              <a:rPr lang="ko-KR" altLang="en-US" dirty="0"/>
              <a:t>슈미트 과정</a:t>
            </a:r>
            <a:r>
              <a:rPr lang="en-US" altLang="ko-KR" dirty="0"/>
              <a:t>(Gram–Schmidt process)</a:t>
            </a:r>
            <a:r>
              <a:rPr lang="ko-KR" altLang="en-US" dirty="0"/>
              <a:t>의 영리한 변형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벡터공간의 직교 기저를 구하는 절차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구체적 계산 단계는 이후 회차에서 다룸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0694ED-81E9-1761-667E-C8CE2A85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192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3FC9-D311-0F7B-C8A3-CC2BE415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06534-05C4-A171-14EB-B864E300C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LLL</a:t>
            </a:r>
            <a:r>
              <a:rPr lang="ko-KR" altLang="en-US" dirty="0"/>
              <a:t>의 보장과 암호 분석 응용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5B2AF87-0388-6562-9BAB-7C4205B8DF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LLL</a:t>
                </a:r>
                <a:r>
                  <a:rPr lang="ko-KR" altLang="en-US" dirty="0"/>
                  <a:t>이 산출한 기저 </a:t>
                </a:r>
                <a:r>
                  <a:rPr lang="en-US" altLang="ko-KR" dirty="0"/>
                  <a:t>b</a:t>
                </a:r>
                <a:r>
                  <a:rPr lang="en-US" altLang="ko-KR" baseline="-25000" dirty="0"/>
                  <a:t>1</a:t>
                </a:r>
                <a:r>
                  <a:rPr lang="en-US" altLang="ko-KR" dirty="0"/>
                  <a:t>, b</a:t>
                </a:r>
                <a:r>
                  <a:rPr lang="en-US" altLang="ko-KR" baseline="-25000" dirty="0"/>
                  <a:t>2</a:t>
                </a:r>
                <a:r>
                  <a:rPr lang="en-US" altLang="ko-KR" dirty="0"/>
                  <a:t>, ..., b</a:t>
                </a:r>
                <a:r>
                  <a:rPr lang="en-US" altLang="ko-KR" baseline="-25000" dirty="0"/>
                  <a:t>n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길이순 정렬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의 보장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i="1"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≤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(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  <m:r>
                            <a:rPr lang="ko-KR" altLang="ar-AE" i="1">
                              <a:latin typeface="Cambria Math"/>
                            </a:rPr>
                            <m:t>−</m:t>
                          </m:r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  <m:r>
                            <a:rPr lang="ar-AE" altLang="ko-KR" i="1">
                              <a:latin typeface="Cambria Math"/>
                            </a:rPr>
                            <m:t>)/</m:t>
                          </m:r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𝐿</m:t>
                      </m:r>
                      <m:r>
                        <a:rPr lang="ar-AE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i="1"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≤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(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  <m:r>
                            <a:rPr lang="ko-KR" altLang="ar-AE" i="1">
                              <a:latin typeface="Cambria Math"/>
                            </a:rPr>
                            <m:t>−</m:t>
                          </m:r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  <m:r>
                            <a:rPr lang="ar-AE" altLang="ko-KR" i="1">
                              <a:latin typeface="Cambria Math"/>
                            </a:rPr>
                            <m:t>)/</m:t>
                          </m:r>
                          <m:r>
                            <a:rPr lang="ar-AE" altLang="ko-KR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ko-KR" i="1">
                          <a:latin typeface="Cambria Math"/>
                        </a:rPr>
                        <m:t>vol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𝐿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ko-KR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ar-AE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m:rPr>
                          <m:nor/>
                        </m:rPr>
                        <a:rPr lang="ar-AE" altLang="ko-KR" i="1">
                          <a:latin typeface="Cambria Math"/>
                        </a:rPr>
                        <m:t>  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ar-AE" i="1">
                              <a:latin typeface="Cambria Math"/>
                            </a:rPr>
                            <m:t>𝑖</m:t>
                          </m:r>
                          <m:r>
                            <a:rPr lang="ar-AE" altLang="ko-KR" i="1">
                              <a:latin typeface="Cambria Math"/>
                            </a:rPr>
                            <m:t>=</m:t>
                          </m:r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</m:sup>
                        <m:e/>
                      </m:nary>
                      <m:r>
                        <a:rPr lang="ar-AE" altLang="ko-KR" i="1"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≤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  <m:r>
                            <a:rPr lang="ar-AE" altLang="ko-KR" i="1">
                              <a:latin typeface="Cambria Math"/>
                            </a:rPr>
                            <m:t>(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  <m:r>
                            <a:rPr lang="ko-KR" altLang="ar-AE" i="1">
                              <a:latin typeface="Cambria Math"/>
                            </a:rPr>
                            <m:t>−</m:t>
                          </m:r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  <m:r>
                            <a:rPr lang="ar-AE" altLang="ko-KR" i="1">
                              <a:latin typeface="Cambria Math"/>
                            </a:rPr>
                            <m:t>)/</m:t>
                          </m:r>
                          <m:r>
                            <a:rPr lang="ar-AE" altLang="ko-KR" i="1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ko-KR" i="1">
                          <a:latin typeface="Cambria Math"/>
                        </a:rPr>
                        <m:t>vol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𝐿</m:t>
                      </m:r>
                      <m:r>
                        <a:rPr lang="en-US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  <a:p>
                <a:r>
                  <a:rPr lang="ko-KR" altLang="en-US" dirty="0"/>
                  <a:t>실전에서는 이것보다 훨씬 짧은 기저가 나오는 경우가 대부분</a:t>
                </a:r>
                <a:endParaRPr lang="en-US" altLang="ko-KR" dirty="0"/>
              </a:p>
              <a:p>
                <a:r>
                  <a:rPr lang="ko-KR" altLang="en-US" dirty="0"/>
                  <a:t>암호분석 응용</a:t>
                </a:r>
                <a:r>
                  <a:rPr lang="en-US" altLang="ko-KR" dirty="0"/>
                  <a:t>: </a:t>
                </a:r>
                <a:r>
                  <a:rPr lang="en-US" altLang="ko-KR" dirty="0" err="1"/>
                  <a:t>Howgrave</a:t>
                </a:r>
                <a:r>
                  <a:rPr lang="en-US" altLang="ko-KR" dirty="0"/>
                  <a:t>-Graham &amp; Smart (DSA/ECDSA </a:t>
                </a:r>
                <a:r>
                  <a:rPr lang="ko-KR" altLang="en-US" dirty="0"/>
                  <a:t>공격</a:t>
                </a:r>
                <a:r>
                  <a:rPr lang="en-US" altLang="ko-KR" dirty="0"/>
                  <a:t>, 2000)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- </a:t>
                </a:r>
                <a:r>
                  <a:rPr lang="ko-KR" altLang="en-US" dirty="0"/>
                  <a:t>일부 비트가 유출된 </a:t>
                </a:r>
                <a:r>
                  <a:rPr lang="en-US" altLang="ko-KR" dirty="0"/>
                  <a:t>nonce</a:t>
                </a:r>
                <a:r>
                  <a:rPr lang="ko-KR" altLang="en-US" dirty="0"/>
                  <a:t>로부터 </a:t>
                </a:r>
                <a:r>
                  <a:rPr lang="en-US" altLang="ko-KR" dirty="0"/>
                  <a:t>LLL</a:t>
                </a:r>
                <a:r>
                  <a:rPr lang="ko-KR" altLang="en-US" dirty="0"/>
                  <a:t>을 이용해 서명 비밀키 복구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5B2AF87-0388-6562-9BAB-7C4205B8DF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112493-B03D-FF42-DF70-76A15C83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644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82D73-C786-760E-A0C2-77483DAC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5E1ED6-6175-2B7D-20BD-D0E7127C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SVP (Shortest Vector Problem)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EAF252-960C-A30A-3E38-E5F48E00DF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/>
                  <a:t>정의</a:t>
                </a:r>
                <a:r>
                  <a:rPr lang="en-US" altLang="ko-KR" dirty="0"/>
                  <a:t>: L = L(B) ⊆ Z</a:t>
                </a:r>
                <a:r>
                  <a:rPr lang="en-US" altLang="ko-KR" baseline="30000" dirty="0"/>
                  <a:t>n</a:t>
                </a:r>
                <a:r>
                  <a:rPr lang="ko-KR" altLang="en-US" dirty="0"/>
                  <a:t>이 주어졌을 때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이 아닌 최단벡터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길이 </a:t>
                </a:r>
                <a:r>
                  <a:rPr lang="en-US" altLang="ko-KR" dirty="0"/>
                  <a:t>λ</a:t>
                </a:r>
                <a:r>
                  <a:rPr lang="en-US" altLang="ko-KR" baseline="-25000" dirty="0"/>
                  <a:t>1</a:t>
                </a:r>
                <a:r>
                  <a:rPr lang="en-US" altLang="ko-KR" dirty="0"/>
                  <a:t>(L)) </a:t>
                </a:r>
                <a:r>
                  <a:rPr lang="ko-KR" altLang="en-US" dirty="0"/>
                  <a:t>찾기</a:t>
                </a:r>
                <a:endParaRPr lang="en-US" altLang="ko-KR" dirty="0"/>
              </a:p>
              <a:p>
                <a:r>
                  <a:rPr lang="ko-KR" altLang="en-US" dirty="0"/>
                  <a:t>난이도</a:t>
                </a:r>
                <a:r>
                  <a:rPr lang="en-US" altLang="ko-KR" dirty="0"/>
                  <a:t>: NP-hard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- </a:t>
                </a:r>
                <a:r>
                  <a:rPr lang="ko-KR" altLang="en-US" dirty="0"/>
                  <a:t>알려진 가장 빠른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휴리스틱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실행시간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고전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양자</a:t>
                </a:r>
                <a:r>
                  <a:rPr lang="en-US" altLang="ko-KR" dirty="0"/>
                  <a:t>)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ko-KR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0</m:t>
                          </m:r>
                          <m:r>
                            <a:rPr lang="ar-AE" altLang="ko-KR" i="1">
                              <a:latin typeface="Cambria Math"/>
                            </a:rPr>
                            <m:t>.</m:t>
                          </m:r>
                          <m:r>
                            <a:rPr lang="ar-AE" altLang="ko-KR" i="1">
                              <a:latin typeface="Cambria Math"/>
                            </a:rPr>
                            <m:t>292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  <m:r>
                            <a:rPr lang="ko-KR" altLang="ar-AE" i="1">
                              <a:latin typeface="Cambria Math"/>
                            </a:rPr>
                            <m:t>+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𝑜</m:t>
                          </m:r>
                          <m:r>
                            <a:rPr lang="ko-KR" altLang="ar-AE" i="1">
                              <a:latin typeface="Cambria Math"/>
                            </a:rPr>
                            <m:t>(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  <m:r>
                            <a:rPr lang="ko-KR" altLang="ar-AE" i="1"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ar-AE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altLang="ko-KR" i="1">
                              <a:latin typeface="Cambria Math"/>
                            </a:rPr>
                            <m:t>0</m:t>
                          </m:r>
                          <m:r>
                            <a:rPr lang="en-US" altLang="ko-KR" i="1">
                              <a:latin typeface="Cambria Math"/>
                            </a:rPr>
                            <m:t>.</m:t>
                          </m:r>
                          <m:r>
                            <a:rPr lang="en-US" altLang="ko-KR" i="1">
                              <a:latin typeface="Cambria Math"/>
                            </a:rPr>
                            <m:t>265</m:t>
                          </m:r>
                          <m:r>
                            <a:rPr lang="en-US" altLang="ko-KR" i="1">
                              <a:latin typeface="Cambria Math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/>
                            </a:rPr>
                            <m:t>𝑜</m:t>
                          </m:r>
                          <m:r>
                            <a:rPr lang="en-US" altLang="ko-KR" i="1">
                              <a:latin typeface="Cambria Math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EAF252-960C-A30A-3E38-E5F48E00DF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6CEA70-19E3-7BA3-F411-024E0682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490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BE48E-BD96-F651-3570-7539EB71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SVP (Shortest Vector Problem)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C66AD5-9F73-0BA2-8FEF-88A3B64C9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근사 </a:t>
            </a:r>
            <a:r>
              <a:rPr lang="en-US" altLang="ko-KR" dirty="0" err="1"/>
              <a:t>SVP</a:t>
            </a:r>
            <a:r>
              <a:rPr lang="en-US" altLang="ko-KR" baseline="-25000" dirty="0" err="1"/>
              <a:t>γ</a:t>
            </a:r>
            <a:r>
              <a:rPr lang="en-US" altLang="ko-KR" dirty="0"/>
              <a:t>: </a:t>
            </a:r>
            <a:r>
              <a:rPr lang="ko-KR" altLang="en-US" dirty="0"/>
              <a:t>길이 ≤ </a:t>
            </a:r>
            <a:r>
              <a:rPr lang="en-US" altLang="ko-KR" dirty="0"/>
              <a:t>γ·λ_1(L)</a:t>
            </a:r>
            <a:r>
              <a:rPr lang="ko-KR" altLang="en-US" dirty="0"/>
              <a:t>인 </a:t>
            </a:r>
            <a:r>
              <a:rPr lang="en-US" altLang="ko-KR" dirty="0"/>
              <a:t>0</a:t>
            </a:r>
            <a:r>
              <a:rPr lang="ko-KR" altLang="en-US" dirty="0"/>
              <a:t>이 아닌 벡터 찾기</a:t>
            </a:r>
          </a:p>
          <a:p>
            <a:pPr marL="457200" lvl="1" indent="0">
              <a:buNone/>
            </a:pPr>
            <a:r>
              <a:rPr lang="en-US" altLang="ko-KR" dirty="0"/>
              <a:t>- γ</a:t>
            </a:r>
            <a:r>
              <a:rPr lang="ko-KR" altLang="en-US" dirty="0"/>
              <a:t>가 상수면 </a:t>
            </a:r>
            <a:r>
              <a:rPr lang="en-US" altLang="ko-KR" dirty="0"/>
              <a:t>NP-hard; γ &gt; √n</a:t>
            </a:r>
            <a:r>
              <a:rPr lang="ko-KR" altLang="en-US" dirty="0"/>
              <a:t>이면 아마도 </a:t>
            </a:r>
            <a:r>
              <a:rPr lang="en-US" altLang="ko-KR" dirty="0"/>
              <a:t>NP-hard </a:t>
            </a:r>
            <a:r>
              <a:rPr lang="ko-KR" altLang="en-US" dirty="0"/>
              <a:t>아님</a:t>
            </a:r>
          </a:p>
          <a:p>
            <a:pPr marL="457200" lvl="1" indent="0">
              <a:buNone/>
            </a:pPr>
            <a:r>
              <a:rPr lang="en-US" altLang="ko-KR" dirty="0"/>
              <a:t>- γ = 2</a:t>
            </a:r>
            <a:r>
              <a:rPr lang="en-US" altLang="ko-KR" baseline="30000" dirty="0"/>
              <a:t>k</a:t>
            </a:r>
            <a:r>
              <a:rPr lang="ko-KR" altLang="en-US" dirty="0"/>
              <a:t>이면 가장 빠른 </a:t>
            </a:r>
            <a:r>
              <a:rPr lang="en-US" altLang="ko-KR" dirty="0" err="1"/>
              <a:t>SVP</a:t>
            </a:r>
            <a:r>
              <a:rPr lang="en-US" altLang="ko-KR" baseline="-25000" dirty="0" err="1"/>
              <a:t>γ</a:t>
            </a:r>
            <a:r>
              <a:rPr lang="ko-KR" altLang="en-US" dirty="0"/>
              <a:t> 알고리즘의 실행시간은 </a:t>
            </a:r>
            <a:r>
              <a:rPr lang="en-US" altLang="ko-KR" dirty="0"/>
              <a:t>2^Θ̃(n/k)</a:t>
            </a:r>
            <a:r>
              <a:rPr lang="ko-KR" altLang="en-US" dirty="0"/>
              <a:t> (</a:t>
            </a:r>
            <a:r>
              <a:rPr lang="en-US" altLang="ko-KR" dirty="0"/>
              <a:t>Θ̃</a:t>
            </a:r>
            <a:r>
              <a:rPr lang="ko-KR" altLang="en-US" dirty="0"/>
              <a:t>는 </a:t>
            </a:r>
            <a:r>
              <a:rPr lang="en-US" altLang="ko-KR" dirty="0"/>
              <a:t>log n</a:t>
            </a:r>
            <a:r>
              <a:rPr lang="ko-KR" altLang="en-US" dirty="0"/>
              <a:t>의 거듭제곱을 감춤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- γ &gt; 2^((n log </a:t>
            </a:r>
            <a:r>
              <a:rPr lang="en-US" altLang="ko-KR" dirty="0" err="1"/>
              <a:t>log</a:t>
            </a:r>
            <a:r>
              <a:rPr lang="en-US" altLang="ko-KR" dirty="0"/>
              <a:t> n)/log n)</a:t>
            </a:r>
            <a:r>
              <a:rPr lang="ko-KR" altLang="en-US" dirty="0"/>
              <a:t>이면 </a:t>
            </a:r>
            <a:r>
              <a:rPr lang="en-US" altLang="ko-KR" dirty="0"/>
              <a:t>LLL </a:t>
            </a:r>
            <a:r>
              <a:rPr lang="ko-KR" altLang="en-US" dirty="0"/>
              <a:t>알고리즘만으로 </a:t>
            </a:r>
            <a:r>
              <a:rPr lang="en-US" altLang="ko-KR" dirty="0" err="1"/>
              <a:t>SVP</a:t>
            </a:r>
            <a:r>
              <a:rPr lang="en-US" altLang="ko-KR" baseline="-25000" dirty="0" err="1"/>
              <a:t>γ</a:t>
            </a:r>
            <a:r>
              <a:rPr lang="ko-KR" altLang="en-US" dirty="0"/>
              <a:t>를 효율적으로 풀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96AA34-E869-A229-1ABA-1D49730D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603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7952-D1BF-C081-3351-0115DD8D0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73758-DCCB-7472-8757-79A8FAF4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SIVP (Shortest Independent Vectors Problem)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BA5D787-118F-CAB8-0592-F521ED159D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정의</a:t>
                </a:r>
                <a:r>
                  <a:rPr lang="en-US" altLang="ko-KR" dirty="0"/>
                  <a:t>: L = L(B)</a:t>
                </a:r>
                <a:r>
                  <a:rPr lang="ko-KR" altLang="en-US" dirty="0"/>
                  <a:t>가 주어졌을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길이 모두 </a:t>
                </a:r>
                <a:r>
                  <a:rPr lang="en-US" altLang="ko-KR" dirty="0" err="1"/>
                  <a:t>λ</a:t>
                </a:r>
                <a:r>
                  <a:rPr lang="en-US" altLang="ko-KR" baseline="-25000" dirty="0" err="1"/>
                  <a:t>n</a:t>
                </a:r>
                <a:r>
                  <a:rPr lang="en-US" altLang="ko-KR" dirty="0"/>
                  <a:t>(L) </a:t>
                </a:r>
                <a:r>
                  <a:rPr lang="ko-KR" altLang="en-US" dirty="0"/>
                  <a:t>이하인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개의 선형독립격자벡터 찾기</a:t>
                </a:r>
                <a:endParaRPr lang="en-US" altLang="ko-KR" dirty="0"/>
              </a:p>
              <a:p>
                <a:r>
                  <a:rPr lang="ko-KR" altLang="en-US" dirty="0"/>
                  <a:t>주의</a:t>
                </a:r>
                <a:r>
                  <a:rPr lang="en-US" altLang="ko-KR" dirty="0"/>
                  <a:t>: SIVP</a:t>
                </a:r>
                <a:r>
                  <a:rPr lang="ko-KR" altLang="en-US" dirty="0"/>
                  <a:t>의 해가 반드시 </a:t>
                </a:r>
                <a:r>
                  <a:rPr lang="en-US" altLang="ko-KR" dirty="0"/>
                  <a:t>L</a:t>
                </a:r>
                <a:r>
                  <a:rPr lang="ko-KR" altLang="en-US" dirty="0"/>
                  <a:t>의 기저를 이루는 것은 아님</a:t>
                </a:r>
                <a:endParaRPr lang="en-US" altLang="ko-KR" dirty="0"/>
              </a:p>
              <a:p>
                <a:r>
                  <a:rPr lang="ko-KR" altLang="en-US" dirty="0"/>
                  <a:t>난이도</a:t>
                </a:r>
                <a:r>
                  <a:rPr lang="en-US" altLang="ko-KR" dirty="0"/>
                  <a:t>: NP-hard;  </a:t>
                </a:r>
                <a:r>
                  <a:rPr lang="ko-KR" altLang="en-US" dirty="0"/>
                  <a:t>근사 </a:t>
                </a:r>
                <a:r>
                  <a:rPr lang="en-US" altLang="ko-KR" dirty="0" err="1"/>
                  <a:t>SIVP</a:t>
                </a:r>
                <a:r>
                  <a:rPr lang="en-US" altLang="ko-KR" baseline="-25000" dirty="0" err="1"/>
                  <a:t>γ</a:t>
                </a:r>
                <a:r>
                  <a:rPr lang="ko-KR" altLang="en-US" dirty="0"/>
                  <a:t>도 </a:t>
                </a:r>
                <a:r>
                  <a:rPr lang="en-US" altLang="ko-KR" dirty="0" err="1"/>
                  <a:t>SVP</a:t>
                </a:r>
                <a:r>
                  <a:rPr lang="en-US" altLang="ko-KR" baseline="-25000" dirty="0" err="1"/>
                  <a:t>γ</a:t>
                </a:r>
                <a:r>
                  <a:rPr lang="ko-KR" altLang="en-US" dirty="0"/>
                  <a:t>와 유사한 난이도</a:t>
                </a:r>
                <a:endParaRPr lang="en-US" altLang="ko-KR" dirty="0"/>
              </a:p>
              <a:p>
                <a:r>
                  <a:rPr lang="en-US" altLang="ko-KR" dirty="0"/>
                  <a:t>SVP</a:t>
                </a:r>
                <a:r>
                  <a:rPr lang="ko-KR" altLang="en-US" dirty="0"/>
                  <a:t>와의 관계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/>
                            </a:rPr>
                            <m:t>SIVP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𝛾</m:t>
                          </m:r>
                          <m:rad>
                            <m:radPr>
                              <m:degHide m:val="on"/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/>
                            </a:rPr>
                            <m:t>SVP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BA5D787-118F-CAB8-0592-F521ED159D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F3E612-9E82-FEE6-2346-FD8AC6CB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303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3304</TotalTime>
  <Words>1941</Words>
  <Application>Microsoft Office PowerPoint</Application>
  <PresentationFormat>와이드스크린</PresentationFormat>
  <Paragraphs>193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맑은 고딕</vt:lpstr>
      <vt:lpstr>Arial</vt:lpstr>
      <vt:lpstr>Cambria Math</vt:lpstr>
      <vt:lpstr>Wingdings</vt:lpstr>
      <vt:lpstr>Office 테마</vt:lpstr>
      <vt:lpstr>Post-Quantum Cryptography</vt:lpstr>
      <vt:lpstr>Plan</vt:lpstr>
      <vt:lpstr>격자의 정의</vt:lpstr>
      <vt:lpstr>격자의 행렬 표현</vt:lpstr>
      <vt:lpstr>Full-rank 격자와 부분격자</vt:lpstr>
      <vt:lpstr>예제 1: L1 = Z2</vt:lpstr>
      <vt:lpstr>예제 2: L₂ ⊆ L₁ (L₂ ≠ L₁)</vt:lpstr>
      <vt:lpstr>예제 3: L3 = L2</vt:lpstr>
      <vt:lpstr>더 좋은 기저란?</vt:lpstr>
      <vt:lpstr>예제 4: L4</vt:lpstr>
      <vt:lpstr>Fundamental Parallelepiped (기본평행육면체)</vt:lpstr>
      <vt:lpstr>기저의 특성화</vt:lpstr>
      <vt:lpstr>행렬식 (Determinant)</vt:lpstr>
      <vt:lpstr>역행렬 (Inverse Matrix)</vt:lpstr>
      <vt:lpstr>행렬-행렬 곱셈</vt:lpstr>
      <vt:lpstr>유니모듈러(Unimodular) 행렬</vt:lpstr>
      <vt:lpstr>기저 특성화 정리의 증명</vt:lpstr>
      <vt:lpstr>격자의 부피 (Volume)</vt:lpstr>
      <vt:lpstr>부피는 기저-불변량이다</vt:lpstr>
      <vt:lpstr>좋은 기저 vs 나쁜 기저</vt:lpstr>
      <vt:lpstr>Successive minima</vt:lpstr>
      <vt:lpstr>Minkowski 정리와 Gaussian Heuristic</vt:lpstr>
      <vt:lpstr>λn(L)과 최단 기저의 관계</vt:lpstr>
      <vt:lpstr>LLL 알고리즘</vt:lpstr>
      <vt:lpstr>LLL의 보장과 암호 분석 응용</vt:lpstr>
      <vt:lpstr>SVP (Shortest Vector Problem)</vt:lpstr>
      <vt:lpstr>SVP (Shortest Vector Problem)</vt:lpstr>
      <vt:lpstr>SIVP (Shortest Independent Vectors Problem)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796</cp:revision>
  <dcterms:created xsi:type="dcterms:W3CDTF">2026-03-17T05:07:50Z</dcterms:created>
  <dcterms:modified xsi:type="dcterms:W3CDTF">2026-07-16T09:49:43Z</dcterms:modified>
</cp:coreProperties>
</file>