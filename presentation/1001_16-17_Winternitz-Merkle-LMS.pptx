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rgbClr val="0F25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0000"/>
        <a:buFont typeface="Arial" panose="020B0604020202020204" pitchFamily="34" charset="0"/>
        <a:buChar char="●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10000"/>
        <a:buFont typeface="Arial" panose="020B0604020202020204" pitchFamily="34" charset="0"/>
        <a:buChar char="○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16-17. Hash-Based Signatures: Winternitz, Merkle, 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Lamport의 한계와 해법</a:t>
            </a:r>
          </a:p>
          <a:p>
            <a:pPr lvl="1"/>
            <a:r>
              <a:rPr lang="ko-KR" altLang="en-US" sz="1800" dirty="0">
                <a:solidFill>
                  <a:srgbClr val="000000"/>
                </a:solidFill>
              </a:rPr>
              <a:t>네가지 </a:t>
            </a:r>
            <a:r>
              <a:rPr sz="1800" dirty="0">
                <a:solidFill>
                  <a:srgbClr val="000000"/>
                </a:solidFill>
              </a:rPr>
              <a:t>한계와 해법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Winternitz OTS: 해시 체인과 체크섬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Merkle 트리: 인증 경로로 일회성 극복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하이퍼트리와 HSS: 느린 트리 생성 해결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Leighton-Micali 서명 스킴 (LMS)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LM-OTS: Winternitz에 더한 네 가지 보강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LMS: Merkle 트리 결합과 서명 크기 감소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안전성(ROM·QROM)과 XMSS 비교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상태 관리의 위험과 적용 범위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Lamport의 한계와 해법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Part 1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Lamport의 네 가지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173736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RSA·타원곡선 서명(수십~수백 바이트)에 비해 키와 서명이 압도적으로 크다</a:t>
            </a:r>
          </a:p>
          <a:p>
            <a:r>
              <a:rPr sz="1800" dirty="0">
                <a:solidFill>
                  <a:srgbClr val="000000"/>
                </a:solidFill>
              </a:rPr>
              <a:t>서명 하나가 개인키의 절반을 드러내므로 한 키로 메시지 하나만 서명할 수 있다</a:t>
            </a:r>
          </a:p>
          <a:p>
            <a:r>
              <a:rPr sz="1800" dirty="0">
                <a:solidFill>
                  <a:srgbClr val="000000"/>
                </a:solidFill>
              </a:rPr>
              <a:t>1. 큰 개인키  2. 큰 공개키·서명  3. 개인키 일회성  4. 큰 Merkle 트리의 느린 생성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248428"/>
              </p:ext>
            </p:extLst>
          </p:nvPr>
        </p:nvGraphicFramePr>
        <p:xfrm>
          <a:off x="838200" y="3035421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비트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바이트 (n=256)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16,384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16,384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8,192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한계별 해법 한눈에 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146304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각 해법은 해시 함수의 표준 성질(역상·충돌 저항성)만 쓰고 새 가정을 더하지 않는다</a:t>
            </a:r>
          </a:p>
          <a:p>
            <a:r>
              <a:rPr sz="1800" dirty="0">
                <a:solidFill>
                  <a:srgbClr val="000000"/>
                </a:solidFill>
              </a:rPr>
              <a:t>한계 1의 해법: 개인키 성분을 시드와 카운터에서 PRF로 재생성한다 (예: HMAC)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859312"/>
              </p:ext>
            </p:extLst>
          </p:nvPr>
        </p:nvGraphicFramePr>
        <p:xfrm>
          <a:off x="838200" y="2468880"/>
          <a:ext cx="105155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9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한계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해법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도입 개념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1. 큰 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시드 + 카운터로 재생성 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</a:rPr>
                      </a:b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(16,384 B에서 32 B로)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PRF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2. 큰 공개키·서명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비트를 w비트 블록 단위로 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Winternitz 해시 체인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3. 개인키 일회성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다수의 OTS 공개키를 하나로 인증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Merkle 해시 트리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4. 큰 트리 생성이 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트리를 여러 층으로 분할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하이퍼트리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해시 체인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39496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역상 저항 함수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초깃값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반복 적용해 체인을 만든다: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𝐺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),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),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…,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앞으로(G 적용)는 누구나 쉽게 계산한다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뒤로는 G의 역상을 찾아야 하므로 불가능하다 </a:t>
                </a:r>
                <a:br>
                  <a:rPr lang="en-US" sz="1800" dirty="0">
                    <a:solidFill>
                      <a:srgbClr val="000000"/>
                    </a:solidFill>
                  </a:rPr>
                </a:br>
                <a:r>
                  <a:rPr sz="1800" dirty="0">
                    <a:solidFill>
                      <a:srgbClr val="000000"/>
                    </a:solidFill>
                  </a:rPr>
                  <a:t>(역상 저항성)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이 '앞으로만 갈 수 있다'가 Winternitz 안전성의 토대다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394960" cy="4701089"/>
              </a:xfrm>
              <a:blipFill>
                <a:blip r:embed="rId2"/>
                <a:stretch>
                  <a:fillRect l="-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F36356-25D2-62E5-47D8-BAC688353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804" y="1341482"/>
            <a:ext cx="3901592" cy="4175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Winternitz OTS: 키 생성·서명·검증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Winternitz 파라미터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(n의 약수): 체인 길이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𝑤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메시지 해시를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비트 블록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로 쪼갠다 (체크섬 블록은 뒤에서 추가)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키 생성: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𝐺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𝑤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— 개인키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공개키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서명: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𝐺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— 체인에서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걸음 나아간 값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검증: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𝐺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𝑤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limUpp>
                      <m:limUp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</m:e>
                      <m:li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?</m:t>
                        </m:r>
                      </m:lim>
                    </m:limUpp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— 남은 걸음을 채워 끝값과 비교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Lamport는 자리마다 (0쪽, 1쪽) 두 값이 필요했지만 여기서는 체인 하나면 된다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체크섬이 없으면 위조된다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관찰 1: 공개키 Y만 아는 공격자도, 모든 블록이 최댓값인 메시지의 서명은 위조할 수 있다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관찰 2: 서명 하나를 보면 그보다 '큰' 블록값을 갖는 모든 메시지의 서명을 계산할 수 있다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예: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=(2,3,0,2,1,0)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봤다면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=(3,3,1,2,2,0)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서명도 위조된다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공통 원인: 체인은 앞으로만 갈 수 있어, 블록값을 키우는 위조는 공짜다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체크섬의 정의와 예제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92755" y="1259288"/>
                <a:ext cx="4361045" cy="4701089"/>
              </a:xfrm>
            </p:spPr>
            <p:txBody>
              <a:bodyPr/>
              <a:lstStyle/>
              <a:p>
                <a:r>
                  <a:rPr lang="ko-KR" altLang="en-US" sz="1800" dirty="0">
                    <a:solidFill>
                      <a:srgbClr val="000000"/>
                    </a:solidFill>
                  </a:rPr>
                  <a:t>체크섬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: 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각 블록이 체인 끝까지 남긴 거리의 합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𝑢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i="0">
                          <a:solidFill>
                            <a:srgbClr val="000000"/>
                          </a:solidFill>
                          <a:latin typeface="Cambria Math"/>
                        </a:rPr>
                        <m:t>csum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/>
                        </a:rPr>
                        <m:t>h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sup>
                          </m:sSup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8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=2,</m:t>
                    </m:r>
                    <m:r>
                      <m:rPr>
                        <m:nor/>
                      </m:rPr>
                      <a:rPr lang="ko-KR" alt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=(2,3,0,2,1,0)</m:t>
                    </m:r>
                  </m:oMath>
                </a14:m>
                <a:r>
                  <a:rPr lang="ko-KR" altLang="en-US" sz="1800" dirty="0">
                    <a:solidFill>
                      <a:srgbClr val="000000"/>
                    </a:solidFill>
                  </a:rPr>
                  <a:t> </a:t>
                </a:r>
                <a:br>
                  <a:rPr lang="ko-KR" altLang="en-US" i="1" dirty="0">
                    <a:solidFill>
                      <a:srgbClr val="000000"/>
                    </a:solidFill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ko-KR" alt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𝑢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=1+0+3+1+2+3=10</m:t>
                    </m:r>
                  </m:oMath>
                </a14:m>
                <a:br>
                  <a:rPr lang="ko-KR" altLang="en-US" i="1" dirty="0">
                    <a:solidFill>
                      <a:srgbClr val="000000"/>
                    </a:solidFill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=(00,10,10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sz="1800" dirty="0">
                  <a:solidFill>
                    <a:srgbClr val="000000"/>
                  </a:solidFill>
                </a:endParaRPr>
              </a:p>
              <a:p>
                <a:r>
                  <a:rPr lang="ko-KR" altLang="en-US" sz="1800" dirty="0">
                    <a:solidFill>
                      <a:srgbClr val="000000"/>
                    </a:solidFill>
                  </a:rPr>
                  <a:t>체크섬 블록도 별도 체인에 서명한다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(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체인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6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개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+ 3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개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= 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총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9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개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)</a:t>
                </a:r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755" y="1259288"/>
                <a:ext cx="4361045" cy="4701089"/>
              </a:xfrm>
              <a:blipFill>
                <a:blip r:embed="rId2"/>
                <a:stretch>
                  <a:fillRect l="-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8B9900-6559-76CC-EE93-B29F335EA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04930"/>
            <a:ext cx="5782042" cy="38481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체크섬이 위조를 막는 이유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위조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가 있다고 가정한다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충돌 저항,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역상 저항)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— 같다면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충돌이다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모든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— 줄이려면 체인을 뒤로 가야 하므로 불가능하다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이므로 어떤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⇒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csum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)&lt;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csum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그러면 체크섬 블록 중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인 곳이 있어 체인을 뒤로 가야 한다 — </a:t>
                </a:r>
                <a:r>
                  <a:rPr dirty="0">
                    <a:solidFill>
                      <a:srgbClr val="000000"/>
                    </a:solidFill>
                  </a:rPr>
                  <a:t>모순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블록을 키우면 체크섬은 반드시 줄고, 체크섬을 줄이는 것은 불가능하다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파라미터와 크기 비교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37744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=256,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=8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=32,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ℓ=34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(공개키·서명 각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ℓ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비트)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𝑤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𝑤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−1))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+1,ℓ=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w가 클수록 서명은 짧고 계산은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𝑤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배 늘어난다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∈{1,2,4,8}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⇒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ℓ=265,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133,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67,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34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2377440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755359"/>
              </p:ext>
            </p:extLst>
          </p:nvPr>
        </p:nvGraphicFramePr>
        <p:xfrm>
          <a:off x="838198" y="3520440"/>
          <a:ext cx="10515601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2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Lamport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Winternitz (w=8)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32 B (시드)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32 B (시드)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16,384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1,088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8,192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1,088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서명·검증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빠름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Merkle 트리의 구성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74495"/>
                <a:ext cx="10515600" cy="2655505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한계 3: OTS 키를 서명마다 새로 쓰면 공개키를 매번 배포해야 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OTS 키쌍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개의 공개키를 트리 하나로 묶어 짧은 장기 공개키로 인증한다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리프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𝐹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내부 노드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𝐹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left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right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(F: 충돌 저항 해시)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루트 R이 장기 공개키다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—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 </a:t>
                </a:r>
                <a:r>
                  <a:rPr dirty="0">
                    <a:solidFill>
                      <a:srgbClr val="000000"/>
                    </a:solidFill>
                  </a:rPr>
                  <a:t>R 하나만 배포한다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i번째 메시지: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로 서명하고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와 인증 경로를 함께 보낸다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74495"/>
                <a:ext cx="10515600" cy="2655505"/>
              </a:xfrm>
              <a:blipFill>
                <a:blip r:embed="rId2"/>
                <a:stretch>
                  <a:fillRect l="-116"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825859-01B7-FB89-ECED-79BFB5D15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26" y="1016725"/>
            <a:ext cx="5089947" cy="2657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인증 경로와 검증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4973"/>
                <a:ext cx="10515600" cy="3040152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인증 경로: 리프에서 루트까지 경로 위 각 노드의 형제 값 (높이 d면 해시 d개)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세 번째 메시지: 경로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9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전송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8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13</m:t>
                        </m:r>
                      </m:sub>
                    </m:sSub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9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12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8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‖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9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),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12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13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는 진짜다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안전성: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바꾸면 F의 충돌 저항성 때문에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9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까지 전부 바뀌어 검증에 실패한다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4973"/>
                <a:ext cx="10515600" cy="3040152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69E338-1C6A-80A3-79E1-0548AC667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812" y="1016725"/>
            <a:ext cx="4988537" cy="26577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Merkle 트리의 크기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13716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=256,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=8,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ℓ=34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Winternitz OTS를 높이 20 트리로 인증하면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20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≈100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만 개의 키쌍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장기 공개키는 32 B로 유지되고 서명 크기만 1,088 B에서 2,816 B로 완만히 커진다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1371600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845482"/>
              </p:ext>
            </p:extLst>
          </p:nvPr>
        </p:nvGraphicFramePr>
        <p:xfrm>
          <a:off x="838200" y="246888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8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장기 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32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해시값 R 하나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32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시드 + 카운터로 100만 키쌍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2,816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1,088 + 1,088 (공개키) + 640 (경로)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하이퍼트리의 구조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3429000"/>
                <a:ext cx="10515599" cy="2567411"/>
              </a:xfrm>
            </p:spPr>
            <p:txBody>
              <a:bodyPr>
                <a:normAutofit lnSpcReduction="10000"/>
              </a:bodyPr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한계 4: 높이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트리의 루트를 얻으려면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𝐷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개의 키쌍을 전부 만들어야 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하이퍼트리: 큰 트리를 여러 층의 작은 Merkle 트리로 나눈다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층 1 리프의 OTS 키는 층 2 트리의 루트에 서명한다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층 2 리프의 OTS 키는 실제 메시지에 서명한다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층 1·2 트리의 높이가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이면 서명 가능 횟수는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3429000"/>
                <a:ext cx="10515599" cy="2567411"/>
              </a:xfrm>
              <a:blipFill>
                <a:blip r:embed="rId2"/>
                <a:stretch>
                  <a:fillRect l="-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DBC1366-F231-B413-3F69-AAB756BE4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15" y="1095015"/>
            <a:ext cx="5601565" cy="23339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하이퍼트리의 동작과 HSS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28685"/>
            <a:ext cx="10515600" cy="3092790"/>
          </a:xfrm>
        </p:spPr>
        <p:txBody>
          <a:bodyPr>
            <a:normAutofit lnSpcReduction="10000"/>
          </a:bodyPr>
          <a:lstStyle/>
          <a:p>
            <a:r>
              <a:rPr sz="1800" dirty="0">
                <a:solidFill>
                  <a:srgbClr val="000000"/>
                </a:solidFill>
              </a:rPr>
              <a:t>키 생성: 층 1 트리만 만들면 장기 공개키(층 1 루트)가 정해진다</a:t>
            </a:r>
          </a:p>
          <a:p>
            <a:r>
              <a:rPr sz="1800" dirty="0">
                <a:solidFill>
                  <a:srgbClr val="000000"/>
                </a:solidFill>
              </a:rPr>
              <a:t>층 2 트리는 서명이 필요할 때 그때그때 만든다</a:t>
            </a:r>
          </a:p>
          <a:p>
            <a:r>
              <a:rPr sz="1800" dirty="0">
                <a:solidFill>
                  <a:srgbClr val="000000"/>
                </a:solidFill>
              </a:rPr>
              <a:t>서명 구성: 층 2 OTS 서명·공개키·인증 경로 + 층 1 OTS 서명(층 2 루트에 대한)·인증 경로</a:t>
            </a:r>
          </a:p>
          <a:p>
            <a:r>
              <a:rPr sz="1800" dirty="0">
                <a:solidFill>
                  <a:srgbClr val="000000"/>
                </a:solidFill>
              </a:rPr>
              <a:t>단점: OTS 서명이 2개 들어가 서명이 길어지고 검증이 느려진다</a:t>
            </a:r>
          </a:p>
          <a:p>
            <a:r>
              <a:rPr sz="1800" dirty="0">
                <a:solidFill>
                  <a:srgbClr val="000000"/>
                </a:solidFill>
              </a:rPr>
              <a:t>장점: 모듈별로 층 2 트리를 독립 관리하는 분산 서명이 가능하다</a:t>
            </a:r>
          </a:p>
          <a:p>
            <a:r>
              <a:rPr sz="1800" dirty="0">
                <a:solidFill>
                  <a:srgbClr val="000000"/>
                </a:solidFill>
              </a:rPr>
              <a:t>HSS: LMS의 하이퍼트리 변형으로, 표준(SP 800-208)은 최대 8층까지 허용한다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A8DDE1-16CB-51E6-4A15-DF9002B5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1012789"/>
            <a:ext cx="6035563" cy="26443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Leighton-Micali 서명 스킴 (LMS)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Part 2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LM-OTS = Winternitz + 네 가지 변경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1463040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파라미터(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ℓ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)는 Winternitz와 같고 H는 SHA-256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검증자가 서명에서 끝값들을 재구성할 수 있으므로 공개키를 압축할 수 있다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1463040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96722"/>
              </p:ext>
            </p:extLst>
          </p:nvPr>
        </p:nvGraphicFramePr>
        <p:xfrm>
          <a:off x="838200" y="2468880"/>
          <a:ext cx="1051559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Winternitz 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LM-OTS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끝값 목록 Y 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끝값들의 해시 K 하나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해시 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체인용 G + 메시지용 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단일 n비트 H (LMS·HSS와 공유)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해시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값만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고유 접두사를 앞에 붙임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메시지 해싱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H(M)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H(C, M), C는 무작위 문자열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고유 접두사와 메시지 무작위화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모든 해시 호출 앞에 고유 접두사를 붙여 호출들을 서로 독립으로 만든다. 그 결과 형식적 안전성 증명이 가능하다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𝐼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: 트리 식별자 (32 B 무작위)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: 리프 번호 (4 B)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: 블록 인덱스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: 체인 위치</a:t>
                </a:r>
              </a:p>
              <a:p>
                <a:pPr lvl="1"/>
                <a:r>
                  <a:rPr sz="1800" dirty="0">
                    <a:solidFill>
                      <a:srgbClr val="000000"/>
                    </a:solidFill>
                  </a:rPr>
                  <a:t>2 B 상수: 공개키 계산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𝑥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8080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메시지 해싱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𝑥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8181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메시지 무작위화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: 서명자가 매번 새로 뽑아 M 앞에 붙이고, 검증에 필요하므로 서명에 포함한다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공격자는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미리 알 수 없어 H의 충돌 저항성 요구가 사라진다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LM-OTS 알고리즘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351631"/>
                <a:ext cx="5257800" cy="4519780"/>
              </a:xfrm>
            </p:spPr>
            <p:txBody>
              <a:bodyPr>
                <a:normAutofit/>
              </a:bodyPr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키 생성: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𝑤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번 적용해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얻는다</a:t>
                </a: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𝐾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𝐻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ℓ−1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서명: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뽑아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𝑀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과 체크섬으로 블록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생성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서명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ℓ−1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걸음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검증: 남은 걸음으로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재구성 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계산</a:t>
                </a: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𝐾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limUpp>
                        <m:limUp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</m:e>
                        <m:li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?</m:t>
                          </m:r>
                        </m:lim>
                      </m:limUp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𝐾</m:t>
                      </m:r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351631"/>
                <a:ext cx="5257800" cy="4519780"/>
              </a:xfrm>
              <a:blipFill>
                <a:blip r:embed="rId2"/>
                <a:stretch>
                  <a:fillRect l="-232" r="-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 dirty="0"/>
          </a:p>
        </p:txBody>
      </p:sp>
      <p:pic>
        <p:nvPicPr>
          <p:cNvPr id="1026" name="Picture 2" descr="스크린샷">
            <a:extLst>
              <a:ext uri="{FF2B5EF4-FFF2-40B4-BE49-F238E27FC236}">
                <a16:creationId xmlns:a16="http://schemas.microsoft.com/office/drawing/2014/main" id="{B0B78EE5-EB14-FE76-9115-9741CAE5E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23" y="1023941"/>
            <a:ext cx="4443418" cy="248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34223F-A70E-C25F-96EC-33B05E9F0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920" y="3556702"/>
            <a:ext cx="4075121" cy="31384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LMS: 노드 번호와 T</a:t>
            </a:r>
            <a:r>
              <a:rPr baseline="-25000" dirty="0"/>
              <a:t>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79095"/>
                <a:ext cx="10515600" cy="2563568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높이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트리의 리프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개에 LM-OTS 공개키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배정. 루트 = 1번, 노드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자식은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:br>
                  <a:rPr lang="en-US" sz="1800" dirty="0">
                    <a:solidFill>
                      <a:srgbClr val="000000"/>
                    </a:solidFill>
                  </a:rPr>
                </a:br>
                <a:r>
                  <a:rPr sz="1800" dirty="0">
                    <a:solidFill>
                      <a:srgbClr val="000000"/>
                    </a:solidFill>
                  </a:rPr>
                  <a:t>(리프: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+1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번)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리프 노드의 값:</a:t>
                </a:r>
                <a:r>
                  <a:rPr 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𝑥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8282,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내부 노드의 값:</a:t>
                </a:r>
                <a:r>
                  <a:rPr 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𝑥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8383,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루트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 장기 공개키, 개인키는 시드에서 생성:</a:t>
                </a:r>
                <a:r>
                  <a:rPr 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𝑞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𝑥𝐹𝐹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𝖲𝖤𝖤𝖣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79095"/>
                <a:ext cx="10515600" cy="2563568"/>
              </a:xfrm>
              <a:blipFill>
                <a:blip r:embed="rId2"/>
                <a:stretch>
                  <a:fillRect l="-116" b="-19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 dirty="0"/>
          </a:p>
        </p:txBody>
      </p:sp>
      <p:pic>
        <p:nvPicPr>
          <p:cNvPr id="2050" name="Picture 2" descr="스크린샷">
            <a:extLst>
              <a:ext uri="{FF2B5EF4-FFF2-40B4-BE49-F238E27FC236}">
                <a16:creationId xmlns:a16="http://schemas.microsoft.com/office/drawing/2014/main" id="{F0959595-B048-9D8C-1024-8BAC11CCE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40" y="1039182"/>
            <a:ext cx="5598319" cy="289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LMS 서명 크기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011680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LMS 서명 = LM-OTS 서명(C 포함) + 인증 경로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—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 </a:t>
                </a:r>
                <a:r>
                  <a:rPr dirty="0">
                    <a:solidFill>
                      <a:srgbClr val="000000"/>
                    </a:solidFill>
                  </a:rPr>
                  <a:t>OTS 공개키 K는 검증자가 재구성하므로 보내지 않는다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n=256, w=8,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𝑑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=20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: OTS 공개키가 1,088 B에서 32 B(K)로 줄고, 서명 전체는 약 38% 감소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SP 800-208이 허용하는 트리 높이: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𝑑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∈{5,10,15,20,25}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2011680"/>
              </a:xfrm>
              <a:blipFill>
                <a:blip r:embed="rId2"/>
                <a:stretch>
                  <a:fillRect l="-116" b="-1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569900"/>
              </p:ext>
            </p:extLst>
          </p:nvPr>
        </p:nvGraphicFramePr>
        <p:xfrm>
          <a:off x="838200" y="3383280"/>
          <a:ext cx="1051559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Winternitz + Merkle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OTS 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1,088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1,120 B (C 32 B 포함)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OTS 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1,088 B (전송)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0 (재구성)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인증 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640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640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2,816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1,760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안전성: ROM과 QROM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모든 해시 호출에 고유 접두사를 둔 덕분에 LMS의 형식적 안전성 분석이 가능해졌다</a:t>
            </a:r>
          </a:p>
          <a:p>
            <a:r>
              <a:rPr sz="1800" dirty="0">
                <a:solidFill>
                  <a:srgbClr val="000000"/>
                </a:solidFill>
              </a:rPr>
              <a:t>랜덤 오라클 모델(ROM): H를 공개된 무작위 선택 함수로 취급한다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Katz (2016): LMS는 ROM에서 안전하다</a:t>
            </a:r>
          </a:p>
          <a:p>
            <a:r>
              <a:rPr sz="1800" dirty="0">
                <a:solidFill>
                  <a:srgbClr val="000000"/>
                </a:solidFill>
              </a:rPr>
              <a:t>양자 랜덤 오라클 모델(QROM): 공격자가 오라클에 중첩 상태로 질의할 수 있다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Eaton (2018): LMS는 QROM에서도 안전하다</a:t>
            </a:r>
          </a:p>
          <a:p>
            <a:r>
              <a:rPr sz="1800" dirty="0">
                <a:solidFill>
                  <a:srgbClr val="000000"/>
                </a:solidFill>
              </a:rPr>
              <a:t>양자 컴퓨터를 가진 공격자를 가정해도 스킴의 논리 구조에 결함이 없다는 근거다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XMSS와 LMS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91440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XMSS: LMS와 매우 비슷한, 또 다른 표준 상태 유지형 해시 기반 서명 스킴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06223"/>
              </p:ext>
            </p:extLst>
          </p:nvPr>
        </p:nvGraphicFramePr>
        <p:xfrm>
          <a:off x="838200" y="1920240"/>
          <a:ext cx="1051559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3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XMSS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표준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RFC 8554, SP 800-208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RFC 8391, SP 800-208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기본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Winternitz OTS + Merkle 트리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동일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해시 입력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고유 접두사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비트마스크 XOR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안전성 증명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랜덤 오라클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표준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하이퍼트리 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HSS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XMSS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MT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상태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LMS·XMSS는 상태 유지형: OTS 개인키를 재사용하면 안 되므로 서명마다 증가하는 카운터(상태)를 둔다</a:t>
            </a:r>
          </a:p>
          <a:p>
            <a:r>
              <a:rPr sz="1800" dirty="0">
                <a:solidFill>
                  <a:srgbClr val="000000"/>
                </a:solidFill>
              </a:rPr>
              <a:t>상태를 안전하게 유지하기는 어렵다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dirty="0">
                <a:solidFill>
                  <a:srgbClr val="000000"/>
                </a:solidFill>
              </a:rPr>
              <a:t>크래시 후 이전 상태로 복원되면 OTS 개인키가 재사용되어 안전성이 무너진다</a:t>
            </a:r>
          </a:p>
          <a:p>
            <a:r>
              <a:rPr sz="1800" dirty="0">
                <a:solidFill>
                  <a:srgbClr val="000000"/>
                </a:solidFill>
              </a:rPr>
              <a:t>적합한 경우: 서명 빈도가 낮고 상태를 신뢰할 수 있게 관리할 수 있을 때</a:t>
            </a:r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ko-KR" altLang="en-US" dirty="0">
                <a:solidFill>
                  <a:srgbClr val="000000"/>
                </a:solidFill>
              </a:rPr>
              <a:t>예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소프트웨어 업데이트 인증</a:t>
            </a:r>
            <a:endParaRPr dirty="0">
              <a:solidFill>
                <a:srgbClr val="000000"/>
              </a:solidFill>
            </a:endParaRPr>
          </a:p>
          <a:p>
            <a:r>
              <a:rPr sz="1800" dirty="0">
                <a:solidFill>
                  <a:srgbClr val="000000"/>
                </a:solidFill>
              </a:rPr>
              <a:t>상태 관리가 어려운 환경에는 상태 없는 스킴(SPHINCS+)이 대안이다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한계 해결: 시드+PRF(큰 개인키), Winternitz 체인·체크섬(큰 공개키·서명), Merkle 트리(일회성), 하이퍼트리(느린 생성)</a:t>
            </a:r>
          </a:p>
          <a:p>
            <a:r>
              <a:rPr sz="1800" dirty="0">
                <a:solidFill>
                  <a:srgbClr val="000000"/>
                </a:solidFill>
              </a:rPr>
              <a:t>LM-OTS = Winternitz + 공개키 압축·단일 H·고유 접두사·메시지 무작위화</a:t>
            </a:r>
          </a:p>
          <a:p>
            <a:r>
              <a:rPr sz="1800" dirty="0">
                <a:solidFill>
                  <a:srgbClr val="000000"/>
                </a:solidFill>
              </a:rPr>
              <a:t>LMS = LM-OTS + Merkle 트리, HSS는 그 하이퍼트리 변형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dirty="0">
                <a:solidFill>
                  <a:srgbClr val="000000"/>
                </a:solidFill>
              </a:rPr>
              <a:t>서명 2,816 B에서 1,760 B로</a:t>
            </a:r>
          </a:p>
          <a:p>
            <a:r>
              <a:rPr sz="1800" dirty="0">
                <a:solidFill>
                  <a:srgbClr val="000000"/>
                </a:solidFill>
              </a:rPr>
              <a:t>ROM(Katz)·QROM(Eaton)에서 안전, XMSS는 비트마스크로 표준 모델 증명</a:t>
            </a:r>
          </a:p>
          <a:p>
            <a:r>
              <a:rPr sz="1800" dirty="0">
                <a:solidFill>
                  <a:srgbClr val="000000"/>
                </a:solidFill>
              </a:rPr>
              <a:t>상태 유지형 스킴은 상태를 안전하게 관리할 수 있는 환경이 전제다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PQC Navy">
      <a:dk1>
        <a:srgbClr val="00000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맑은 고딕" panose="020B05030200000200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B05030200000200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1908</Words>
  <Application>Microsoft Office PowerPoint</Application>
  <PresentationFormat>와이드스크린</PresentationFormat>
  <Paragraphs>263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Cambria Math</vt:lpstr>
      <vt:lpstr>Office 테마</vt:lpstr>
      <vt:lpstr>Post-Quantum Cryptography</vt:lpstr>
      <vt:lpstr>Plan</vt:lpstr>
      <vt:lpstr>Lamport의 한계와 해법</vt:lpstr>
      <vt:lpstr>Lamport의 네 가지 한계</vt:lpstr>
      <vt:lpstr>한계별 해법 한눈에 보기</vt:lpstr>
      <vt:lpstr>해시 체인</vt:lpstr>
      <vt:lpstr>Winternitz OTS: 키 생성·서명·검증</vt:lpstr>
      <vt:lpstr>체크섬이 없으면 위조된다</vt:lpstr>
      <vt:lpstr>체크섬의 정의와 예제</vt:lpstr>
      <vt:lpstr>체크섬이 위조를 막는 이유</vt:lpstr>
      <vt:lpstr>파라미터와 크기 비교</vt:lpstr>
      <vt:lpstr>Merkle 트리의 구성</vt:lpstr>
      <vt:lpstr>인증 경로와 검증</vt:lpstr>
      <vt:lpstr>Merkle 트리의 크기</vt:lpstr>
      <vt:lpstr>하이퍼트리의 구조</vt:lpstr>
      <vt:lpstr>하이퍼트리의 동작과 HSS</vt:lpstr>
      <vt:lpstr>Leighton-Micali 서명 스킴 (LMS)</vt:lpstr>
      <vt:lpstr>LM-OTS = Winternitz + 네 가지 변경</vt:lpstr>
      <vt:lpstr>고유 접두사와 메시지 무작위화</vt:lpstr>
      <vt:lpstr>LM-OTS 알고리즘</vt:lpstr>
      <vt:lpstr>LMS: 노드 번호와 Ti</vt:lpstr>
      <vt:lpstr>LMS 서명 크기</vt:lpstr>
      <vt:lpstr>안전성: ROM과 QROM</vt:lpstr>
      <vt:lpstr>XMSS와 LMS 비교</vt:lpstr>
      <vt:lpstr>상태 관리</vt:lpstr>
      <vt:lpstr>마무리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733</cp:revision>
  <dcterms:created xsi:type="dcterms:W3CDTF">2026-03-17T05:07:50Z</dcterms:created>
  <dcterms:modified xsi:type="dcterms:W3CDTF">2026-09-30T13:25:40Z</dcterms:modified>
</cp:coreProperties>
</file>