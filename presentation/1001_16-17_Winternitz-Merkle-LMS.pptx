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2026-10-01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200" name="격자 패턴"/>
          <p:cNvGrpSpPr/>
          <p:nvPr userDrawn="1"/>
        </p:nvGrpSpPr>
        <p:grpSpPr>
          <a:xfrm>
            <a:off x="9900000" y="4700000"/>
            <a:ext cx="2108200" cy="2108200"/>
            <a:chOff x="9900000" y="4700000"/>
            <a:chExt cx="2108200" cy="2108200"/>
          </a:xfrm>
        </p:grpSpPr>
        <p:sp>
          <p:nvSpPr>
            <p:cNvPr id="201" name="점 201"/>
            <p:cNvSpPr/>
            <p:nvPr userDrawn="1"/>
          </p:nvSpPr>
          <p:spPr>
            <a:xfrm>
              <a:off x="990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2" name="점 202"/>
            <p:cNvSpPr/>
            <p:nvPr userDrawn="1"/>
          </p:nvSpPr>
          <p:spPr>
            <a:xfrm>
              <a:off x="1015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3" name="점 203"/>
            <p:cNvSpPr/>
            <p:nvPr userDrawn="1"/>
          </p:nvSpPr>
          <p:spPr>
            <a:xfrm>
              <a:off x="1040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4" name="점 204"/>
            <p:cNvSpPr/>
            <p:nvPr userDrawn="1"/>
          </p:nvSpPr>
          <p:spPr>
            <a:xfrm>
              <a:off x="1066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5" name="점 205"/>
            <p:cNvSpPr/>
            <p:nvPr userDrawn="1"/>
          </p:nvSpPr>
          <p:spPr>
            <a:xfrm>
              <a:off x="10916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6" name="점 206"/>
            <p:cNvSpPr/>
            <p:nvPr userDrawn="1"/>
          </p:nvSpPr>
          <p:spPr>
            <a:xfrm>
              <a:off x="1117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7" name="점 207"/>
            <p:cNvSpPr/>
            <p:nvPr userDrawn="1"/>
          </p:nvSpPr>
          <p:spPr>
            <a:xfrm>
              <a:off x="1142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8" name="점 208"/>
            <p:cNvSpPr/>
            <p:nvPr userDrawn="1"/>
          </p:nvSpPr>
          <p:spPr>
            <a:xfrm>
              <a:off x="1167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9" name="점 209"/>
            <p:cNvSpPr/>
            <p:nvPr userDrawn="1"/>
          </p:nvSpPr>
          <p:spPr>
            <a:xfrm>
              <a:off x="1193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0" name="점 210"/>
            <p:cNvSpPr/>
            <p:nvPr userDrawn="1"/>
          </p:nvSpPr>
          <p:spPr>
            <a:xfrm>
              <a:off x="9900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1" name="점 211"/>
            <p:cNvSpPr/>
            <p:nvPr userDrawn="1"/>
          </p:nvSpPr>
          <p:spPr>
            <a:xfrm>
              <a:off x="1015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2" name="점 212"/>
            <p:cNvSpPr/>
            <p:nvPr userDrawn="1"/>
          </p:nvSpPr>
          <p:spPr>
            <a:xfrm>
              <a:off x="1040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3" name="점 213"/>
            <p:cNvSpPr/>
            <p:nvPr userDrawn="1"/>
          </p:nvSpPr>
          <p:spPr>
            <a:xfrm>
              <a:off x="1066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4" name="점 214"/>
            <p:cNvSpPr/>
            <p:nvPr userDrawn="1"/>
          </p:nvSpPr>
          <p:spPr>
            <a:xfrm>
              <a:off x="10916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5" name="점 215"/>
            <p:cNvSpPr/>
            <p:nvPr userDrawn="1"/>
          </p:nvSpPr>
          <p:spPr>
            <a:xfrm>
              <a:off x="11170000" y="4954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6" name="점 216"/>
            <p:cNvSpPr/>
            <p:nvPr userDrawn="1"/>
          </p:nvSpPr>
          <p:spPr>
            <a:xfrm>
              <a:off x="1142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7" name="점 217"/>
            <p:cNvSpPr/>
            <p:nvPr userDrawn="1"/>
          </p:nvSpPr>
          <p:spPr>
            <a:xfrm>
              <a:off x="1167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8" name="점 218"/>
            <p:cNvSpPr/>
            <p:nvPr userDrawn="1"/>
          </p:nvSpPr>
          <p:spPr>
            <a:xfrm>
              <a:off x="1193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9" name="점 219"/>
            <p:cNvSpPr/>
            <p:nvPr userDrawn="1"/>
          </p:nvSpPr>
          <p:spPr>
            <a:xfrm>
              <a:off x="990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0" name="점 220"/>
            <p:cNvSpPr/>
            <p:nvPr userDrawn="1"/>
          </p:nvSpPr>
          <p:spPr>
            <a:xfrm>
              <a:off x="1015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1" name="점 221"/>
            <p:cNvSpPr/>
            <p:nvPr userDrawn="1"/>
          </p:nvSpPr>
          <p:spPr>
            <a:xfrm>
              <a:off x="1040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2" name="점 222"/>
            <p:cNvSpPr/>
            <p:nvPr userDrawn="1"/>
          </p:nvSpPr>
          <p:spPr>
            <a:xfrm>
              <a:off x="1066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3" name="점 223"/>
            <p:cNvSpPr/>
            <p:nvPr userDrawn="1"/>
          </p:nvSpPr>
          <p:spPr>
            <a:xfrm>
              <a:off x="10916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4" name="점 224"/>
            <p:cNvSpPr/>
            <p:nvPr userDrawn="1"/>
          </p:nvSpPr>
          <p:spPr>
            <a:xfrm>
              <a:off x="1117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5" name="점 225"/>
            <p:cNvSpPr/>
            <p:nvPr userDrawn="1"/>
          </p:nvSpPr>
          <p:spPr>
            <a:xfrm>
              <a:off x="1142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6" name="점 226"/>
            <p:cNvSpPr/>
            <p:nvPr userDrawn="1"/>
          </p:nvSpPr>
          <p:spPr>
            <a:xfrm>
              <a:off x="1167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7" name="점 227"/>
            <p:cNvSpPr/>
            <p:nvPr userDrawn="1"/>
          </p:nvSpPr>
          <p:spPr>
            <a:xfrm>
              <a:off x="1193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8" name="점 228"/>
            <p:cNvSpPr/>
            <p:nvPr userDrawn="1"/>
          </p:nvSpPr>
          <p:spPr>
            <a:xfrm>
              <a:off x="990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9" name="점 229"/>
            <p:cNvSpPr/>
            <p:nvPr userDrawn="1"/>
          </p:nvSpPr>
          <p:spPr>
            <a:xfrm>
              <a:off x="1015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0" name="점 230"/>
            <p:cNvSpPr/>
            <p:nvPr userDrawn="1"/>
          </p:nvSpPr>
          <p:spPr>
            <a:xfrm>
              <a:off x="10408000" y="5462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1" name="점 231"/>
            <p:cNvSpPr/>
            <p:nvPr userDrawn="1"/>
          </p:nvSpPr>
          <p:spPr>
            <a:xfrm>
              <a:off x="1066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2" name="점 232"/>
            <p:cNvSpPr/>
            <p:nvPr userDrawn="1"/>
          </p:nvSpPr>
          <p:spPr>
            <a:xfrm>
              <a:off x="10916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3" name="점 233"/>
            <p:cNvSpPr/>
            <p:nvPr userDrawn="1"/>
          </p:nvSpPr>
          <p:spPr>
            <a:xfrm>
              <a:off x="1117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4" name="점 234"/>
            <p:cNvSpPr/>
            <p:nvPr userDrawn="1"/>
          </p:nvSpPr>
          <p:spPr>
            <a:xfrm>
              <a:off x="1142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5" name="점 235"/>
            <p:cNvSpPr/>
            <p:nvPr userDrawn="1"/>
          </p:nvSpPr>
          <p:spPr>
            <a:xfrm>
              <a:off x="11678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6" name="점 236"/>
            <p:cNvSpPr/>
            <p:nvPr userDrawn="1"/>
          </p:nvSpPr>
          <p:spPr>
            <a:xfrm>
              <a:off x="1193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7" name="점 237"/>
            <p:cNvSpPr/>
            <p:nvPr userDrawn="1"/>
          </p:nvSpPr>
          <p:spPr>
            <a:xfrm>
              <a:off x="990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8" name="점 238"/>
            <p:cNvSpPr/>
            <p:nvPr userDrawn="1"/>
          </p:nvSpPr>
          <p:spPr>
            <a:xfrm>
              <a:off x="1015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9" name="점 239"/>
            <p:cNvSpPr/>
            <p:nvPr userDrawn="1"/>
          </p:nvSpPr>
          <p:spPr>
            <a:xfrm>
              <a:off x="1040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0" name="점 240"/>
            <p:cNvSpPr/>
            <p:nvPr userDrawn="1"/>
          </p:nvSpPr>
          <p:spPr>
            <a:xfrm>
              <a:off x="1066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1" name="점 241"/>
            <p:cNvSpPr/>
            <p:nvPr userDrawn="1"/>
          </p:nvSpPr>
          <p:spPr>
            <a:xfrm>
              <a:off x="10916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2" name="점 242"/>
            <p:cNvSpPr/>
            <p:nvPr userDrawn="1"/>
          </p:nvSpPr>
          <p:spPr>
            <a:xfrm>
              <a:off x="1117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3" name="점 243"/>
            <p:cNvSpPr/>
            <p:nvPr userDrawn="1"/>
          </p:nvSpPr>
          <p:spPr>
            <a:xfrm>
              <a:off x="1142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4" name="점 244"/>
            <p:cNvSpPr/>
            <p:nvPr userDrawn="1"/>
          </p:nvSpPr>
          <p:spPr>
            <a:xfrm>
              <a:off x="1167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5" name="점 245"/>
            <p:cNvSpPr/>
            <p:nvPr userDrawn="1"/>
          </p:nvSpPr>
          <p:spPr>
            <a:xfrm>
              <a:off x="1193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6" name="점 246"/>
            <p:cNvSpPr/>
            <p:nvPr userDrawn="1"/>
          </p:nvSpPr>
          <p:spPr>
            <a:xfrm>
              <a:off x="990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7" name="점 247"/>
            <p:cNvSpPr/>
            <p:nvPr userDrawn="1"/>
          </p:nvSpPr>
          <p:spPr>
            <a:xfrm>
              <a:off x="1015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8" name="점 248"/>
            <p:cNvSpPr/>
            <p:nvPr userDrawn="1"/>
          </p:nvSpPr>
          <p:spPr>
            <a:xfrm>
              <a:off x="10408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9" name="점 249"/>
            <p:cNvSpPr/>
            <p:nvPr userDrawn="1"/>
          </p:nvSpPr>
          <p:spPr>
            <a:xfrm>
              <a:off x="1066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0" name="점 250"/>
            <p:cNvSpPr/>
            <p:nvPr userDrawn="1"/>
          </p:nvSpPr>
          <p:spPr>
            <a:xfrm>
              <a:off x="10916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1" name="점 251"/>
            <p:cNvSpPr/>
            <p:nvPr userDrawn="1"/>
          </p:nvSpPr>
          <p:spPr>
            <a:xfrm>
              <a:off x="1117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2" name="점 252"/>
            <p:cNvSpPr/>
            <p:nvPr userDrawn="1"/>
          </p:nvSpPr>
          <p:spPr>
            <a:xfrm>
              <a:off x="1142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3" name="점 253"/>
            <p:cNvSpPr/>
            <p:nvPr userDrawn="1"/>
          </p:nvSpPr>
          <p:spPr>
            <a:xfrm>
              <a:off x="11678000" y="597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4" name="점 254"/>
            <p:cNvSpPr/>
            <p:nvPr userDrawn="1"/>
          </p:nvSpPr>
          <p:spPr>
            <a:xfrm>
              <a:off x="1193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5" name="점 255"/>
            <p:cNvSpPr/>
            <p:nvPr userDrawn="1"/>
          </p:nvSpPr>
          <p:spPr>
            <a:xfrm>
              <a:off x="990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6" name="점 256"/>
            <p:cNvSpPr/>
            <p:nvPr userDrawn="1"/>
          </p:nvSpPr>
          <p:spPr>
            <a:xfrm>
              <a:off x="1015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7" name="점 257"/>
            <p:cNvSpPr/>
            <p:nvPr userDrawn="1"/>
          </p:nvSpPr>
          <p:spPr>
            <a:xfrm>
              <a:off x="1040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8" name="점 258"/>
            <p:cNvSpPr/>
            <p:nvPr userDrawn="1"/>
          </p:nvSpPr>
          <p:spPr>
            <a:xfrm>
              <a:off x="1066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9" name="점 259"/>
            <p:cNvSpPr/>
            <p:nvPr userDrawn="1"/>
          </p:nvSpPr>
          <p:spPr>
            <a:xfrm>
              <a:off x="10916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0" name="점 260"/>
            <p:cNvSpPr/>
            <p:nvPr userDrawn="1"/>
          </p:nvSpPr>
          <p:spPr>
            <a:xfrm>
              <a:off x="1117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1" name="점 261"/>
            <p:cNvSpPr/>
            <p:nvPr userDrawn="1"/>
          </p:nvSpPr>
          <p:spPr>
            <a:xfrm>
              <a:off x="1142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2" name="점 262"/>
            <p:cNvSpPr/>
            <p:nvPr userDrawn="1"/>
          </p:nvSpPr>
          <p:spPr>
            <a:xfrm>
              <a:off x="1167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3" name="점 263"/>
            <p:cNvSpPr/>
            <p:nvPr userDrawn="1"/>
          </p:nvSpPr>
          <p:spPr>
            <a:xfrm>
              <a:off x="1193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4" name="점 264"/>
            <p:cNvSpPr/>
            <p:nvPr userDrawn="1"/>
          </p:nvSpPr>
          <p:spPr>
            <a:xfrm>
              <a:off x="990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5" name="점 265"/>
            <p:cNvSpPr/>
            <p:nvPr userDrawn="1"/>
          </p:nvSpPr>
          <p:spPr>
            <a:xfrm>
              <a:off x="1015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6" name="점 266"/>
            <p:cNvSpPr/>
            <p:nvPr userDrawn="1"/>
          </p:nvSpPr>
          <p:spPr>
            <a:xfrm>
              <a:off x="1040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7" name="점 267"/>
            <p:cNvSpPr/>
            <p:nvPr userDrawn="1"/>
          </p:nvSpPr>
          <p:spPr>
            <a:xfrm>
              <a:off x="1066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8" name="점 268"/>
            <p:cNvSpPr/>
            <p:nvPr userDrawn="1"/>
          </p:nvSpPr>
          <p:spPr>
            <a:xfrm>
              <a:off x="10916000" y="647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9" name="점 269"/>
            <p:cNvSpPr/>
            <p:nvPr userDrawn="1"/>
          </p:nvSpPr>
          <p:spPr>
            <a:xfrm>
              <a:off x="1117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0" name="점 270"/>
            <p:cNvSpPr/>
            <p:nvPr userDrawn="1"/>
          </p:nvSpPr>
          <p:spPr>
            <a:xfrm>
              <a:off x="1142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1" name="점 271"/>
            <p:cNvSpPr/>
            <p:nvPr userDrawn="1"/>
          </p:nvSpPr>
          <p:spPr>
            <a:xfrm>
              <a:off x="1167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2" name="점 272"/>
            <p:cNvSpPr/>
            <p:nvPr userDrawn="1"/>
          </p:nvSpPr>
          <p:spPr>
            <a:xfrm>
              <a:off x="1193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3" name="점 273"/>
            <p:cNvSpPr/>
            <p:nvPr userDrawn="1"/>
          </p:nvSpPr>
          <p:spPr>
            <a:xfrm>
              <a:off x="990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4" name="점 274"/>
            <p:cNvSpPr/>
            <p:nvPr userDrawn="1"/>
          </p:nvSpPr>
          <p:spPr>
            <a:xfrm>
              <a:off x="1015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5" name="점 275"/>
            <p:cNvSpPr/>
            <p:nvPr userDrawn="1"/>
          </p:nvSpPr>
          <p:spPr>
            <a:xfrm>
              <a:off x="1040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6" name="점 276"/>
            <p:cNvSpPr/>
            <p:nvPr userDrawn="1"/>
          </p:nvSpPr>
          <p:spPr>
            <a:xfrm>
              <a:off x="1066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7" name="점 277"/>
            <p:cNvSpPr/>
            <p:nvPr userDrawn="1"/>
          </p:nvSpPr>
          <p:spPr>
            <a:xfrm>
              <a:off x="10916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8" name="점 278"/>
            <p:cNvSpPr/>
            <p:nvPr userDrawn="1"/>
          </p:nvSpPr>
          <p:spPr>
            <a:xfrm>
              <a:off x="1117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9" name="점 279"/>
            <p:cNvSpPr/>
            <p:nvPr userDrawn="1"/>
          </p:nvSpPr>
          <p:spPr>
            <a:xfrm>
              <a:off x="1142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0" name="점 280"/>
            <p:cNvSpPr/>
            <p:nvPr userDrawn="1"/>
          </p:nvSpPr>
          <p:spPr>
            <a:xfrm>
              <a:off x="1167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1" name="점 281"/>
            <p:cNvSpPr/>
            <p:nvPr userDrawn="1"/>
          </p:nvSpPr>
          <p:spPr>
            <a:xfrm>
              <a:off x="1193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히어로 강조 룰"/>
          <p:cNvSpPr/>
          <p:nvPr userDrawn="1"/>
        </p:nvSpPr>
        <p:spPr>
          <a:xfrm>
            <a:off x="1615440" y="290004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38400"/>
            <a:ext cx="9525000" cy="1371600"/>
          </a:xfrm>
        </p:spPr>
        <p:txBody>
          <a:bodyPr anchor="b">
            <a:normAutofit/>
          </a:bodyPr>
          <a:lstStyle>
            <a:lvl1pPr algn="l">
              <a:lnSpc>
                <a:spcPct val="95000"/>
              </a:lnSpc>
              <a:defRPr sz="40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62400"/>
            <a:ext cx="9525000" cy="1143000"/>
          </a:xfrm>
        </p:spPr>
        <p:txBody>
          <a:bodyPr anchor="ctr">
            <a:normAutofit/>
          </a:bodyPr>
          <a:lstStyle>
            <a:lvl1pPr marL="0" indent="0" algn="l">
              <a:lnSpc>
                <a:spcPct val="115000"/>
              </a:lnSpc>
              <a:buNone/>
              <a:defRPr sz="2000">
                <a:solidFill>
                  <a:srgbClr val="8FB8C9"/>
                </a:solidFill>
              </a:defRPr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ADF637E-82D6-4563-BCF0-C9101F2B5148}" type="datetime1">
              <a:rPr lang="ko-KR" altLang="en-US" smtClean="0"/>
              <a:pPr/>
              <a:t>2026-10-01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 anchor="b">
            <a:normAutofit/>
          </a:bodyPr>
          <a:lstStyle>
            <a:lvl1pPr algn="l">
              <a:defRPr sz="2800" b="0" spc="-3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180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800"/>
            </a:lvl3pPr>
            <a:lvl4pPr>
              <a:lnSpc>
                <a:spcPct val="150000"/>
              </a:lnSpc>
              <a:defRPr sz="1800"/>
            </a:lvl4pPr>
            <a:lvl5pPr>
              <a:lnSpc>
                <a:spcPct val="150000"/>
              </a:lnSpc>
              <a:defRPr sz="18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58CD677-7AD2-4A27-94BD-C65458D22428}" type="datetime1">
              <a:rPr lang="ko-KR" altLang="en-US" smtClean="0"/>
              <a:pPr/>
              <a:t>2026-10-01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300" name="격자 패턴"/>
          <p:cNvGrpSpPr/>
          <p:nvPr userDrawn="1"/>
        </p:nvGrpSpPr>
        <p:grpSpPr>
          <a:xfrm>
            <a:off x="10033800" y="4300000"/>
            <a:ext cx="2108200" cy="1854200"/>
            <a:chOff x="10033800" y="4300000"/>
            <a:chExt cx="2108200" cy="1854200"/>
          </a:xfrm>
        </p:grpSpPr>
        <p:sp>
          <p:nvSpPr>
            <p:cNvPr id="301" name="점 301"/>
            <p:cNvSpPr/>
            <p:nvPr userDrawn="1"/>
          </p:nvSpPr>
          <p:spPr>
            <a:xfrm>
              <a:off x="1003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2" name="점 302"/>
            <p:cNvSpPr/>
            <p:nvPr userDrawn="1"/>
          </p:nvSpPr>
          <p:spPr>
            <a:xfrm>
              <a:off x="1028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3" name="점 303"/>
            <p:cNvSpPr/>
            <p:nvPr userDrawn="1"/>
          </p:nvSpPr>
          <p:spPr>
            <a:xfrm>
              <a:off x="1054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4" name="점 304"/>
            <p:cNvSpPr/>
            <p:nvPr userDrawn="1"/>
          </p:nvSpPr>
          <p:spPr>
            <a:xfrm>
              <a:off x="1079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5" name="점 305"/>
            <p:cNvSpPr/>
            <p:nvPr userDrawn="1"/>
          </p:nvSpPr>
          <p:spPr>
            <a:xfrm>
              <a:off x="11049800" y="430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6" name="점 306"/>
            <p:cNvSpPr/>
            <p:nvPr userDrawn="1"/>
          </p:nvSpPr>
          <p:spPr>
            <a:xfrm>
              <a:off x="1130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7" name="점 307"/>
            <p:cNvSpPr/>
            <p:nvPr userDrawn="1"/>
          </p:nvSpPr>
          <p:spPr>
            <a:xfrm>
              <a:off x="1155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8" name="점 308"/>
            <p:cNvSpPr/>
            <p:nvPr userDrawn="1"/>
          </p:nvSpPr>
          <p:spPr>
            <a:xfrm>
              <a:off x="1181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9" name="점 309"/>
            <p:cNvSpPr/>
            <p:nvPr userDrawn="1"/>
          </p:nvSpPr>
          <p:spPr>
            <a:xfrm>
              <a:off x="1206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0" name="점 310"/>
            <p:cNvSpPr/>
            <p:nvPr userDrawn="1"/>
          </p:nvSpPr>
          <p:spPr>
            <a:xfrm>
              <a:off x="1003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1" name="점 311"/>
            <p:cNvSpPr/>
            <p:nvPr userDrawn="1"/>
          </p:nvSpPr>
          <p:spPr>
            <a:xfrm>
              <a:off x="1028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2" name="점 312"/>
            <p:cNvSpPr/>
            <p:nvPr userDrawn="1"/>
          </p:nvSpPr>
          <p:spPr>
            <a:xfrm>
              <a:off x="1054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3" name="점 313"/>
            <p:cNvSpPr/>
            <p:nvPr userDrawn="1"/>
          </p:nvSpPr>
          <p:spPr>
            <a:xfrm>
              <a:off x="1079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4" name="점 314"/>
            <p:cNvSpPr/>
            <p:nvPr userDrawn="1"/>
          </p:nvSpPr>
          <p:spPr>
            <a:xfrm>
              <a:off x="11049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5" name="점 315"/>
            <p:cNvSpPr/>
            <p:nvPr userDrawn="1"/>
          </p:nvSpPr>
          <p:spPr>
            <a:xfrm>
              <a:off x="1130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6" name="점 316"/>
            <p:cNvSpPr/>
            <p:nvPr userDrawn="1"/>
          </p:nvSpPr>
          <p:spPr>
            <a:xfrm>
              <a:off x="1155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7" name="점 317"/>
            <p:cNvSpPr/>
            <p:nvPr userDrawn="1"/>
          </p:nvSpPr>
          <p:spPr>
            <a:xfrm>
              <a:off x="1181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8" name="점 318"/>
            <p:cNvSpPr/>
            <p:nvPr userDrawn="1"/>
          </p:nvSpPr>
          <p:spPr>
            <a:xfrm>
              <a:off x="1206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9" name="점 319"/>
            <p:cNvSpPr/>
            <p:nvPr userDrawn="1"/>
          </p:nvSpPr>
          <p:spPr>
            <a:xfrm>
              <a:off x="1003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0" name="점 320"/>
            <p:cNvSpPr/>
            <p:nvPr userDrawn="1"/>
          </p:nvSpPr>
          <p:spPr>
            <a:xfrm>
              <a:off x="10287800" y="480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1" name="점 321"/>
            <p:cNvSpPr/>
            <p:nvPr userDrawn="1"/>
          </p:nvSpPr>
          <p:spPr>
            <a:xfrm>
              <a:off x="1054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2" name="점 322"/>
            <p:cNvSpPr/>
            <p:nvPr userDrawn="1"/>
          </p:nvSpPr>
          <p:spPr>
            <a:xfrm>
              <a:off x="1079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3" name="점 323"/>
            <p:cNvSpPr/>
            <p:nvPr userDrawn="1"/>
          </p:nvSpPr>
          <p:spPr>
            <a:xfrm>
              <a:off x="11049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4" name="점 324"/>
            <p:cNvSpPr/>
            <p:nvPr userDrawn="1"/>
          </p:nvSpPr>
          <p:spPr>
            <a:xfrm>
              <a:off x="1130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5" name="점 325"/>
            <p:cNvSpPr/>
            <p:nvPr userDrawn="1"/>
          </p:nvSpPr>
          <p:spPr>
            <a:xfrm>
              <a:off x="11557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6" name="점 326"/>
            <p:cNvSpPr/>
            <p:nvPr userDrawn="1"/>
          </p:nvSpPr>
          <p:spPr>
            <a:xfrm>
              <a:off x="1181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7" name="점 327"/>
            <p:cNvSpPr/>
            <p:nvPr userDrawn="1"/>
          </p:nvSpPr>
          <p:spPr>
            <a:xfrm>
              <a:off x="1206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8" name="점 328"/>
            <p:cNvSpPr/>
            <p:nvPr userDrawn="1"/>
          </p:nvSpPr>
          <p:spPr>
            <a:xfrm>
              <a:off x="1003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9" name="점 329"/>
            <p:cNvSpPr/>
            <p:nvPr userDrawn="1"/>
          </p:nvSpPr>
          <p:spPr>
            <a:xfrm>
              <a:off x="1028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0" name="점 330"/>
            <p:cNvSpPr/>
            <p:nvPr userDrawn="1"/>
          </p:nvSpPr>
          <p:spPr>
            <a:xfrm>
              <a:off x="1054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1" name="점 331"/>
            <p:cNvSpPr/>
            <p:nvPr userDrawn="1"/>
          </p:nvSpPr>
          <p:spPr>
            <a:xfrm>
              <a:off x="1079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2" name="점 332"/>
            <p:cNvSpPr/>
            <p:nvPr userDrawn="1"/>
          </p:nvSpPr>
          <p:spPr>
            <a:xfrm>
              <a:off x="11049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3" name="점 333"/>
            <p:cNvSpPr/>
            <p:nvPr userDrawn="1"/>
          </p:nvSpPr>
          <p:spPr>
            <a:xfrm>
              <a:off x="1130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4" name="점 334"/>
            <p:cNvSpPr/>
            <p:nvPr userDrawn="1"/>
          </p:nvSpPr>
          <p:spPr>
            <a:xfrm>
              <a:off x="1155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5" name="점 335"/>
            <p:cNvSpPr/>
            <p:nvPr userDrawn="1"/>
          </p:nvSpPr>
          <p:spPr>
            <a:xfrm>
              <a:off x="1181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6" name="점 336"/>
            <p:cNvSpPr/>
            <p:nvPr userDrawn="1"/>
          </p:nvSpPr>
          <p:spPr>
            <a:xfrm>
              <a:off x="1206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7" name="점 337"/>
            <p:cNvSpPr/>
            <p:nvPr userDrawn="1"/>
          </p:nvSpPr>
          <p:spPr>
            <a:xfrm>
              <a:off x="1003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8" name="점 338"/>
            <p:cNvSpPr/>
            <p:nvPr userDrawn="1"/>
          </p:nvSpPr>
          <p:spPr>
            <a:xfrm>
              <a:off x="10287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9" name="점 339"/>
            <p:cNvSpPr/>
            <p:nvPr userDrawn="1"/>
          </p:nvSpPr>
          <p:spPr>
            <a:xfrm>
              <a:off x="1054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0" name="점 340"/>
            <p:cNvSpPr/>
            <p:nvPr userDrawn="1"/>
          </p:nvSpPr>
          <p:spPr>
            <a:xfrm>
              <a:off x="1079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1" name="점 341"/>
            <p:cNvSpPr/>
            <p:nvPr userDrawn="1"/>
          </p:nvSpPr>
          <p:spPr>
            <a:xfrm>
              <a:off x="11049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2" name="점 342"/>
            <p:cNvSpPr/>
            <p:nvPr userDrawn="1"/>
          </p:nvSpPr>
          <p:spPr>
            <a:xfrm>
              <a:off x="1130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3" name="점 343"/>
            <p:cNvSpPr/>
            <p:nvPr userDrawn="1"/>
          </p:nvSpPr>
          <p:spPr>
            <a:xfrm>
              <a:off x="11557800" y="5316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4" name="점 344"/>
            <p:cNvSpPr/>
            <p:nvPr userDrawn="1"/>
          </p:nvSpPr>
          <p:spPr>
            <a:xfrm>
              <a:off x="1181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5" name="점 345"/>
            <p:cNvSpPr/>
            <p:nvPr userDrawn="1"/>
          </p:nvSpPr>
          <p:spPr>
            <a:xfrm>
              <a:off x="1206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6" name="점 346"/>
            <p:cNvSpPr/>
            <p:nvPr userDrawn="1"/>
          </p:nvSpPr>
          <p:spPr>
            <a:xfrm>
              <a:off x="1003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7" name="점 347"/>
            <p:cNvSpPr/>
            <p:nvPr userDrawn="1"/>
          </p:nvSpPr>
          <p:spPr>
            <a:xfrm>
              <a:off x="1028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8" name="점 348"/>
            <p:cNvSpPr/>
            <p:nvPr userDrawn="1"/>
          </p:nvSpPr>
          <p:spPr>
            <a:xfrm>
              <a:off x="1054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9" name="점 349"/>
            <p:cNvSpPr/>
            <p:nvPr userDrawn="1"/>
          </p:nvSpPr>
          <p:spPr>
            <a:xfrm>
              <a:off x="1079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0" name="점 350"/>
            <p:cNvSpPr/>
            <p:nvPr userDrawn="1"/>
          </p:nvSpPr>
          <p:spPr>
            <a:xfrm>
              <a:off x="11049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1" name="점 351"/>
            <p:cNvSpPr/>
            <p:nvPr userDrawn="1"/>
          </p:nvSpPr>
          <p:spPr>
            <a:xfrm>
              <a:off x="1130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2" name="점 352"/>
            <p:cNvSpPr/>
            <p:nvPr userDrawn="1"/>
          </p:nvSpPr>
          <p:spPr>
            <a:xfrm>
              <a:off x="1155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3" name="점 353"/>
            <p:cNvSpPr/>
            <p:nvPr userDrawn="1"/>
          </p:nvSpPr>
          <p:spPr>
            <a:xfrm>
              <a:off x="1181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4" name="점 354"/>
            <p:cNvSpPr/>
            <p:nvPr userDrawn="1"/>
          </p:nvSpPr>
          <p:spPr>
            <a:xfrm>
              <a:off x="1206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5" name="점 355"/>
            <p:cNvSpPr/>
            <p:nvPr userDrawn="1"/>
          </p:nvSpPr>
          <p:spPr>
            <a:xfrm>
              <a:off x="1003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6" name="점 356"/>
            <p:cNvSpPr/>
            <p:nvPr userDrawn="1"/>
          </p:nvSpPr>
          <p:spPr>
            <a:xfrm>
              <a:off x="1028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7" name="점 357"/>
            <p:cNvSpPr/>
            <p:nvPr userDrawn="1"/>
          </p:nvSpPr>
          <p:spPr>
            <a:xfrm>
              <a:off x="1054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8" name="점 358"/>
            <p:cNvSpPr/>
            <p:nvPr userDrawn="1"/>
          </p:nvSpPr>
          <p:spPr>
            <a:xfrm>
              <a:off x="1079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9" name="점 359"/>
            <p:cNvSpPr/>
            <p:nvPr userDrawn="1"/>
          </p:nvSpPr>
          <p:spPr>
            <a:xfrm>
              <a:off x="11049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0" name="점 360"/>
            <p:cNvSpPr/>
            <p:nvPr userDrawn="1"/>
          </p:nvSpPr>
          <p:spPr>
            <a:xfrm>
              <a:off x="1130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1" name="점 361"/>
            <p:cNvSpPr/>
            <p:nvPr userDrawn="1"/>
          </p:nvSpPr>
          <p:spPr>
            <a:xfrm>
              <a:off x="1155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2" name="점 362"/>
            <p:cNvSpPr/>
            <p:nvPr userDrawn="1"/>
          </p:nvSpPr>
          <p:spPr>
            <a:xfrm>
              <a:off x="1181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3" name="점 363"/>
            <p:cNvSpPr/>
            <p:nvPr userDrawn="1"/>
          </p:nvSpPr>
          <p:spPr>
            <a:xfrm>
              <a:off x="1206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4" name="점 364"/>
            <p:cNvSpPr/>
            <p:nvPr userDrawn="1"/>
          </p:nvSpPr>
          <p:spPr>
            <a:xfrm>
              <a:off x="1003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5" name="점 365"/>
            <p:cNvSpPr/>
            <p:nvPr userDrawn="1"/>
          </p:nvSpPr>
          <p:spPr>
            <a:xfrm>
              <a:off x="1028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6" name="점 366"/>
            <p:cNvSpPr/>
            <p:nvPr userDrawn="1"/>
          </p:nvSpPr>
          <p:spPr>
            <a:xfrm>
              <a:off x="1054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7" name="점 367"/>
            <p:cNvSpPr/>
            <p:nvPr userDrawn="1"/>
          </p:nvSpPr>
          <p:spPr>
            <a:xfrm>
              <a:off x="1079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8" name="점 368"/>
            <p:cNvSpPr/>
            <p:nvPr userDrawn="1"/>
          </p:nvSpPr>
          <p:spPr>
            <a:xfrm>
              <a:off x="11049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9" name="점 369"/>
            <p:cNvSpPr/>
            <p:nvPr userDrawn="1"/>
          </p:nvSpPr>
          <p:spPr>
            <a:xfrm>
              <a:off x="1130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0" name="점 370"/>
            <p:cNvSpPr/>
            <p:nvPr userDrawn="1"/>
          </p:nvSpPr>
          <p:spPr>
            <a:xfrm>
              <a:off x="1155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1" name="점 371"/>
            <p:cNvSpPr/>
            <p:nvPr userDrawn="1"/>
          </p:nvSpPr>
          <p:spPr>
            <a:xfrm>
              <a:off x="1181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2" name="점 372"/>
            <p:cNvSpPr/>
            <p:nvPr userDrawn="1"/>
          </p:nvSpPr>
          <p:spPr>
            <a:xfrm>
              <a:off x="1206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구역 강조 룰"/>
          <p:cNvSpPr/>
          <p:nvPr userDrawn="1"/>
        </p:nvSpPr>
        <p:spPr>
          <a:xfrm>
            <a:off x="929640" y="297180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48000"/>
            <a:ext cx="10515600" cy="800100"/>
          </a:xfrm>
        </p:spPr>
        <p:txBody>
          <a:bodyPr anchor="b"/>
          <a:lstStyle>
            <a:lvl1pPr algn="l">
              <a:defRPr sz="44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962400"/>
            <a:ext cx="10515600" cy="1143000"/>
          </a:xfrm>
        </p:spPr>
        <p:txBody>
          <a:bodyPr/>
          <a:lstStyle>
            <a:lvl1pPr marL="0" indent="0">
              <a:buNone/>
              <a:defRPr sz="2400">
                <a:solidFill>
                  <a:srgbClr val="8FB8C9"/>
                </a:solidFill>
              </a:defRPr>
            </a:lvl1pPr>
            <a:lvl2pPr marL="457200" indent="0">
              <a:buNone/>
              <a:defRPr sz="2000">
                <a:solidFill>
                  <a:srgbClr val="8FB8C9"/>
                </a:solidFill>
              </a:defRPr>
            </a:lvl2pPr>
            <a:lvl3pPr marL="914400" indent="0">
              <a:buNone/>
              <a:defRPr sz="1800">
                <a:solidFill>
                  <a:srgbClr val="8FB8C9"/>
                </a:solidFill>
              </a:defRPr>
            </a:lvl3pPr>
            <a:lvl4pPr marL="1371600" indent="0">
              <a:buNone/>
              <a:defRPr sz="1600">
                <a:solidFill>
                  <a:srgbClr val="8FB8C9"/>
                </a:solidFill>
              </a:defRPr>
            </a:lvl4pPr>
            <a:lvl5pPr marL="1828800" indent="0">
              <a:buNone/>
              <a:defRPr sz="1600">
                <a:solidFill>
                  <a:srgbClr val="8FB8C9"/>
                </a:solidFill>
              </a:defRPr>
            </a:lvl5pPr>
            <a:lvl6pPr marL="2286000" indent="0">
              <a:buNone/>
              <a:defRPr sz="1600">
                <a:solidFill>
                  <a:srgbClr val="8FB8C9"/>
                </a:solidFill>
              </a:defRPr>
            </a:lvl6pPr>
            <a:lvl7pPr marL="2743200" indent="0">
              <a:buNone/>
              <a:defRPr sz="1600">
                <a:solidFill>
                  <a:srgbClr val="8FB8C9"/>
                </a:solidFill>
              </a:defRPr>
            </a:lvl7pPr>
            <a:lvl8pPr marL="3200400" indent="0">
              <a:buNone/>
              <a:defRPr sz="1600">
                <a:solidFill>
                  <a:srgbClr val="8FB8C9"/>
                </a:solidFill>
              </a:defRPr>
            </a:lvl8pPr>
            <a:lvl9pPr marL="3657600" indent="0">
              <a:buNone/>
              <a:defRPr sz="1600">
                <a:solidFill>
                  <a:srgbClr val="8FB8C9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BEF52EC-B397-4D0A-AE91-E0D6840C85A1}" type="datetime1">
              <a:rPr lang="ko-KR" altLang="en-US" smtClean="0"/>
              <a:t>2026-10-01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2026-10-01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2026-10-01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2026-10-01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2026-10-01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2026-10-01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2026-10-01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2026-10-01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2026-10-01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제목 헤어라인"/>
          <p:cNvSpPr/>
          <p:nvPr userDrawn="1"/>
        </p:nvSpPr>
        <p:spPr>
          <a:xfrm>
            <a:off x="929640" y="944880"/>
            <a:ext cx="10332720" cy="0"/>
          </a:xfrm>
          <a:prstGeom prst="line">
            <a:avLst/>
          </a:prstGeom>
          <a:noFill/>
          <a:ln w="9525" cap="flat">
            <a:solidFill>
              <a:srgbClr val="E4EAF0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91" name="제목 강조 룰"/>
          <p:cNvSpPr/>
          <p:nvPr userDrawn="1"/>
        </p:nvSpPr>
        <p:spPr>
          <a:xfrm>
            <a:off x="929640" y="944880"/>
            <a:ext cx="685800" cy="0"/>
          </a:xfrm>
          <a:prstGeom prst="line">
            <a:avLst/>
          </a:prstGeom>
          <a:noFill/>
          <a:ln w="28575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100" name="격자 패턴"/>
          <p:cNvGrpSpPr/>
          <p:nvPr userDrawn="1"/>
        </p:nvGrpSpPr>
        <p:grpSpPr>
          <a:xfrm>
            <a:off x="11029950" y="6076950"/>
            <a:ext cx="1009650" cy="628650"/>
            <a:chOff x="11029950" y="6076950"/>
            <a:chExt cx="1009650" cy="628650"/>
          </a:xfrm>
        </p:grpSpPr>
        <p:sp>
          <p:nvSpPr>
            <p:cNvPr id="101" name="점 101"/>
            <p:cNvSpPr/>
            <p:nvPr userDrawn="1"/>
          </p:nvSpPr>
          <p:spPr>
            <a:xfrm>
              <a:off x="11029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2" name="점 102"/>
            <p:cNvSpPr/>
            <p:nvPr userDrawn="1"/>
          </p:nvSpPr>
          <p:spPr>
            <a:xfrm>
              <a:off x="11220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3" name="점 103"/>
            <p:cNvSpPr/>
            <p:nvPr userDrawn="1"/>
          </p:nvSpPr>
          <p:spPr>
            <a:xfrm>
              <a:off x="11410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4" name="점 104"/>
            <p:cNvSpPr/>
            <p:nvPr userDrawn="1"/>
          </p:nvSpPr>
          <p:spPr>
            <a:xfrm>
              <a:off x="11601450" y="60769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5" name="점 105"/>
            <p:cNvSpPr/>
            <p:nvPr userDrawn="1"/>
          </p:nvSpPr>
          <p:spPr>
            <a:xfrm>
              <a:off x="11791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6" name="점 106"/>
            <p:cNvSpPr/>
            <p:nvPr userDrawn="1"/>
          </p:nvSpPr>
          <p:spPr>
            <a:xfrm>
              <a:off x="11982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7" name="점 107"/>
            <p:cNvSpPr/>
            <p:nvPr userDrawn="1"/>
          </p:nvSpPr>
          <p:spPr>
            <a:xfrm>
              <a:off x="11029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8" name="점 108"/>
            <p:cNvSpPr/>
            <p:nvPr userDrawn="1"/>
          </p:nvSpPr>
          <p:spPr>
            <a:xfrm>
              <a:off x="11220450" y="6267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9" name="점 109"/>
            <p:cNvSpPr/>
            <p:nvPr userDrawn="1"/>
          </p:nvSpPr>
          <p:spPr>
            <a:xfrm>
              <a:off x="11410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0" name="점 110"/>
            <p:cNvSpPr/>
            <p:nvPr userDrawn="1"/>
          </p:nvSpPr>
          <p:spPr>
            <a:xfrm>
              <a:off x="11601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1" name="점 111"/>
            <p:cNvSpPr/>
            <p:nvPr userDrawn="1"/>
          </p:nvSpPr>
          <p:spPr>
            <a:xfrm>
              <a:off x="11791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2" name="점 112"/>
            <p:cNvSpPr/>
            <p:nvPr userDrawn="1"/>
          </p:nvSpPr>
          <p:spPr>
            <a:xfrm>
              <a:off x="11982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3" name="점 113"/>
            <p:cNvSpPr/>
            <p:nvPr userDrawn="1"/>
          </p:nvSpPr>
          <p:spPr>
            <a:xfrm>
              <a:off x="11029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4" name="점 114"/>
            <p:cNvSpPr/>
            <p:nvPr userDrawn="1"/>
          </p:nvSpPr>
          <p:spPr>
            <a:xfrm>
              <a:off x="11220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5" name="점 115"/>
            <p:cNvSpPr/>
            <p:nvPr userDrawn="1"/>
          </p:nvSpPr>
          <p:spPr>
            <a:xfrm>
              <a:off x="11410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6" name="점 116"/>
            <p:cNvSpPr/>
            <p:nvPr userDrawn="1"/>
          </p:nvSpPr>
          <p:spPr>
            <a:xfrm>
              <a:off x="11601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7" name="점 117"/>
            <p:cNvSpPr/>
            <p:nvPr userDrawn="1"/>
          </p:nvSpPr>
          <p:spPr>
            <a:xfrm>
              <a:off x="11791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8" name="점 118"/>
            <p:cNvSpPr/>
            <p:nvPr userDrawn="1"/>
          </p:nvSpPr>
          <p:spPr>
            <a:xfrm>
              <a:off x="11982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9" name="점 119"/>
            <p:cNvSpPr/>
            <p:nvPr userDrawn="1"/>
          </p:nvSpPr>
          <p:spPr>
            <a:xfrm>
              <a:off x="11029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0" name="점 120"/>
            <p:cNvSpPr/>
            <p:nvPr userDrawn="1"/>
          </p:nvSpPr>
          <p:spPr>
            <a:xfrm>
              <a:off x="11220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1" name="점 121"/>
            <p:cNvSpPr/>
            <p:nvPr userDrawn="1"/>
          </p:nvSpPr>
          <p:spPr>
            <a:xfrm>
              <a:off x="11410950" y="6648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2" name="점 122"/>
            <p:cNvSpPr/>
            <p:nvPr userDrawn="1"/>
          </p:nvSpPr>
          <p:spPr>
            <a:xfrm>
              <a:off x="11601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3" name="점 123"/>
            <p:cNvSpPr/>
            <p:nvPr userDrawn="1"/>
          </p:nvSpPr>
          <p:spPr>
            <a:xfrm>
              <a:off x="11791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4" name="점 124"/>
            <p:cNvSpPr/>
            <p:nvPr userDrawn="1"/>
          </p:nvSpPr>
          <p:spPr>
            <a:xfrm>
              <a:off x="11982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3000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75D61A29-800E-482A-B0FD-5A04401ECD92}" type="datetime1">
              <a:rPr lang="ko-KR" altLang="en-US" smtClean="0"/>
              <a:t>2026-10-01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0000" y="63300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30000"/>
            <a:ext cx="2286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800" b="0" kern="1200" spc="-30">
          <a:solidFill>
            <a:srgbClr val="0F254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Clr>
          <a:srgbClr val="2EC4D9"/>
        </a:buClr>
        <a:buSzPct val="80000"/>
        <a:buFont typeface="Arial" panose="020B0604020202020204" pitchFamily="34" charset="0"/>
        <a:buChar char="●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10000"/>
        <a:buFont typeface="Arial" panose="020B0604020202020204" pitchFamily="34" charset="0"/>
        <a:buChar char="○"/>
        <a:defRPr sz="2400" kern="1200">
          <a:solidFill>
            <a:schemeClr val="tx1">
              <a:alpha val="88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8FB8C9"/>
        </a:buClr>
        <a:buSzPct val="80000"/>
        <a:buFont typeface="Arial" panose="020B0604020202020204" pitchFamily="34" charset="0"/>
        <a:buChar char="•"/>
        <a:defRPr sz="20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Post-Quantum Cryptography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16-17. Hash-Based Signatures: Winternitz, Merkle, LMS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>
            <a:normAutofit lnSpcReduction="10000"/>
          </a:bodyPr>
          <a:lstStyle/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Lamport의 한계와 해법</a:t>
            </a:r>
          </a:p>
          <a:p>
            <a:pPr lvl="1"/>
            <a:r>
              <a:rPr lang="ko-KR" altLang="en-US" sz="1800" dirty="0">
                <a:solidFill>
                  <a:srgbClr val="000000"/>
                </a:solidFill>
              </a:rPr>
              <a:t>네 가지 </a:t>
            </a:r>
            <a:r>
              <a:rPr sz="1800" dirty="0">
                <a:solidFill>
                  <a:srgbClr val="000000"/>
                </a:solidFill>
              </a:rPr>
              <a:t>한계와 해법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Winternitz OTS: 해시 체인과 체크섬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Merkle 트리: 인증 경로로 일회성 극복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하이퍼트리: 느린 트리 생성 해결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Leighton-Micali 서명 스킴 (LMS)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LM-OTS: Winternitz에 더한 네 가지 변경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LMS와 HSS: Merkle 트리 결합과 서명 크기 감소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안전성(ROM·QROM)과 XMSS 비교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상태 관리의 위험과 적용 범위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Lamport의 한계와 해법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Part 1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Lamport의 네 가지 한계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2300000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1. 큰 개인키: n비트 값 2n개를 저장한다 (2n²비트)</a:t>
            </a:r>
          </a:p>
          <a:p>
            <a:r>
              <a:rPr sz="1800" dirty="0">
                <a:solidFill>
                  <a:srgbClr val="000000"/>
                </a:solidFill>
              </a:rPr>
              <a:t>2. 큰 공개키·서명: RSA·타원곡선 서명(수십~수백 바이트)에 비해 압도적으로 크다</a:t>
            </a:r>
          </a:p>
          <a:p>
            <a:r>
              <a:rPr sz="1800" dirty="0">
                <a:solidFill>
                  <a:srgbClr val="000000"/>
                </a:solidFill>
              </a:rPr>
              <a:t>3. 개인키 일회성: 서명 하나가 개인키 절반을 드러내 한 메시지만 서명할 수 있다</a:t>
            </a:r>
          </a:p>
          <a:p>
            <a:r>
              <a:rPr sz="1800" dirty="0">
                <a:solidFill>
                  <a:srgbClr val="000000"/>
                </a:solidFill>
              </a:rPr>
              <a:t>4. 큰 Merkle 트리의 느린 생성: 3번을 Merkle 트리로 풀면 새로 생기는 한계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7248428"/>
              </p:ext>
            </p:extLst>
          </p:nvPr>
        </p:nvGraphicFramePr>
        <p:xfrm>
          <a:off x="838200" y="3750000"/>
          <a:ext cx="10515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6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6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비트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바이트 (n=256)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개인키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2n²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16,384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2n²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16,384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n²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8,192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한계별 해법 한눈에 보기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1463040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각 해법은 해시 함수의 표준 성질(역상·충돌 저항성)만 쓰고 새 가정을 더하지 않는다 (PRF 제외)</a:t>
            </a:r>
          </a:p>
          <a:p>
            <a:r>
              <a:rPr sz="1800" dirty="0">
                <a:solidFill>
                  <a:srgbClr val="000000"/>
                </a:solidFill>
              </a:rPr>
              <a:t>한계 1의 해법: 개인키 성분을 시드와 카운터에서 PRF로 재생성한다 (예: HMAC)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4859312"/>
              </p:ext>
            </p:extLst>
          </p:nvPr>
        </p:nvGraphicFramePr>
        <p:xfrm>
          <a:off x="838200" y="2468880"/>
          <a:ext cx="1051559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34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9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22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한계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해법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도입 개념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1. 큰 개인키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시드 + 카운터로 재생성 </a:t>
                      </a:r>
                      <a:br>
                        <a:rPr lang="en-US" sz="1800" dirty="0">
                          <a:solidFill>
                            <a:srgbClr val="000000"/>
                          </a:solidFill>
                        </a:rPr>
                      </a:b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(16,384 B에서 32 B로)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PRF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2. 큰 공개키·서명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비트를 w비트 블록 단위로 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Winternitz 해시 체인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3. 개인키 일회성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다수의 OTS 공개키를 하나로 인증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Merkle 해시 트리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4. 큰 트리 생성이 느림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트리를 여러 층으로 분할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하이퍼트리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해시 체인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39496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역상 저항 함수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초깃값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𝑥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</a:t>
                </a:r>
                <a:br>
                  <a:rPr sz="1800" dirty="0">
                    <a:solidFill>
                      <a:srgbClr val="000000"/>
                    </a:solidFill>
                  </a:rPr>
                </a:br>
                <a:r>
                  <a:rPr sz="1800" dirty="0">
                    <a:solidFill>
                      <a:srgbClr val="000000"/>
                    </a:solidFill>
                  </a:rPr>
                  <a:t>반복 적용해 체인을 만든다: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𝑥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,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𝐺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(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𝑥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),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𝐺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(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𝑥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),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…,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𝐺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𝑚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(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𝑥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앞으로(G 적용)는 누구나 쉽게 계산하지만,</a:t>
                </a:r>
                <a:br>
                  <a:rPr sz="1800" dirty="0">
                    <a:solidFill>
                      <a:srgbClr val="000000"/>
                    </a:solidFill>
                  </a:rPr>
                </a:br>
                <a:r>
                  <a:rPr sz="1800" dirty="0">
                    <a:solidFill>
                      <a:srgbClr val="000000"/>
                    </a:solidFill>
                  </a:rPr>
                  <a:t>뒤로는 G의 역상을 찾아야 하므로</a:t>
                </a:r>
                <a:br>
                  <a:rPr sz="1800" dirty="0">
                    <a:solidFill>
                      <a:srgbClr val="000000"/>
                    </a:solidFill>
                  </a:rPr>
                </a:br>
                <a:r>
                  <a:rPr sz="1800" dirty="0">
                    <a:solidFill>
                      <a:srgbClr val="000000"/>
                    </a:solidFill>
                  </a:rPr>
                  <a:t>불가능하다 (역상 저항성)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오른쪽 Lamport 그림의 G 한 번(길이 1)을</a:t>
                </a:r>
                <a:br>
                  <a:rPr sz="1800" dirty="0">
                    <a:solidFill>
                      <a:srgbClr val="000000"/>
                    </a:solidFill>
                  </a:rPr>
                </a:br>
                <a:r>
                  <a:rPr sz="1800" dirty="0">
                    <a:solidFill>
                      <a:srgbClr val="000000"/>
                    </a:solidFill>
                  </a:rPr>
                  <a:t>길게 늘려, 이 '앞으로만 갈 수 있다'를</a:t>
                </a:r>
                <a:br>
                  <a:rPr sz="1800" dirty="0">
                    <a:solidFill>
                      <a:srgbClr val="000000"/>
                    </a:solidFill>
                  </a:rPr>
                </a:br>
                <a:r>
                  <a:rPr sz="1800" dirty="0">
                    <a:solidFill>
                      <a:srgbClr val="000000"/>
                    </a:solidFill>
                  </a:rPr>
                  <a:t>활용하는 것이 Winternitz다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394960" cy="4701089"/>
              </a:xfrm>
              <a:blipFill>
                <a:blip r:embed="rId2"/>
                <a:stretch>
                  <a:fillRect l="-2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6F36356-25D2-62E5-47D8-BAC688353F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9804" y="1341482"/>
            <a:ext cx="3901592" cy="41750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Winternitz OTS: 키 생성·서명·검증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Winternitz 파라미터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𝑤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(n의 약수): 체인 길이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𝑤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−1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메시지 해시를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𝑤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비트 블록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로 쪼갠다 (블록 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ℓ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/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체크섬 블록은 뒤에서 추가)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키 생성: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𝐺</m:t>
                        </m:r>
                      </m:e>
                      <m:sup>
                        <m:sSup>
                          <m:sSup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2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𝑤</m:t>
                            </m:r>
                          </m:sup>
                        </m:s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— 개인키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공개키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서명: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𝐺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— 체인에서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걸음 나아간 값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검증: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𝐺</m:t>
                        </m:r>
                      </m:e>
                      <m:sup>
                        <m:sSup>
                          <m:sSup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2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𝑤</m:t>
                            </m:r>
                          </m:sup>
                        </m:s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−1−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  <m:limUpp>
                      <m:limUp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=</m:t>
                        </m:r>
                      </m:e>
                      <m:lim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?</m:t>
                        </m:r>
                      </m:lim>
                    </m:limUpp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— 남은 걸음을 채워 끝값과 비교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Lamport는 자리마다 (0쪽, 1쪽) 두 값이 필요했지만 여기서는 체인 하나면 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체크섬이 없으면 위조된다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관찰 1: 공개키 Y만 아는 공격자도, 모든 블록이 최댓값인 메시지의 서명은 위조할 수 있다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관찰 2: 서명 하나를 보면 그보다 '큰' 블록값을 갖는 모든 메시지의 서명을 계산할 수 있다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예: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=(2,3,0,2,1,0)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봤다면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=(3,3,1,2,2,0)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의 서명도 위조된다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공통 원인: 체인은 앞으로만 갈 수 있어, 블록값을 키우는 위조는 공짜다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체크섬의 정의와 예제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992755" y="1259288"/>
                <a:ext cx="4361045" cy="4701089"/>
              </a:xfrm>
            </p:spPr>
            <p:txBody>
              <a:bodyPr/>
              <a:lstStyle/>
              <a:p>
                <a:r>
                  <a:rPr lang="ko-KR" altLang="en-US" sz="1800" dirty="0">
                    <a:solidFill>
                      <a:srgbClr val="000000"/>
                    </a:solidFill>
                  </a:rPr>
                  <a:t>체크섬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: 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각 블록이 체인 끝까지 남긴 거리의 합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𝑢</m:t>
                      </m:r>
                      <m:r>
                        <a:rPr lang="en-US" altLang="ko-KR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i="0">
                          <a:solidFill>
                            <a:srgbClr val="000000"/>
                          </a:solidFill>
                          <a:latin typeface="Cambria Math"/>
                        </a:rPr>
                        <m:t>csum</m:t>
                      </m:r>
                      <m:r>
                        <a:rPr lang="en-US" altLang="ko-KR" i="1">
                          <a:solidFill>
                            <a:srgbClr val="000000"/>
                          </a:solidFill>
                          <a:latin typeface="Cambria Math"/>
                        </a:rPr>
                        <m:t>(</m:t>
                      </m:r>
                      <m:r>
                        <a:rPr lang="en-US" altLang="ko-KR" i="1">
                          <a:solidFill>
                            <a:srgbClr val="000000"/>
                          </a:solidFill>
                          <a:latin typeface="Cambria Math"/>
                        </a:rPr>
                        <m:t>h</m:t>
                      </m:r>
                      <m:r>
                        <a:rPr lang="en-US" altLang="ko-KR" i="1">
                          <a:solidFill>
                            <a:srgbClr val="000000"/>
                          </a:solidFill>
                          <a:latin typeface="Cambria Math"/>
                        </a:rPr>
                        <m:t>)=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=0</m:t>
                          </m:r>
                        </m:sub>
                        <m:sup>
                          <m:sSub>
                            <m:sSubPr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ℓ</m:t>
                              </m:r>
                            </m:e>
                            <m:sub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−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</m:t>
                          </m:r>
                        </m:sup>
                        <m:e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(</m:t>
                          </m:r>
                          <m:sSup>
                            <m:sSupPr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𝑤</m:t>
                              </m:r>
                            </m:sup>
                          </m:sSup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−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1−</m:t>
                          </m:r>
                          <m:sSub>
                            <m:sSubPr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ko-KR" altLang="en-US" sz="1800" dirty="0">
                  <a:solidFill>
                    <a:srgbClr val="00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𝑤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=2,</m:t>
                    </m:r>
                    <m:r>
                      <m:rPr>
                        <m:nor/>
                      </m:rPr>
                      <a:rPr lang="ko-KR" alt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=(2,3,0,2,1,0)</m:t>
                    </m:r>
                  </m:oMath>
                </a14:m>
                <a:r>
                  <a:rPr lang="ko-KR" altLang="en-US" sz="1800" dirty="0">
                    <a:solidFill>
                      <a:srgbClr val="000000"/>
                    </a:solidFill>
                  </a:rPr>
                  <a:t> </a:t>
                </a:r>
                <a:br>
                  <a:rPr lang="ko-KR" altLang="en-US" i="1" dirty="0">
                    <a:solidFill>
                      <a:srgbClr val="000000"/>
                    </a:solidFill>
                    <a:latin typeface="Cambria Math"/>
                  </a:rPr>
                </a:br>
                <a14:m>
                  <m:oMath xmlns:m="http://schemas.openxmlformats.org/officeDocument/2006/math"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→</m:t>
                    </m:r>
                  </m:oMath>
                </a14:m>
                <a:r>
                  <a:rPr lang="ko-KR" altLang="en-US"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𝑢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=1+0+3+1+2+3=10</m:t>
                    </m:r>
                  </m:oMath>
                </a14:m>
                <a:br>
                  <a:rPr lang="ko-KR" altLang="en-US" i="1" dirty="0">
                    <a:solidFill>
                      <a:srgbClr val="000000"/>
                    </a:solidFill>
                    <a:latin typeface="Cambria Math"/>
                  </a:rPr>
                </a:b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=(00,10,10</m:t>
                    </m:r>
                    <m:sSub>
                      <m:sSubPr>
                        <m:ctrlPr>
                          <a:rPr lang="ko-KR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/>
                          </a:rPr>
                          <m:t>)</m:t>
                        </m:r>
                      </m:e>
                      <m: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ko-KR" altLang="en-US" sz="1800" dirty="0">
                  <a:solidFill>
                    <a:srgbClr val="000000"/>
                  </a:solidFill>
                </a:endParaRPr>
              </a:p>
              <a:p>
                <a:r>
                  <a:rPr lang="ko-KR" altLang="en-US" sz="1800" dirty="0">
                    <a:solidFill>
                      <a:srgbClr val="000000"/>
                    </a:solidFill>
                  </a:rPr>
                  <a:t>체크섬 블록도 별도 체인에 서명한다 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(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체인 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6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개 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+ 3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개 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= 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총 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9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개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)</a:t>
                </a:r>
                <a:endParaRPr sz="18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992755" y="1259288"/>
                <a:ext cx="4361045" cy="4701089"/>
              </a:xfrm>
              <a:blipFill>
                <a:blip r:embed="rId2"/>
                <a:stretch>
                  <a:fillRect l="-27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C8B9900-6559-76CC-EE93-B29F335EAB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504930"/>
            <a:ext cx="5782042" cy="38481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체크섬이 위조를 막는 이유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위조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𝑀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𝑆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가 있다고 가정한다 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충돌 저항,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역상 저항)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— 같다면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의 충돌이다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모든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𝑗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에서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𝑗</m:t>
                        </m:r>
                      </m:sub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b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≥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— 줄이려면 체인을 뒤로 가야 하므로 불가능하다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이므로 어떤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𝑖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에서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b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&gt;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⇒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csum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)&lt;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csum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그러면 체크섬 블록 중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b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𝑘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인 곳이 있어 체인을 뒤로 가야 한다 — </a:t>
                </a:r>
                <a:r>
                  <a:rPr dirty="0">
                    <a:solidFill>
                      <a:srgbClr val="000000"/>
                    </a:solidFill>
                  </a:rPr>
                  <a:t>모순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블록을 키우면 체크섬은 반드시 줄고, 체크섬을 줄이는 것은 불가능하다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파라미터와 크기 비교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2377440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𝑛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=256,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𝑤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=8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→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ℓ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=32,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ℓ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ℓ=34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(공개키·서명 각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ℓ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비트)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ℓ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𝑤</m:t>
                          </m:r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ℓ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d>
                        <m:dPr>
                          <m:begChr m:val="⌊"/>
                          <m:endChr m:val="⌋"/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ℓ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𝑤</m:t>
                                  </m:r>
                                </m:sup>
                              </m:s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−1))</m:t>
                              </m:r>
                            </m:num>
                            <m:den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𝑤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+1,ℓ=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ℓ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ℓ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w가 클수록 서명은 짧고 계산은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𝑤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배 늘어난다 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𝑤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∈{1,2,4,8}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⇒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ℓ=265,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133,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67,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34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2377440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755359"/>
              </p:ext>
            </p:extLst>
          </p:nvPr>
        </p:nvGraphicFramePr>
        <p:xfrm>
          <a:off x="838198" y="3520440"/>
          <a:ext cx="10515601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13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29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713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Lamport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Winternitz (w=8)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개인키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16,384 B (시드 적용 시 32 B)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32 B (시드)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16,384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1,088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8,192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1,088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서명·검증 속도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빠름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느림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Merkle 트리의 구성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3674495"/>
                <a:ext cx="10515600" cy="2655505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한계 3: OTS 키를 서명마다 새로 쓰면 공개키를 매번 배포해야 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OTS 키쌍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𝑑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개의 공개키를 트리 하나로 묶어 짧은 장기 공개키로 인증한다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리프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𝐹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내부 노드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𝐹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left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‖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right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(F: 충돌 저항 해시)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루트 R이 장기 공개키다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—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 </a:t>
                </a:r>
                <a:r>
                  <a:rPr dirty="0">
                    <a:solidFill>
                      <a:srgbClr val="000000"/>
                    </a:solidFill>
                  </a:rPr>
                  <a:t>R 하나만 배포한다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i번째 메시지: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로 서명하고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와 인증 경로를 함께 보낸다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674495"/>
                <a:ext cx="10515600" cy="2655505"/>
              </a:xfrm>
              <a:blipFill>
                <a:blip r:embed="rId2"/>
                <a:stretch>
                  <a:fillRect l="-116" b="-34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7825859-01B7-FB89-ECED-79BFB5D155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1026" y="1016725"/>
            <a:ext cx="5089947" cy="265777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인증 경로와 검증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3654973"/>
                <a:ext cx="10515600" cy="3040152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인증 경로: 리프에서 루트까지 경로 위 각 노드의 형제 값 (높이 d면 해시 d개)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세 번째 메시지: 경로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→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9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→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→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전송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8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13</m:t>
                        </m:r>
                      </m:sub>
                    </m:sSub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𝐹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𝑌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),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9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𝐹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(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‖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12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𝐹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8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‖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9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),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𝑅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′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𝐹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(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12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‖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13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𝑅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는 진짜다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안전성: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바꾸면 F의 충돌 저항성 때문에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9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까지 전부 바뀌어 검증에 실패한다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654973"/>
                <a:ext cx="10515600" cy="3040152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13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C69E338-1C6A-80A3-79E1-0548AC6671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9812" y="1016725"/>
            <a:ext cx="4988537" cy="265777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Merkle 트리의 크기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1371600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𝑛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=256,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𝑤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=8,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ℓ=34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Winternitz OTS를 높이 20 트리로 인증하면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20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≈100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만 개의 키쌍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장기 공개키는 32 B로 유지되고 서명 크기만 1,088 B에서 2,816 B로 완만히 커진다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1371600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14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2845482"/>
              </p:ext>
            </p:extLst>
          </p:nvPr>
        </p:nvGraphicFramePr>
        <p:xfrm>
          <a:off x="838200" y="2468880"/>
          <a:ext cx="1051559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5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19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181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장기 공개키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32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해시값 R 하나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개인키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32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시드 + 카운터로 100만 키쌍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2,816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1,088 + 1,088 (공개키) + 640 (경로)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하이퍼트리의 구조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3429000"/>
                <a:ext cx="10515599" cy="2567411"/>
              </a:xfrm>
            </p:spPr>
            <p:txBody>
              <a:bodyPr>
                <a:normAutofit lnSpcReduction="10000"/>
              </a:bodyPr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한계 4: 높이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𝐷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트리의 루트를 얻으려면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𝐷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개의 키쌍을 전부 만들어야 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하이퍼트리: 큰 트리를 여러 층의 작은 Merkle 트리로 나눈다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층 1 리프의 OTS 키는 층 2 트리의 루트에 서명한다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층 2 리프의 OTS 키는 실제 메시지에 서명한다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층 1·2 트리의 높이가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이면 서명 가능 횟수는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𝑑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𝑑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2</m:t>
                            </m:r>
                          </m:sub>
                        </m:sSub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3429000"/>
                <a:ext cx="10515599" cy="2567411"/>
              </a:xfrm>
              <a:blipFill>
                <a:blip r:embed="rId2"/>
                <a:stretch>
                  <a:fillRect l="-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15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DBC1366-F231-B413-3F69-AAB756BE4D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5215" y="1095015"/>
            <a:ext cx="5601565" cy="23339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하이퍼트리의 동작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730000"/>
            <a:ext cx="10515600" cy="2800000"/>
          </a:xfrm>
        </p:spPr>
        <p:txBody>
          <a:bodyPr>
            <a:normAutofit lnSpcReduction="10000"/>
          </a:bodyPr>
          <a:lstStyle/>
          <a:p>
            <a:r>
              <a:rPr sz="1800" dirty="0">
                <a:solidFill>
                  <a:srgbClr val="000000"/>
                </a:solidFill>
              </a:rPr>
              <a:t>키 생성: 층 1 트리만 만들면 장기 공개키(층 1 루트)가 정해진다</a:t>
            </a:r>
          </a:p>
          <a:p>
            <a:r>
              <a:rPr sz="1800" dirty="0">
                <a:solidFill>
                  <a:srgbClr val="000000"/>
                </a:solidFill>
              </a:rPr>
              <a:t>층 2 트리는 서명이 필요할 때 그때그때 만든다</a:t>
            </a:r>
          </a:p>
          <a:p>
            <a:r>
              <a:rPr sz="1800" dirty="0">
                <a:solidFill>
                  <a:srgbClr val="000000"/>
                </a:solidFill>
              </a:rPr>
              <a:t>서명 구성: 층 2 OTS 서명·공개키·인증 경로 + 층 1 OTS 서명·인증 경로</a:t>
            </a:r>
          </a:p>
          <a:p>
            <a:r>
              <a:rPr sz="1800" dirty="0">
                <a:solidFill>
                  <a:srgbClr val="000000"/>
                </a:solidFill>
              </a:rPr>
              <a:t>단점: OTS 서명이 2개 들어가 서명이 길어지고 검증이 느려진다</a:t>
            </a:r>
          </a:p>
          <a:p>
            <a:r>
              <a:rPr sz="1800" dirty="0">
                <a:solidFill>
                  <a:srgbClr val="000000"/>
                </a:solidFill>
              </a:rPr>
              <a:t>장점: 모듈별로 층 2 트리를 독립 관리하는 분산 서명이 가능하다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16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FA8DDE1-16CB-51E6-4A15-DF9002B5DF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218" y="1012789"/>
            <a:ext cx="6035563" cy="264436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Leighton-Micali 서명 스킴 (LMS)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2</a:t>
            </a:r>
            <a:endParaRPr dirty="0"/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17</a:t>
            </a:fld>
            <a:endParaRPr lang="ko-KR" alt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LM-OTS = Winternitz + 네 가지 변경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1463040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파라미터(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𝑤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ℓ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ℓ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ℓ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)는 Winternitz와 같고 H는 SHA-256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검증자가 서명에서 끝값들을 재구성할 수 있으므로 공개키를 압축할 수 있다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1463040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18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196722"/>
              </p:ext>
            </p:extLst>
          </p:nvPr>
        </p:nvGraphicFramePr>
        <p:xfrm>
          <a:off x="838200" y="2468880"/>
          <a:ext cx="1051559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4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50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Winternitz 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LM-OTS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끝값 목록 Y 전체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끝값들의 해시 K 하나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해시 함수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체인용 G + 메시지용 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단일 n비트 H (LMS·HSS와 공유)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해시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값만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고유 접두사를 앞에 붙임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메시지 해싱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H(M)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H(C, M), C는 무작위 문자열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고유 접두사와 메시지 무작위화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모든 해시 호출 앞에 고유 접두사를 붙여 호출들을 서로 독립으로 만든다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𝐼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: 트리 식별자 (32 B 무작위) 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𝑞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: 리프 번호 (4 B)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𝑖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: 블록 인덱스 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𝑗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: 체인 위치</a:t>
                </a:r>
              </a:p>
              <a:p>
                <a:pPr lvl="1"/>
                <a:r>
                  <a:rPr sz="1800" dirty="0">
                    <a:solidFill>
                      <a:srgbClr val="000000"/>
                    </a:solidFill>
                  </a:rPr>
                  <a:t>호출 종류를 구분하는 상수: 공개키 계산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0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x</m:t>
                    </m:r>
                    <m: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8080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메시지 해싱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0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x</m:t>
                    </m:r>
                    <m: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8181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리프 노드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0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x</m:t>
                    </m:r>
                    <m: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8282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</a:t>
                </a:r>
                <a:br>
                  <a:rPr sz="1800" dirty="0">
                    <a:solidFill>
                      <a:srgbClr val="000000"/>
                    </a:solidFill>
                  </a:rPr>
                </a:br>
                <a:r>
                  <a:rPr sz="1800" dirty="0">
                    <a:solidFill>
                      <a:srgbClr val="000000"/>
                    </a:solidFill>
                  </a:rPr>
                  <a:t>내부 노드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0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x</m:t>
                    </m:r>
                    <m: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8383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개인키 생성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0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xFF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메시지 무작위화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: 서명자가 매번 새로 뽑아 M 앞에 붙이고, 검증에 필요하므로 서명에 포함한다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공격자는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미리 알 수 없어 H의 충돌 저항성 요구가 사라진다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19</a:t>
            </a:fld>
            <a:endParaRPr lang="ko-KR" alt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LM-OTS 알고리즘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0" y="1351631"/>
                <a:ext cx="5257800" cy="4519780"/>
              </a:xfrm>
            </p:spPr>
            <p:txBody>
              <a:bodyPr>
                <a:normAutofit/>
              </a:bodyPr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키 생성: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𝑤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번</a:t>
                </a:r>
                <a:br>
                  <a:rPr sz="1800" dirty="0">
                    <a:solidFill>
                      <a:srgbClr val="000000"/>
                    </a:solidFill>
                  </a:rPr>
                </a:br>
                <a:r>
                  <a:rPr sz="1800" dirty="0">
                    <a:solidFill>
                      <a:srgbClr val="000000"/>
                    </a:solidFill>
                  </a:rPr>
                  <a:t>적용해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얻는다</a:t>
                </a:r>
              </a:p>
              <a:p>
                <a:pPr marL="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𝐾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𝐻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,…,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ℓ−1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서명: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뽑아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𝑀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과 체크섬으로 블록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생성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서명 =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ℓ−1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걸음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검증: 남은 걸음으로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′</m:t>
                        </m:r>
                      </m:sup>
                    </m:sSub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재구성 후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계산</a:t>
                </a:r>
              </a:p>
              <a:p>
                <a:pPr marL="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𝐾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′</m:t>
                          </m:r>
                        </m:sup>
                      </m:sSup>
                      <m:limUpp>
                        <m:limUp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=</m:t>
                          </m:r>
                        </m:e>
                        <m:li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?</m:t>
                          </m:r>
                        </m:lim>
                      </m:limUp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𝐾</m:t>
                      </m:r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1351631"/>
                <a:ext cx="5257800" cy="4519780"/>
              </a:xfrm>
              <a:blipFill>
                <a:blip r:embed="rId2"/>
                <a:stretch>
                  <a:fillRect l="-232" r="-6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20</a:t>
            </a:fld>
            <a:endParaRPr lang="ko-KR" altLang="en-US" dirty="0"/>
          </a:p>
        </p:txBody>
      </p:sp>
      <p:pic>
        <p:nvPicPr>
          <p:cNvPr id="1026" name="Picture 2" descr="스크린샷">
            <a:extLst>
              <a:ext uri="{FF2B5EF4-FFF2-40B4-BE49-F238E27FC236}">
                <a16:creationId xmlns:a16="http://schemas.microsoft.com/office/drawing/2014/main" id="{B0B78EE5-EB14-FE76-9115-9741CAE5E6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027" y="1020000"/>
            <a:ext cx="4087944" cy="2285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434223F-A70E-C25F-96EC-33B05E9F08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5444" y="3365186"/>
            <a:ext cx="3749111" cy="288734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LMS: 노드 번호와 T</a:t>
            </a:r>
            <a:r>
              <a:rPr baseline="-25000" dirty="0"/>
              <a:t>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3719165"/>
                <a:ext cx="10515600" cy="2780834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높이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𝑑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트리의 리프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𝑑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개에 LM-OTS 공개키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배정. 루트 = 1번, 노드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𝑖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의 자식은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2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𝑖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2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𝑖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+1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:br>
                  <a:rPr lang="en-US" sz="1800" dirty="0">
                    <a:solidFill>
                      <a:srgbClr val="000000"/>
                    </a:solidFill>
                  </a:rPr>
                </a:br>
                <a:r>
                  <a:rPr sz="1800" dirty="0">
                    <a:solidFill>
                      <a:srgbClr val="000000"/>
                    </a:solidFill>
                  </a:rPr>
                  <a:t>(리프: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𝑑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𝑑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+1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번)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리프 노드의 값:</a:t>
                </a:r>
                <a:r>
                  <a:rPr lang="en-US"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𝐼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𝑖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,0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x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8282,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</m:t>
                        </m:r>
                        <m:sSup>
                          <m:sSup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2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𝑑</m:t>
                            </m:r>
                          </m:sup>
                        </m:sSup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내부 노드의 값:</a:t>
                </a:r>
                <a:r>
                  <a:rPr lang="en-US"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𝐼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𝑖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,0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x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8383,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+1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루트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 장기 공개키, 개인키는 시드에서 생성:</a:t>
                </a:r>
                <a:r>
                  <a:rPr lang="en-US"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𝐼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𝑞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𝑖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,0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xFF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𝖲𝖤𝖤𝖣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079095"/>
                <a:ext cx="10515600" cy="2563568"/>
              </a:xfrm>
              <a:blipFill>
                <a:blip r:embed="rId2"/>
                <a:stretch>
                  <a:fillRect l="-116" b="-19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21</a:t>
            </a:fld>
            <a:endParaRPr lang="ko-KR" altLang="en-US" dirty="0"/>
          </a:p>
        </p:txBody>
      </p:sp>
      <p:pic>
        <p:nvPicPr>
          <p:cNvPr id="2050" name="Picture 2" descr="스크린샷">
            <a:extLst>
              <a:ext uri="{FF2B5EF4-FFF2-40B4-BE49-F238E27FC236}">
                <a16:creationId xmlns:a16="http://schemas.microsoft.com/office/drawing/2014/main" id="{F0959595-B048-9D8C-1024-8BAC11CCE1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0773" y="1000000"/>
            <a:ext cx="5150453" cy="2659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LMS 서명 크기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2700000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LMS 서명 = LM-OTS 서명(C 포함) + 인증 경로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—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 </a:t>
                </a:r>
                <a:r>
                  <a:rPr dirty="0">
                    <a:solidFill>
                      <a:srgbClr val="000000"/>
                    </a:solidFill>
                  </a:rPr>
                  <a:t>OTS 공개키 K는 검증자가 재구성하므로 보내지 않는다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n=256, w=8,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𝑑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=20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: OTS 공개키 1,088 B가 사라져 서명 전체가 약 38% 감소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SP 800-208이 허용하는 트리 높이: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𝑑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∈{5,10,15,20,25}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HSS: LMS를 하이퍼트리로 확장한 스킴이며, 표준은 최대 8층까지 허용한다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2011680"/>
              </a:xfrm>
              <a:blipFill>
                <a:blip r:embed="rId2"/>
                <a:stretch>
                  <a:fillRect l="-116" b="-1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22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6569900"/>
              </p:ext>
            </p:extLst>
          </p:nvPr>
        </p:nvGraphicFramePr>
        <p:xfrm>
          <a:off x="838200" y="3900000"/>
          <a:ext cx="10515598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78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326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50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Winternitz + Merkle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LMS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OTS 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1,088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1,120 B (C 32 B 포함)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OTS 공개키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1,088 B (전송)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0 (재구성)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인증 경로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640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640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합계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2,816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1,760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안전성: ROM과 QROM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모든 해시 호출에 고유 접두사를 둔 덕분에 LMS의 형식적 안전성 분석이 가능해졌다</a:t>
            </a:r>
          </a:p>
          <a:p>
            <a:r>
              <a:rPr sz="1800" dirty="0">
                <a:solidFill>
                  <a:srgbClr val="000000"/>
                </a:solidFill>
              </a:rPr>
              <a:t>랜덤 오라클 모델(ROM): H를 공개된 무작위 선택 함수로 취급한다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Katz (2016): LMS는 ROM에서 안전하다</a:t>
            </a:r>
          </a:p>
          <a:p>
            <a:r>
              <a:rPr sz="1800" dirty="0">
                <a:solidFill>
                  <a:srgbClr val="000000"/>
                </a:solidFill>
              </a:rPr>
              <a:t>양자 랜덤 오라클 모델(QROM): 공격자가 오라클에 중첩 상태로 질의할 수 있다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Eaton (2018): LMS는 QROM에서도 안전하다</a:t>
            </a:r>
          </a:p>
          <a:p>
            <a:r>
              <a:rPr sz="1800" dirty="0">
                <a:solidFill>
                  <a:srgbClr val="000000"/>
                </a:solidFill>
              </a:rPr>
              <a:t>양자 컴퓨터를 가진 공격자를 가정해도 스킴의 논리 구조에 결함이 없다는 근거다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23</a:t>
            </a:fld>
            <a:endParaRPr lang="ko-KR" alt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XMSS와 LMS 비교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914400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XMSS: LMS와 매우 비슷한, 또 다른 표준 상태 유지형 해시 기반 서명 스킴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24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7506223"/>
              </p:ext>
            </p:extLst>
          </p:nvPr>
        </p:nvGraphicFramePr>
        <p:xfrm>
          <a:off x="838200" y="1920240"/>
          <a:ext cx="10515598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78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38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38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LMS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XMSS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표준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RFC 8554, SP 800-208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RFC 8391, SP 800-208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기본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Winternitz OTS + Merkle 트리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동일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해시 입력 처리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고유 접두사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비트마스크 XOR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안전성 증명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랜덤 오라클 모델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표준 모델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하이퍼트리 변형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HSS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XMSS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MT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상태 관리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LMS·XMSS는 상태 유지형: OTS 개인키를 재사용하면 안 되므로 서명마다 증가하는 카운터(상태)를 둔다</a:t>
            </a:r>
          </a:p>
          <a:p>
            <a:r>
              <a:rPr sz="1800" dirty="0">
                <a:solidFill>
                  <a:srgbClr val="000000"/>
                </a:solidFill>
              </a:rPr>
              <a:t>상태를 안전하게 유지하기는 어렵다</a:t>
            </a:r>
            <a:endParaRPr lang="en-US" dirty="0">
              <a:solidFill>
                <a:srgbClr val="000000"/>
              </a:solidFill>
            </a:endParaRPr>
          </a:p>
          <a:p>
            <a:pPr lvl="1"/>
            <a:r>
              <a:rPr dirty="0">
                <a:solidFill>
                  <a:srgbClr val="000000"/>
                </a:solidFill>
              </a:rPr>
              <a:t>크래시 후 </a:t>
            </a:r>
            <a:r>
              <a:rPr lang="ko-KR" altLang="en-US">
                <a:solidFill>
                  <a:srgbClr val="000000"/>
                </a:solidFill>
              </a:rPr>
              <a:t>이전 상태로</a:t>
            </a:r>
            <a:r>
              <a:rPr>
                <a:solidFill>
                  <a:srgbClr val="000000"/>
                </a:solidFill>
              </a:rPr>
              <a:t> </a:t>
            </a:r>
            <a:r>
              <a:rPr dirty="0">
                <a:solidFill>
                  <a:srgbClr val="000000"/>
                </a:solidFill>
              </a:rPr>
              <a:t>복원되면 OTS 개인키가 재사용되어 안전성이 무너진다</a:t>
            </a:r>
          </a:p>
          <a:p>
            <a:r>
              <a:rPr sz="1800" dirty="0">
                <a:solidFill>
                  <a:srgbClr val="000000"/>
                </a:solidFill>
              </a:rPr>
              <a:t>적합한 경우: 서명 빈도가 낮고 상태를 신뢰할 수 있게 관리할 수 있을 때</a:t>
            </a:r>
            <a:endParaRPr lang="en-US" sz="1800" dirty="0">
              <a:solidFill>
                <a:srgbClr val="000000"/>
              </a:solidFill>
            </a:endParaRPr>
          </a:p>
          <a:p>
            <a:pPr lvl="1"/>
            <a:r>
              <a:rPr lang="ko-KR" altLang="en-US" dirty="0">
                <a:solidFill>
                  <a:srgbClr val="000000"/>
                </a:solidFill>
              </a:rPr>
              <a:t>예</a:t>
            </a: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소프트웨어 업데이트 인증</a:t>
            </a:r>
            <a:endParaRPr dirty="0">
              <a:solidFill>
                <a:srgbClr val="000000"/>
              </a:solidFill>
            </a:endParaRPr>
          </a:p>
          <a:p>
            <a:r>
              <a:rPr sz="1800" dirty="0">
                <a:solidFill>
                  <a:srgbClr val="000000"/>
                </a:solidFill>
              </a:rPr>
              <a:t>상태 관리가 어려운 환경에는 상태 없는 스킴(SPHINCS+)이 대안이다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25</a:t>
            </a:fld>
            <a:endParaRPr lang="ko-KR" alt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마무리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한계 해결: 시드+PRF(큰 개인키), Winternitz 체인·체크섬(큰 공개키·서명), Merkle 트리(일회성),</a:t>
            </a:r>
            <a:br>
              <a:rPr sz="1800" dirty="0">
                <a:solidFill>
                  <a:srgbClr val="000000"/>
                </a:solidFill>
              </a:rPr>
            </a:br>
            <a:r>
              <a:rPr sz="1800" dirty="0">
                <a:solidFill>
                  <a:srgbClr val="000000"/>
                </a:solidFill>
              </a:rPr>
              <a:t>하이퍼트리(느린 생성)</a:t>
            </a:r>
          </a:p>
          <a:p>
            <a:r>
              <a:rPr sz="1800" dirty="0">
                <a:solidFill>
                  <a:srgbClr val="000000"/>
                </a:solidFill>
              </a:rPr>
              <a:t>LM-OTS = Winternitz + 공개키 압축·단일 H·고유 접두사·메시지 무작위화</a:t>
            </a:r>
          </a:p>
          <a:p>
            <a:r>
              <a:rPr sz="1800" dirty="0">
                <a:solidFill>
                  <a:srgbClr val="000000"/>
                </a:solidFill>
              </a:rPr>
              <a:t>LMS = LM-OTS + Merkle 트리, HSS는 그 하이퍼트리 변형</a:t>
            </a:r>
            <a:endParaRPr lang="en-US" dirty="0">
              <a:solidFill>
                <a:srgbClr val="000000"/>
              </a:solidFill>
            </a:endParaRPr>
          </a:p>
          <a:p>
            <a:pPr lvl="1"/>
            <a:r>
              <a:rPr dirty="0">
                <a:solidFill>
                  <a:srgbClr val="000000"/>
                </a:solidFill>
              </a:rPr>
              <a:t>서명 2,816 B에서 1,760 B로</a:t>
            </a:r>
          </a:p>
          <a:p>
            <a:r>
              <a:rPr sz="1800" dirty="0">
                <a:solidFill>
                  <a:srgbClr val="000000"/>
                </a:solidFill>
              </a:rPr>
              <a:t>ROM(Katz)·QROM(Eaton)에서 안전, XMSS는 비트마스크로 표준 모델 증명</a:t>
            </a:r>
          </a:p>
          <a:p>
            <a:r>
              <a:rPr sz="1800" dirty="0">
                <a:solidFill>
                  <a:srgbClr val="000000"/>
                </a:solidFill>
              </a:rPr>
              <a:t>상태 유지형 스킴은 상태를 안전하게 관리할 수 있는 환경이 전제다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26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PQC Navy">
      <a:dk1>
        <a:srgbClr val="000000"/>
      </a:dk1>
      <a:lt1>
        <a:srgbClr val="FFFFFF"/>
      </a:lt1>
      <a:dk2>
        <a:srgbClr val="0A1B2E"/>
      </a:dk2>
      <a:lt2>
        <a:srgbClr val="EEF3F7"/>
      </a:lt2>
      <a:accent1>
        <a:srgbClr val="2EC4D9"/>
      </a:accent1>
      <a:accent2>
        <a:srgbClr val="1B4B7A"/>
      </a:accent2>
      <a:accent3>
        <a:srgbClr val="5A7A96"/>
      </a:accent3>
      <a:accent4>
        <a:srgbClr val="F2A65A"/>
      </a:accent4>
      <a:accent5>
        <a:srgbClr val="8FB8C9"/>
      </a:accent5>
      <a:accent6>
        <a:srgbClr val="3F8F7A"/>
      </a:accent6>
      <a:hlink>
        <a:srgbClr val="1B7FA8"/>
      </a:hlink>
      <a:folHlink>
        <a:srgbClr val="5A7A96"/>
      </a:folHlink>
    </a:clrScheme>
    <a:fontScheme name="PQC">
      <a:majorFont>
        <a:latin typeface="맑은 고딕" panose="020B05030200000200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B05030200000200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3420</TotalTime>
  <Words>1947</Words>
  <Application>Microsoft Office PowerPoint</Application>
  <PresentationFormat>와이드스크린</PresentationFormat>
  <Paragraphs>263</Paragraphs>
  <Slides>26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0" baseType="lpstr">
      <vt:lpstr>맑은 고딕</vt:lpstr>
      <vt:lpstr>Arial</vt:lpstr>
      <vt:lpstr>Cambria Math</vt:lpstr>
      <vt:lpstr>Office 테마</vt:lpstr>
      <vt:lpstr>Post-Quantum Cryptography</vt:lpstr>
      <vt:lpstr>Plan</vt:lpstr>
      <vt:lpstr>Lamport의 한계와 해법</vt:lpstr>
      <vt:lpstr>Lamport의 네 가지 한계</vt:lpstr>
      <vt:lpstr>한계별 해법 한눈에 보기</vt:lpstr>
      <vt:lpstr>해시 체인</vt:lpstr>
      <vt:lpstr>Winternitz OTS: 키 생성·서명·검증</vt:lpstr>
      <vt:lpstr>체크섬이 없으면 위조된다</vt:lpstr>
      <vt:lpstr>체크섬의 정의와 예제</vt:lpstr>
      <vt:lpstr>체크섬이 위조를 막는 이유</vt:lpstr>
      <vt:lpstr>파라미터와 크기 비교</vt:lpstr>
      <vt:lpstr>Merkle 트리의 구성</vt:lpstr>
      <vt:lpstr>인증 경로와 검증</vt:lpstr>
      <vt:lpstr>Merkle 트리의 크기</vt:lpstr>
      <vt:lpstr>하이퍼트리의 구조</vt:lpstr>
      <vt:lpstr>하이퍼트리의 동작</vt:lpstr>
      <vt:lpstr>Leighton-Micali 서명 스킴 (LMS)</vt:lpstr>
      <vt:lpstr>LM-OTS = Winternitz + 네 가지 변경</vt:lpstr>
      <vt:lpstr>고유 접두사와 메시지 무작위화</vt:lpstr>
      <vt:lpstr>LM-OTS 알고리즘</vt:lpstr>
      <vt:lpstr>LMS: 노드 번호와 Ti</vt:lpstr>
      <vt:lpstr>LMS 서명 크기</vt:lpstr>
      <vt:lpstr>안전성: ROM과 QROM</vt:lpstr>
      <vt:lpstr>XMSS와 LMS 비교</vt:lpstr>
      <vt:lpstr>상태 관리</vt:lpstr>
      <vt:lpstr>마무리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735</cp:revision>
  <dcterms:created xsi:type="dcterms:W3CDTF">2026-03-17T05:07:50Z</dcterms:created>
  <dcterms:modified xsi:type="dcterms:W3CDTF">2026-10-01T10:27:41Z</dcterms:modified>
</cp:coreProperties>
</file>