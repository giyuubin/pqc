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2026-08-23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11. Dilithium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pPr marL="342900" indent="-342900">
              <a:buFont typeface="+mj-lt"/>
              <a:buAutoNum type="arabicPeriod"/>
            </a:pPr>
            <a:r>
              <a:rPr dirty="0"/>
              <a:t>Schnorr 서명 스킴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Dilithium의 표기법과 파라미터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Dilithium: 토이 버전과 다섯 가지 문제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HighBits/LowBits 정의 (단순화 버전)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t 압축 없는 Dilithium 알고리즘과 숫자 예제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안전성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Schnorr 서명 스킴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Dilithium은 Schnorr 서명 스킴(1991)의 격자 버전이다</a:t>
                </a:r>
              </a:p>
              <a:p>
                <a:r>
                  <a:rPr dirty="0"/>
                  <a:t>위수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r>
                  <a:rPr dirty="0"/>
                  <a:t>이 소수인 순환군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</m:oMath>
                </a14:m>
                <a:r>
                  <a:rPr dirty="0"/>
                  <a:t>와 고정 생성원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dirty="0"/>
                  <a:t>, 해시 함수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</m:oMath>
                </a14:m>
                <a:endParaRPr dirty="0"/>
              </a:p>
              <a:p>
                <a:r>
                  <a:rPr dirty="0"/>
                  <a:t>개인 서명키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[1,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−1]</m:t>
                    </m:r>
                  </m:oMath>
                </a14:m>
                <a:r>
                  <a:rPr dirty="0"/>
                  <a:t>, 공개 검증키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sup>
                    </m:sSup>
                  </m:oMath>
                </a14:m>
                <a:endParaRPr dirty="0"/>
              </a:p>
              <a:p>
                <a:r>
                  <a:rPr dirty="0"/>
                  <a:t>공개키에서 개인키를 복원하는 것은 이산로그 문제(DLP)의 인스턴스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Schnorr 서명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메시지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∈{0,1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dirty="0"/>
                  <a:t>에 서명하기 위해 Alice가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[1,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−1]</m:t>
                    </m:r>
                  </m:oMath>
                </a14:m>
                <a:r>
                  <a:rPr dirty="0"/>
                  <a:t> 선택,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sup>
                    </m:sSup>
                  </m:oMath>
                </a14:m>
                <a:r>
                  <a:rPr dirty="0"/>
                  <a:t> 계산 (커밋먼트)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 (챌린지)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𝑐𝑎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𝑚𝑜𝑑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r>
                  <a:rPr dirty="0"/>
                  <a:t> 계산 (응답)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출력: 서명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Schnorr 서명 검증과 정확성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공개키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sup>
                    </m:sSup>
                  </m:oMath>
                </a14:m>
                <a:r>
                  <a:rPr dirty="0"/>
                  <a:t>, 메시지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</m:t>
                    </m:r>
                  </m:oMath>
                </a14:m>
                <a:r>
                  <a:rPr dirty="0"/>
                  <a:t>, 서명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로 Bob이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sup>
                    </m:sSup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이면 accept</a:t>
                </a:r>
              </a:p>
              <a:p>
                <a:r>
                  <a:rPr dirty="0"/>
                  <a:t>정확성: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≡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𝑐𝑎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)⟺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dirty="0"/>
                  <a:t> 이므로 올바른 서명은 항상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dirty="0"/>
                  <a:t>가 되어 검증을 통과한다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Schnorr의 안전성 직관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공격자는 y를 자유롭게 고를 수 있어도, 개인키 a를 모르면 무작위 챌린지 c에 대한 올바른 응답 z를 계산할 수 없다</a:t>
            </a:r>
          </a:p>
          <a:p>
            <a:r>
              <a:rPr dirty="0"/>
              <a:t>이는 a를 복원하는 문제(이산로그)의 어려움에 근거한 직관이다</a:t>
            </a:r>
          </a:p>
          <a:p>
            <a:r>
              <a:rPr dirty="0"/>
              <a:t>Dilithium에서는 이산로그 대신 (M)LWE·(M)SIS의 어려움이 같은 역할을 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표기</a:t>
            </a:r>
            <a:r>
              <a:rPr lang="ko-KR" altLang="en-US" dirty="0"/>
              <a:t>법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Dilithium은 Kyber와 같은 대수 구조를 공유한다</a:t>
                </a:r>
              </a:p>
              <a:p>
                <a:r>
                  <a:rPr dirty="0"/>
                  <a:t>다항식 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]/(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/>
                  <a:t>작은 다항식 집합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𝜂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={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:‖</m:t>
                    </m:r>
                    <m:r>
                      <a:rPr lang="en-US" i="1">
                        <a:latin typeface="Cambria Math"/>
                      </a:rPr>
                      <m:t>𝑓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𝜂</m:t>
                    </m:r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r>
                  <a:rPr dirty="0"/>
                  <a:t> — 계수가 (대칭 mod q 표현으로)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[−</m:t>
                    </m:r>
                    <m:r>
                      <a:rPr lang="en-US" i="1">
                        <a:latin typeface="Cambria Math"/>
                      </a:rPr>
                      <m:t>𝜂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𝜂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dirty="0"/>
                  <a:t> 안에 있는 다항식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Dilithium의 새 표기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dirty="0"/>
                  <a:t>: 계수가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dirty="0"/>
                  <a:t>에 있는 다항식의 집합 (왼쪽이 열린 구간)</a:t>
                </a:r>
              </a:p>
              <a:p>
                <a:pPr lvl="1"/>
                <a:r>
                  <a:rPr dirty="0"/>
                  <a:t>이유: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19</m:t>
                        </m:r>
                      </m:sup>
                    </m:sSup>
                  </m:oMath>
                </a14:m>
                <a:r>
                  <a:rPr dirty="0"/>
                  <a:t>처럼 2의 거듭제곱일 때, 이 구간은 정확히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개의 정수를 담아 균등 비트열로 바로 인코딩된다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,ℓ)</m:t>
                    </m:r>
                  </m:oMath>
                </a14:m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&gt;ℓ</m:t>
                    </m:r>
                  </m:oMath>
                </a14:m>
                <a:r>
                  <a:rPr dirty="0"/>
                  <a:t>인 두 정수 — 행렬 A의 행·열 개수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sub>
                    </m:sSub>
                  </m:oMath>
                </a14:m>
                <a:r>
                  <a:rPr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에 속하면서 정확히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𝜏</m:t>
                    </m:r>
                  </m:oMath>
                </a14:m>
                <a:r>
                  <a:rPr dirty="0"/>
                  <a:t>개의 계수가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±1</m:t>
                    </m:r>
                  </m:oMath>
                </a14:m>
                <a:r>
                  <a:rPr dirty="0"/>
                  <a:t>인 다항식들의 집합 — 챌린지 c가 여기서 나온다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𝜏𝜂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ML-DSA-87 파라미터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ML-DSA-87(FIPS 204의 최고 보안 카테고리) 파라미터를 기준으로 삼는다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798407"/>
              </p:ext>
            </p:extLst>
          </p:nvPr>
        </p:nvGraphicFramePr>
        <p:xfrm>
          <a:off x="838200" y="2979000"/>
          <a:ext cx="10515600" cy="9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(k,ℓ)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γ</a:t>
                      </a:r>
                      <a:r>
                        <a:rPr sz="1800" b="1" baseline="-25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2²³−2¹³+1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(8,7)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  <a:r>
                        <a:rPr lang="en-US" sz="1800" baseline="30000" dirty="0"/>
                        <a:t>19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Dilithium: 키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en-US" dirty="0"/>
                  <a:t>Schnorr</a:t>
                </a:r>
                <a:r>
                  <a:rPr lang="ko-KR" altLang="en-US" dirty="0"/>
                  <a:t>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자리에 </a:t>
                </a:r>
                <a:r>
                  <a:rPr lang="en-US" dirty="0"/>
                  <a:t>MLWE </a:t>
                </a:r>
                <a:r>
                  <a:rPr lang="ko-KR" altLang="en-US" dirty="0"/>
                  <a:t>인스턴스를 놓는다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∈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𝑅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𝑞</m:t>
                          </m:r>
                        </m:sub>
                        <m:sup>
                          <m:r>
                            <a:rPr lang="ar-AE" i="1">
                              <a:latin typeface="Cambria Math"/>
                            </a:rPr>
                            <m:t>𝑘</m:t>
                          </m:r>
                          <m:r>
                            <a:rPr lang="ar-AE" i="1">
                              <a:latin typeface="Cambria Math"/>
                            </a:rPr>
                            <m:t>×</m:t>
                          </m:r>
                          <m:r>
                            <a:rPr lang="ar-AE" i="1">
                              <a:latin typeface="Cambria Math"/>
                            </a:rPr>
                            <m:t>ℓ</m:t>
                          </m:r>
                        </m:sup>
                      </m:sSubSup>
                      <m:r>
                        <a:rPr lang="ar-AE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∈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𝑅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𝜂</m:t>
                          </m:r>
                        </m:sub>
                        <m:sup>
                          <m:r>
                            <a:rPr lang="ar-AE" i="1">
                              <a:latin typeface="Cambria Math"/>
                            </a:rPr>
                            <m:t>ℓ</m:t>
                          </m:r>
                        </m:sup>
                      </m:sSubSup>
                      <m:r>
                        <a:rPr lang="ar-AE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∈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𝑅</m:t>
                          </m:r>
                        </m:sub>
                      </m:sSub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𝜂</m:t>
                          </m:r>
                        </m:sub>
                        <m:sup>
                          <m:r>
                            <a:rPr lang="ar-AE" i="1">
                              <a:latin typeface="Cambria Math"/>
                            </a:rPr>
                            <m:t>𝑘</m:t>
                          </m:r>
                        </m:sup>
                      </m:sSubSup>
                      <m:r>
                        <a:rPr lang="ar-AE" i="1">
                          <a:latin typeface="Cambria Math"/>
                        </a:rPr>
                        <m:t>,</m:t>
                      </m:r>
                      <m:r>
                        <a:rPr lang="ar-AE" i="1">
                          <a:latin typeface="Cambria Math"/>
                        </a:rPr>
                        <m:t>𝑡</m:t>
                      </m:r>
                      <m:r>
                        <a:rPr lang="ar-AE" i="1">
                          <a:latin typeface="Cambria Math"/>
                        </a:rPr>
                        <m:t>=</m:t>
                      </m:r>
                      <m:r>
                        <a:rPr lang="ar-AE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/>
                        </a:rPr>
                        <m:t>∈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/>
                            </a:rPr>
                            <m:t>𝑞</m:t>
                          </m:r>
                        </m:sub>
                        <m:sup>
                          <m:r>
                            <a:rPr lang="ar-AE" i="1">
                              <a:latin typeface="Cambria Math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  <a:p>
                <a:r>
                  <a:rPr lang="ko-KR" altLang="en-US" dirty="0"/>
                  <a:t>검증키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공개키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/>
                          </a:rPr>
                          <m:t>𝐴</m:t>
                        </m:r>
                        <m:r>
                          <a:rPr lang="ar-AE" i="1">
                            <a:latin typeface="Cambria Math"/>
                          </a:rPr>
                          <m:t>,</m:t>
                        </m:r>
                        <m:r>
                          <a:rPr lang="ar-AE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ar-A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서명키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개인키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)</m:t>
                    </m:r>
                  </m:oMath>
                </a14:m>
                <a:endParaRPr lang="ar-AE" dirty="0"/>
              </a:p>
              <a:p>
                <a:r>
                  <a:rPr lang="ko-KR" altLang="en-US" dirty="0"/>
                  <a:t>공개키에서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을 복원하는 것은 </a:t>
                </a:r>
                <a:r>
                  <a:rPr lang="en-US" dirty="0"/>
                  <a:t>ss-MLWE(</a:t>
                </a:r>
                <a:r>
                  <a:rPr lang="ko-KR" altLang="en-US" dirty="0"/>
                  <a:t>짧은 비밀 </a:t>
                </a:r>
                <a:r>
                  <a:rPr lang="en-US" dirty="0"/>
                  <a:t>MLWE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의 인스턴스다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lang="ko-KR" altLang="en-US" dirty="0"/>
              <a:t>서명</a:t>
            </a:r>
            <a:r>
              <a:rPr dirty="0"/>
              <a:t>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Schnorr의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𝑐𝑎</m:t>
                    </m:r>
                  </m:oMath>
                </a14:m>
                <a:r>
                  <a:rPr dirty="0"/>
                  <a:t>를 그대로 격자 버전으로 옮긴다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𝐴𝑦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dirty="0"/>
                  <a:t> (커밋먼트)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)∈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sub>
                    </m:sSub>
                  </m:oMath>
                </a14:m>
                <a:r>
                  <a:rPr dirty="0"/>
                  <a:t> (챌린지),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 (응답)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을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dirty="0"/>
                  <a:t>보다 훨씬 작게 잡는 이유: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𝐴𝑦</m:t>
                    </m:r>
                  </m:oMath>
                </a14:m>
                <a:r>
                  <a:rPr dirty="0"/>
                  <a:t>에서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</m:oMath>
                </a14:m>
                <a:r>
                  <a:rPr dirty="0"/>
                  <a:t>를 복원하는 것이 (비동차) MSIS 인스턴스가 되려면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</m:oMath>
                </a14:m>
                <a:r>
                  <a:rPr dirty="0"/>
                  <a:t>가 작아야 하기 때문 (SIS↔ISIS와 같은 구도)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검증자의 문제: w를 계산할 수 없다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Bob은 서명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와 공개키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로 커밋먼트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dirty="0"/>
                  <a:t>를 재구성해야 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(∵</m:t>
                      </m:r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∴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검증자는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</m:oMath>
                </a14:m>
                <a:r>
                  <a:rPr dirty="0"/>
                  <a:t>는 알지만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는 모르므로,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dirty="0"/>
                  <a:t> 자체가 아니라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까지만 계산할 수 있다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해법: HighBits로 커밋먼트 압축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아이디어: 서명자는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dirty="0"/>
                  <a:t> 전체가 아니라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dirty="0"/>
                  <a:t>의 상위 비트(HighBits)만으로 챌린지를 만든다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),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𝐻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𝑀</m:t>
                      </m:r>
                      <m:r>
                        <a:rPr lang="en-US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만약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의 LowBits가 충분히 작다면,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도 작으므로 상위 비트는 바뀌지 않는다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따라서 검증자가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를 재현할 수 있다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토이 버전: 서명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HighBits로 커밋먼트를 압축하는 아이디어를 반영한 서명 생성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Found ← false로 초기화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Found = false인 동안 다음을 반복: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 선택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 계산</a:t>
                </a:r>
              </a:p>
              <a:p>
                <a:pPr marL="1257300" lvl="2" indent="-342900">
                  <a:buFont typeface="+mj-lt"/>
                  <a:buAutoNum type="arabicParenR"/>
                </a:pPr>
                <a:r>
                  <a:rPr dirty="0"/>
                  <a:t>LowBits(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)가 충분히 작으면 Found ← true (아니면 반복)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출력: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Dilithium 토이 버전: 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공개키 (A,t), 메시지 M, 서명 σ=(c,z)로 Bob이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이면 accept</a:t>
                </a:r>
              </a:p>
              <a:p>
                <a:r>
                  <a:rPr dirty="0"/>
                  <a:t>검증키: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, 서명키: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, 여기서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×ℓ</m:t>
                        </m:r>
                      </m:sup>
                    </m:sSubSup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dirty="0"/>
              </a:p>
              <a:p>
                <a:r>
                  <a:rPr dirty="0"/>
                  <a:t>정확성은 앞서 이미 증명했다 — 이 토이 버전은 작동은 하지만 다섯 가지 문제가 있다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t>다섯가지</a:t>
            </a:r>
            <a:r>
              <a:rPr dirty="0"/>
              <a:t>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문제 1: 큰 공개키·개인키</a:t>
            </a:r>
          </a:p>
          <a:p>
            <a:r>
              <a:rPr dirty="0"/>
              <a:t>문제 2: 메시지 반복 해싱</a:t>
            </a:r>
          </a:p>
          <a:p>
            <a:r>
              <a:rPr dirty="0"/>
              <a:t>문제 3: 서명마다 필요한 난수</a:t>
            </a:r>
          </a:p>
          <a:p>
            <a:r>
              <a:rPr dirty="0"/>
              <a:t>문제 4: 서명이 s₁의 정보를 누출한다</a:t>
            </a:r>
          </a:p>
          <a:p>
            <a:r>
              <a:rPr dirty="0"/>
              <a:t>문제 5: 압축된 t로는 HighBits를 계산할 수 없다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1: 큰 공개키·개인키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ML-DSA-87 파라미터에서 (q,n,(k,ℓ))=(2²³−2¹³+1, 256, (8,7))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34136"/>
              </p:ext>
            </p:extLst>
          </p:nvPr>
        </p:nvGraphicFramePr>
        <p:xfrm>
          <a:off x="838200" y="2629000"/>
          <a:ext cx="10515600" cy="16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구성 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차원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A (∈ R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, k×ℓ)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56×256×23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41,216 </a:t>
                      </a:r>
                      <a:r>
                        <a:rPr lang="en-US" sz="1800" dirty="0"/>
                        <a:t>bytes</a:t>
                      </a:r>
                      <a:endParaRPr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 (∈ R</a:t>
                      </a:r>
                      <a:r>
                        <a:rPr sz="1800" baseline="-25000" dirty="0"/>
                        <a:t>q</a:t>
                      </a:r>
                      <a:r>
                        <a:rPr sz="1800" dirty="0"/>
                        <a:t>, k개)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8×256×23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5,888 </a:t>
                      </a:r>
                      <a:r>
                        <a:rPr lang="en-US" altLang="ko-KR" sz="1800" dirty="0"/>
                        <a:t>bytes</a:t>
                      </a:r>
                      <a:endParaRPr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(s₁,s₂) (η=2)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15×256×3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1,440 </a:t>
                      </a:r>
                      <a:r>
                        <a:rPr lang="en-US" altLang="ko-KR" sz="1800" dirty="0"/>
                        <a:t>bytes</a:t>
                      </a:r>
                      <a:endParaRPr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1</a:t>
            </a:r>
            <a:r>
              <a:rPr lang="en-US" dirty="0"/>
              <a:t> </a:t>
            </a:r>
            <a:r>
              <a:rPr lang="ko-KR" altLang="en-US" dirty="0"/>
              <a:t>해법</a:t>
            </a:r>
            <a:r>
              <a:rPr dirty="0"/>
              <a:t>: 공개·비밀 시드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A는 256비트 공개 시드 ρ로부터 공개 의사난수 생성기 Expand</a:t>
                </a:r>
                <a:r>
                  <a:rPr baseline="-25000" dirty="0"/>
                  <a:t>A</a:t>
                </a:r>
                <a:r>
                  <a:rPr dirty="0"/>
                  <a:t>로 생성 — 공개키가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로 줄어든다</a:t>
                </a:r>
              </a:p>
              <a:p>
                <a:pPr lvl="1"/>
                <a:r>
                  <a:rPr dirty="0"/>
                  <a:t>Kyber가 시드 ρ로 A를 생성한 것과 정확히 같은 기법이다</a:t>
                </a:r>
              </a:p>
              <a:p>
                <a:r>
                  <a:rPr dirty="0"/>
                  <a:t>t의 상위 비트만 남기는 압축은 </a:t>
                </a:r>
                <a:r>
                  <a:rPr lang="ko-KR" altLang="en-US" dirty="0"/>
                  <a:t>다음 차시</a:t>
                </a:r>
                <a:r>
                  <a:rPr dirty="0"/>
                  <a:t>에서 다룬다</a:t>
                </a:r>
              </a:p>
              <a:p>
                <a:r>
                  <a:rPr dirty="0"/>
                  <a:t>s₁, s₂는 512비트 비밀 시드 ρ'로부터 Expand</a:t>
                </a:r>
                <a:r>
                  <a:rPr baseline="-25000" dirty="0"/>
                  <a:t>S</a:t>
                </a:r>
                <a:r>
                  <a:rPr dirty="0"/>
                  <a:t>로 생성한다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2: 메시지 반복 해싱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서명 루프가 반복될 때마다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을 계산하며 M 전체를 매번 해싱한다 — M이 크면 병목</a:t>
                </a:r>
              </a:p>
              <a:p>
                <a:r>
                  <a:rPr dirty="0"/>
                  <a:t>해법: 루프 밖에서 메시지 표현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을 한 번만 계산하고, 루프 안에서는 M 대신 μ를 쓴다</a:t>
                </a:r>
                <a:br>
                  <a:rPr lang="en-US" dirty="0"/>
                </a:br>
                <a:r>
                  <a:rPr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3: 서명마다 필요한 난수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루프를 반복할 때마다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을 새로 뽑아야 하므로 많은 난수 비트가 필요하다</a:t>
                </a:r>
              </a:p>
              <a:p>
                <a:r>
                  <a:rPr dirty="0"/>
                  <a:t>해법: 비밀 시드 ρ''와 카운터 κ로부터 y를 생성 (ρ''는 비밀키 K와 메시지 해시 μ를 해싱해 얻음)</a:t>
                </a:r>
              </a:p>
              <a:p>
                <a:r>
                  <a:rPr dirty="0"/>
                  <a:t>이렇게 하면 서명 과정이 결정적(deterministic)이 된다 — 같은 메시지·같은 키에는 항상 같은 서명</a:t>
                </a:r>
              </a:p>
              <a:p>
                <a:r>
                  <a:rPr dirty="0"/>
                  <a:t>단, FIPS 204 기본값(hedged 서명)에서는 rnd이 매번 무작위라 이 성질이 깨진다 — 완전한 결정적 서명은 rnd=0일 때만 성립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4: 서명이 s₁의 정보를 누출한다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이므로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coeff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)≤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𝜂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이므로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coeff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𝑧</m:t>
                      </m:r>
                      <m:r>
                        <a:rPr lang="en-US" i="1"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z의 어떤 계수가 최댓값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이면, 대응하는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의 계수는 정확히 β여야 한다 — c는 공개이므로 이는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에 대한 정보(선형 방정식 하나)를 누출한다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BA76E1-D59D-0CC5-3E84-00F15D4D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76997"/>
            <a:ext cx="10515600" cy="10856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4: 일반화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일반적으로, z의 계수가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</m:oMath>
                </a14:m>
                <a:r>
                  <a:rPr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en-US" i="1">
                        <a:latin typeface="Cambria Math"/>
                      </a:rPr>
                      <m:t>+1≤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)이면 대응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의 계수는 구간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dirty="0"/>
                  <a:t> 안에 있어야 한다 (전체 구간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[−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dirty="0"/>
                  <a:t>보다 좁혀짐)</a:t>
                </a:r>
              </a:p>
              <a:p>
                <a:r>
                  <a:rPr dirty="0"/>
                  <a:t>z의 계수가 양 끝(경계)에 몰릴수록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의 가능 범위가 좁아져 누출되는 정보가 늘어난다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3CF6CA-CD81-2D6A-DBC7-9D29C246C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10670"/>
            <a:ext cx="10515600" cy="14520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4</a:t>
            </a:r>
            <a:r>
              <a:rPr lang="en-US" dirty="0"/>
              <a:t> </a:t>
            </a:r>
            <a:r>
              <a:rPr lang="ko-KR" altLang="en-US" dirty="0"/>
              <a:t>해법</a:t>
            </a:r>
            <a:r>
              <a:rPr dirty="0"/>
              <a:t>: 거부 샘플링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서명자는 z의 모든 계수가 다음 구간(안쪽 대괄호) 안에 들 때까지 y를 반복해서 다시 뽑는다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coeff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𝑧</m:t>
                      </m:r>
                      <m:r>
                        <a:rPr lang="en-US" i="1"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Dilithium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: </m:t>
                      </m:r>
                      <m:r>
                        <a:rPr lang="en-US" i="1">
                          <a:latin typeface="Cambria Math"/>
                        </a:rPr>
                        <m:t>‖</m:t>
                      </m:r>
                      <m:r>
                        <a:rPr lang="en-US" i="1">
                          <a:latin typeface="Cambria Math"/>
                        </a:rPr>
                        <m:t>𝑧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이런 절차를 거부 샘플링(rejection sampling)이라 한다 — CBD의 대안 근거</a:t>
                </a:r>
              </a:p>
              <a:p>
                <a:r>
                  <a:rPr dirty="0"/>
                  <a:t>β가 γ1보다 훨씬 작으므로(ML-DSA-87: γ1≈500,000, β=120) 대부분의 시도에서 곧바로 조건을 만족한다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5A63FF-6809-5F83-8825-6182F13BD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047195"/>
            <a:ext cx="10515601" cy="15154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문제 5: 압축된 t로는 HighBits를 계산할 수 없다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검증자는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를 계산해야 하는데, t가 압축되면(문제 1의 해법) 상위 비트만 알고 있어 ct를 정확히 계산할 수 없다</a:t>
                </a:r>
              </a:p>
              <a:p>
                <a:r>
                  <a:rPr dirty="0"/>
                  <a:t>해</a:t>
                </a:r>
                <a:r>
                  <a:rPr lang="ko-KR" altLang="en-US" dirty="0"/>
                  <a:t>법</a:t>
                </a:r>
                <a:r>
                  <a:rPr dirty="0"/>
                  <a:t>: 서명자가 힌트 비트(hint bits) h를 서명에 추가로 실어 보낸다 — 자세한 내용은 </a:t>
                </a:r>
                <a:r>
                  <a:rPr lang="ko-KR" altLang="en-US" dirty="0"/>
                  <a:t>다음 차시</a:t>
                </a:r>
                <a:r>
                  <a:rPr dirty="0"/>
                  <a:t>에서 다룬다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HighBits/LowBits 정의 (단순화 버전)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지금까지 쓴 대칭 mod q를 짝수 모듈러스 α로 일반화한다</a:t>
                </a:r>
              </a:p>
              <a:p>
                <a:r>
                  <a:rPr dirty="0"/>
                  <a:t>α≥2가 짝수,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dirty="0"/>
                  <a:t>일 때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mods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/2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정수 전체로 확장: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mods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𝑚𝑜𝑑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mods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</m:oMath>
                </a14:m>
                <a:r>
                  <a:rPr dirty="0"/>
                  <a:t>, 항상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/2≤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mods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/2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Decompose 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95322"/>
                <a:ext cx="5642811" cy="4701089"/>
              </a:xfrm>
            </p:spPr>
            <p:txBody>
              <a:bodyPr wrap="square"/>
              <a:lstStyle/>
              <a:p>
                <a:r>
                  <a:rPr dirty="0"/>
                  <a:t>α가 q−1의 짝수 약수, m=(q−1)/α라 하자. </a:t>
                </a:r>
                <a:br>
                  <a:rPr lang="en-US" dirty="0"/>
                </a:br>
                <a:r>
                  <a:rPr dirty="0"/>
                  <a:t>r∈[0,q−1]에 대해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mods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)/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</m:oMath>
                </a14:m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return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— 표기: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LowBits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/>
                  <a:t>예: q=21, α=4, m=5일 때 r=3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)=(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,−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(r1α는 r에 가장 가까운 α의 배수, 동점이면 더 작은 배수를 택함)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95322"/>
                <a:ext cx="5642811" cy="4701089"/>
              </a:xfrm>
              <a:blipFill>
                <a:blip r:embed="rId2"/>
                <a:stretch>
                  <a:fillRect l="-648" r="-9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BBA719-A901-C8A7-65FA-9DF8D59C2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271" y="1740710"/>
            <a:ext cx="4167529" cy="38103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해시 함수: SHAKE256과 XOF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SHAKE256은 FIPS 202에 명시된 가변 길이 해시 함수다: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SHAKE</m:t>
                    </m:r>
                    <m:r>
                      <a:rPr lang="en-US" i="1">
                        <a:latin typeface="Cambria Math"/>
                      </a:rPr>
                      <m:t>256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는 M의 d비트 해시</a:t>
                </a:r>
              </a:p>
              <a:p>
                <a:r>
                  <a:rPr dirty="0"/>
                  <a:t>SHAKE256은 XOF(eXtendable-Output Function) 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</m:oMath>
                </a14:m>
                <a:r>
                  <a:rPr dirty="0"/>
                  <a:t>이면 앞 d'비트가 그대로 재사용된다</a:t>
                </a:r>
              </a:p>
              <a:p>
                <a:r>
                  <a:rPr dirty="0"/>
                  <a:t>Dilithium은 SHAKE256·SHAKE128을 함께 쓴다: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 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SHAKE</m:t>
                    </m:r>
                    <m:r>
                      <a:rPr lang="en-US" i="1">
                        <a:latin typeface="Cambria Math"/>
                      </a:rPr>
                      <m:t>256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/>
                  <a:t>SHAKE128은 Expand</a:t>
                </a:r>
                <a:r>
                  <a:rPr baseline="-25000" dirty="0"/>
                  <a:t>A</a:t>
                </a:r>
                <a:r>
                  <a:rPr dirty="0"/>
                  <a:t>(행렬 A 생성)에, SHAKE256은 그 외(H·Expand</a:t>
                </a:r>
                <a:r>
                  <a:rPr baseline="-25000" dirty="0"/>
                  <a:t>S</a:t>
                </a:r>
                <a:r>
                  <a:rPr dirty="0"/>
                  <a:t> 등)에 쓰인다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확장된 표기와 ML-DSA-87 전체 파라미터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새로 추가되는 표기: γ2와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𝛼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 (Decompose에 쓰임), λ: 서명 성분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dirty="0"/>
                  <a:t>의 비트 길이의 절반</a:t>
                </a:r>
              </a:p>
              <a:p>
                <a:r>
                  <a:rPr dirty="0"/>
                  <a:t>SampleInBall: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{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𝜆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12365"/>
              </p:ext>
            </p:extLst>
          </p:nvPr>
        </p:nvGraphicFramePr>
        <p:xfrm>
          <a:off x="838200" y="3195866"/>
          <a:ext cx="10515600" cy="9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26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(k,ℓ)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γ</a:t>
                      </a:r>
                      <a:r>
                        <a:rPr sz="1800" b="1" baseline="-25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γ</a:t>
                      </a:r>
                      <a:r>
                        <a:rPr sz="1800" b="1" baseline="-250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8,380,417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(8,7)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  <a:r>
                        <a:rPr lang="en-US" sz="1800" baseline="30000" dirty="0"/>
                        <a:t>19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261,888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t 압축 없는 Dilithium: 키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en-US" dirty="0"/>
                  <a:t>t </a:t>
                </a:r>
                <a:r>
                  <a:rPr lang="ko-KR" altLang="en-US" dirty="0"/>
                  <a:t>압축 없는 </a:t>
                </a:r>
                <a:r>
                  <a:rPr lang="en-US" dirty="0"/>
                  <a:t>Dilithium</a:t>
                </a:r>
                <a:r>
                  <a:rPr lang="ko-KR" altLang="en-US" dirty="0"/>
                  <a:t>의 키 생성</a:t>
                </a:r>
                <a:r>
                  <a:rPr lang="en-US" altLang="ko-KR" dirty="0"/>
                  <a:t>: </a:t>
                </a:r>
                <a:r>
                  <a:rPr lang="en-US" dirty="0"/>
                  <a:t>Alice</a:t>
                </a:r>
                <a:r>
                  <a:rPr lang="ko-KR" altLang="en-US" dirty="0"/>
                  <a:t>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{</m:t>
                    </m:r>
                    <m:r>
                      <a:rPr lang="ar-AE" i="1">
                        <a:latin typeface="Cambria Math"/>
                      </a:rPr>
                      <m:t>0</m:t>
                    </m:r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256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선택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𝜌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𝐾</m:t>
                    </m:r>
                    <m:r>
                      <a:rPr lang="ar-AE" i="1">
                        <a:latin typeface="Cambria Math"/>
                      </a:rPr>
                      <m:t>) =</m:t>
                    </m:r>
                    <m:r>
                      <a:rPr lang="ar-AE" i="1">
                        <a:latin typeface="Cambria Math"/>
                      </a:rPr>
                      <m:t>𝐻</m:t>
                    </m:r>
                    <m:r>
                      <a:rPr lang="ar-AE" i="1">
                        <a:latin typeface="Cambria Math"/>
                      </a:rPr>
                      <m:t>(</m:t>
                    </m:r>
                    <m:r>
                      <a:rPr lang="ar-AE" i="1">
                        <a:latin typeface="Cambria Math"/>
                      </a:rPr>
                      <m:t>𝜉</m:t>
                    </m:r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1024</m:t>
                    </m:r>
                    <m:r>
                      <a:rPr lang="ar-AE" i="1">
                        <a:latin typeface="Cambria Math"/>
                      </a:rPr>
                      <m:t>)</m:t>
                    </m:r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𝐴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ExpandA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ar-AE" i="1">
                            <a:latin typeface="Cambria Math"/>
                          </a:rPr>
                          <m:t>𝑘</m:t>
                        </m:r>
                        <m:r>
                          <a:rPr lang="ar-AE" i="1">
                            <a:latin typeface="Cambria Math"/>
                          </a:rPr>
                          <m:t>×</m:t>
                        </m:r>
                        <m:r>
                          <a:rPr lang="ar-AE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)</m:t>
                    </m:r>
                    <m:r>
                      <a:rPr lang="ar-AE" i="1" smtClean="0">
                        <a:latin typeface="Cambria Math"/>
                      </a:rPr>
                      <m:t> 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𝜂</m:t>
                        </m:r>
                      </m:sub>
                      <m:sup>
                        <m:r>
                          <a:rPr lang="ar-AE" i="1">
                            <a:latin typeface="Cambria Math"/>
                          </a:rPr>
                          <m:t>ℓ</m:t>
                        </m:r>
                      </m:sup>
                    </m:sSubSup>
                    <m:r>
                      <a:rPr lang="ar-AE" i="1">
                        <a:latin typeface="Cambria Math"/>
                      </a:rPr>
                      <m:t>×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𝜂</m:t>
                        </m:r>
                      </m:sub>
                      <m:sup>
                        <m:r>
                          <a:rPr lang="ar-AE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𝑡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ko-KR" altLang="en-US" i="1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ar-AE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ko-KR" altLang="en-US" dirty="0"/>
                  <a:t>계산</a:t>
                </a:r>
                <a:endParaRPr lang="ar-AE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/>
                      </a:rPr>
                      <m:t>𝑡𝑟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r>
                      <a:rPr lang="ar-AE" i="1">
                        <a:latin typeface="Cambria Math"/>
                      </a:rPr>
                      <m:t>𝐻</m:t>
                    </m:r>
                    <m:r>
                      <a:rPr lang="ar-AE" i="1">
                        <a:latin typeface="Cambria Math"/>
                      </a:rPr>
                      <m:t>(</m:t>
                    </m:r>
                    <m:r>
                      <a:rPr lang="ar-AE" i="1">
                        <a:latin typeface="Cambria Math"/>
                      </a:rPr>
                      <m:t>𝜌</m:t>
                    </m:r>
                    <m:r>
                      <a:rPr lang="ar-AE" i="1">
                        <a:latin typeface="Cambria Math"/>
                      </a:rPr>
                      <m:t>‖</m:t>
                    </m:r>
                    <m:r>
                      <a:rPr lang="ar-AE" i="1">
                        <a:latin typeface="Cambria Math"/>
                      </a:rPr>
                      <m:t>𝑡</m:t>
                    </m:r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2</m:t>
                    </m:r>
                    <m:r>
                      <a:rPr lang="ar-AE" i="1">
                        <a:latin typeface="Cambria Math"/>
                      </a:rPr>
                      <m:t>𝜆</m:t>
                    </m:r>
                    <m:r>
                      <a:rPr lang="ar-AE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ko-KR" altLang="en-US" dirty="0"/>
                  <a:t>계산</a:t>
                </a:r>
                <a:endParaRPr lang="en-US" altLang="ko-KR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ko-KR" altLang="en-US" dirty="0"/>
                  <a:t>검증키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공개키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PK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/>
                  <a:t>; </a:t>
                </a:r>
                <a:r>
                  <a:rPr lang="ko-KR" altLang="en-US" dirty="0"/>
                  <a:t>서명키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개인키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SK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t 압축 없는 Dilithium: 서명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5061028"/>
              </a:xfrm>
            </p:spPr>
            <p:txBody>
              <a:bodyPr wrap="square">
                <a:normAutofit/>
              </a:bodyPr>
              <a:lstStyle/>
              <a:p>
                <a:r>
                  <a:rPr dirty="0"/>
                  <a:t>서명키 SK=(ρ,K,tr,s1,s2), 메시지 M으로 Alice가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,512),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″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rnd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,512)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κ←0, Found←false로 초기화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Found = false인 동안 다음을 반복: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ExpandMask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″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𝜅</m:t>
                    </m:r>
                    <m:r>
                      <a:rPr lang="en-US" i="1"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limUpp>
                          <m:limUp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</a:rPr>
                              <m:t>~</m:t>
                            </m:r>
                          </m:lim>
                        </m:limUpp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ℓ</m:t>
                        </m:r>
                      </m:sup>
                    </m:sSubSup>
                  </m:oMath>
                </a14:m>
                <a:r>
                  <a:rPr dirty="0"/>
                  <a:t> 선택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𝐴𝑦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r>
                      <a:rPr lang="en-US" i="1">
                        <a:latin typeface="Cambria Math"/>
                      </a:rPr>
                      <m:t>𝜆</m:t>
                    </m:r>
                    <m:r>
                      <a:rPr lang="en-US" i="1">
                        <a:latin typeface="Cambria Math"/>
                      </a:rPr>
                      <m:t>),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SampleInBall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LowBits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1257300" lvl="2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 이고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 이면 Found←true, κ←κ+ℓ (아니면 반복)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출력: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5061028"/>
              </a:xfrm>
              <a:blipFill>
                <a:blip r:embed="rId2"/>
                <a:stretch>
                  <a:fillRect l="-406" b="-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30</a:t>
            </a:fld>
            <a:endParaRPr lang="ko-KR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t 압축 없는 Dilithium: 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공개키 PK=(ρ,t), 메시지 M, 서명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로 Bob이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‖z‖</a:t>
                </a:r>
                <a:r>
                  <a:rPr baseline="-25000" dirty="0"/>
                  <a:t>∞</a:t>
                </a:r>
                <a:r>
                  <a:rPr dirty="0"/>
                  <a:t> ≥ γ</a:t>
                </a:r>
                <a:r>
                  <a:rPr baseline="-25000" dirty="0"/>
                  <a:t>1</a:t>
                </a:r>
                <a:r>
                  <a:rPr dirty="0"/>
                  <a:t>−β 이면 reject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ExpandA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,512),</m:t>
                    </m:r>
                    <m:r>
                      <a:rPr lang="en-US" i="1" smtClean="0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𝑡𝑟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,512)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SampleInBall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HighBits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𝑐𝑡</m:t>
                    </m:r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,2</m:t>
                    </m:r>
                    <m:r>
                      <a:rPr lang="en-US" i="1">
                        <a:latin typeface="Cambria Math"/>
                      </a:rPr>
                      <m:t>𝜆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이면 accept, 아니면 reject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31</a:t>
            </a:fld>
            <a:endParaRPr lang="ko-KR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정확성 증명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앞서 유도한 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𝐴𝑧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𝑐𝑡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dirty="0"/>
                  <a:t>를 다시 쓰면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a:rPr lang="en-US" i="1">
                          <a:latin typeface="Cambria Math"/>
                        </a:rPr>
                        <m:t>𝐴𝑦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서명 루프 조건 덕분에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LowBits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이고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이므로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,2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따라서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,2</m:t>
                    </m:r>
                    <m:r>
                      <a:rPr lang="en-US" i="1">
                        <a:latin typeface="Cambria Math"/>
                      </a:rPr>
                      <m:t>𝜆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dirty="0"/>
                  <a:t>이고 서명이 accept된다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예제: 파라미터와 키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=16,417,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=4,(</m:t>
                    </m:r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,ℓ)=(3,2),</m:t>
                    </m:r>
                    <m:r>
                      <a:rPr lang="en-US" i="1">
                        <a:latin typeface="Cambria Math"/>
                      </a:rPr>
                      <m:t>𝜂</m:t>
                    </m:r>
                    <m:r>
                      <a:rPr lang="en-US" i="1">
                        <a:latin typeface="Cambria Math"/>
                      </a:rPr>
                      <m:t>=10,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10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=1,024,</m:t>
                    </m:r>
                    <m:r>
                      <a:rPr lang="en-US" i="1">
                        <a:latin typeface="Cambria Math"/>
                      </a:rPr>
                      <m:t>𝜏</m:t>
                    </m:r>
                    <m:r>
                      <a:rPr lang="en-US" i="1">
                        <a:latin typeface="Cambria Math"/>
                      </a:rPr>
                      <m:t>=4,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  <m:r>
                      <a:rPr lang="en-US" i="1">
                        <a:latin typeface="Cambria Math"/>
                      </a:rPr>
                      <m:t>=40</m:t>
                    </m:r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15196+7926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+8057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+13612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14303+5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+12257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+2347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9765+10436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+10983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+5860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5393+311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+5144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+10841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11868+7995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+10716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+3121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9390+2055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+6505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+2440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2+5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−10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−5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2+3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i="1">
                          <a:latin typeface="Cambria Math"/>
                        </a:rPr>
                        <m:t>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10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−8+3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+4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+4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8+10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+8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−3−8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i="1">
                          <a:latin typeface="Cambria Math"/>
                        </a:rPr>
                        <m:t>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10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mods</m:t>
                      </m:r>
                      <m:r>
                        <m:rPr>
                          <m:nor/>
                        </m:rP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𝑞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5384−8016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−2196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−4992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4578+1291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+5976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−6576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3959−1666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−1036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−2345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검증키: (A,t), 서명키: (s1,s2)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33</a:t>
            </a:fld>
            <a:endParaRPr lang="ko-KR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예제: 서명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챌린지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mods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=−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707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155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357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822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474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566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869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542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𝐴𝑦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7023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3184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4074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5566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9495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7254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7431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13483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4189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7420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13635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4161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34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83445"/>
              </p:ext>
            </p:extLst>
          </p:nvPr>
        </p:nvGraphicFramePr>
        <p:xfrm>
          <a:off x="838199" y="3097226"/>
          <a:ext cx="10515600" cy="10972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33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3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z = y+cs</a:t>
                      </a:r>
                      <a:r>
                        <a:rPr sz="1800" baseline="-250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‖z‖</a:t>
                      </a:r>
                      <a:r>
                        <a:rPr sz="1800" baseline="-25000" dirty="0"/>
                        <a:t>∞</a:t>
                      </a:r>
                      <a:r>
                        <a:rPr sz="1800" dirty="0"/>
                        <a:t> = 870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&lt; γ</a:t>
                      </a:r>
                      <a:r>
                        <a:rPr sz="1800" baseline="-25000" dirty="0"/>
                        <a:t>1</a:t>
                      </a:r>
                      <a:r>
                        <a:rPr sz="1800" dirty="0"/>
                        <a:t>−β = 984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통과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34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</a:t>
                      </a:r>
                      <a:r>
                        <a:rPr sz="1800" baseline="-25000" dirty="0"/>
                        <a:t>0</a:t>
                      </a:r>
                      <a:r>
                        <a:rPr sz="1800" dirty="0"/>
                        <a:t> = LowBits(w−cs</a:t>
                      </a:r>
                      <a:r>
                        <a:rPr sz="1800" baseline="-25000" dirty="0"/>
                        <a:t>2</a:t>
                      </a:r>
                      <a:r>
                        <a:rPr sz="18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‖r</a:t>
                      </a:r>
                      <a:r>
                        <a:rPr sz="1800" baseline="-25000" dirty="0"/>
                        <a:t>0</a:t>
                      </a:r>
                      <a:r>
                        <a:rPr sz="1800" dirty="0"/>
                        <a:t>‖</a:t>
                      </a:r>
                      <a:r>
                        <a:rPr sz="1800" baseline="-25000" dirty="0"/>
                        <a:t>∞</a:t>
                      </a:r>
                      <a:r>
                        <a:rPr sz="1800" dirty="0"/>
                        <a:t> = 433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&lt; γ</a:t>
                      </a:r>
                      <a:r>
                        <a:rPr sz="1800" baseline="-25000" dirty="0"/>
                        <a:t>2</a:t>
                      </a:r>
                      <a:r>
                        <a:rPr sz="1800" dirty="0"/>
                        <a:t>−β = 473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통과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예제: 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Bob은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dirty="0"/>
                  <a:t>에서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SampleInBall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을 복원하고 다음을 계산한다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7012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3179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4085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5563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9486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7279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7426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13490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4194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7409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13630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4178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(=</m:t>
                    </m:r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와 정확히 일치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/>
                        </a:rPr>
                        <m:t>HighBits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𝐴𝑧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따라서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𝜆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dirty="0"/>
                  <a:t>가 되어 Bob은 서명을 accept한다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35</a:t>
            </a:fld>
            <a:endParaRPr lang="ko-KR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안전성: 키 복구 (ss-D-MLWE)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ss-D-MLWE가 어렵다고 가정하면, 공격자는 공개키 (ρ,t)로부터 서명키 성분 s1(또는 s2)에 대해 아무 정보도 얻을 수 없다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36</a:t>
            </a:fld>
            <a:endParaRPr lang="ko-KR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안전성: 위조 난이도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공격자의 과제: 검증키 (ρ,t)로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r>
                      <a:rPr lang="en-US" i="1">
                        <a:latin typeface="Cambria Math"/>
                      </a:rPr>
                      <m:t>𝛽</m:t>
                    </m:r>
                  </m:oMath>
                </a14:m>
                <a:r>
                  <a:rPr dirty="0"/>
                  <a:t>이고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𝜇</m:t>
                    </m:r>
                    <m:r>
                      <a:rPr lang="en-US" i="1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를 만족하는 메시지와 서명을 찾는 것</a:t>
                </a:r>
              </a:p>
              <a:p>
                <a:r>
                  <a:rPr dirty="0"/>
                  <a:t>c,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lim>
                        <m:r>
                          <a:rPr lang="en-US" i="1"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dirty="0"/>
                  <a:t>, w</a:t>
                </a:r>
                <a:r>
                  <a:rPr baseline="-25000" dirty="0"/>
                  <a:t>1</a:t>
                </a:r>
                <a:r>
                  <a:rPr dirty="0"/>
                  <a:t>이 서로 순환 의존하므로, 공격자의 최선의 전략은 M과 w</a:t>
                </a:r>
                <a:r>
                  <a:rPr baseline="-25000" dirty="0"/>
                  <a:t>1</a:t>
                </a:r>
                <a:r>
                  <a:rPr dirty="0"/>
                  <a:t>을 먼저 고정하는 것 — 남은 과제는 조건을 만족하는 z를 찾는 것뿐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[</m:t>
                      </m:r>
                      <m:r>
                        <a:rPr lang="en-US" i="1">
                          <a:latin typeface="Cambria Math"/>
                        </a:rPr>
                        <m:t>𝐴</m:t>
                      </m:r>
                      <m:r>
                        <a:rPr lang="en-US" i="1">
                          <a:latin typeface="Cambria Math"/>
                        </a:rPr>
                        <m:t>∣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]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𝑐𝑡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r>
                  <a:rPr dirty="0"/>
                  <a:t>이는 표준형(normal-form) 비동차 MSIS(I-MSIS)의 인스턴스다 —</a:t>
                </a:r>
                <a:r>
                  <a:rPr lang="ko-KR" altLang="en-US" dirty="0"/>
                  <a:t> </a:t>
                </a:r>
                <a:r>
                  <a:rPr dirty="0"/>
                  <a:t>SIS↔ISIS·nf-ISIS, MSIS를 모듈로 확장한 것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37</a:t>
            </a:fld>
            <a:endParaRPr lang="ko-KR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EUF-CMA: 서명 스킴의 표준 안전성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정식 안전성 정리: D-MLWE와 MSIS가 어렵고 H가 랜덤 오라클로 모델링된다는 가정 아래</a:t>
            </a:r>
          </a:p>
          <a:p>
            <a:pPr lvl="1"/>
            <a:r>
              <a:rPr dirty="0"/>
              <a:t>이 강의에서 구성한 (t 압축 없는) Dilithium은 EUF-CMA(선택 메시지 공격 하 존재적 위조 불가능)하다</a:t>
            </a:r>
          </a:p>
          <a:p>
            <a:r>
              <a:rPr dirty="0"/>
              <a:t>공격자가 서명 오라클에 원하는 메시지를 질의해 서명을 받아볼 수 있어도, 질의하지 않은 새 메시지의 유효한 서명을 위조할 수 없다는 개념</a:t>
            </a:r>
          </a:p>
          <a:p>
            <a:r>
              <a:rPr dirty="0"/>
              <a:t>IND-CCA(Kyber-KEM)에 대응하는, 서명 스킴 쪽의 강한 안전성 개념이다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38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4725</TotalTime>
  <Words>2885</Words>
  <Application>Microsoft Office PowerPoint</Application>
  <PresentationFormat>와이드스크린</PresentationFormat>
  <Paragraphs>292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맑은 고딕</vt:lpstr>
      <vt:lpstr>Arial</vt:lpstr>
      <vt:lpstr>Cambria Math</vt:lpstr>
      <vt:lpstr>Office 테마</vt:lpstr>
      <vt:lpstr>Post-Quantum Cryptography</vt:lpstr>
      <vt:lpstr>Plan</vt:lpstr>
      <vt:lpstr>Schnorr 서명 스킴</vt:lpstr>
      <vt:lpstr>Schnorr 서명 생성</vt:lpstr>
      <vt:lpstr>Schnorr 서명 검증과 정확성</vt:lpstr>
      <vt:lpstr>Schnorr의 안전성 직관</vt:lpstr>
      <vt:lpstr>표기법</vt:lpstr>
      <vt:lpstr>Dilithium의 새 표기</vt:lpstr>
      <vt:lpstr>ML-DSA-87 파라미터</vt:lpstr>
      <vt:lpstr>Dilithium: 키 생성</vt:lpstr>
      <vt:lpstr>서명 생성</vt:lpstr>
      <vt:lpstr>검증자의 문제: w를 계산할 수 없다</vt:lpstr>
      <vt:lpstr>해법: HighBits로 커밋먼트 압축</vt:lpstr>
      <vt:lpstr>Dilithium 토이 버전: 서명 생성</vt:lpstr>
      <vt:lpstr>Dilithium 토이 버전: 검증</vt:lpstr>
      <vt:lpstr>다섯가지 문제</vt:lpstr>
      <vt:lpstr>문제 1: 큰 공개키·개인키</vt:lpstr>
      <vt:lpstr>문제 1 해법: 공개·비밀 시드</vt:lpstr>
      <vt:lpstr>문제 2: 메시지 반복 해싱</vt:lpstr>
      <vt:lpstr>문제 3: 서명마다 필요한 난수</vt:lpstr>
      <vt:lpstr>문제 4: 서명이 s₁의 정보를 누출한다</vt:lpstr>
      <vt:lpstr>문제 4: 일반화</vt:lpstr>
      <vt:lpstr>문제 4 해법: 거부 샘플링</vt:lpstr>
      <vt:lpstr>문제 5: 압축된 t로는 HighBits를 계산할 수 없다</vt:lpstr>
      <vt:lpstr>HighBits/LowBits 정의 (단순화 버전)</vt:lpstr>
      <vt:lpstr>Decompose 함수</vt:lpstr>
      <vt:lpstr>해시 함수: SHAKE256과 XOF</vt:lpstr>
      <vt:lpstr>확장된 표기와 ML-DSA-87 전체 파라미터</vt:lpstr>
      <vt:lpstr>t 압축 없는 Dilithium: 키 생성</vt:lpstr>
      <vt:lpstr>t 압축 없는 Dilithium: 서명 생성</vt:lpstr>
      <vt:lpstr>t 압축 없는 Dilithium: 검증</vt:lpstr>
      <vt:lpstr>정확성 증명</vt:lpstr>
      <vt:lpstr>예제: 파라미터와 키 생성</vt:lpstr>
      <vt:lpstr>예제: 서명 생성</vt:lpstr>
      <vt:lpstr>예제: 검증</vt:lpstr>
      <vt:lpstr>안전성: 키 복구 (ss-D-MLWE)</vt:lpstr>
      <vt:lpstr>안전성: 위조 난이도</vt:lpstr>
      <vt:lpstr>EUF-CMA: 서명 스킴의 표준 안전성 개념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1632</cp:revision>
  <dcterms:created xsi:type="dcterms:W3CDTF">2026-03-17T05:07:50Z</dcterms:created>
  <dcterms:modified xsi:type="dcterms:W3CDTF">2026-08-23T09:08:38Z</dcterms:modified>
</cp:coreProperties>
</file>