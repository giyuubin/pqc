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29"/>
  </p:notesMasterIdLst>
  <p:sldIdLst>
    <p:sldId id="256" r:id="rId2"/>
    <p:sldId id="332" r:id="rId3"/>
    <p:sldId id="333" r:id="rId4"/>
    <p:sldId id="334" r:id="rId5"/>
    <p:sldId id="335" r:id="rId6"/>
    <p:sldId id="336" r:id="rId7"/>
    <p:sldId id="337" r:id="rId8"/>
    <p:sldId id="338" r:id="rId9"/>
    <p:sldId id="339" r:id="rId10"/>
    <p:sldId id="340" r:id="rId11"/>
    <p:sldId id="341" r:id="rId12"/>
    <p:sldId id="342" r:id="rId13"/>
    <p:sldId id="343" r:id="rId14"/>
    <p:sldId id="344" r:id="rId15"/>
    <p:sldId id="345" r:id="rId16"/>
    <p:sldId id="346" r:id="rId17"/>
    <p:sldId id="347" r:id="rId18"/>
    <p:sldId id="348" r:id="rId19"/>
    <p:sldId id="349" r:id="rId20"/>
    <p:sldId id="351" r:id="rId21"/>
    <p:sldId id="352" r:id="rId22"/>
    <p:sldId id="353" r:id="rId23"/>
    <p:sldId id="354" r:id="rId24"/>
    <p:sldId id="355" r:id="rId25"/>
    <p:sldId id="356" r:id="rId26"/>
    <p:sldId id="357" r:id="rId27"/>
    <p:sldId id="358" r:id="rId2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규빈 박" initials="규박" lastIdx="12" clrIdx="0">
    <p:extLst>
      <p:ext uri="{19B8F6BF-5375-455C-9EA6-DF929625EA0E}">
        <p15:presenceInfo xmlns:p15="http://schemas.microsoft.com/office/powerpoint/2012/main" userId="b405f47f44f6c53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C083E6E3-FA7D-4D7B-A595-EF9225AFEA82}" styleName="밝은 스타일 1 - 강조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4" d="100"/>
          <a:sy n="64" d="100"/>
        </p:scale>
        <p:origin x="3192" y="8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2B40C2-3351-40A2-B46D-4B4F877A79B2}" type="datetimeFigureOut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3BC5EA-D886-4875-B891-B25A6CC4908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755287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3BC5EA-D886-4875-B891-B25A6CC49088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78641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38C119-E53F-2DA2-3F3A-62BF807009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4BB6797-A87E-4BFE-C9F3-8C995A6744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endParaRPr lang="en-US" altLang="ko-KR" dirty="0"/>
          </a:p>
          <a:p>
            <a:r>
              <a:rPr lang="ko-KR" altLang="en-US" dirty="0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2FD1BD7-7E65-3772-3007-1F34DBA0FA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DF637E-82D6-4563-BCF0-C9101F2B5148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8CF5ED1-6997-CD09-21BF-44F1DD239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40E17D-D377-3A02-4E70-6AAE5C12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77359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031FD09-61A8-64FE-609A-5BC9FD80E7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>
            <a:lvl1pPr algn="ctr">
              <a:defRPr sz="32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7A10CA-AA0F-BD51-5B8E-5AE0726F06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10515600" cy="4701089"/>
          </a:xfrm>
        </p:spPr>
        <p:txBody>
          <a:bodyPr anchor="t">
            <a:normAutofit/>
          </a:bodyPr>
          <a:lstStyle>
            <a:lvl1pPr>
              <a:lnSpc>
                <a:spcPct val="150000"/>
              </a:lnSpc>
              <a:defRPr sz="1800"/>
            </a:lvl1pPr>
            <a:lvl2pPr>
              <a:lnSpc>
                <a:spcPct val="150000"/>
              </a:lnSpc>
              <a:defRPr sz="1800"/>
            </a:lvl2pPr>
            <a:lvl3pPr>
              <a:lnSpc>
                <a:spcPct val="150000"/>
              </a:lnSpc>
              <a:defRPr sz="1800"/>
            </a:lvl3pPr>
            <a:lvl4pPr>
              <a:lnSpc>
                <a:spcPct val="150000"/>
              </a:lnSpc>
              <a:defRPr sz="1800"/>
            </a:lvl4pPr>
            <a:lvl5pPr>
              <a:lnSpc>
                <a:spcPct val="150000"/>
              </a:lnSpc>
              <a:defRPr sz="1800"/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44F1B2-7ED6-C36F-405B-74D10A466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8CD677-7AD2-4A27-94BD-C65458D22428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5B54CE5-BA49-9B1F-44F6-BB6803967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0CCEF06-AF2C-16E5-D994-94762FCED6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D5B8A52-06C2-8583-0C1B-A817C4737BF0}"/>
              </a:ext>
            </a:extLst>
          </p:cNvPr>
          <p:cNvSpPr/>
          <p:nvPr userDrawn="1"/>
        </p:nvSpPr>
        <p:spPr>
          <a:xfrm flipV="1">
            <a:off x="405063" y="889665"/>
            <a:ext cx="11381873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4974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1E2741-8F1E-BB08-8064-ABB3B5172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FE217DB-F68B-0B02-0EE9-FC6D375A39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6F4ECD6-4F10-FAB4-9EC7-0A9BDDBBF5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EF52EC-B397-4D0A-AE91-E0D6840C85A1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B089ED4-E191-9BE2-6362-00E940AF74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22432-D7EA-093F-001B-BC7E0D49E1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47302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62A7E8-82BA-7B6E-F6E9-A98D3ECFFB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AEFAB5-2BD5-B266-2B90-5DF6C6BE75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DC97A80-9CA9-6C9D-98D1-D8A829894B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03A760F-4119-02E0-9047-FD4EFB030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D6007-6A42-4C9B-B218-6A32B3A38C67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99B3A7E-6DE5-9DF0-CCF3-4E150621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6664016-7B2A-6313-FDC2-8FA33EAC9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7087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D54C69-8E55-E9AE-CBD6-A0F2276D9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0B86DB8-CC8D-914E-CEFA-5DF480196E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B176446-C17B-7FD5-8DB2-B982801142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95D4D2A-9477-8669-492E-C33F3E9CD49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BF0716-4A26-4EAB-6A93-C6203A807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0F37FBA-7D77-22F4-B534-1653B07AD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6658DF-8B5F-4351-A42C-BF3495DE7ABE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8DA361B-5E51-3A84-F540-036EB166C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AD90B8D-AC97-0E06-ED03-C9645D4A46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78775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F5235F-156B-75D6-B91A-2D25D5F318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0398CE0-1B1D-EF93-936A-A286EA577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359C48-8150-4FAB-8BEF-6AD61CFC9BBE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4DC0FF-921E-80C0-450A-7B405750E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A8CF709D-D3DC-4D1F-45FC-9F2F2C1808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9880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E4D47D0-9EAC-3C67-62F1-6CC1BEC6F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41DBCF-1091-470D-AC72-5CF3D00280AC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75CACA-850A-EA99-2A04-D33838FCC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04249E-807B-C0AC-5C11-E3AD439D7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90958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EF82BF-B27F-0EAB-B809-971BA3CE89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C4868F8-4EB2-B804-3AD6-7256AF1C68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4C3E5F92-B2C2-8AB1-01C1-ED72DF18A6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43173C-11BF-A2F6-F013-59378849A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24AE7C-57FB-4DBB-B90C-59145D637BF6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3D47E49-717B-A5BA-FB22-E4F74A03B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C7ED0F3-0EAE-43B7-F5D2-9F776B23F7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2319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3DE7BB-65A1-98A0-61B2-9BA86EB8B4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393FC40-79A0-A826-1CA9-EE7B1B8BF9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9879E-8AC3-D682-707C-4CCA3AC04C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C97A2B9-9192-6241-C6C5-2D7D678EEC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D92253-43A0-46E3-918E-3929407A8C01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B7311CB-F5C2-2F43-5CDB-47B621DB11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B7E252D-5421-B82E-B9DC-97D8A4F118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43450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A5921C-217D-706E-B4C1-8C4B415A8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FA49194-22FD-90CC-72D7-93BB89EBF3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3072F4-8B76-D6AF-7D51-73F346613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78607-39E6-4CB2-B3CB-AB428B3B6195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903EEA5-CFF1-3A25-3757-289E51F27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0CA5D0D-C1A0-3A92-3E15-E7442EE1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9845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44A25BF-197E-B63E-7A73-089055E7BC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1D6C20F-2716-6230-FC15-8E28D820B1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32C15CE-BE12-96E8-58E3-B89CE71B76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78A2F2-325F-46A6-8956-F2A49A35BAF8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83C669E-1E2D-2737-7F44-4EF88AEE2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F1D9548-61EF-5EA9-3163-3C25E9287A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97905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33AFC0F6-4140-2489-D0A3-0A632697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6866"/>
            <a:ext cx="10515600" cy="662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5E886E5-5DD8-BA48-583F-AAA217E8DD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423922"/>
            <a:ext cx="10515600" cy="47530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9862E1-2ECD-F622-0F74-FDC2E7199A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D61A29-800E-482A-B0FD-5A04401ECD92}" type="datetime1">
              <a:rPr lang="ko-KR" altLang="en-US" smtClean="0"/>
              <a:t>2026-07-21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F2E1796-7D1E-1254-446E-8BAA61680C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B692A8-3D04-14CA-0956-516C70492AA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8A2D4-3867-488E-A04E-7BFFCAED45A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6133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1" hangingPunct="1">
        <a:lnSpc>
          <a:spcPct val="90000"/>
        </a:lnSpc>
        <a:spcBef>
          <a:spcPct val="0"/>
        </a:spcBef>
        <a:buNone/>
        <a:defRPr sz="3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F5C70B-7871-D2F3-E49B-85D4BEBAD71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>
                <a:solidFill>
                  <a:srgbClr val="000000"/>
                </a:solidFill>
              </a:rPr>
              <a:t>Post-Quantum Cryptography</a:t>
            </a:r>
            <a:endParaRPr lang="ko-KR" altLang="en-US" sz="40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EA4BB57-D4CA-4972-9722-922AA1C0259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ko-KR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r>
              <a:rPr lang="en-US" altLang="ko-KR" dirty="0"/>
              <a:t>5. SIS·LWE and Lattices</a:t>
            </a:r>
            <a:endParaRPr lang="ko-KR" altLang="en-US" sz="28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1275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A0DB61-F834-D9E7-299E-9100B8F346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62A060-71A6-5EA2-F906-1524933F5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8962"/>
            <a:ext cx="10515600" cy="5037388"/>
          </a:xfrm>
        </p:spPr>
        <p:txBody>
          <a:bodyPr anchor="t">
            <a:norm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ko-KR" altLang="en-US" dirty="0"/>
              <a:t>좋은 기저 </a:t>
            </a:r>
            <a:r>
              <a:rPr lang="en-US" altLang="ko-KR" dirty="0"/>
              <a:t>&amp; </a:t>
            </a:r>
            <a:r>
              <a:rPr lang="ko-KR" altLang="en-US" dirty="0"/>
              <a:t>나쁜 기저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SIS </a:t>
            </a:r>
            <a:r>
              <a:rPr lang="ko-KR" altLang="en-US" dirty="0"/>
              <a:t>격자</a:t>
            </a:r>
            <a:endParaRPr lang="en-US" altLang="ko-KR" dirty="0"/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en-US" altLang="ko-KR" dirty="0"/>
              <a:t>LWE </a:t>
            </a:r>
            <a:r>
              <a:rPr lang="ko-KR" altLang="en-US" dirty="0"/>
              <a:t>격자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BAA46B-FCCE-8A34-657F-EEC8E88D0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9" name="제목 1">
            <a:extLst>
              <a:ext uri="{FF2B5EF4-FFF2-40B4-BE49-F238E27FC236}">
                <a16:creationId xmlns:a16="http://schemas.microsoft.com/office/drawing/2014/main" id="{56756302-4A72-F2DD-A7FF-B2186F876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36525"/>
            <a:ext cx="10515600" cy="753141"/>
          </a:xfrm>
        </p:spPr>
        <p:txBody>
          <a:bodyPr>
            <a:normAutofit/>
          </a:bodyPr>
          <a:lstStyle/>
          <a:p>
            <a:r>
              <a:rPr lang="en-US" altLang="ko-KR" dirty="0"/>
              <a:t>Plan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57168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012992-ACB7-D0F3-9535-4D29B48F26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ko-KR" altLang="en-US" dirty="0"/>
              <a:t>강 리마인드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61FEEE-A4C4-2ABC-19EA-072D66636C7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1"/>
                <a:ext cx="10515600" cy="465629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ko-KR" altLang="en-US" sz="1800" dirty="0">
                    <a:solidFill>
                      <a:srgbClr val="222222"/>
                    </a:solidFill>
                  </a:rPr>
                  <a:t>격자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는 선형독립인 기저벡터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={</m:t>
                    </m:r>
                    <m:sSub>
                      <m:sSubPr>
                        <m:ctrlP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en-US" altLang="ko-KR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,…,</m:t>
                    </m:r>
                    <m:sSub>
                      <m:sSubPr>
                        <m:ctrlP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𝑏</m:t>
                        </m:r>
                      </m:e>
                      <m:sub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의 정수 선형결합 전체의 집합이다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ko-KR" altLang="en-US" sz="1800" dirty="0">
                    <a:solidFill>
                      <a:srgbClr val="222222"/>
                    </a:solidFill>
                  </a:rPr>
                  <a:t>격자의 부피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800">
                        <a:solidFill>
                          <a:srgbClr val="222222"/>
                        </a:solidFill>
                        <a:latin typeface="Cambria Math"/>
                      </a:rPr>
                      <m:t>vol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)=|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)|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는 어떤 기저를 고르든 항상 같은 값이 나오는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격자 고유의 </a:t>
                </a:r>
                <a:r>
                  <a:rPr lang="ko-KR" altLang="en-US" sz="1800" dirty="0" err="1">
                    <a:solidFill>
                      <a:srgbClr val="222222"/>
                    </a:solidFill>
                  </a:rPr>
                  <a:t>불변량이다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sz="1800" dirty="0">
                    <a:solidFill>
                      <a:srgbClr val="222222"/>
                    </a:solidFill>
                  </a:rPr>
                  <a:t>SVP(</a:t>
                </a:r>
                <a:r>
                  <a:rPr lang="ko-KR" altLang="en-US" sz="1800" dirty="0" err="1">
                    <a:solidFill>
                      <a:srgbClr val="222222"/>
                    </a:solidFill>
                  </a:rPr>
                  <a:t>최단벡터문제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이 아닌 가장 짧은 격자벡터를 찾는 문제이고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, SIVP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는 길이가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 이하인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sz="1800" dirty="0">
                    <a:solidFill>
                      <a:srgbClr val="222222"/>
                    </a:solidFill>
                  </a:rPr>
                  <a:t>개의 선형독립 벡터를 찾는 문제다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sz="1800" dirty="0">
                    <a:solidFill>
                      <a:srgbClr val="222222"/>
                    </a:solidFill>
                  </a:rPr>
                  <a:t>Minkowski 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정리는 최단벡터 길이의 상계를 보장하고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가우스 휴리스틱은 그 </a:t>
                </a:r>
                <a:r>
                  <a:rPr lang="ko-KR" altLang="en-US" sz="1800" dirty="0" err="1">
                    <a:solidFill>
                      <a:srgbClr val="222222"/>
                    </a:solidFill>
                  </a:rPr>
                  <a:t>기댓값을</a:t>
                </a:r>
                <a:r>
                  <a:rPr lang="ko-KR" altLang="en-US" sz="1800" dirty="0">
                    <a:solidFill>
                      <a:srgbClr val="222222"/>
                    </a:solidFill>
                  </a:rPr>
                  <a:t> 예측한다</a:t>
                </a:r>
                <a:r>
                  <a:rPr lang="en-US" altLang="ko-KR" sz="1800" dirty="0">
                    <a:solidFill>
                      <a:srgbClr val="222222"/>
                    </a:solidFill>
                  </a:rPr>
                  <a:t>.</a:t>
                </a:r>
              </a:p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𝐿</m:t>
                      </m:r>
                      <m:r>
                        <a:rPr lang="ar-AE" altLang="ko-KR" i="1">
                          <a:latin typeface="Cambria Math"/>
                        </a:rPr>
                        <m:t>)≤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ko-KR" altLang="ar-AE" i="1">
                              <a:latin typeface="Cambria Math"/>
                            </a:rPr>
                            <m:t>𝑛</m:t>
                          </m:r>
                        </m:e>
                      </m:rad>
                      <m:r>
                        <a:rPr lang="ar-AE" altLang="ko-KR" i="1">
                          <a:latin typeface="Cambria Math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vol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ar-AE" altLang="ko-KR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ko-KR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ar-AE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en-US" altLang="ko-KR" sz="1800" dirty="0">
                  <a:solidFill>
                    <a:srgbClr val="222222"/>
                  </a:solidFill>
                </a:endParaRPr>
              </a:p>
              <a:p>
                <a:pPr marL="0" indent="0">
                  <a:lnSpc>
                    <a:spcPct val="150000"/>
                  </a:lnSpc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altLang="ko-KR" sz="18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ar-AE" sz="1800" i="1">
                              <a:latin typeface="Cambria Math"/>
                            </a:rPr>
                            <m:t>𝜆</m:t>
                          </m:r>
                        </m:e>
                        <m:sub>
                          <m:r>
                            <a:rPr lang="ar-AE" altLang="ko-KR" sz="1800" i="1">
                              <a:latin typeface="Cambria Math"/>
                            </a:rPr>
                            <m:t>1</m:t>
                          </m:r>
                        </m:sub>
                      </m:sSub>
                      <m:r>
                        <a:rPr lang="ar-AE" altLang="ko-KR" sz="1800" i="1">
                          <a:latin typeface="Cambria Math"/>
                        </a:rPr>
                        <m:t>(</m:t>
                      </m:r>
                      <m:r>
                        <a:rPr lang="ko-KR" altLang="ar-AE" sz="1800" i="1">
                          <a:latin typeface="Cambria Math"/>
                        </a:rPr>
                        <m:t>𝐿</m:t>
                      </m:r>
                      <m:r>
                        <a:rPr lang="ar-AE" altLang="ko-KR" sz="1800" i="1">
                          <a:latin typeface="Cambria Math"/>
                        </a:rPr>
                        <m:t>)≈</m:t>
                      </m:r>
                      <m:rad>
                        <m:radPr>
                          <m:degHide m:val="on"/>
                          <m:ctrlPr>
                            <a:rPr lang="ar-AE" altLang="ko-KR" sz="18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ar-AE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ko-KR" altLang="ar-AE" sz="1800" i="1">
                                  <a:latin typeface="Cambria Math"/>
                                </a:rPr>
                                <m:t>𝑛</m:t>
                              </m:r>
                            </m:num>
                            <m:den>
                              <m:r>
                                <a:rPr lang="ar-AE" altLang="ko-KR" sz="1800" i="1">
                                  <a:latin typeface="Cambria Math"/>
                                </a:rPr>
                                <m:t>2</m:t>
                              </m:r>
                              <m:r>
                                <a:rPr lang="ko-KR" altLang="ar-AE" sz="1800" i="1">
                                  <a:latin typeface="Cambria Math"/>
                                </a:rPr>
                                <m:t>𝜋</m:t>
                              </m:r>
                              <m:r>
                                <a:rPr lang="ko-KR" altLang="ar-AE" sz="1800" i="1">
                                  <a:latin typeface="Cambria Math"/>
                                </a:rPr>
                                <m:t>𝑒</m:t>
                              </m:r>
                            </m:den>
                          </m:f>
                        </m:e>
                      </m:rad>
                      <m:r>
                        <a:rPr lang="ar-AE" altLang="ko-KR" sz="1800" i="1">
                          <a:latin typeface="Cambria Math"/>
                        </a:rPr>
                        <m:t>·</m:t>
                      </m:r>
                      <m:r>
                        <m:rPr>
                          <m:sty m:val="p"/>
                        </m:rPr>
                        <a:rPr lang="en-US" altLang="ko-KR" sz="1800" i="1">
                          <a:latin typeface="Cambria Math"/>
                        </a:rPr>
                        <m:t>vol</m:t>
                      </m:r>
                      <m:r>
                        <a:rPr lang="en-US" altLang="ko-KR" sz="1800" i="1">
                          <a:latin typeface="Cambria Math"/>
                        </a:rPr>
                        <m:t>(</m:t>
                      </m:r>
                      <m:r>
                        <a:rPr lang="ko-KR" altLang="en-US" sz="1800" i="1">
                          <a:latin typeface="Cambria Math"/>
                        </a:rPr>
                        <m:t>𝐿</m:t>
                      </m:r>
                      <m:sSup>
                        <m:sSupPr>
                          <m:ctrlPr>
                            <a:rPr lang="ar-AE" altLang="ko-KR" sz="18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ar-AE" altLang="ko-KR" sz="1800" i="1">
                              <a:latin typeface="Cambria Math"/>
                            </a:rPr>
                            <m:t>)</m:t>
                          </m:r>
                        </m:e>
                        <m:sup>
                          <m:f>
                            <m:fPr>
                              <m:type m:val="lin"/>
                              <m:ctrlPr>
                                <a:rPr lang="ar-AE" altLang="ko-KR" sz="18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ar-AE" altLang="ko-KR" sz="1800" i="1">
                                  <a:latin typeface="Cambria Math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ko-KR" altLang="ar-AE" sz="1800" i="1">
                                  <a:latin typeface="Cambria Math"/>
                                </a:rPr>
                                <m:t>𝑛</m:t>
                              </m:r>
                            </m:den>
                          </m:f>
                        </m:sup>
                      </m:sSup>
                    </m:oMath>
                  </m:oMathPara>
                </a14:m>
                <a:endParaRPr lang="ar-AE" altLang="ko-KR" sz="1800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61FEEE-A4C4-2ABC-19EA-072D66636C7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1"/>
                <a:ext cx="10515600" cy="4656299"/>
              </a:xfrm>
              <a:blipFill>
                <a:blip r:embed="rId3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369445E-9184-B97F-44B0-B6F31A116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074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42D401-5EED-893F-0A1B-BDF6D8E67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좋은 기저 </a:t>
            </a:r>
            <a:r>
              <a:rPr lang="en-US" altLang="ko-KR" dirty="0"/>
              <a:t>&amp; </a:t>
            </a:r>
            <a:r>
              <a:rPr lang="ko-KR" altLang="en-US"/>
              <a:t>나쁜 기저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35A92D9-653A-398D-F882-1CD9A19E2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5322"/>
            <a:ext cx="8334375" cy="5297983"/>
          </a:xfrm>
        </p:spPr>
        <p:txBody>
          <a:bodyPr>
            <a:noAutofit/>
          </a:bodyPr>
          <a:lstStyle/>
          <a:p>
            <a:pPr>
              <a:lnSpc>
                <a:spcPct val="170000"/>
              </a:lnSpc>
            </a:pPr>
            <a:r>
              <a:rPr lang="ko-KR" altLang="en-US" sz="1800" dirty="0"/>
              <a:t>좋은 기저</a:t>
            </a:r>
            <a:r>
              <a:rPr lang="en-US" altLang="ko-KR" sz="1800" dirty="0"/>
              <a:t>: </a:t>
            </a:r>
            <a:r>
              <a:rPr lang="ko-KR" altLang="en-US" sz="1800" dirty="0"/>
              <a:t>기저벡터들이 짧고 서로 거의 직교</a:t>
            </a:r>
            <a:r>
              <a:rPr lang="en-US" altLang="ko-KR" sz="1800" dirty="0"/>
              <a:t>(</a:t>
            </a:r>
            <a:r>
              <a:rPr lang="ko-KR" altLang="en-US" sz="1800" dirty="0"/>
              <a:t>수직</a:t>
            </a:r>
            <a:r>
              <a:rPr lang="en-US" altLang="ko-KR" sz="1800" dirty="0"/>
              <a:t>)</a:t>
            </a:r>
            <a:r>
              <a:rPr lang="ko-KR" altLang="en-US" sz="1800" dirty="0"/>
              <a:t>한다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가장 짧은 기저벡터 자체가 최단벡터다</a:t>
            </a:r>
            <a:r>
              <a:rPr lang="en-US" altLang="ko-KR" sz="1800" dirty="0"/>
              <a:t>. (</a:t>
            </a:r>
            <a:r>
              <a:rPr lang="ko-KR" altLang="en-US" sz="1800" dirty="0"/>
              <a:t>눈으로 봐도 </a:t>
            </a:r>
            <a:r>
              <a:rPr lang="en-US" altLang="ko-KR" sz="1800" dirty="0"/>
              <a:t>SVP</a:t>
            </a:r>
            <a:r>
              <a:rPr lang="ko-KR" altLang="en-US" sz="1800" dirty="0"/>
              <a:t>가 풀린다</a:t>
            </a:r>
            <a:r>
              <a:rPr lang="en-US" altLang="ko-KR" sz="1800" dirty="0"/>
              <a:t>.)</a:t>
            </a:r>
          </a:p>
          <a:p>
            <a:pPr>
              <a:lnSpc>
                <a:spcPct val="170000"/>
              </a:lnSpc>
            </a:pPr>
            <a:r>
              <a:rPr lang="ko-KR" altLang="en-US" sz="1800" dirty="0"/>
              <a:t>나쁜 기저</a:t>
            </a:r>
            <a:r>
              <a:rPr lang="en-US" altLang="ko-KR" sz="1800" dirty="0"/>
              <a:t>: </a:t>
            </a:r>
            <a:r>
              <a:rPr lang="ko-KR" altLang="en-US" sz="1800" dirty="0"/>
              <a:t>기저 벡터들이 길고 거의 같은 방향을 가리켜 서로 겹쳐 있다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800" dirty="0"/>
              <a:t>격자의 부피는 기저를 어떻게 고르든 항상 같다</a:t>
            </a:r>
            <a:r>
              <a:rPr lang="en-US" altLang="ko-KR" sz="1800" dirty="0"/>
              <a:t>. </a:t>
            </a:r>
            <a:r>
              <a:rPr lang="ko-KR" altLang="en-US" sz="1800" dirty="0"/>
              <a:t>벡터들이 비스듬할수록</a:t>
            </a:r>
            <a:r>
              <a:rPr lang="en-US" altLang="ko-KR" sz="1800" dirty="0"/>
              <a:t>, </a:t>
            </a:r>
            <a:r>
              <a:rPr lang="ko-KR" altLang="en-US" sz="1800" dirty="0"/>
              <a:t>같은 부피를 유지하려면 벡터 길이가 훨씬 길어져야 한다</a:t>
            </a:r>
            <a:r>
              <a:rPr lang="en-US" altLang="ko-KR" sz="1800" dirty="0"/>
              <a:t>.</a:t>
            </a:r>
          </a:p>
          <a:p>
            <a:pPr lvl="1">
              <a:lnSpc>
                <a:spcPct val="170000"/>
              </a:lnSpc>
              <a:buFontTx/>
              <a:buChar char="-"/>
            </a:pPr>
            <a:r>
              <a:rPr lang="ko-KR" altLang="en-US" sz="1800" dirty="0"/>
              <a:t>이런 긴 벡터들을 정수 계수로 결합하면 겹치는 성분이 상쇄되어</a:t>
            </a:r>
            <a:r>
              <a:rPr lang="en-US" altLang="ko-KR" sz="1800" dirty="0"/>
              <a:t>, </a:t>
            </a:r>
            <a:r>
              <a:rPr lang="ko-KR" altLang="en-US" sz="1800" dirty="0"/>
              <a:t>어느 기저벡터보다 훨씬 짧은 벡터가 만들어질 수 있다</a:t>
            </a:r>
            <a:r>
              <a:rPr lang="en-US" altLang="ko-KR" sz="1800" dirty="0"/>
              <a:t>.</a:t>
            </a:r>
          </a:p>
          <a:p>
            <a:pPr>
              <a:lnSpc>
                <a:spcPct val="170000"/>
              </a:lnSpc>
            </a:pPr>
            <a:r>
              <a:rPr lang="ko-KR" altLang="en-US" sz="1800" dirty="0"/>
              <a:t>결국 나쁜 기저에서는 최단벡터가 기저벡터가 아니라</a:t>
            </a:r>
            <a:r>
              <a:rPr lang="en-US" altLang="ko-KR" sz="1800" dirty="0"/>
              <a:t>, </a:t>
            </a:r>
            <a:r>
              <a:rPr lang="ko-KR" altLang="en-US" sz="1800" dirty="0"/>
              <a:t>여러 벡터가 복잡하게 상쇄된 정수 결합 속에 숨어 있다</a:t>
            </a:r>
            <a:r>
              <a:rPr lang="en-US" altLang="ko-KR" sz="1800" dirty="0"/>
              <a:t>.</a:t>
            </a:r>
          </a:p>
          <a:p>
            <a:pPr marL="457200" lvl="1" indent="0">
              <a:lnSpc>
                <a:spcPct val="170000"/>
              </a:lnSpc>
              <a:buNone/>
            </a:pPr>
            <a:r>
              <a:rPr lang="en-US" altLang="ko-KR" sz="1800" dirty="0"/>
              <a:t>- </a:t>
            </a:r>
            <a:r>
              <a:rPr lang="ko-KR" altLang="en-US" sz="1800" dirty="0"/>
              <a:t>이것이 </a:t>
            </a:r>
            <a:r>
              <a:rPr lang="en-US" altLang="ko-KR" sz="1800" dirty="0"/>
              <a:t>SVP</a:t>
            </a:r>
            <a:r>
              <a:rPr lang="ko-KR" altLang="en-US" sz="1800" dirty="0"/>
              <a:t>가 어려워지는 근본 원인이다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A72F3F-BDE8-9F28-4776-A55381E74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4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C03A383-DF7F-4A67-6868-4C237ED3A9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4870" y="1295322"/>
            <a:ext cx="2068930" cy="2999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57994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682EE5-85CA-E52B-C9E6-0492378AE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321B58-69E3-7C67-8946-0A3709ABCF1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8514347" cy="506102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SIS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𝑛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균등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무작위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𝑅</m:t>
                        </m:r>
                      </m:sub>
                    </m:sSub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×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≫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경계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≪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/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주어졌을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때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𝐴𝑧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mod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≠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∈[−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]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만족하는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찾아라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SIS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방정식의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전체를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SIS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정의한다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문제는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4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강에서 쓴 격자의 정의는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선형독립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벡터들의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선형결합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이었는데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기저를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이미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알고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있어야만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쓸 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정의다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그런데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방정식의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집합으로만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주어져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뿐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그 안에 어떤 벡터들이 기저를 이루는지 전혀 알 수 없다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기저 후보가 없는 상태에서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이것이 격자이긴 한가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?'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부터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물어야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50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그래서 기저가 필요 없는 대안적 정의로 우회해야 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6321B58-69E3-7C67-8946-0A3709ABCF1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8514347" cy="5061028"/>
              </a:xfrm>
              <a:blipFill>
                <a:blip r:embed="rId2"/>
                <a:stretch>
                  <a:fillRect l="-501" r="-10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7B4DDD-CA89-18F5-799E-7F826114B0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140EF2E-3E08-6817-2540-E12CB2B01D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3780" y="1897594"/>
            <a:ext cx="3050020" cy="128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8406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F93F2-13A6-E987-6F18-30F3CE27E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B79942-C0E4-631E-7C61-24640481FF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Discrete additive subgroup (</a:t>
            </a:r>
            <a:r>
              <a:rPr lang="ko-KR" altLang="en-US" dirty="0"/>
              <a:t>이산 가법 </a:t>
            </a:r>
            <a:r>
              <a:rPr lang="ko-KR" altLang="en-US" dirty="0" err="1"/>
              <a:t>부분군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D7E675-3914-B73A-7BFB-C9F414AAC9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>
                    <a:solidFill>
                      <a:schemeClr val="tx1"/>
                    </a:solidFill>
                  </a:rPr>
                  <a:t>격자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은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ar-AE" altLang="ko-KR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ar-AE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ko-KR" altLang="ar-AE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가법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(discrete additive subgroup)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가법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공집합이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아니고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모든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이산성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각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원소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마다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반지름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&gt;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인 공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안에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다른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원소가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자기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자신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외에는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없다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r>
                  <a:rPr lang="en-US" altLang="ko-KR" dirty="0">
                    <a:solidFill>
                      <a:schemeClr val="tx1"/>
                    </a:solidFill>
                  </a:rPr>
                  <a:t>Claim 1: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안의 정수 격자다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가법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(−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)=−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>
                        <a:solidFill>
                          <a:schemeClr val="tx1"/>
                        </a:solidFill>
                        <a:latin typeface="Cambria Math"/>
                      </a:rPr>
                      <m:t>mod</m:t>
                    </m:r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;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이므로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공집합도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아니다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 err="1">
                    <a:solidFill>
                      <a:schemeClr val="tx1"/>
                    </a:solidFill>
                  </a:rPr>
                  <a:t>이산성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서로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다른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원소의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거리는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항상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1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이상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반지름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chemeClr val="tx1"/>
                        </a:solidFill>
                        <a:latin typeface="Cambria Math"/>
                      </a:rPr>
                      <m:t>𝜖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.</m:t>
                    </m:r>
                    <m:r>
                      <a:rPr lang="en-US" altLang="ko-KR" i="1">
                        <a:solidFill>
                          <a:schemeClr val="tx1"/>
                        </a:solidFill>
                        <a:latin typeface="Cambria Math"/>
                      </a:rPr>
                      <m:t>5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인 공이면 충분하다</a:t>
                </a:r>
                <a:r>
                  <a:rPr lang="en-US" altLang="ko-KR" dirty="0"/>
                  <a:t>.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ED7E675-3914-B73A-7BFB-C9F414AAC9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4D4AD1-9D1A-4C41-4355-D3989BBD7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4676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04122-4817-E503-870D-93EEE4698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24D504-6C07-5381-B63A-670CB81A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</a:t>
            </a:r>
            <a:r>
              <a:rPr lang="ko-KR" altLang="en-US" dirty="0"/>
              <a:t>격자의 </a:t>
            </a:r>
            <a:r>
              <a:rPr lang="en-US" altLang="ko-KR" dirty="0"/>
              <a:t>rank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4AE53E-F995-E09B-883A-6E1C4269346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Claim 2: 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완전계수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(full rank)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모든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좌표가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배수인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벡터들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은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부분격자다</a:t>
                </a:r>
                <a:r>
                  <a:rPr lang="en-US" altLang="ko-KR" dirty="0"/>
                  <a:t>.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𝑞𝑣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𝐴𝑣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)≡0(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𝑚𝑜𝑑𝑞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때문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·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단위벡터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개는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속하고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서로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선형독립이므로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부분격자의 랭크는 원래 격자 이하이고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양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끝이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가운데도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 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-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ary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격자</a:t>
                </a:r>
                <a:r>
                  <a:rPr lang="en-US" altLang="ko-KR" dirty="0"/>
                  <a:t>: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모든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⟺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𝑧𝑚𝑜𝑑𝑞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endParaRPr lang="en-US" altLang="ko-KR" dirty="0">
                  <a:solidFill>
                    <a:schemeClr val="tx1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을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만족하는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모든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갖는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성질이다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부피의 초기 상계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기저행렬은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b>
                    </m:sSub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그리고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)≤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4AE53E-F995-E09B-883A-6E1C4269346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E31915D-4818-CA33-1C30-DAE53F648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3083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4FDECB-FACC-0E06-4FD2-F2FC17F3C9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262B66-8628-B410-F188-5B7711546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Coset (</a:t>
            </a:r>
            <a:r>
              <a:rPr lang="ko-KR" altLang="en-US" dirty="0" err="1"/>
              <a:t>잉여류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D9AA039-A29E-91FA-5532-D293D6687E3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5426153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잉여류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(coset):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과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={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𝑣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𝑣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원소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같은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잉여류에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속하는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것은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동치다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부분격자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-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관계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 둘 다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완전계수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)=[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]·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—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]=|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/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서로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다른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잉여류의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개수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지수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Claim 3: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위에서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과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자유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아벨군이므로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몫군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ℤ</m:t>
                            </m:r>
                          </m:e>
                          <m:sup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𝑚</m:t>
                            </m:r>
                          </m:sup>
                        </m:sSup>
                      </m:num>
                      <m:den>
                        <m:sSubSup>
                          <m:sSubSupPr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𝐿</m:t>
                            </m:r>
                          </m:e>
                          <m:sub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sub>
                          <m:sup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⟂</m:t>
                            </m:r>
                          </m:sup>
                        </m:sSubSup>
                      </m:den>
                    </m:f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유한하고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)=|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𝑥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같은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잉여류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⟺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𝐴𝑥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𝐴𝑦</m:t>
                    </m:r>
                    <m:d>
                      <m:dPr>
                        <m:ctrl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𝑚𝑜𝑑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</m:d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//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서로 다른 잉여류의 개수는 서로 다른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𝐴𝑥𝑚𝑜𝑑𝑞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값의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개수와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같다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열공간은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안에서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차원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부분공간이고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원소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개수는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정확히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따라서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|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/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|=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.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D9AA039-A29E-91FA-5532-D293D6687E3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5426153"/>
              </a:xfrm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54BF1D-3E53-62D6-FAF8-41D7EF0C7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9468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62B1EC-1D0F-E859-A67F-FCBC2C023F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5C443A0-2FD7-0265-D3E8-14C4942D0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</a:t>
            </a:r>
            <a:r>
              <a:rPr lang="ko-KR" altLang="en-US" dirty="0"/>
              <a:t>격자의 기저 </a:t>
            </a:r>
            <a:r>
              <a:rPr lang="en-US" altLang="ko-KR" dirty="0"/>
              <a:t>C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CC0DA85-2FEC-BE73-3947-317357B6021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en-US" b="0" i="1" smtClean="0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첫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개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열이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위에서 선형독립이라 하자</a:t>
                </a:r>
                <a:r>
                  <a:rPr lang="en-US" altLang="ko-KR" dirty="0"/>
                  <a:t>.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endParaRPr lang="en-US" altLang="ko-KR" b="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𝐴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행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축소해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lim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=[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∣</m:t>
                    </m:r>
                    <m:bar>
                      <m:barPr>
                        <m:pos m:val="top"/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</m:ba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꼴로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만들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있다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bar>
                      <m:barPr>
                        <m:pos m:val="top"/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bar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</m:ba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×(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)</m:t>
                        </m:r>
                      </m:sup>
                    </m:sSub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Claim 4: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다음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행렬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행렬이다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증명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(1)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각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열이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속한다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블록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행렬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곱셈으로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lim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∣"/>
                        <m:ctrl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  <m:sSub>
                          <m:sSubPr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bar>
                          <m:barPr>
                            <m:pos m:val="top"/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bar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+</m:t>
                        </m:r>
                        <m:bar>
                          <m:barPr>
                            <m:pos m:val="top"/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barPr>
                          <m:e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</m:bar>
                      </m:e>
                    </m:d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∣"/>
                        <m:ctrl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  <m:sSub>
                          <m:sSubPr>
                            <m:ctrlPr>
                              <a:rPr lang="ko-KR" altLang="en-US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𝐼</m:t>
                            </m:r>
                          </m:e>
                          <m:sub>
                            <m:r>
                              <a:rPr lang="ko-KR" altLang="en-US" b="0" i="1">
                                <a:solidFill>
                                  <a:schemeClr val="tx1"/>
                                </a:solidFill>
                                <a:latin typeface="Cambria Math"/>
                              </a:rPr>
                              <m:t>𝑛</m:t>
                            </m:r>
                          </m:sub>
                        </m:sSub>
                      </m:e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0</m:t>
                        </m:r>
                      </m:e>
                    </m:d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≡0</m:t>
                    </m:r>
                    <m:d>
                      <m:dPr>
                        <m:ctrlPr>
                          <a:rPr lang="en-US" altLang="ko-KR" b="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𝑚𝑜𝑑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</m:d>
                  </m:oMath>
                </a14:m>
                <a:endParaRPr lang="en-US" altLang="ko-KR" b="0" i="1" dirty="0">
                  <a:solidFill>
                    <a:schemeClr val="tx1"/>
                  </a:solidFill>
                  <a:latin typeface="Cambria Math"/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b="0" dirty="0">
                    <a:solidFill>
                      <a:schemeClr val="tx1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모든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열이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𝐴</m:t>
                        </m:r>
                      </m:e>
                      <m:lim>
                        <m:r>
                          <a:rPr lang="en-US" altLang="ko-KR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𝑣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≡0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증명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(2)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열은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선형독립이다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는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블록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상삼각행렬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대각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블록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𝑞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·1=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b="0" i="1">
                            <a:solidFill>
                              <a:schemeClr val="tx1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ko-KR" altLang="en-US" b="0" i="1">
                        <a:solidFill>
                          <a:schemeClr val="tx1"/>
                        </a:solidFill>
                        <a:latin typeface="Cambria Math"/>
                      </a:rPr>
                      <m:t>≠</m:t>
                    </m:r>
                    <m:r>
                      <a:rPr lang="en-US" altLang="ko-KR" b="0" i="1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CC0DA85-2FEC-BE73-3947-317357B6021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F434F2-9EF1-F931-AA77-95158394A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32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A99D0-41E9-0639-1E33-D7B2E29A6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F869F3-9C63-C640-B3F1-E8213B57F5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부분격자에서 전체로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058EE4-9FD6-3814-48B3-8FDE4ABD795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열들이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안에서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완전계수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부분격자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을 생성한다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선형독립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+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모두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원소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하지만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부분격자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라는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것과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전체와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같다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것은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전혀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다른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주장이다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열들이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실제로 생성하는지는 아직 보이지 않았다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모든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원소가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정수결합으로 써진다는 것을 직접 증명하기는 번거롭다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따라서 부피 비교로 우회한다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우회 논법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vol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인데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Claim 3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vol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도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부분격자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-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관계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vol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)=[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: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]·</m:t>
                    </m:r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vol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에 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부피가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같은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값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대입하면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지수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[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: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]=</m:t>
                    </m:r>
                    <m:r>
                      <a:rPr lang="en-US" altLang="ko-KR" i="1" smtClean="0">
                        <a:solidFill>
                          <a:srgbClr val="222222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서로 다른 잉여류가 단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하나뿐이라는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뜻이므로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3058EE4-9FD6-3814-48B3-8FDE4ABD795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F63DC-ADC2-BA76-558C-E3B39BA26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15569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804F0-AAAC-4B7A-D2C9-B885FF005C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582A9-0B6E-E4DF-7ABC-70453D6A5A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</a:t>
            </a:r>
            <a:r>
              <a:rPr lang="ko-KR" altLang="en-US" dirty="0"/>
              <a:t>를 격자 문제로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6C0242-8EBC-664B-F036-F0400E51AE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Claim 4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다음과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같이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다시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쓸 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버전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갖는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SIS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𝐶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안에서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∈[−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]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아닌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벡터를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찾아라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무한대 노름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(infinity norm): </a:t>
                </a:r>
              </a:p>
              <a:p>
                <a:pPr marL="0" indent="0">
                  <a:spcAft>
                    <a:spcPts val="8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i="1">
                          <a:solidFill>
                            <a:srgbClr val="222222"/>
                          </a:solidFill>
                          <a:latin typeface="Cambria Math"/>
                        </a:rPr>
                        <m:t>‖</m:t>
                      </m:r>
                      <m:r>
                        <a:rPr lang="ko-KR" altLang="en-US" i="1">
                          <a:solidFill>
                            <a:srgbClr val="222222"/>
                          </a:solidFill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i="1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222222"/>
                          </a:solidFill>
                          <a:latin typeface="Cambria Math"/>
                        </a:rPr>
                        <m:t>=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𝑚𝑎𝑥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222222"/>
                          </a:solidFill>
                          <a:latin typeface="Cambria Math"/>
                        </a:rPr>
                        <m:t>|</m:t>
                      </m:r>
                      <m:sSub>
                        <m:sSubPr>
                          <m:ctrlP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𝑧</m:t>
                          </m:r>
                        </m:e>
                        <m:sub>
                          <m:r>
                            <a:rPr lang="ko-KR" altLang="en-US" i="1">
                              <a:solidFill>
                                <a:srgbClr val="222222"/>
                              </a:solidFill>
                              <a:latin typeface="Cambria Math"/>
                            </a:rPr>
                            <m:t>𝑖</m:t>
                          </m:r>
                        </m:sub>
                      </m:sSub>
                      <m:r>
                        <a:rPr lang="en-US" altLang="ko-KR" i="1">
                          <a:solidFill>
                            <a:srgbClr val="222222"/>
                          </a:solidFill>
                          <a:latin typeface="Cambria Math"/>
                        </a:rPr>
                        <m:t>|</m:t>
                      </m:r>
                    </m:oMath>
                  </m:oMathPara>
                </a14:m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1828800" lvl="4" indent="0">
                  <a:spcAft>
                    <a:spcPts val="800"/>
                  </a:spcAft>
                  <a:buNone/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정의로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조건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∈[−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]</m:t>
                        </m:r>
                      </m:e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정확히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&lt;‖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같다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어려움은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문헌에서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흔히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무한대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노름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대신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유클리드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노름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bSup>
                          <m:sSub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+⋯+</m:t>
                        </m:r>
                        <m:sSubSup>
                          <m:sSub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𝑧</m:t>
                            </m:r>
                          </m:e>
                          <m:sub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𝑚</m:t>
                            </m:r>
                          </m:sub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</m:e>
                    </m:rad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으로 다시 표현된다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76C0242-8EBC-664B-F036-F0400E51AE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92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B95960-75DB-1CBE-68E7-37E0B01CC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252089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F49594-670A-B3B5-8B41-0C205C6753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0D7A33-EA93-9410-10B2-F67BEF529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Norm </a:t>
            </a:r>
            <a:r>
              <a:rPr lang="ko-KR" altLang="en-US" dirty="0"/>
              <a:t>부등식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A50937-0711-DACB-72C6-1FDDFFB6548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r>
                        <a:rPr lang="ko-KR" altLang="ar-AE" i="1"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∞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≤‖</m:t>
                      </m:r>
                      <m:r>
                        <a:rPr lang="ko-KR" altLang="ar-AE" i="1"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≤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e>
                      </m:rad>
                      <m:r>
                        <a:rPr lang="ar-AE" altLang="ko-KR" i="1">
                          <a:latin typeface="Cambria Math"/>
                        </a:rPr>
                        <m:t>‖</m:t>
                      </m:r>
                      <m:r>
                        <a:rPr lang="ko-KR" altLang="ar-AE" i="1">
                          <a:latin typeface="Cambria Math"/>
                        </a:rPr>
                        <m:t>𝑧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altLang="ko-KR" i="1">
                              <a:latin typeface="Cambria Math"/>
                            </a:rPr>
                            <m:t>‖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∞</m:t>
                          </m:r>
                        </m:sub>
                      </m:sSub>
                    </m:oMath>
                  </m:oMathPara>
                </a14:m>
                <a:endParaRPr lang="ar-AE" altLang="ko-KR" dirty="0"/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왼쪽 부등식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=∑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≥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>
                            <a:solidFill>
                              <a:srgbClr val="222222"/>
                            </a:solidFill>
                            <a:latin typeface="Cambria Math"/>
                          </a:rPr>
                          <m:t>𝑚𝑎𝑥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합은 그 안의 최댓값 항 하나보다 작을 수 없다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모든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항이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음이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아니므로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). 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양변에 제곱근을 취하면 됨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오른쪽 부등식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모든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𝑖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대해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=∑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𝑧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𝑖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항이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개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).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양변에 제곱근을 취하면 됨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marL="0" indent="0" algn="ctr">
                  <a:spcAft>
                    <a:spcPts val="800"/>
                  </a:spcAft>
                  <a:buNone/>
                </a:pPr>
                <a:r>
                  <a:rPr lang="ko-KR" altLang="en-US" sz="2400" b="1" dirty="0">
                    <a:solidFill>
                      <a:srgbClr val="222222"/>
                    </a:solidFill>
                  </a:rPr>
                  <a:t>∴ 여러 개의 음이 아닌 항의 합은 그중 한 항보다 작을 수 없다</a:t>
                </a:r>
                <a:r>
                  <a:rPr lang="en-US" altLang="ko-KR" sz="2400" b="1" dirty="0">
                    <a:solidFill>
                      <a:srgbClr val="222222"/>
                    </a:solidFill>
                  </a:rPr>
                  <a:t>.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EA50937-0711-DACB-72C6-1FDDFFB6548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A063271-D9CB-F0DD-457F-93844CB92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053993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490CBD-D380-6465-118D-95719D9968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0A2FE0-DF5C-3D89-6854-E31578995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</a:t>
            </a:r>
            <a:r>
              <a:rPr lang="en-US" altLang="ko-KR" baseline="-25000" dirty="0"/>
              <a:t>2</a:t>
            </a:r>
            <a:endParaRPr lang="ko-KR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198F87-C501-E841-7A6D-A076E62C5BE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 smtClean="0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𝑛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≪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주어졌을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때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𝐴𝑧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>
                        <a:solidFill>
                          <a:srgbClr val="222222"/>
                        </a:solidFill>
                        <a:latin typeface="Cambria Math"/>
                      </a:rPr>
                      <m:t>mod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아닌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찾아라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격자 버전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안에서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벡터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Minkowski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정리를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적용하면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이 값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이상으로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잡으면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해의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존재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자체는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보장된다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가우스 휴리스틱을 적용하면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)≈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/(</m:t>
                        </m:r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𝜋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𝑒</m:t>
                        </m:r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)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f>
                          <m:fPr>
                            <m:type m:val="lin"/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𝑛</m:t>
                            </m:r>
                          </m:num>
                          <m:den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𝑚</m:t>
                            </m:r>
                          </m:den>
                        </m:f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이라는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기댓값을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얻는다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따라서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  <m:sup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⟂</m:t>
                        </m:r>
                      </m:sup>
                    </m:sSub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에서의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근사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-SVP(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SVP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인스턴스로 볼 수 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근사인자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𝛾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목표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𝛽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기대 최단벡터 길이로 나눈 값이다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B198F87-C501-E841-7A6D-A076E62C5BE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11EE5E0-C529-48C9-20DA-5A5FFC1184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68068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AB0A14-43C4-0C27-39FD-EDEB50866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38DB3BA-D5FA-221E-93A4-105872D71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&amp; SIS</a:t>
            </a:r>
            <a:r>
              <a:rPr lang="en-US" altLang="ko-KR" baseline="-25000" dirty="0"/>
              <a:t>2</a:t>
            </a:r>
            <a:endParaRPr lang="ko-KR" altLang="en-US" baseline="-250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400EB0-A8C9-E9FC-769C-6CA44037402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ko-KR" i="1" smtClean="0">
                          <a:latin typeface="Cambria Math"/>
                        </a:rPr>
                        <m:t>SIS</m:t>
                      </m:r>
                      <m:r>
                        <a:rPr lang="en-US" altLang="ko-KR" i="1" smtClean="0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𝑛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𝑚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𝑞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𝐵</m:t>
                      </m:r>
                      <m:r>
                        <a:rPr lang="en-US" altLang="ko-KR" i="1">
                          <a:latin typeface="Cambria Math"/>
                        </a:rPr>
                        <m:t>)≤</m:t>
                      </m:r>
                      <m:sSub>
                        <m:sSubPr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altLang="ko-KR" i="1">
                              <a:latin typeface="Cambria Math"/>
                            </a:rPr>
                            <m:t>SIS</m:t>
                          </m:r>
                        </m:e>
                        <m:sub>
                          <m:r>
                            <a:rPr lang="ar-AE" altLang="ko-KR" i="1">
                              <a:latin typeface="Cambria Math"/>
                            </a:rPr>
                            <m:t>2</m:t>
                          </m:r>
                        </m:sub>
                      </m:sSub>
                      <m:r>
                        <a:rPr lang="ar-AE" altLang="ko-KR" i="1">
                          <a:latin typeface="Cambria Math"/>
                        </a:rPr>
                        <m:t>(</m:t>
                      </m:r>
                      <m:r>
                        <a:rPr lang="ko-KR" altLang="ar-AE" i="1">
                          <a:latin typeface="Cambria Math"/>
                        </a:rPr>
                        <m:t>𝑛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ko-KR" altLang="ar-AE" i="1">
                          <a:latin typeface="Cambria Math"/>
                        </a:rPr>
                        <m:t>𝑚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ko-KR" altLang="ar-AE" i="1">
                          <a:latin typeface="Cambria Math"/>
                        </a:rPr>
                        <m:t>𝑞</m:t>
                      </m:r>
                      <m:r>
                        <a:rPr lang="ar-AE" altLang="ko-KR" i="1">
                          <a:latin typeface="Cambria Math"/>
                        </a:rPr>
                        <m:t>,</m:t>
                      </m:r>
                      <m:r>
                        <a:rPr lang="ko-KR" altLang="ar-AE" i="1">
                          <a:latin typeface="Cambria Math"/>
                        </a:rPr>
                        <m:t>𝐵</m:t>
                      </m:r>
                      <m:r>
                        <a:rPr lang="ar-AE" altLang="ko-KR" i="1">
                          <a:latin typeface="Cambria Math"/>
                        </a:rPr>
                        <m:t>)≤</m:t>
                      </m:r>
                      <m:r>
                        <m:rPr>
                          <m:sty m:val="p"/>
                        </m:rPr>
                        <a:rPr lang="en-US" altLang="ko-KR" i="1">
                          <a:latin typeface="Cambria Math"/>
                        </a:rPr>
                        <m:t>SIS</m:t>
                      </m:r>
                      <m:r>
                        <a:rPr lang="en-US" altLang="ko-KR" i="1">
                          <a:latin typeface="Cambria Math"/>
                        </a:rPr>
                        <m:t>(</m:t>
                      </m:r>
                      <m:r>
                        <a:rPr lang="ko-KR" altLang="en-US" i="1">
                          <a:latin typeface="Cambria Math"/>
                        </a:rPr>
                        <m:t>𝑛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𝑚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𝑞</m:t>
                      </m:r>
                      <m:r>
                        <a:rPr lang="en-US" altLang="ko-KR" i="1">
                          <a:latin typeface="Cambria Math"/>
                        </a:rPr>
                        <m:t>,</m:t>
                      </m:r>
                      <m:r>
                        <a:rPr lang="ko-KR" altLang="en-US" i="1">
                          <a:latin typeface="Cambria Math"/>
                        </a:rPr>
                        <m:t>𝐵</m:t>
                      </m:r>
                      <m:r>
                        <a:rPr lang="en-US" altLang="ko-KR" i="1">
                          <a:latin typeface="Cambria Math"/>
                        </a:rPr>
                        <m:t>/</m:t>
                      </m:r>
                      <m:rad>
                        <m:radPr>
                          <m:degHide m:val="on"/>
                          <m:ctrlPr>
                            <a:rPr lang="ar-AE" altLang="ko-KR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ko-KR" altLang="ar-AE" i="1">
                              <a:latin typeface="Cambria Math"/>
                            </a:rPr>
                            <m:t>𝑚</m:t>
                          </m:r>
                        </m:e>
                      </m:rad>
                      <m:r>
                        <a:rPr lang="ar-AE" altLang="ko-KR" i="1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ar-AE" altLang="ko-KR" dirty="0"/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위 식에서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𝑃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𝑄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푸는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오라클이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있으면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𝑃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풀린다는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뜻이다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SIS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해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노름 부등식의 왼쪽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성립하므로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그대로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m:rPr>
                        <m:sty m:val="p"/>
                      </m:rP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SIS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(⋯,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그 해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노름 부등식의 오른쪽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∞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에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/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그대로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두 환원을 합치면 세 문제의 난이도가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만큼의 조정 안에서 서로 조여져 있다는 것을 알 수 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400EB0-A8C9-E9FC-769C-6CA44037402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23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E03150-2D1C-9D8B-7B4D-69286B789E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939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807836-0869-CC51-1E9D-8899BB530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130CB1-1D46-5547-D427-58B7C7DA1E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Ajtai</a:t>
            </a:r>
            <a:r>
              <a:rPr lang="ko-KR" altLang="en-US" dirty="0"/>
              <a:t>의 정리 </a:t>
            </a:r>
            <a:r>
              <a:rPr lang="en-US" altLang="ko-KR" dirty="0"/>
              <a:t>(1996)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1AF81B2-621E-67ED-154C-2543B370CB8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6557211" cy="4701089"/>
              </a:xfrm>
            </p:spPr>
            <p:txBody>
              <a:bodyPr/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가 최악 케이스에서 어렵다는 것은 합리적인 추측이다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하지만 암호학적 응용에는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거의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항상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어렵다는 평균 케이스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보장이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필요하다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Ajtai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의 정리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근사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-SIVP(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𝛾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최악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어려우면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는 평균 케이스에서 어렵다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이런 형태를 최악 케이스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-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평균 케이스 환원이라 부른다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endParaRPr lang="en-US" altLang="ko-KR" dirty="0">
                  <a:solidFill>
                    <a:srgbClr val="222222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1AF81B2-621E-67ED-154C-2543B370CB8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6557211" cy="4701089"/>
              </a:xfrm>
              <a:blipFill>
                <a:blip r:embed="rId2"/>
                <a:stretch>
                  <a:fillRect l="-651" r="-111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680504-50BE-92DE-179A-08BDC7F1F2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15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C07DE095-0668-2FAA-A8BD-10E85E9B04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1482" y="1295322"/>
            <a:ext cx="3602318" cy="3075609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707159-544B-096E-FC08-35FED10F58B2}"/>
                  </a:ext>
                </a:extLst>
              </p:cNvPr>
              <p:cNvSpPr txBox="1"/>
              <p:nvPr/>
            </p:nvSpPr>
            <p:spPr>
              <a:xfrm>
                <a:off x="838200" y="4776587"/>
                <a:ext cx="10515600" cy="919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lnSpc>
                    <a:spcPct val="150000"/>
                  </a:lnSpc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b="0" dirty="0" err="1">
                    <a:solidFill>
                      <a:srgbClr val="222222"/>
                    </a:solidFill>
                  </a:rPr>
                  <a:t>임의의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격자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기저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𝐷</m:t>
                    </m:r>
                  </m:oMath>
                </a14:m>
                <a:r>
                  <a:rPr b="0" dirty="0" err="1">
                    <a:solidFill>
                      <a:srgbClr val="222222"/>
                    </a:solidFill>
                  </a:rPr>
                  <a:t>로부터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랜덤</a:t>
                </a:r>
                <a:r>
                  <a:rPr b="0" dirty="0">
                    <a:solidFill>
                      <a:srgbClr val="222222"/>
                    </a:solidFill>
                  </a:rPr>
                  <a:t> SIS </a:t>
                </a:r>
                <a:r>
                  <a:rPr b="0" dirty="0" err="1">
                    <a:solidFill>
                      <a:srgbClr val="222222"/>
                    </a:solidFill>
                  </a:rPr>
                  <a:t>인스턴스를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만들고</a:t>
                </a:r>
                <a:r>
                  <a:rPr b="0" dirty="0">
                    <a:solidFill>
                      <a:srgbClr val="222222"/>
                    </a:solidFill>
                  </a:rPr>
                  <a:t>, SIS </a:t>
                </a:r>
                <a:r>
                  <a:rPr b="0" dirty="0" err="1">
                    <a:solidFill>
                      <a:srgbClr val="222222"/>
                    </a:solidFill>
                  </a:rPr>
                  <a:t>오라클로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얻은</a:t>
                </a:r>
                <a:r>
                  <a:rPr b="0" dirty="0">
                    <a:solidFill>
                      <a:srgbClr val="222222"/>
                    </a:solidFill>
                  </a:rPr>
                  <a:t> 해 </a:t>
                </a:r>
                <a14:m>
                  <m:oMath xmlns:m="http://schemas.openxmlformats.org/officeDocument/2006/math"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𝑧</m:t>
                    </m:r>
                  </m:oMath>
                </a14:m>
                <a:r>
                  <a:rPr b="0" dirty="0" err="1">
                    <a:solidFill>
                      <a:srgbClr val="222222"/>
                    </a:solidFill>
                  </a:rPr>
                  <a:t>로부터</a:t>
                </a:r>
                <a:r>
                  <a:rPr b="0" dirty="0">
                    <a:solidFill>
                      <a:srgbClr val="222222"/>
                    </a:solidFill>
                  </a:rPr>
                  <a:t> (</a:t>
                </a:r>
                <a:r>
                  <a:rPr b="0" dirty="0" err="1">
                    <a:solidFill>
                      <a:srgbClr val="222222"/>
                    </a:solidFill>
                  </a:rPr>
                  <a:t>역으로</a:t>
                </a:r>
                <a:r>
                  <a:rPr b="0" dirty="0">
                    <a:solidFill>
                      <a:srgbClr val="222222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𝐿</m:t>
                    </m:r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a:rPr i="1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b="0" dirty="0" err="1">
                    <a:solidFill>
                      <a:srgbClr val="222222"/>
                    </a:solidFill>
                  </a:rPr>
                  <a:t>에서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SIVP</m:t>
                        </m:r>
                      </m:e>
                      <m:sub>
                        <m:r>
                          <a:rPr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  <m:t>𝛾</m:t>
                        </m:r>
                      </m:sub>
                    </m:sSub>
                  </m:oMath>
                </a14:m>
                <a:r>
                  <a:rPr b="0" dirty="0">
                    <a:solidFill>
                      <a:srgbClr val="222222"/>
                    </a:solidFill>
                  </a:rPr>
                  <a:t>의 </a:t>
                </a:r>
                <a:r>
                  <a:rPr b="0" dirty="0" err="1">
                    <a:solidFill>
                      <a:srgbClr val="222222"/>
                    </a:solidFill>
                  </a:rPr>
                  <a:t>해를</a:t>
                </a:r>
                <a:r>
                  <a:rPr b="0" dirty="0">
                    <a:solidFill>
                      <a:srgbClr val="222222"/>
                    </a:solidFill>
                  </a:rPr>
                  <a:t> </a:t>
                </a:r>
                <a:r>
                  <a:rPr b="0" dirty="0" err="1">
                    <a:solidFill>
                      <a:srgbClr val="222222"/>
                    </a:solidFill>
                  </a:rPr>
                  <a:t>복원한다</a:t>
                </a:r>
                <a:r>
                  <a:rPr b="0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19707159-544B-096E-FC08-35FED10F58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776587"/>
                <a:ext cx="10515600" cy="919226"/>
              </a:xfrm>
              <a:prstGeom prst="rect">
                <a:avLst/>
              </a:prstGeom>
              <a:blipFill>
                <a:blip r:embed="rId4"/>
                <a:stretch>
                  <a:fillRect l="-406" b="-733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999364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9666B5-456D-56FF-1573-EBA689DB5B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2ACA9-CE92-7D86-1D6C-52B4FB3F0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Ajtai 환원의 한계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D3BBB2-D47D-12F4-29FB-D276D07E91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5426153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Ajtai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강력하지만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한계가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있다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점근적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(asymptotic): n→∞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때의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보장이라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구체적인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n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무엇을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뜻하는지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바로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알 수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없다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비타이트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(non-tight):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알고리즘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자체가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비효율적이라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'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SIVP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가정에서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실제로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안전한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파라미터를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뽑아내기엔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여유가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너무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크다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 err="1">
                    <a:solidFill>
                      <a:schemeClr val="tx1"/>
                    </a:solidFill>
                  </a:rPr>
                  <a:t>Micciancio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–Regev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개선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(2004):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임의의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m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Θ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O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n</m:t>
                        </m:r>
                      </m:e>
                      <m:sup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존재해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γ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)=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ω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log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임의의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γ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에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SIS</m:t>
                        </m:r>
                      </m:e>
                      <m:sub>
                        <m: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m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 smtClean="0">
                        <a:solidFill>
                          <a:schemeClr val="tx1"/>
                        </a:solidFill>
                        <a:latin typeface="Cambria Math"/>
                      </a:rPr>
                      <m:t>β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평균적으로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푸는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것은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γ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푸는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것만큼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이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점근적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·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비타이트한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성질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때문에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이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정리들은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파라미터의 직접적인 안전성 근거로는 쓰이지 못한다</a:t>
                </a:r>
                <a:r>
                  <a:rPr lang="en-US" altLang="ko-KR" dirty="0"/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실전에서는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BKZ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알고리즘의 실행시간 추정치를 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3D3BBB2-D47D-12F4-29FB-D276D07E91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5426153"/>
              </a:xfrm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CD6AB6-0121-7A4D-D5AA-BEAB2A471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1017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063FE0-67E4-E966-4629-2DEDA1D4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9FAE5A-3BAE-188A-0454-4B45A79CC4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</a:t>
            </a:r>
            <a:r>
              <a:rPr lang="ko-KR" altLang="en-US" dirty="0"/>
              <a:t>요약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A66492-5319-2837-9222-CFE7BBEEF0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 marL="342900" indent="-342900">
                  <a:spcAft>
                    <a:spcPts val="1600"/>
                  </a:spcAft>
                  <a:buFont typeface="+mj-lt"/>
                  <a:buAutoNum type="arabicPeriod"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SIS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격자에서의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근사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-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SVP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γ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동치다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16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SIS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격자는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특수한 구조를 갖지만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이용해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일반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근사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-SVP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보다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빠르게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푸는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알고리즘은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알려져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있지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않다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lvl="1">
                  <a:spcAft>
                    <a:spcPts val="1600"/>
                  </a:spcAft>
                  <a:buFontTx/>
                  <a:buChar char="-"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알려진 가장 빠른 알고리즘은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일반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격자에도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통하는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BKZ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이며 지수 시간이 걸린다</a:t>
                </a:r>
                <a:r>
                  <a:rPr lang="en-US" altLang="ko-KR" dirty="0"/>
                  <a:t>.</a:t>
                </a:r>
              </a:p>
              <a:p>
                <a:pPr lvl="1">
                  <a:spcAft>
                    <a:spcPts val="1600"/>
                  </a:spcAft>
                  <a:buFontTx/>
                  <a:buChar char="-"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이 실행시간 추정치가 실전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파라미터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선택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기준이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342900" indent="-342900">
                  <a:spcAft>
                    <a:spcPts val="1600"/>
                  </a:spcAft>
                  <a:buFont typeface="+mj-lt"/>
                  <a:buAutoNum type="arabicPeriod"/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평균 케이스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SIS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증명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가능하게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ϵ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만큼 어렵다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(Ajtai)</a:t>
                </a:r>
              </a:p>
              <a:p>
                <a:pPr marL="457200" lvl="1" indent="0">
                  <a:spcAft>
                    <a:spcPts val="16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 보장은 점근적이라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난이도와 얼마나 직접 관련되는지는 불분명하다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3A66492-5319-2837-9222-CFE7BBEEF0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4270AE-455E-7A16-31DD-3768FD3C0E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824722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509261-45D7-469A-5598-06C793B52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6CD9FB2-F881-F9A8-721D-063FE1846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LWE</a:t>
            </a:r>
            <a:r>
              <a:rPr lang="ko-KR" altLang="en-US" dirty="0"/>
              <a:t>의</a:t>
            </a:r>
            <a:r>
              <a:rPr lang="en-US" altLang="ko-KR" dirty="0"/>
              <a:t> </a:t>
            </a:r>
            <a:r>
              <a:rPr lang="ko-KR" altLang="en-US" dirty="0"/>
              <a:t>정의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81F937-65A6-D108-F6DF-5BD638D2B8A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9765632" cy="5061028"/>
              </a:xfrm>
            </p:spPr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LWE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m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n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B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s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e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[−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B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B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]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이고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A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∈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R</m:t>
                        </m:r>
                      </m:sub>
                    </m:sSub>
                    <m:sSubSup>
                      <m:sSub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q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×</m:t>
                        </m:r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n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와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b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As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e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mod</m:t>
                    </m:r>
                    <m:r>
                      <a:rPr lang="en-US" altLang="ko-KR" b="0" i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주어졌을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때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s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를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찾아라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격자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={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</m:sup>
                    </m:sSup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: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Az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modq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r>
                      <m:rPr>
                        <m:nor/>
                      </m:rPr>
                      <a:rPr lang="ko-KR" altLang="en-US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m:t>인 어떤 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z</m:t>
                    </m:r>
                    <m: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n</m:t>
                        </m:r>
                      </m:sup>
                    </m:sSup>
                    <m:r>
                      <m:rPr>
                        <m:nor/>
                      </m:rPr>
                      <a:rPr lang="ko-KR" altLang="en-US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rPr>
                      <m:t>이 존재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격자가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방정식의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z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들의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집합</a:t>
                </a:r>
                <a:r>
                  <a:rPr lang="en-US" altLang="ko-KR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이었다면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LWE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격자는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표현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가능한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값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들의 집합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’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이다</a:t>
                </a:r>
                <a:r>
                  <a:rPr lang="en-US" altLang="ko-KR" dirty="0"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방향이 반대다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정의역이 아니라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치역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Claim 1: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ℝ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안의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완전계수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정수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</a:t>
                </a:r>
                <a:r>
                  <a:rPr lang="en-US" altLang="ko-KR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ary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격자다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가법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부분군</a:t>
                </a:r>
                <a:r>
                  <a:rPr lang="en-US" altLang="ko-KR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·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이산성은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앞서와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같은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방식으로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확인된다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 </a:t>
                </a:r>
              </a:p>
              <a:p>
                <a:pPr lvl="1">
                  <a:spcAft>
                    <a:spcPts val="800"/>
                  </a:spcAft>
                  <a:buFontTx/>
                  <a:buChar char="-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</m:sup>
                    </m:sSup>
                    <m: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⊆</m:t>
                    </m:r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도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성립한다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z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을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잡으면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qv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A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·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+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qv</m:t>
                    </m:r>
                    <m: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qv</m:t>
                    </m:r>
                    <m: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≡</m:t>
                    </m:r>
                    <m:r>
                      <a:rPr lang="en-US" altLang="ko-KR" b="0" i="0">
                        <a:solidFill>
                          <a:schemeClr val="tx1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).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  <m:sSup>
                      <m:sSup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ℤ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m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이므로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L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A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도 </a:t>
                </a:r>
                <a:r>
                  <a:rPr lang="ko-KR" altLang="en-US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랭크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즉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chemeClr val="tx1"/>
                        </a:solidFill>
                        <a:latin typeface="Cambria Math"/>
                      </a:rPr>
                      <m:t>q</m:t>
                    </m:r>
                  </m:oMath>
                </a14:m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-</a:t>
                </a:r>
                <a:r>
                  <a:rPr lang="en-US" altLang="ko-KR" dirty="0" err="1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ary</a:t>
                </a:r>
                <a:r>
                  <a:rPr lang="en-US" altLang="ko-KR" dirty="0">
                    <a:solidFill>
                      <a:schemeClr val="tx1"/>
                    </a:solidFill>
                    <a:latin typeface="맑은 고딕" panose="020B0503020000020004" pitchFamily="50" charset="-127"/>
                    <a:ea typeface="맑은 고딕" panose="020B0503020000020004" pitchFamily="50" charset="-127"/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081F937-65A6-D108-F6DF-5BD638D2B8A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9765632" cy="5061028"/>
              </a:xfrm>
              <a:blipFill>
                <a:blip r:embed="rId2"/>
                <a:stretch>
                  <a:fillRect l="-437" r="-56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5B2D2B-1355-87BD-0BF4-0987AC64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18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780ED03E-4422-5D7B-7E4A-B1F284DA5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39634" y="3825836"/>
            <a:ext cx="3314166" cy="1538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48129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3F9C89-4C5E-965B-83D1-61601A8C8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1882C1-E924-C46D-64EB-5B0A91538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LWE </a:t>
            </a:r>
            <a:r>
              <a:rPr lang="ko-KR" altLang="en-US" dirty="0"/>
              <a:t>격자의 기저 </a:t>
            </a:r>
            <a:r>
              <a:rPr lang="en-US" altLang="ko-KR" dirty="0"/>
              <a:t>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10A8B6-480C-645A-9623-D122BA6B3FE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6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ar-AE" b="0" i="1" smtClean="0">
                        <a:solidFill>
                          <a:srgbClr val="222222"/>
                        </a:solidFill>
                        <a:latin typeface="Cambria Math"/>
                      </a:rPr>
                      <m:t>𝐴</m:t>
                    </m: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=[</m:t>
                    </m:r>
                    <m:eqArr>
                      <m:eqArr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eqArrPr>
                      <m:e>
                        <m:sSub>
                          <m:sSubPr>
                            <m:ctrlPr>
                              <a:rPr lang="ar-AE" altLang="ko-KR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b="0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ar-AE" altLang="ko-KR" b="0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altLang="ko-KR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ko-KR" altLang="ar-AE" b="0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𝐴</m:t>
                            </m:r>
                          </m:e>
                          <m:sub>
                            <m:r>
                              <a:rPr lang="ar-AE" altLang="ko-KR" b="0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</m:sSub>
                      </m:e>
                    </m:eqAr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로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쓰자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sSubSup>
                      <m:sSubSup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ℤ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sub>
                      <m:sup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×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b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은 첫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𝑛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개 행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나머지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행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mod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가역이라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Sup>
                      <m:sSubSup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p>
                    </m:sSubSup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𝑚𝑜𝑑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하자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60000"/>
                  </a:lnSpc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Claim 2: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다음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행렬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행렬이다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따라서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𝑣𝑜𝑙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)=</m:t>
                    </m:r>
                    <m:sSup>
                      <m:sSup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en-US" altLang="ko-KR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ar-AE" altLang="ko-KR" dirty="0">
                  <a:solidFill>
                    <a:srgbClr val="222222"/>
                  </a:solidFill>
                </a:endParaRPr>
              </a:p>
              <a:p>
                <a:pPr>
                  <a:lnSpc>
                    <a:spcPct val="160000"/>
                  </a:lnSpc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증명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블록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하삼각행렬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대각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블록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ar-AE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ar-AE" b="0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𝐼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b>
                    </m:sSub>
                    <m:r>
                      <a:rPr lang="en-US" altLang="ko-KR" b="0" i="0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d>
                      <m:dPr>
                        <m:ctrlPr>
                          <a:rPr lang="en-US" altLang="ko-KR" b="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ko-KR" altLang="en-US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</m:d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p>
                      <m:sSup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𝑞</m:t>
                        </m:r>
                      </m:e>
                      <m:sup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𝑛</m:t>
                        </m:r>
                      </m:sup>
                    </m:sSup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≠</m:t>
                    </m: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  <m:r>
                      <a:rPr lang="en-US" altLang="ko-KR" b="0" i="1" smtClean="0">
                        <a:solidFill>
                          <a:srgbClr val="222222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b="0" dirty="0">
                  <a:solidFill>
                    <a:srgbClr val="222222"/>
                  </a:solidFill>
                </a:endParaRPr>
              </a:p>
              <a:p>
                <a:pPr marL="457200" lvl="1" indent="0">
                  <a:lnSpc>
                    <a:spcPct val="160000"/>
                  </a:lnSpc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열이 선형독립이다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6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=(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;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⟺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ko-KR" altLang="ar-AE" b="0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ar-AE" b="0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𝑚𝑜𝑑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존재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⟺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ar-AE" altLang="ko-KR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가역이므로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𝑧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≡</m:t>
                    </m:r>
                    <m:sSubSup>
                      <m:sSubSup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  <m:sup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p>
                    </m:sSubSup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≡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𝑚𝑜𝑑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)⟺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  <m:r>
                      <a:rPr lang="en-US" altLang="ko-KR" b="0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;</m:t>
                    </m:r>
                    <m:r>
                      <a:rPr lang="ko-KR" altLang="ar-AE" b="0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</m:e>
                      <m:sub>
                        <m:r>
                          <a:rPr lang="ar-AE" altLang="ko-KR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ar-AE" altLang="ko-KR" b="0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ar-AE" b="0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존재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lnSpc>
                    <a:spcPct val="160000"/>
                  </a:lnSpc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열이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생성하고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앞서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선형독립임도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보였으므로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b="0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altLang="ko-KR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ar-AE" b="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기저다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010A8B6-480C-645A-9623-D122BA6B3F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10515600" cy="5061028"/>
              </a:xfrm>
              <a:blipFill>
                <a:blip r:embed="rId2"/>
                <a:stretch>
                  <a:fillRect l="-406" b="-722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3767B5-5D7D-2696-B41A-3B08BA061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19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5897919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3064CB-B856-8B3C-10CC-2D96C3FFB9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A0D7F0-5315-A2E6-29EC-3F495599E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BDD (Bounded Distance Decoding)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ED4466-55D5-BDEA-84A6-2464C85C38D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95322"/>
                <a:ext cx="8402053" cy="4701089"/>
              </a:xfrm>
            </p:spPr>
            <p:txBody>
              <a:bodyPr/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LWE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인스턴스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𝐴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𝑠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𝑒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𝐴𝑠𝑚𝑜𝑑𝑞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정의상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원소이고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𝑒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𝑒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(norm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부등식과 같은 논리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즉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거리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이내에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BDD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정의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와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주어졌는데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로부터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거리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이내의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유일하다는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보장이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있을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때 그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찾아라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LWE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𝑚</m:t>
                        </m:r>
                      </m:e>
                    </m:rad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𝐵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BDD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특수한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경우다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𝐴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무작위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아니라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매우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특수한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구조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𝑞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-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ary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삼각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블록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기저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갖는다는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점에서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특수한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경우다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8ED4466-55D5-BDEA-84A6-2464C85C38D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95322"/>
                <a:ext cx="8402053" cy="4701089"/>
              </a:xfrm>
              <a:blipFill>
                <a:blip r:embed="rId2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25E1A2-B332-8EDA-D66B-98A1C804A7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77CD06-9B4B-2CC9-A82E-723FE5CB32B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632" y="1295322"/>
            <a:ext cx="2865368" cy="3871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7306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AF796-9EED-B9C1-69A6-4F5B331698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6F8A3D2-91E8-B6D8-BDCA-E58E0FF35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Kannan embedding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B833441-0C59-D6B7-5B30-9913B58E3B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BDD</m:t>
                        </m:r>
                      </m:e>
                      <m:sub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𝛼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인스턴스에서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)/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e>
                    </m:rad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가정하자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+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1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)×(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𝑚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+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1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행렬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구성하면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가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기저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행렬이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되려면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)≠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이어야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하는데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블록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상삼각행렬이므로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𝑑𝑒𝑡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)·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≠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𝐷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원소는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𝑣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𝑐𝑏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;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꼴이다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𝑣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𝐷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∈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ℤ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).</a:t>
                </a:r>
              </a:p>
              <a:p>
                <a:pPr>
                  <a:spcAft>
                    <a:spcPts val="800"/>
                  </a:spcAft>
                </a:pP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𝑣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)=(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,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1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을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넣으면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limUpp>
                      <m:limUp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𝑣</m:t>
                        </m:r>
                      </m:e>
                      <m:lim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;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)∈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이고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limUpp>
                      <m:limUp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𝑣</m:t>
                        </m:r>
                      </m:e>
                      <m:lim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𝑦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𝑏</m:t>
                        </m:r>
                        <m:sSubSup>
                          <m:sSub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‖</m:t>
                            </m:r>
                          </m:e>
                          <m:sub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b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+</m:t>
                        </m:r>
                        <m:sSup>
                          <m:sSupPr>
                            <m:ctrlP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ko-KR" altLang="en-US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𝛼</m:t>
                            </m:r>
                          </m:e>
                          <m:sup>
                            <m:r>
                              <a:rPr lang="en-US" altLang="ko-KR" i="1">
                                <a:solidFill>
                                  <a:srgbClr val="222222"/>
                                </a:solidFill>
                                <a:latin typeface="Cambria Math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('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𝑏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≤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BDD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가정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따라서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)≤</m:t>
                    </m:r>
                    <m:rad>
                      <m:radPr>
                        <m:degHide m:val="on"/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e>
                    </m:rad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·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endParaRPr lang="en-US" altLang="ko-KR" dirty="0">
                  <a:solidFill>
                    <a:srgbClr val="222222"/>
                  </a:solidFill>
                </a:endParaRP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에는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원래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𝐿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보다 훨씬 짧은 벡터가 새로 생겼다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B833441-0C59-D6B7-5B30-9913B58E3B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A504E4-5283-5853-7C23-2600FE34D9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42253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03FC52-083E-AB48-CB44-0FBC6AB633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361FBA-26F9-79C6-ABA2-70D2C94D5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Kannan embedding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EB929B-DDE2-BDC0-ECC2-F29A4AB0CEF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=(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𝑣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−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𝑐𝑏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;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𝛼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)∈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이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최단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비영벡터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‖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𝑣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‖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𝜆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)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하자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 </a:t>
                </a:r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0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|</m:t>
                    </m:r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|≥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2</m:t>
                    </m:r>
                  </m:oMath>
                </a14:m>
                <a:r>
                  <a:rPr lang="en-US" altLang="ko-KR" dirty="0">
                    <a:solidFill>
                      <a:srgbClr val="222222"/>
                    </a:solidFill>
                  </a:rPr>
                  <a:t>, </a:t>
                </a:r>
                <a14:m>
                  <m:oMath xmlns:m="http://schemas.openxmlformats.org/officeDocument/2006/math">
                    <m:r>
                      <a:rPr lang="ko-KR" altLang="en-US" i="1">
                        <a:solidFill>
                          <a:srgbClr val="222222"/>
                        </a:solidFill>
                        <a:latin typeface="Cambria Math"/>
                      </a:rPr>
                      <m:t>𝑐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=±</m:t>
                    </m:r>
                    <m:r>
                      <a:rPr lang="en-US" altLang="ko-KR" i="1">
                        <a:solidFill>
                          <a:srgbClr val="222222"/>
                        </a:solidFill>
                        <a:latin typeface="Cambria Math"/>
                      </a:rPr>
                      <m:t>1</m:t>
                    </m:r>
                  </m:oMath>
                </a14:m>
                <a:endParaRPr lang="en-US" altLang="ko-KR" dirty="0">
                  <a:solidFill>
                    <a:srgbClr val="222222"/>
                  </a:solidFill>
                </a:endParaRP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AEB929B-DDE2-BDC0-ECC2-F29A4AB0CEF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D656FC-CE58-68AB-AB32-69B4F1687B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22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33F6510A-161D-C53B-4DBE-9A9F501AE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5343902"/>
                  </p:ext>
                </p:extLst>
              </p:nvPr>
            </p:nvGraphicFramePr>
            <p:xfrm>
              <a:off x="838200" y="2728038"/>
              <a:ext cx="10515600" cy="2834640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453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394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28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8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경우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논리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결론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ko-KR" altLang="en-US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ar-AE" sz="14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=‖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)&gt;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ar-AE" sz="1400" b="0" dirty="0">
                              <a:solidFill>
                                <a:schemeClr val="tx1"/>
                              </a:solidFill>
                            </a:rPr>
                            <a:t> (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앞서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)≤</m:t>
                              </m:r>
                              <m:rad>
                                <m:radPr>
                                  <m:degHide m:val="on"/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를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보임</a:t>
                          </a:r>
                          <a:r>
                            <a:rPr lang="en-US" altLang="ko-KR" sz="1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lang="ko-KR" altLang="en-US" sz="1400" b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chemeClr val="tx1"/>
                              </a:solidFill>
                            </a:rPr>
                            <a:t>모순 → 배제</a:t>
                          </a:r>
                          <a:endParaRPr sz="1400" b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ko-KR" sz="1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</m:t>
                                </m:r>
                                <m:r>
                                  <a:rPr lang="ko-KR" altLang="en-US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|≥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ko-KR" altLang="en-US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p>
                                <m:sSupPr>
                                  <m:ctrlPr>
                                    <a:rPr lang="ar-AE" sz="140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의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마지막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좌표가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</m:oMath>
                          </a14:m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이므로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altLang="ko-KR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≥|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|≥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</m:t>
                              </m:r>
                              <m:rad>
                                <m:radPr>
                                  <m:degHide m:val="on"/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e>
                              </m:rad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𝛼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≥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𝜆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𝐿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endParaRPr lang="ar-AE" sz="1400" b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chemeClr val="tx1"/>
                              </a:solidFill>
                            </a:rPr>
                            <a:t>모순 → 배제</a:t>
                          </a:r>
                          <a:endParaRPr sz="1400" b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ko-KR" altLang="en-US" sz="140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=±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ko-KR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r>
                                  <a:rPr lang="ko-KR" altLang="en-US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  <m:r>
                                  <a:rPr lang="ko-KR" altLang="en-US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≠</m:t>
                                </m:r>
                                <m:r>
                                  <a:rPr lang="ko-KR" altLang="en-US" sz="140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ko-KR" altLang="en-US" sz="1400">
                            <a:solidFill>
                              <a:schemeClr val="tx1"/>
                            </a:solidFill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ko-KR" altLang="en-US" sz="140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가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에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가장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가까운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유일한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격자점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⇒</m:t>
                              </m:r>
                              <m:r>
                                <a:rPr lang="en-US" altLang="ko-KR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‖</m:t>
                              </m:r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ko-KR" altLang="en-US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&gt;‖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⇒‖</m:t>
                              </m:r>
                              <m:sSup>
                                <m:sSu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sup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′</m:t>
                                  </m:r>
                                </m:sup>
                              </m:sSup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ar-AE" sz="140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&gt;‖</m:t>
                              </m:r>
                              <m:limUpp>
                                <m:limUpp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limUpp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𝑣</m:t>
                                  </m:r>
                                </m:e>
                                <m:lim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~</m:t>
                                  </m:r>
                                </m:lim>
                              </m:limUpp>
                              <m:sSub>
                                <m:sSubPr>
                                  <m:ctrlPr>
                                    <a:rPr lang="ar-AE" sz="140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‖</m:t>
                                  </m:r>
                                </m:e>
                                <m:sub>
                                  <m:r>
                                    <a:rPr lang="ar-AE" sz="140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oMath>
                          </a14:m>
                          <a:endParaRPr lang="ar-AE" sz="1400" b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모순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→ v=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y로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확정</a:t>
                          </a:r>
                          <a:endParaRPr sz="1400" b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5">
                <a:extLst>
                  <a:ext uri="{FF2B5EF4-FFF2-40B4-BE49-F238E27FC236}">
                    <a16:creationId xmlns:a16="http://schemas.microsoft.com/office/drawing/2014/main" id="{33F6510A-161D-C53B-4DBE-9A9F501AE071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15343902"/>
                  </p:ext>
                </p:extLst>
              </p:nvPr>
            </p:nvGraphicFramePr>
            <p:xfrm>
              <a:off x="838200" y="2728038"/>
              <a:ext cx="10515600" cy="2834640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453375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6839415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22281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86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경우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논리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1" u="none" dirty="0" err="1">
                              <a:solidFill>
                                <a:schemeClr val="bg1"/>
                              </a:solidFill>
                            </a:rPr>
                            <a:t>결론</a:t>
                          </a:r>
                          <a:endParaRPr sz="1400" b="1" u="none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8" t="-101724" r="-623013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390" t="-101724" r="-32709" b="-2025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chemeClr val="tx1"/>
                              </a:solidFill>
                            </a:rPr>
                            <a:t>모순 → 배제</a:t>
                          </a:r>
                          <a:endParaRPr sz="1400" b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8" t="-200000" r="-623013" b="-100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390" t="-200000" r="-32709" b="-10085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>
                              <a:solidFill>
                                <a:schemeClr val="tx1"/>
                              </a:solidFill>
                            </a:rPr>
                            <a:t>모순 → 배제</a:t>
                          </a:r>
                          <a:endParaRPr sz="1400" b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8660"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418" t="-302586" r="-623013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3"/>
                          <a:stretch>
                            <a:fillRect l="-21390" t="-302586" r="-32709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모순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→ v=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y로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확정</a:t>
                          </a:r>
                          <a:endParaRPr sz="1400" b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3E5FFC-ACE7-7FF3-DD71-44F6833AA641}"/>
                  </a:ext>
                </a:extLst>
              </p:cNvPr>
              <p:cNvSpPr txBox="1"/>
              <p:nvPr/>
            </p:nvSpPr>
            <p:spPr>
              <a:xfrm>
                <a:off x="689811" y="5870480"/>
                <a:ext cx="10663989" cy="40645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285750" indent="-285750">
                  <a:spcAft>
                    <a:spcPts val="800"/>
                  </a:spcAft>
                  <a:buFont typeface="Arial" panose="020B0604020202020204" pitchFamily="34" charset="0"/>
                  <a:buChar char="•"/>
                </a:pPr>
                <a:r>
                  <a:rPr lang="ko-KR" altLang="en-US" sz="1800" b="0" dirty="0">
                    <a:solidFill>
                      <a:srgbClr val="222222"/>
                    </a:solidFill>
                    <a:latin typeface="맑은 고딕"/>
                  </a:rPr>
                  <a:t>세 경우가 모두 모순이거나 </a:t>
                </a:r>
                <a14:m>
                  <m:oMath xmlns:m="http://schemas.openxmlformats.org/officeDocument/2006/math"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𝑣</m:t>
                    </m:r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a:rPr lang="ko-KR" altLang="en-US" sz="1800" i="1">
                        <a:solidFill>
                          <a:srgbClr val="222222"/>
                        </a:solidFill>
                        <a:latin typeface="Cambria Math"/>
                      </a:rPr>
                      <m:t>𝑦</m:t>
                    </m:r>
                  </m:oMath>
                </a14:m>
                <a:r>
                  <a:rPr lang="ko-KR" altLang="en-US" sz="1800" b="0" dirty="0">
                    <a:solidFill>
                      <a:srgbClr val="222222"/>
                    </a:solidFill>
                    <a:latin typeface="맑은 고딕"/>
                  </a:rPr>
                  <a:t>로 </a:t>
                </a:r>
                <a:r>
                  <a:rPr lang="ko-KR" altLang="en-US" sz="1800" b="0" dirty="0" err="1">
                    <a:solidFill>
                      <a:srgbClr val="222222"/>
                    </a:solidFill>
                    <a:latin typeface="맑은 고딕"/>
                  </a:rPr>
                  <a:t>확정되므로</a:t>
                </a:r>
                <a:r>
                  <a:rPr lang="en-US" altLang="ko-KR" sz="1800" b="0" dirty="0">
                    <a:solidFill>
                      <a:srgbClr val="222222"/>
                    </a:solidFill>
                    <a:latin typeface="맑은 고딕"/>
                  </a:rPr>
                  <a:t>, </a:t>
                </a:r>
                <a14:m>
                  <m:oMath xmlns:m="http://schemas.openxmlformats.org/officeDocument/2006/math">
                    <m:r>
                      <a:rPr lang="en-US" altLang="ko-KR" sz="1800" i="1">
                        <a:solidFill>
                          <a:srgbClr val="222222"/>
                        </a:solidFill>
                        <a:latin typeface="Cambria Math"/>
                      </a:rPr>
                      <m:t>±</m:t>
                    </m:r>
                    <m:limUpp>
                      <m:limUppPr>
                        <m:ctrlP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𝑣</m:t>
                        </m:r>
                      </m:e>
                      <m:lim>
                        <m:r>
                          <a:rPr lang="en-US" altLang="ko-KR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lang="ko-KR" altLang="en-US" sz="1800" b="0" dirty="0" err="1">
                    <a:solidFill>
                      <a:srgbClr val="222222"/>
                    </a:solidFill>
                    <a:latin typeface="맑은 고딕"/>
                  </a:rPr>
                  <a:t>만이</a:t>
                </a:r>
                <a:r>
                  <a:rPr lang="ko-KR" altLang="en-US" sz="1800" b="0" dirty="0">
                    <a:solidFill>
                      <a:srgbClr val="222222"/>
                    </a:solidFill>
                    <a:latin typeface="맑은 고딕"/>
                  </a:rPr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ko-KR" altLang="en-US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𝐿</m:t>
                        </m:r>
                      </m:e>
                      <m:sup>
                        <m:r>
                          <a:rPr lang="en-US" altLang="ko-KR" sz="1800" i="1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</m:oMath>
                </a14:m>
                <a:r>
                  <a:rPr lang="ko-KR" altLang="en-US" sz="1800" b="0" dirty="0" err="1">
                    <a:solidFill>
                      <a:srgbClr val="222222"/>
                    </a:solidFill>
                    <a:latin typeface="맑은 고딕"/>
                  </a:rPr>
                  <a:t>에서</a:t>
                </a:r>
                <a:r>
                  <a:rPr lang="ko-KR" altLang="en-US" sz="1800" b="0" dirty="0">
                    <a:solidFill>
                      <a:srgbClr val="222222"/>
                    </a:solidFill>
                    <a:latin typeface="맑은 고딕"/>
                  </a:rPr>
                  <a:t> </a:t>
                </a:r>
                <a:r>
                  <a:rPr lang="ko-KR" altLang="en-US" sz="1800" b="0" dirty="0" err="1">
                    <a:solidFill>
                      <a:srgbClr val="222222"/>
                    </a:solidFill>
                    <a:latin typeface="맑은 고딕"/>
                  </a:rPr>
                  <a:t>유일한</a:t>
                </a:r>
                <a:r>
                  <a:rPr lang="ko-KR" altLang="en-US" sz="1800" b="0" dirty="0">
                    <a:solidFill>
                      <a:srgbClr val="222222"/>
                    </a:solidFill>
                    <a:latin typeface="맑은 고딕"/>
                  </a:rPr>
                  <a:t> </a:t>
                </a:r>
                <a:r>
                  <a:rPr lang="ko-KR" altLang="en-US" sz="1800" b="0" dirty="0" err="1">
                    <a:solidFill>
                      <a:srgbClr val="222222"/>
                    </a:solidFill>
                    <a:latin typeface="맑은 고딕"/>
                  </a:rPr>
                  <a:t>최단벡터다</a:t>
                </a:r>
                <a:r>
                  <a:rPr lang="en-US" altLang="ko-KR" sz="1800" b="0" dirty="0">
                    <a:solidFill>
                      <a:srgbClr val="222222"/>
                    </a:solidFill>
                    <a:latin typeface="맑은 고딕"/>
                  </a:rPr>
                  <a:t>.</a:t>
                </a:r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D3E5FFC-ACE7-7FF3-DD71-44F6833AA6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811" y="5870480"/>
                <a:ext cx="10663989" cy="406458"/>
              </a:xfrm>
              <a:prstGeom prst="rect">
                <a:avLst/>
              </a:prstGeom>
              <a:blipFill>
                <a:blip r:embed="rId4"/>
                <a:stretch>
                  <a:fillRect l="-343" b="-2238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741528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00D17-7269-7C6D-1DDF-32F718042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02D8E7-199B-0D33-67AB-8924291D55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Primal attack (Kannan embedding</a:t>
            </a:r>
            <a:r>
              <a:rPr lang="ko-KR" altLang="en-US" dirty="0"/>
              <a:t>를</a:t>
            </a:r>
            <a:r>
              <a:rPr lang="en-US" altLang="ko-KR" dirty="0"/>
              <a:t> </a:t>
            </a:r>
            <a:r>
              <a:rPr lang="ko-KR" altLang="en-US" dirty="0"/>
              <a:t>이용한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0A5045-2E99-735A-219C-9736992C42B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BDD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α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인스턴스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L</m:t>
                    </m:r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L</m:t>
                    </m:r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D</m:t>
                    </m:r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),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b</m:t>
                    </m:r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는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L</m:t>
                        </m:r>
                      </m:e>
                      <m:sup>
                        <m:r>
                          <a:rPr lang="en-US" altLang="ko-KR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=</m:t>
                    </m:r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L</m:t>
                    </m:r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(</m:t>
                    </m:r>
                    <m:sSup>
                      <m:sSu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D</m:t>
                        </m:r>
                      </m:e>
                      <m:sup>
                        <m:r>
                          <a:rPr lang="en-US" altLang="ko-KR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ko-KR" altLang="en-US" dirty="0" err="1">
                    <a:solidFill>
                      <a:srgbClr val="222222"/>
                    </a:solidFill>
                  </a:rPr>
                  <a:t>에서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SVP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를 풀어 해결할 수 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SVP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의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답 </a:t>
                </a:r>
                <a14:m>
                  <m:oMath xmlns:m="http://schemas.openxmlformats.org/officeDocument/2006/math">
                    <m:r>
                      <a:rPr lang="en-US" altLang="ko-KR" b="0" i="0">
                        <a:solidFill>
                          <a:srgbClr val="222222"/>
                        </a:solidFill>
                        <a:latin typeface="Cambria Math"/>
                      </a:rPr>
                      <m:t>±</m:t>
                    </m:r>
                    <m:limUpp>
                      <m:limUppPr>
                        <m:ctrlPr>
                          <a:rPr lang="ko-KR" altLang="en-US" i="1">
                            <a:solidFill>
                              <a:srgbClr val="222222"/>
                            </a:solidFill>
                            <a:latin typeface="Cambria Math" panose="02040503050406030204" pitchFamily="18" charset="0"/>
                          </a:rPr>
                        </m:ctrlPr>
                      </m:limUppPr>
                      <m:e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v</m:t>
                        </m:r>
                      </m:e>
                      <m:lim>
                        <m:r>
                          <a:rPr lang="en-US" altLang="ko-KR" b="0" i="0">
                            <a:solidFill>
                              <a:srgbClr val="222222"/>
                            </a:solidFill>
                            <a:latin typeface="Cambria Math"/>
                          </a:rPr>
                          <m:t>~</m:t>
                        </m:r>
                      </m:lim>
                    </m:limUpp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의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위쪽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m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개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좌표에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b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더하면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부호가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맞는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쪽을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골라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ko-KR" altLang="en-US" b="0" i="0">
                        <a:solidFill>
                          <a:srgbClr val="222222"/>
                        </a:solidFill>
                        <a:latin typeface="Cambria Math"/>
                      </a:rPr>
                      <m:t>y</m:t>
                    </m:r>
                  </m:oMath>
                </a14:m>
                <a:r>
                  <a:rPr lang="ko-KR" altLang="en-US" dirty="0">
                    <a:solidFill>
                      <a:srgbClr val="222222"/>
                    </a:solidFill>
                  </a:rPr>
                  <a:t>를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얻는다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이 방법을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Kannan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embedding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을 이용한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Primal attack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이라 부른다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:r>
                  <a:rPr lang="ko-KR" altLang="en-US" dirty="0">
                    <a:solidFill>
                      <a:srgbClr val="222222"/>
                    </a:solidFill>
                  </a:rPr>
                  <a:t>참고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: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SIS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짧은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벡터를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직접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찾는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방향으로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SVP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연결되고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(dual attack),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LWE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는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가까운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격자점을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찾는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'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BDD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를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거쳐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en-US" altLang="ko-KR" dirty="0" err="1">
                    <a:solidFill>
                      <a:srgbClr val="222222"/>
                    </a:solidFill>
                  </a:rPr>
                  <a:t>SVP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에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 </a:t>
                </a:r>
                <a:r>
                  <a:rPr lang="ko-KR" altLang="en-US" dirty="0" err="1">
                    <a:solidFill>
                      <a:srgbClr val="222222"/>
                    </a:solidFill>
                  </a:rPr>
                  <a:t>연결된다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(primal attack)</a:t>
                </a:r>
              </a:p>
              <a:p>
                <a:pPr marL="457200" lvl="1" indent="0">
                  <a:spcAft>
                    <a:spcPts val="1400"/>
                  </a:spcAft>
                  <a:buNone/>
                </a:pPr>
                <a:r>
                  <a:rPr lang="en-US" altLang="ko-KR" dirty="0">
                    <a:solidFill>
                      <a:srgbClr val="222222"/>
                    </a:solidFill>
                  </a:rPr>
                  <a:t>- </a:t>
                </a:r>
                <a:r>
                  <a:rPr lang="ko-KR" altLang="en-US" dirty="0">
                    <a:solidFill>
                      <a:srgbClr val="222222"/>
                    </a:solidFill>
                  </a:rPr>
                  <a:t>두 문제가 서로 다른 방식으로 격자 문제에 닿아 있다</a:t>
                </a:r>
                <a:r>
                  <a:rPr lang="en-US" altLang="ko-KR" dirty="0">
                    <a:solidFill>
                      <a:srgbClr val="222222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20A5045-2E99-735A-219C-9736992C42B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33BE3B0-5CF7-03C7-BCDE-88130CB37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69277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ED15F-BC16-2653-A59C-93EE68850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F6B30B-0CD4-F35E-234B-FDCB4C4EF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Regev</a:t>
            </a:r>
            <a:r>
              <a:rPr lang="ko-KR" altLang="en-US" dirty="0"/>
              <a:t>의 정리 </a:t>
            </a:r>
            <a:r>
              <a:rPr lang="en-US" altLang="ko-KR" dirty="0"/>
              <a:t>(2005)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33B887-558C-27A1-3C84-147C6B3C1E0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14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것도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합리적인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추측이다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문제는 평균 케이스 보장이다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Regev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의 정리</a:t>
                </a:r>
                <a:r>
                  <a:rPr lang="en-US" altLang="ko-KR" dirty="0"/>
                  <a:t>: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근사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-SIVP(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ϵ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chemeClr val="tx1"/>
                    </a:solidFill>
                  </a:rPr>
                  <a:t>)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가 양자적으</a:t>
                </a:r>
                <a:r>
                  <a:rPr lang="ko-KR" altLang="en-US" dirty="0"/>
                  <a:t>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어려우면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평균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 smtClean="0">
                            <a:solidFill>
                              <a:schemeClr val="tx1"/>
                            </a:solidFill>
                            <a:latin typeface="Cambria Math"/>
                          </a:rPr>
                          <m:t>ϵ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양자적으로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가정이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합리적이므로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평균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증명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가능한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보장을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얻는다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14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Ajtai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마찬가지로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Regev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매우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비타이트하며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추가로 환원 알고리즘 자체가 양자 계산을 사용한다는 특징도 있다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433B887-558C-27A1-3C84-147C6B3C1E0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12A79F-1186-D8D2-80D9-608FAD99A4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656756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5B8A5-E216-202B-3A90-4EA07E9361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E5359D-DF52-8400-506E-C064CEC5D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Ajtai</a:t>
            </a:r>
            <a:r>
              <a:rPr lang="en-US" altLang="ko-KR" dirty="0"/>
              <a:t> vs Regev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F809B63-BD79-70C1-BADE-4700DA8AF04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Ajtai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SIS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'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γ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가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고전적으로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가정에서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출발한다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Regev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'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ϵ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이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양자적으로도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최악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케이스에서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더 강한 가정에서 출발한다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고전 공격자뿐 아니라 양자 공격자까지 가정해야 하기 때문이다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더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강한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'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보장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가정이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강할수록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공격자까지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포함할수록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)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그로부터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도출되는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안전성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결론은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컴퓨터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시대에도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계속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유효하다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PQC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의 목적 자체가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컴퓨터로도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못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푸는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문제에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기반한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암호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'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이므로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애초에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양자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공격자를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가정한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Regev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안전성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증명이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PQC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취지에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정확히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들어맞는다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이것이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Kyber(ML-KEM)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등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PQC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표준의 기반으로 널리 쓰이는 이유 중 하나다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F809B63-BD79-70C1-BADE-4700DA8AF04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 r="-46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CA52090-481F-25F7-9997-8B16666B96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24059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8D56A-45B5-4D4B-9393-DCCB8A152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1EEACB-3BA1-DF57-BE99-B769508A6E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LWE </a:t>
            </a:r>
            <a:r>
              <a:rPr lang="ko-KR" altLang="en-US" dirty="0"/>
              <a:t>요약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0EE714-533B-48A2-CE4D-DC84FF1387C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Autofit/>
              </a:bodyPr>
              <a:lstStyle/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격자에서의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BDD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α</m:t>
                        </m:r>
                      </m:sub>
                    </m:sSub>
                  </m:oMath>
                </a14:m>
                <a:r>
                  <a:rPr lang="ko-KR" altLang="en-US" dirty="0">
                    <a:solidFill>
                      <a:schemeClr val="tx1"/>
                    </a:solidFill>
                  </a:rPr>
                  <a:t>로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환원되고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이는 다시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SVP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인스턴스로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SVP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푸는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가장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빠른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알려진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알고리즘도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역시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BKZ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이며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그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실행시간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추정치가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파라미터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선택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기준이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된다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평균 케이스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LWE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는 증명 가능하게 최악 케이스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ko-KR" altLang="en-US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SIVP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ko-KR" altLang="en-US" b="0" i="0">
                            <a:solidFill>
                              <a:schemeClr val="tx1"/>
                            </a:solidFill>
                            <a:latin typeface="Cambria Math"/>
                          </a:rPr>
                          <m:t>ϵ</m:t>
                        </m:r>
                      </m:sub>
                    </m:sSub>
                  </m:oMath>
                </a14:m>
                <a:r>
                  <a:rPr lang="ko-KR" altLang="en-US" dirty="0" err="1">
                    <a:solidFill>
                      <a:schemeClr val="tx1"/>
                    </a:solidFill>
                  </a:rPr>
                  <a:t>만큼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어렵다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(Regev).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이 보장 역시 점근적이라 실제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난이도와의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관련성은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불분명하다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Aft>
                    <a:spcPts val="800"/>
                  </a:spcAft>
                </a:pPr>
                <a:r>
                  <a:rPr lang="ko-KR" altLang="en-US" dirty="0">
                    <a:solidFill>
                      <a:schemeClr val="tx1"/>
                    </a:solidFill>
                  </a:rPr>
                  <a:t>참고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: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Regev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환원과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실전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LWE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기반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프로토콜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대부분은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오차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 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e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가우스 분포에서 뽑는다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  <a:p>
                <a:pPr marL="457200" lvl="1" indent="0">
                  <a:spcAft>
                    <a:spcPts val="800"/>
                  </a:spcAft>
                  <a:buNone/>
                </a:pPr>
                <a:r>
                  <a:rPr lang="en-US" altLang="ko-KR" dirty="0">
                    <a:solidFill>
                      <a:schemeClr val="tx1"/>
                    </a:solidFill>
                  </a:rPr>
                  <a:t>- 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이 강의는 단순화를 위해 균등분포 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[−B,B]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를 </a:t>
                </a:r>
                <a:r>
                  <a:rPr lang="ko-KR" altLang="en-US" dirty="0" err="1">
                    <a:solidFill>
                      <a:schemeClr val="tx1"/>
                    </a:solidFill>
                  </a:rPr>
                  <a:t>썼다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 Kyber/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Dilithium</a:t>
                </a:r>
                <a:r>
                  <a:rPr lang="ko-KR" altLang="en-US" dirty="0">
                    <a:solidFill>
                      <a:schemeClr val="tx1"/>
                    </a:solidFill>
                  </a:rPr>
                  <a:t>도 가우스 대신 균등분포와 중심 이항분포를 쓴다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0EE714-533B-48A2-CE4D-DC84FF1387C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40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CB9815-4ACD-10C0-C755-1998A6F79E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61218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2FF7B7-491D-A648-9867-E3E117A8D2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E08FD9-967D-A61D-731E-E189239B4C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SIS vs LWE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64FB4B8-36E1-B2A1-39DD-3D1C744D6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8A2D4-3867-488E-A04E-7BFFCAED45A6}" type="slidenum">
              <a:rPr lang="ko-KR" altLang="en-US" smtClean="0"/>
              <a:t>27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B44F4E9-473A-8DA9-4611-2A9FBE484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027598"/>
                  </p:ext>
                </p:extLst>
              </p:nvPr>
            </p:nvGraphicFramePr>
            <p:xfrm>
              <a:off x="838200" y="1234440"/>
              <a:ext cx="10515600" cy="4206240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9663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326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166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 err="1">
                              <a:solidFill>
                                <a:schemeClr val="bg1"/>
                              </a:solidFill>
                            </a:rPr>
                            <a:t>단계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>
                              <a:solidFill>
                                <a:schemeClr val="bg1"/>
                              </a:solidFill>
                            </a:rPr>
                            <a:t>SIS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>
                              <a:solidFill>
                                <a:schemeClr val="bg1"/>
                              </a:solidFill>
                            </a:rPr>
                            <a:t>LWE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정의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Az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≡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modq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z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∈[−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sSup>
                                <m:sSupPr>
                                  <m:ctrlPr>
                                    <a:rPr lang="ar-AE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ar-AE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p>
                            </m:oMath>
                          </a14:m>
                          <a:endParaRPr lang="ar-AE"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As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modq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a14:m>
                          <a:r>
                            <a:rPr lang="en-US" sz="1400" b="0" dirty="0">
                              <a:solidFill>
                                <a:schemeClr val="tx1"/>
                              </a:solidFill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e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∈[−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m:rPr>
                                  <m:sty m:val="p"/>
                                </m:rPr>
                                <a:rPr 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B</m:t>
                              </m:r>
                              <m:sSup>
                                <m:sSupPr>
                                  <m:ctrlPr>
                                    <a:rPr lang="ar-AE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ar-AE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ar-AE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m</m:t>
                                  </m:r>
                                </m:sup>
                              </m:sSup>
                            </m:oMath>
                          </a14:m>
                          <a:endParaRPr lang="ar-AE"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격자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정의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Sup>
                                <m:sSubSupPr>
                                  <m:ctrlPr>
                                    <a:rPr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sz="1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sz="1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𝐴</m:t>
                                  </m:r>
                                </m:sub>
                                <m:sup>
                                  <m:r>
                                    <a:rPr sz="1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⟂</m:t>
                                  </m:r>
                                </m:sup>
                              </m:sSubSup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={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: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𝐴𝑧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≡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0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(해 집합)</a:t>
                          </a: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sz="1400">
                                      <a:solidFill>
                                        <a:srgbClr val="000000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sz="1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𝐿</m:t>
                                  </m:r>
                                </m:e>
                                <m:sub>
                                  <m:r>
                                    <a:rPr sz="1400" i="1">
                                      <a:solidFill>
                                        <a:srgbClr val="000000"/>
                                      </a:solidFill>
                                      <a:latin typeface="Cambria Math"/>
                                    </a:rPr>
                                    <m:t>𝐴</m:t>
                                  </m:r>
                                </m:sub>
                              </m:sSub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={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:∃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𝑧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,</m:t>
                              </m:r>
                              <m:r>
                                <m:rPr>
                                  <m:nor/>
                                </m:rP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𝐴𝑧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=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𝑦</m:t>
                              </m:r>
                              <m:r>
                                <a:rPr sz="1400" i="1">
                                  <a:solidFill>
                                    <a:srgbClr val="000000"/>
                                  </a:solidFill>
                                  <a:latin typeface="Cambria Math"/>
                                </a:rPr>
                                <m:t>}</m:t>
                              </m:r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(치역)</a:t>
                          </a: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기저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구하기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기저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ko-KR" alt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C</m:t>
                              </m:r>
                            </m:oMath>
                          </a14:m>
                          <a:r>
                            <a:rPr lang="en-US" altLang="ko-KR" sz="1400" b="0" dirty="0">
                              <a:solidFill>
                                <a:schemeClr val="tx1"/>
                              </a:solidFill>
                            </a:rPr>
                            <a:t>: 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부피 비교로 우회 증명</a:t>
                          </a:r>
                          <a:endParaRPr lang="ko-KR" altLang="en-US"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기저 </a:t>
                          </a:r>
                          <a14:m>
                            <m:oMath xmlns:m="http://schemas.openxmlformats.org/officeDocument/2006/math">
                              <m:r>
                                <m:rPr>
                                  <m:sty m:val="p"/>
                                </m:rPr>
                                <a:rPr lang="ko-KR" altLang="en-US" sz="1400" b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D</m:t>
                              </m:r>
                            </m:oMath>
                          </a14:m>
                          <a:r>
                            <a:rPr lang="en-US" altLang="ko-KR" sz="1400" b="0" dirty="0">
                              <a:solidFill>
                                <a:schemeClr val="tx1"/>
                              </a:solidFill>
                            </a:rPr>
                            <a:t>: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sSub>
                                <m:sSubPr>
                                  <m:ctrlPr>
                                    <a:rPr lang="ko-KR" altLang="en-US" sz="1400" b="0" i="1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ko-KR" altLang="en-US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A</m:t>
                                  </m:r>
                                </m:e>
                                <m:sub>
                                  <m:r>
                                    <a:rPr lang="en-US" altLang="ko-KR" sz="1400" b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oMath>
                          </a14:m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역행렬로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직접</a:t>
                          </a:r>
                          <a:r>
                            <a:rPr lang="ko-KR" altLang="en-US"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lang="ko-KR" altLang="en-US" sz="1400" b="0" dirty="0" err="1">
                              <a:solidFill>
                                <a:schemeClr val="tx1"/>
                              </a:solidFill>
                            </a:rPr>
                            <a:t>파라미터화</a:t>
                          </a:r>
                          <a:endParaRPr lang="ko-KR" altLang="en-US"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재정식화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근사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-SVP (dual attack)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BDD → Kannan embedding → SVP (primal attack)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평균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케이스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난이도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Ajtai (1996,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고전적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가정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Regev (2005,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양자적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가정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B44F4E9-473A-8DA9-4611-2A9FBE484DC9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99027598"/>
                  </p:ext>
                </p:extLst>
              </p:nvPr>
            </p:nvGraphicFramePr>
            <p:xfrm>
              <a:off x="838200" y="1234440"/>
              <a:ext cx="10515600" cy="4206240"/>
            </p:xfrm>
            <a:graphic>
              <a:graphicData uri="http://schemas.openxmlformats.org/drawingml/2006/table">
                <a:tbl>
                  <a:tblPr firstRow="1" bandRow="1">
                    <a:tableStyleId>{5A111915-BE36-4E01-A7E5-04B1672EAD32}</a:tableStyleId>
                  </a:tblPr>
                  <a:tblGrid>
                    <a:gridCol w="1966332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32663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616605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 err="1">
                              <a:solidFill>
                                <a:schemeClr val="bg1"/>
                              </a:solidFill>
                            </a:rPr>
                            <a:t>단계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>
                              <a:solidFill>
                                <a:schemeClr val="bg1"/>
                              </a:solidFill>
                            </a:rPr>
                            <a:t>SIS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600" b="1" dirty="0">
                              <a:solidFill>
                                <a:schemeClr val="bg1"/>
                              </a:solidFill>
                            </a:rPr>
                            <a:t>LWE</a:t>
                          </a:r>
                          <a:endParaRPr sz="1600" b="1" i="0" dirty="0">
                            <a:solidFill>
                              <a:schemeClr val="bg1"/>
                            </a:solidFill>
                            <a:latin typeface="맑은 고딕"/>
                          </a:endParaRPr>
                        </a:p>
                      </a:txBody>
                      <a:tcPr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정의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3" t="-100870" r="-117829" b="-40260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7836" t="-100870" r="-264" b="-40260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격자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정의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3" t="-199138" r="-117829" b="-29913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7836" t="-199138" r="-264" b="-29913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기저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구하기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50233" t="-301739" r="-117829" b="-2017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2"/>
                          <a:stretch>
                            <a:fillRect l="-127836" t="-301739" r="-264" b="-20173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재정식화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근사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-SVP (dual attack)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BDD → Kannan embedding → SVP (primal attack)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평균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케이스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난이도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Ajtai (1996,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고전적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가정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Regev (2005,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양자적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 </a:t>
                          </a:r>
                          <a:r>
                            <a:rPr sz="1400" b="0" dirty="0" err="1">
                              <a:solidFill>
                                <a:schemeClr val="tx1"/>
                              </a:solidFill>
                            </a:rPr>
                            <a:t>가정</a:t>
                          </a:r>
                          <a:r>
                            <a:rPr sz="1400" b="0" dirty="0">
                              <a:solidFill>
                                <a:schemeClr val="tx1"/>
                              </a:solidFill>
                            </a:rPr>
                            <a:t>)</a:t>
                          </a:r>
                          <a:endParaRPr sz="1400" b="0" i="0" dirty="0">
                            <a:solidFill>
                              <a:schemeClr val="tx1"/>
                            </a:solidFill>
                            <a:latin typeface="맑은 고딕"/>
                          </a:endParaRPr>
                        </a:p>
                      </a:txBody>
                      <a:tcPr marL="73152" marR="73152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387360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3">
          <a:schemeClr val="lt1"/>
        </a:lnRef>
        <a:fillRef idx="1">
          <a:schemeClr val="accent6"/>
        </a:fillRef>
        <a:effectRef idx="1">
          <a:schemeClr val="accent6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3547</TotalTime>
  <Words>3273</Words>
  <Application>Microsoft Office PowerPoint</Application>
  <PresentationFormat>와이드스크린</PresentationFormat>
  <Paragraphs>232</Paragraphs>
  <Slides>27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27</vt:i4>
      </vt:variant>
    </vt:vector>
  </HeadingPairs>
  <TitlesOfParts>
    <vt:vector size="31" baseType="lpstr">
      <vt:lpstr>맑은 고딕</vt:lpstr>
      <vt:lpstr>Arial</vt:lpstr>
      <vt:lpstr>Cambria Math</vt:lpstr>
      <vt:lpstr>Office 테마</vt:lpstr>
      <vt:lpstr>Post-Quantum Cryptography</vt:lpstr>
      <vt:lpstr>Plan</vt:lpstr>
      <vt:lpstr>4강 리마인드</vt:lpstr>
      <vt:lpstr>좋은 기저 &amp; 나쁜 기저</vt:lpstr>
      <vt:lpstr>SIS의 정의</vt:lpstr>
      <vt:lpstr>Discrete additive subgroup (이산 가법 부분군)</vt:lpstr>
      <vt:lpstr>SIS 격자의 rank</vt:lpstr>
      <vt:lpstr>Coset (잉여류)</vt:lpstr>
      <vt:lpstr>SIS 격자의 기저 C</vt:lpstr>
      <vt:lpstr>부분격자에서 전체로</vt:lpstr>
      <vt:lpstr>SIS를 격자 문제로</vt:lpstr>
      <vt:lpstr>Norm 부등식</vt:lpstr>
      <vt:lpstr>SIS2</vt:lpstr>
      <vt:lpstr>SIS &amp; SIS2</vt:lpstr>
      <vt:lpstr>Ajtai의 정리 (1996)</vt:lpstr>
      <vt:lpstr>Ajtai 환원의 한계</vt:lpstr>
      <vt:lpstr>SIS 요약</vt:lpstr>
      <vt:lpstr>LWE의 정의</vt:lpstr>
      <vt:lpstr>LWE 격자의 기저 D</vt:lpstr>
      <vt:lpstr>BDD (Bounded Distance Decoding)</vt:lpstr>
      <vt:lpstr>Kannan embedding</vt:lpstr>
      <vt:lpstr>Kannan embedding</vt:lpstr>
      <vt:lpstr>Primal attack (Kannan embedding를 이용한)</vt:lpstr>
      <vt:lpstr>Regev의 정리 (2005)</vt:lpstr>
      <vt:lpstr>Ajtai vs Regev</vt:lpstr>
      <vt:lpstr>LWE 요약</vt:lpstr>
      <vt:lpstr>SIS vs LWE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규빈 박</dc:creator>
  <cp:lastModifiedBy>규빈 박</cp:lastModifiedBy>
  <cp:revision>902</cp:revision>
  <dcterms:created xsi:type="dcterms:W3CDTF">2026-03-17T05:07:50Z</dcterms:created>
  <dcterms:modified xsi:type="dcterms:W3CDTF">2026-07-21T11:24:32Z</dcterms:modified>
</cp:coreProperties>
</file>