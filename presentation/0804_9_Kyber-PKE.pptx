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3"/>
  </p:notesMasterIdLst>
  <p:sldIdLst>
    <p:sldId id="256" r:id="rId2"/>
    <p:sldId id="332" r:id="rId3"/>
    <p:sldId id="333" r:id="rId4"/>
    <p:sldId id="334" r:id="rId5"/>
    <p:sldId id="335" r:id="rId6"/>
    <p:sldId id="336" r:id="rId7"/>
    <p:sldId id="337" r:id="rId8"/>
    <p:sldId id="338" r:id="rId9"/>
    <p:sldId id="339" r:id="rId10"/>
    <p:sldId id="340" r:id="rId11"/>
    <p:sldId id="341" r:id="rId12"/>
    <p:sldId id="343" r:id="rId13"/>
    <p:sldId id="345" r:id="rId14"/>
    <p:sldId id="346" r:id="rId15"/>
    <p:sldId id="347" r:id="rId16"/>
    <p:sldId id="349" r:id="rId17"/>
    <p:sldId id="350" r:id="rId18"/>
    <p:sldId id="351" r:id="rId19"/>
    <p:sldId id="352" r:id="rId20"/>
    <p:sldId id="353" r:id="rId21"/>
    <p:sldId id="355" r:id="rId22"/>
    <p:sldId id="356" r:id="rId23"/>
    <p:sldId id="357" r:id="rId24"/>
    <p:sldId id="359" r:id="rId25"/>
    <p:sldId id="360" r:id="rId26"/>
    <p:sldId id="361" r:id="rId27"/>
    <p:sldId id="362" r:id="rId28"/>
    <p:sldId id="363" r:id="rId29"/>
    <p:sldId id="364" r:id="rId30"/>
    <p:sldId id="366" r:id="rId31"/>
    <p:sldId id="367" r:id="rId3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규빈 박" initials="규박" lastIdx="12" clrIdx="0">
    <p:extLst>
      <p:ext uri="{19B8F6BF-5375-455C-9EA6-DF929625EA0E}">
        <p15:presenceInfo xmlns:p15="http://schemas.microsoft.com/office/powerpoint/2012/main" userId="b405f47f44f6c53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FD0F851-EC5A-4D38-B0AD-8093EC10F338}" styleName="밝은 스타일 1 - 강조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A111915-BE36-4E01-A7E5-04B1672EAD32}" styleName="밝은 스타일 2 - 강조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69012ECD-51FC-41F1-AA8D-1B2483CD663E}" styleName="밝은 스타일 2 - 강조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2B40C2-3351-40A2-B46D-4B4F877A79B2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BC5EA-D886-4875-B891-B25A6CC4908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5528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38C119-E53F-2DA2-3F3A-62BF80700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BB6797-A87E-4BFE-C9F3-8C995A674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en-US" altLang="ko-KR" dirty="0"/>
          </a:p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D1BD7-7E65-3772-3007-1F34DBA0F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DF637E-82D6-4563-BCF0-C9101F2B5148}" type="datetime1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CF5ED1-6997-CD09-21BF-44F1DD23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40E17D-D377-3A02-4E70-6AAE5C12D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7735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1FD09-61A8-64FE-609A-5BC9FD80E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>
            <a:normAutofit/>
          </a:bodyPr>
          <a:lstStyle>
            <a:lvl1pPr algn="ctr">
              <a:defRPr sz="32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A10CA-AA0F-BD51-5B8E-5AE0726F0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1800"/>
            </a:lvl1pPr>
            <a:lvl2pPr>
              <a:lnSpc>
                <a:spcPct val="150000"/>
              </a:lnSpc>
              <a:defRPr sz="1800"/>
            </a:lvl2pPr>
            <a:lvl3pPr>
              <a:lnSpc>
                <a:spcPct val="150000"/>
              </a:lnSpc>
              <a:defRPr sz="1800"/>
            </a:lvl3pPr>
            <a:lvl4pPr>
              <a:lnSpc>
                <a:spcPct val="150000"/>
              </a:lnSpc>
              <a:defRPr sz="1800"/>
            </a:lvl4pPr>
            <a:lvl5pPr>
              <a:lnSpc>
                <a:spcPct val="150000"/>
              </a:lnSpc>
              <a:defRPr sz="18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4F1B2-7ED6-C36F-405B-74D10A46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CD677-7AD2-4A27-94BD-C65458D22428}" type="datetime1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B54CE5-BA49-9B1F-44F6-BB6803967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D5B8A52-06C2-8583-0C1B-A817C4737BF0}"/>
              </a:ext>
            </a:extLst>
          </p:cNvPr>
          <p:cNvSpPr/>
          <p:nvPr userDrawn="1"/>
        </p:nvSpPr>
        <p:spPr>
          <a:xfrm flipV="1">
            <a:off x="405063" y="889665"/>
            <a:ext cx="11381873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497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1E2741-8F1E-BB08-8064-ABB3B517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E217DB-F68B-0B02-0EE9-FC6D375A3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F4ECD6-4F10-FAB4-9EC7-0A9BDDBBF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F52EC-B397-4D0A-AE91-E0D6840C85A1}" type="datetime1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089ED4-E191-9BE2-6362-00E940AF7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322432-D7EA-093F-001B-BC7E0D49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473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62A7E8-82BA-7B6E-F6E9-A98D3ECFF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AEFAB5-2BD5-B266-2B90-5DF6C6BE75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C97A80-9CA9-6C9D-98D1-D8A82989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3A760F-4119-02E0-9047-FD4EFB03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D6007-6A42-4C9B-B218-6A32B3A38C67}" type="datetime1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9B3A7E-6DE5-9DF0-CCF3-4E150621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64016-7B2A-6313-FDC2-8FA33EAC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708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54C69-8E55-E9AE-CBD6-A0F2276D9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B86DB8-CC8D-914E-CEFA-5DF480196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176446-C17B-7FD5-8DB2-B98280114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5D4D2A-9477-8669-492E-C33F3E9CD4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BF0716-4A26-4EAB-6A93-C6203A807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0F37FBA-7D77-22F4-B534-1653B07A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658DF-8B5F-4351-A42C-BF3495DE7ABE}" type="datetime1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DA361B-5E51-3A84-F540-036EB166C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AD90B8D-AC97-0E06-ED03-C9645D4A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7877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5235F-156B-75D6-B91A-2D25D5F31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0398CE0-1B1D-EF93-936A-A286EA577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59C48-8150-4FAB-8BEF-6AD61CFC9BBE}" type="datetime1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4DC0FF-921E-80C0-450A-7B405750E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F709D-D3DC-4D1F-45FC-9F2F2C18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2988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4D47D0-9EAC-3C67-62F1-6CC1BEC6F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1DBCF-1091-470D-AC72-5CF3D00280AC}" type="datetime1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75CACA-850A-EA99-2A04-D33838FCC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04249E-807B-C0AC-5C11-E3AD439D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9095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F82BF-B27F-0EAB-B809-971BA3CE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4868F8-4EB2-B804-3AD6-7256AF1C6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3E5F92-B2C2-8AB1-01C1-ED72DF18A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43173C-11BF-A2F6-F013-59378849A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4AE7C-57FB-4DBB-B90C-59145D637BF6}" type="datetime1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D47E49-717B-A5BA-FB22-E4F74A0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7ED0F3-0EAE-43B7-F5D2-9F776B23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231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DE7BB-65A1-98A0-61B2-9BA86EB8B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393FC40-79A0-A826-1CA9-EE7B1B8BF9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B9879E-8AC3-D682-707C-4CCA3AC04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97A2B9-9192-6241-C6C5-2D7D678E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92253-43A0-46E3-918E-3929407A8C01}" type="datetime1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7311CB-F5C2-2F43-5CDB-47B621DB1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7E252D-5421-B82E-B9DC-97D8A4F11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434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5921C-217D-706E-B4C1-8C4B415A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A49194-22FD-90CC-72D7-93BB89EBF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3072F4-8B76-D6AF-7D51-73F34661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78607-39E6-4CB2-B3CB-AB428B3B6195}" type="datetime1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03EEA5-CFF1-3A25-3757-289E51F27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A5D0D-C1A0-3A92-3E15-E7442EE12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9845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44A25BF-197E-B63E-7A73-089055E7B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D6C20F-2716-6230-FC15-8E28D820B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2C15CE-BE12-96E8-58E3-B89CE71B7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8A2F2-325F-46A6-8956-F2A49A35BAF8}" type="datetime1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C669E-1E2D-2737-7F44-4EF88AEE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1D9548-61EF-5EA9-3163-3C25E9287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9790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3AFC0F6-4140-2489-D0A3-0A632697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866"/>
            <a:ext cx="10515600" cy="662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886E5-5DD8-BA48-583F-AAA217E8D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23922"/>
            <a:ext cx="10515600" cy="4753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862E1-2ECD-F622-0F74-FDC2E7199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D61A29-800E-482A-B0FD-5A04401ECD92}" type="datetime1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2E1796-7D1E-1254-446E-8BAA61680C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B692A8-3D04-14CA-0956-516C70492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613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F5C70B-7871-D2F3-E49B-85D4BEBAD7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ko-KR" dirty="0">
                <a:solidFill>
                  <a:srgbClr val="000000"/>
                </a:solidFill>
              </a:rPr>
              <a:t>Post-Quantum Cryptography</a:t>
            </a:r>
            <a:endParaRPr lang="ko-KR" altLang="en-US" sz="4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EA4BB57-D4CA-4972-9722-922AA1C0259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endParaRPr lang="en-US" altLang="ko-KR" sz="28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9. </a:t>
            </a:r>
            <a:r>
              <a:rPr lang="en-US" altLang="ko-KR" dirty="0"/>
              <a:t>Kyber-PKE</a:t>
            </a:r>
            <a:endParaRPr lang="en-US" altLang="ko-KR" sz="28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12756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0DB61-F834-D9E7-299E-9100B8F34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62A060-71A6-5EA2-F906-1524933F5B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8962"/>
            <a:ext cx="10515600" cy="5037388"/>
          </a:xfrm>
        </p:spPr>
        <p:txBody>
          <a:bodyPr anchor="t">
            <a:normAutofit/>
          </a:bodyPr>
          <a:lstStyle/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ko-KR" altLang="en-US" dirty="0"/>
              <a:t>표기법과 </a:t>
            </a:r>
            <a:r>
              <a:rPr lang="ko-KR" altLang="en-US" dirty="0" err="1"/>
              <a:t>라운딩</a:t>
            </a:r>
            <a:endParaRPr lang="en-US" altLang="ko-KR" dirty="0"/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dirty="0"/>
              <a:t>Kyber-PKE </a:t>
            </a:r>
            <a:r>
              <a:rPr lang="ko-KR" altLang="en-US" dirty="0"/>
              <a:t>정의</a:t>
            </a:r>
            <a:endParaRPr lang="en-US" altLang="ko-KR" dirty="0"/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ko-KR" altLang="en-US" dirty="0"/>
              <a:t>안전성과 정확성</a:t>
            </a:r>
            <a:endParaRPr lang="en-US" altLang="ko-KR" dirty="0"/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ko-KR" altLang="en-US" dirty="0"/>
              <a:t>작은 공개키</a:t>
            </a:r>
            <a:endParaRPr lang="en-US" altLang="ko-KR" dirty="0"/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ko-KR" altLang="en-US" dirty="0"/>
              <a:t>암호문 압축</a:t>
            </a:r>
            <a:endParaRPr lang="en-US" altLang="ko-KR" dirty="0"/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dirty="0"/>
              <a:t>CBD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BAA46B-FCCE-8A34-657F-EEC8E88D0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56756302-4A72-F2DD-A7FF-B2186F876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>
            <a:normAutofit/>
          </a:bodyPr>
          <a:lstStyle/>
          <a:p>
            <a:r>
              <a:rPr lang="en-US" altLang="ko-KR" dirty="0"/>
              <a:t>Plan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257168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C949E7-753B-D6EE-304C-8ABB0CFE6A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표기법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EE138661-CEC1-D4EB-00A7-E688103DA9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lnSpc>
                    <a:spcPct val="200000"/>
                  </a:lnSpc>
                </a:pPr>
                <a:r>
                  <a:rPr lang="en-US" altLang="ko-KR" dirty="0"/>
                  <a:t>Recall:</a:t>
                </a:r>
              </a:p>
              <a:p>
                <a:pPr lvl="1">
                  <a:lnSpc>
                    <a:spcPct val="2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ko-KR" altLang="ar-AE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ar-AE" altLang="ko-KR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altLang="ko-KR" i="1">
                            <a:latin typeface="Cambria Math"/>
                          </a:rPr>
                          <m:t>ℤ</m:t>
                        </m:r>
                      </m:e>
                      <m:sub>
                        <m:r>
                          <a:rPr lang="ko-KR" altLang="ar-AE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ar-AE" altLang="ko-KR" i="1">
                        <a:latin typeface="Cambria Math"/>
                      </a:rPr>
                      <m:t>[</m:t>
                    </m:r>
                    <m:r>
                      <a:rPr lang="ko-KR" altLang="ar-AE" i="1">
                        <a:latin typeface="Cambria Math"/>
                      </a:rPr>
                      <m:t>𝑥</m:t>
                    </m:r>
                    <m:r>
                      <a:rPr lang="ar-AE" altLang="ko-KR" i="1">
                        <a:latin typeface="Cambria Math"/>
                      </a:rPr>
                      <m:t>]/(</m:t>
                    </m:r>
                    <m:sSup>
                      <m:sSup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ar-AE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ko-KR" altLang="ar-AE" i="1">
                            <a:latin typeface="Cambria Math"/>
                          </a:rPr>
                          <m:t>𝑛</m:t>
                        </m:r>
                      </m:sup>
                    </m:sSup>
                    <m:r>
                      <a:rPr lang="ar-AE" altLang="ko-KR" i="1">
                        <a:latin typeface="Cambria Math"/>
                      </a:rPr>
                      <m:t>+</m:t>
                    </m:r>
                    <m:r>
                      <a:rPr lang="ar-AE" altLang="ko-KR" i="1">
                        <a:latin typeface="Cambria Math"/>
                      </a:rPr>
                      <m:t>1</m:t>
                    </m:r>
                    <m:r>
                      <a:rPr lang="ar-AE" altLang="ko-KR" i="1">
                        <a:latin typeface="Cambria Math"/>
                      </a:rPr>
                      <m:t>)</m:t>
                    </m:r>
                  </m:oMath>
                </a14:m>
                <a:r>
                  <a:rPr lang="en-US" altLang="ko-KR" dirty="0"/>
                  <a:t>: </a:t>
                </a:r>
                <a:r>
                  <a:rPr lang="ko-KR" altLang="en-US" dirty="0"/>
                  <a:t>계수가 </a:t>
                </a:r>
                <a:r>
                  <a:rPr lang="en-US" altLang="ko-KR" dirty="0" err="1"/>
                  <a:t>Z</a:t>
                </a:r>
                <a:r>
                  <a:rPr lang="en-US" altLang="ko-KR" baseline="-25000" dirty="0" err="1"/>
                  <a:t>q</a:t>
                </a:r>
                <a:r>
                  <a:rPr lang="ko-KR" altLang="en-US" dirty="0"/>
                  <a:t>인 차수 </a:t>
                </a:r>
                <a:r>
                  <a:rPr lang="en-US" altLang="ko-KR" dirty="0"/>
                  <a:t>&lt; n</a:t>
                </a:r>
                <a:r>
                  <a:rPr lang="ko-KR" altLang="en-US" dirty="0"/>
                  <a:t>인 다항식 환</a:t>
                </a:r>
                <a:endParaRPr lang="ar-AE" altLang="ko-KR" dirty="0"/>
              </a:p>
              <a:p>
                <a:pPr lvl="1">
                  <a:lnSpc>
                    <a:spcPct val="2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i="1">
                            <a:latin typeface="Cambria Math"/>
                          </a:rPr>
                          <m:t>𝑆</m:t>
                        </m:r>
                      </m:e>
                      <m:sub>
                        <m:r>
                          <a:rPr lang="ko-KR" altLang="ar-AE" i="1">
                            <a:latin typeface="Cambria Math"/>
                          </a:rPr>
                          <m:t>𝜂</m:t>
                        </m:r>
                      </m:sub>
                    </m:sSub>
                    <m:r>
                      <a:rPr lang="ar-AE" altLang="ko-KR" i="1">
                        <a:latin typeface="Cambria Math"/>
                      </a:rPr>
                      <m:t>={</m:t>
                    </m:r>
                    <m:r>
                      <a:rPr lang="ko-KR" altLang="ar-AE" i="1">
                        <a:latin typeface="Cambria Math"/>
                      </a:rPr>
                      <m:t>𝑓</m:t>
                    </m:r>
                    <m:r>
                      <a:rPr lang="ko-KR" altLang="ar-AE" i="1">
                        <a:latin typeface="Cambria Math"/>
                      </a:rPr>
                      <m:t>∈</m:t>
                    </m:r>
                    <m:sSub>
                      <m:sSub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ko-KR" altLang="ar-AE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ar-AE" altLang="ko-KR" i="1">
                        <a:latin typeface="Cambria Math"/>
                      </a:rPr>
                      <m:t>:</m:t>
                    </m:r>
                    <m:d>
                      <m:dPr>
                        <m:begChr m:val="‖"/>
                        <m:endChr m:val="}"/>
                        <m:ctrlPr>
                          <a:rPr lang="ar-AE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ar-AE" i="1">
                            <a:latin typeface="Cambria Math"/>
                          </a:rPr>
                          <m:t>𝑓</m:t>
                        </m:r>
                        <m:sSub>
                          <m:sSubPr>
                            <m:ctrlPr>
                              <a:rPr lang="ar-AE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altLang="ko-KR" i="1">
                                <a:latin typeface="Cambria Math"/>
                              </a:rPr>
                              <m:t>‖</m:t>
                            </m:r>
                          </m:e>
                          <m:sub>
                            <m:r>
                              <a:rPr lang="ar-AE" altLang="ko-KR" i="1">
                                <a:latin typeface="Cambria Math"/>
                              </a:rPr>
                              <m:t>∞</m:t>
                            </m:r>
                          </m:sub>
                        </m:sSub>
                        <m:r>
                          <a:rPr lang="ar-AE" altLang="ko-KR" i="1">
                            <a:latin typeface="Cambria Math"/>
                          </a:rPr>
                          <m:t>≤</m:t>
                        </m:r>
                        <m:r>
                          <a:rPr lang="ko-KR" altLang="ar-AE" i="1">
                            <a:latin typeface="Cambria Math"/>
                          </a:rPr>
                          <m:t>𝜂</m:t>
                        </m:r>
                      </m:e>
                    </m:d>
                  </m:oMath>
                </a14:m>
                <a:r>
                  <a:rPr lang="en-US" altLang="ko-KR" dirty="0"/>
                  <a:t>: </a:t>
                </a:r>
                <a:r>
                  <a:rPr lang="ko-KR" altLang="en-US" dirty="0"/>
                  <a:t>계수 크기가 </a:t>
                </a:r>
                <a:r>
                  <a:rPr lang="el-GR" altLang="ko-KR" dirty="0">
                    <a:solidFill>
                      <a:srgbClr val="404040"/>
                    </a:solidFill>
                    <a:latin typeface="Segoe UI Symbol"/>
                  </a:rPr>
                  <a:t>η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 </a:t>
                </a: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이하인 작은 다항식</a:t>
                </a:r>
                <a:endParaRPr lang="ar-AE" altLang="ko-KR" dirty="0"/>
              </a:p>
              <a:p>
                <a:pPr lvl="1">
                  <a:lnSpc>
                    <a:spcPct val="200000"/>
                  </a:lnSpc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ko-KR" altLang="ar-AE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ko-KR" altLang="ar-AE" i="1">
                            <a:latin typeface="Cambria Math"/>
                          </a:rPr>
                          <m:t>𝑞</m:t>
                        </m:r>
                      </m:sub>
                      <m:sup>
                        <m:r>
                          <a:rPr lang="ko-KR" altLang="ar-AE" i="1">
                            <a:latin typeface="Cambria Math"/>
                          </a:rPr>
                          <m:t>𝑘</m:t>
                        </m:r>
                      </m:sup>
                    </m:sSubSup>
                  </m:oMath>
                </a14:m>
                <a:r>
                  <a:rPr lang="en-US" altLang="ko-KR" i="1" dirty="0">
                    <a:latin typeface="Cambria Math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altLang="ko-K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ko-KR" altLang="ar-AE" i="1">
                            <a:latin typeface="Cambria Math"/>
                          </a:rPr>
                          <m:t>𝑆</m:t>
                        </m:r>
                      </m:e>
                      <m:sub>
                        <m:r>
                          <a:rPr lang="ko-KR" altLang="ar-AE" i="1">
                            <a:latin typeface="Cambria Math"/>
                          </a:rPr>
                          <m:t>𝜂</m:t>
                        </m:r>
                      </m:sub>
                      <m:sup>
                        <m:r>
                          <a:rPr lang="ko-KR" altLang="ar-AE" i="1">
                            <a:latin typeface="Cambria Math"/>
                          </a:rPr>
                          <m:t>𝑘</m:t>
                        </m:r>
                      </m:sup>
                    </m:sSubSup>
                  </m:oMath>
                </a14:m>
                <a:r>
                  <a:rPr lang="en-US" altLang="ko-KR" dirty="0"/>
                  <a:t>: </a:t>
                </a:r>
                <a:r>
                  <a:rPr lang="ko-KR" altLang="en-US" dirty="0"/>
                  <a:t>성분이 각각 </a:t>
                </a:r>
                <a:r>
                  <a:rPr lang="en-US" altLang="ko-KR" dirty="0" err="1"/>
                  <a:t>R</a:t>
                </a:r>
                <a:r>
                  <a:rPr lang="en-US" altLang="ko-KR" baseline="-25000" dirty="0" err="1"/>
                  <a:t>q</a:t>
                </a:r>
                <a:r>
                  <a:rPr lang="en-US" altLang="ko-KR" dirty="0"/>
                  <a:t>, S</a:t>
                </a:r>
                <a:r>
                  <a:rPr lang="el-GR" altLang="ko-KR" baseline="-25000" dirty="0">
                    <a:solidFill>
                      <a:srgbClr val="404040"/>
                    </a:solidFill>
                    <a:latin typeface="Segoe UI Symbol"/>
                  </a:rPr>
                  <a:t>η</a:t>
                </a: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인 길이 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k </a:t>
                </a: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벡터</a:t>
                </a:r>
                <a:endParaRPr lang="ar-AE" altLang="ko-KR" dirty="0"/>
              </a:p>
              <a:p>
                <a:pPr lvl="1">
                  <a:lnSpc>
                    <a:spcPct val="200000"/>
                  </a:lnSpc>
                </a:pPr>
                <a:r>
                  <a:rPr lang="en-US" altLang="ko-KR" dirty="0"/>
                  <a:t>MLWE (Module-LWE):</a:t>
                </a:r>
              </a:p>
              <a:p>
                <a:pPr lvl="2">
                  <a:lnSpc>
                    <a:spcPct val="200000"/>
                  </a:lnSpc>
                </a:pPr>
                <a:r>
                  <a:rPr lang="en-US" altLang="ko-KR" dirty="0"/>
                  <a:t>(A, t=</a:t>
                </a:r>
                <a:r>
                  <a:rPr lang="en-US" altLang="ko-KR" dirty="0" err="1"/>
                  <a:t>As+e</a:t>
                </a:r>
                <a:r>
                  <a:rPr lang="en-US" altLang="ko-KR" dirty="0"/>
                  <a:t>)</a:t>
                </a:r>
                <a:r>
                  <a:rPr lang="ko-KR" altLang="en-US" dirty="0"/>
                  <a:t>로부터 비밀 </a:t>
                </a:r>
                <a:r>
                  <a:rPr lang="en-US" altLang="ko-KR" dirty="0"/>
                  <a:t>s</a:t>
                </a:r>
                <a:r>
                  <a:rPr lang="ko-KR" altLang="en-US" dirty="0"/>
                  <a:t>를 찾는 문제가 계산적으로 어렵다는 가정</a:t>
                </a:r>
                <a:endParaRPr lang="en-US" altLang="ko-KR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EE138661-CEC1-D4EB-00A7-E688103DA9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00B445-03C5-6840-133D-042020140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62381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D5767-F184-8692-045D-CBC66203A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012A05-1E25-D77B-CAC0-86A276BA8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평문</a:t>
            </a:r>
            <a:r>
              <a:rPr lang="ko-KR" altLang="en-US" dirty="0"/>
              <a:t> 공간과 인코딩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AFAAB0FD-E909-9BB7-26DC-154139F23F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lnSpc>
                    <a:spcPct val="200000"/>
                  </a:lnSpc>
                  <a:spcAft>
                    <a:spcPts val="800"/>
                  </a:spcAft>
                </a:pPr>
                <a:r>
                  <a:rPr lang="ko-KR" altLang="en-US" dirty="0" err="1">
                    <a:solidFill>
                      <a:srgbClr val="404040"/>
                    </a:solidFill>
                    <a:latin typeface="Segoe UI Symbol"/>
                  </a:rPr>
                  <a:t>평문</a:t>
                </a: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 공간은 길이 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n</a:t>
                </a: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의 </a:t>
                </a:r>
                <a:r>
                  <a:rPr lang="ko-KR" altLang="en-US" dirty="0" err="1">
                    <a:solidFill>
                      <a:srgbClr val="404040"/>
                    </a:solidFill>
                    <a:latin typeface="Segoe UI Symbol"/>
                  </a:rPr>
                  <a:t>비트열</a:t>
                </a: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 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{0,1}ⁿ </a:t>
                </a: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이다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.</a:t>
                </a:r>
              </a:p>
              <a:p>
                <a:pPr>
                  <a:lnSpc>
                    <a:spcPct val="200000"/>
                  </a:lnSpc>
                  <a:spcAft>
                    <a:spcPts val="800"/>
                  </a:spcAft>
                </a:pPr>
                <a:r>
                  <a:rPr lang="ko-KR" altLang="en-US" dirty="0" err="1">
                    <a:solidFill>
                      <a:srgbClr val="404040"/>
                    </a:solidFill>
                    <a:latin typeface="Segoe UI Symbol"/>
                  </a:rPr>
                  <a:t>평문</a:t>
                </a: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 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m = (m₀, m₁, …, m_{n-1}) ∈ {0,1}ⁿ </a:t>
                </a: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은 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0-1 </a:t>
                </a: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계수를 갖는 다항식과 자연스럽게 대응시킨다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.</a:t>
                </a:r>
              </a:p>
              <a:p>
                <a:pPr marL="0" indent="0">
                  <a:lnSpc>
                    <a:spcPct val="2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ar-AE" i="1">
                          <a:latin typeface="Cambria Math"/>
                        </a:rPr>
                        <m:t>𝑚</m:t>
                      </m:r>
                      <m:r>
                        <a:rPr lang="ar-AE" altLang="ko-KR" i="1">
                          <a:latin typeface="Cambria Math"/>
                        </a:rPr>
                        <m:t>(</m:t>
                      </m:r>
                      <m:r>
                        <a:rPr lang="ko-KR" altLang="ar-AE" i="1">
                          <a:latin typeface="Cambria Math"/>
                        </a:rPr>
                        <m:t>𝑥</m:t>
                      </m:r>
                      <m:r>
                        <a:rPr lang="ar-AE" altLang="ko-KR" i="1">
                          <a:latin typeface="Cambria Math"/>
                        </a:rPr>
                        <m:t>)=</m:t>
                      </m:r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ar-AE" i="1">
                              <a:latin typeface="Cambria Math"/>
                            </a:rPr>
                            <m:t>𝑚</m:t>
                          </m:r>
                        </m:e>
                        <m:sub>
                          <m:r>
                            <a:rPr lang="ar-AE" altLang="ko-KR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ar-AE" altLang="ko-KR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ar-AE" i="1">
                              <a:latin typeface="Cambria Math"/>
                            </a:rPr>
                            <m:t>𝑚</m:t>
                          </m:r>
                        </m:e>
                        <m:sub>
                          <m:r>
                            <a:rPr lang="ar-AE" altLang="ko-KR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ko-KR" altLang="ar-AE" i="1">
                          <a:latin typeface="Cambria Math"/>
                        </a:rPr>
                        <m:t>𝑥</m:t>
                      </m:r>
                      <m:r>
                        <a:rPr lang="ar-AE" altLang="ko-KR" i="1">
                          <a:latin typeface="Cambria Math"/>
                        </a:rPr>
                        <m:t>+⋯+</m:t>
                      </m:r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ar-AE" i="1">
                              <a:latin typeface="Cambria Math"/>
                            </a:rPr>
                            <m:t>𝑚</m:t>
                          </m:r>
                        </m:e>
                        <m:sub>
                          <m:r>
                            <a:rPr lang="ko-KR" altLang="ar-AE" i="1">
                              <a:latin typeface="Cambria Math"/>
                            </a:rPr>
                            <m:t>𝑛</m:t>
                          </m:r>
                          <m:r>
                            <a:rPr lang="ko-KR" altLang="ar-AE" i="1">
                              <a:latin typeface="Cambria Math"/>
                            </a:rPr>
                            <m:t>−</m:t>
                          </m:r>
                          <m:r>
                            <a:rPr lang="ar-AE" altLang="ko-KR" i="1">
                              <a:latin typeface="Cambria Math"/>
                            </a:rPr>
                            <m:t>1</m:t>
                          </m:r>
                        </m:sub>
                      </m:sSub>
                      <m:sSup>
                        <m:sSup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ar-AE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ko-KR" altLang="ar-AE" i="1">
                              <a:latin typeface="Cambria Math"/>
                            </a:rPr>
                            <m:t>𝑛</m:t>
                          </m:r>
                          <m:r>
                            <a:rPr lang="ko-KR" altLang="ar-AE" i="1">
                              <a:latin typeface="Cambria Math"/>
                            </a:rPr>
                            <m:t>−</m:t>
                          </m:r>
                          <m:r>
                            <a:rPr lang="ar-AE" altLang="ko-KR" i="1">
                              <a:latin typeface="Cambria Math"/>
                            </a:rPr>
                            <m:t>1</m:t>
                          </m:r>
                        </m:sup>
                      </m:sSup>
                      <m:r>
                        <a:rPr lang="ar-AE" altLang="ko-KR" i="1">
                          <a:latin typeface="Cambria Math"/>
                        </a:rPr>
                        <m:t>∈</m:t>
                      </m:r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ar-AE" i="1">
                              <a:latin typeface="Cambria Math"/>
                            </a:rPr>
                            <m:t>𝑅</m:t>
                          </m:r>
                        </m:e>
                        <m:sub>
                          <m:r>
                            <a:rPr lang="ko-KR" altLang="ar-AE" i="1">
                              <a:latin typeface="Cambria Math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ar-AE" altLang="ko-KR" i="1" dirty="0"/>
              </a:p>
              <a:p>
                <a:pPr>
                  <a:lnSpc>
                    <a:spcPct val="200000"/>
                  </a:lnSpc>
                </a:pPr>
                <a:r>
                  <a:rPr lang="ko-KR" altLang="en-US" dirty="0"/>
                  <a:t>예제</a:t>
                </a:r>
                <a:r>
                  <a:rPr lang="en-US" altLang="ko-KR" dirty="0"/>
                  <a:t>:</a:t>
                </a:r>
                <a:endParaRPr lang="ko-KR" altLang="en-US" dirty="0"/>
              </a:p>
              <a:p>
                <a:pPr lvl="1">
                  <a:lnSpc>
                    <a:spcPct val="200000"/>
                  </a:lnSpc>
                </a:pPr>
                <a:r>
                  <a:rPr lang="en-US" altLang="ko-KR" dirty="0"/>
                  <a:t>n = 5, m = 10110  ⟶  m(x) = 1 + x² + x³</a:t>
                </a: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AFAAB0FD-E909-9BB7-26DC-154139F23F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BFCFBF-34A3-065D-F153-77E1DFE7E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56934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393D9-B72A-02B9-69B9-4E0E742A4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BB4EF1-E38C-AE45-7583-251B847C4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Floor, Ceiling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14841BE-AA61-095A-45ED-AF8997794A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447721"/>
            <a:ext cx="5257800" cy="4701089"/>
          </a:xfrm>
        </p:spPr>
        <p:txBody>
          <a:bodyPr/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dirty="0">
                <a:latin typeface="Segoe UI Symbol"/>
              </a:rPr>
              <a:t>가장 가까운 정수 ⌈</a:t>
            </a:r>
            <a:r>
              <a:rPr lang="en-US" altLang="ko-KR" dirty="0">
                <a:latin typeface="Segoe UI Symbol"/>
              </a:rPr>
              <a:t>x⌋</a:t>
            </a:r>
          </a:p>
          <a:p>
            <a:pPr>
              <a:lnSpc>
                <a:spcPct val="200000"/>
              </a:lnSpc>
            </a:pPr>
            <a:r>
              <a:rPr lang="en-US" altLang="ko-KR" dirty="0"/>
              <a:t>x</a:t>
            </a:r>
            <a:r>
              <a:rPr lang="ko-KR" altLang="en-US" dirty="0"/>
              <a:t>에 가장 가까운 정수</a:t>
            </a:r>
            <a:r>
              <a:rPr lang="en-US" altLang="ko-KR" dirty="0"/>
              <a:t> </a:t>
            </a:r>
          </a:p>
          <a:p>
            <a:pPr>
              <a:lnSpc>
                <a:spcPct val="200000"/>
              </a:lnSpc>
            </a:pPr>
            <a:r>
              <a:rPr lang="ko-KR" altLang="en-US" dirty="0"/>
              <a:t>동점</a:t>
            </a:r>
            <a:r>
              <a:rPr lang="en-US" altLang="ko-KR" dirty="0"/>
              <a:t>(tie)</a:t>
            </a:r>
            <a:r>
              <a:rPr lang="ko-KR" altLang="en-US" dirty="0"/>
              <a:t>인 경우 위로 반올림한다</a:t>
            </a:r>
            <a:endParaRPr lang="en-US" altLang="ko-KR" dirty="0"/>
          </a:p>
          <a:p>
            <a:pPr>
              <a:lnSpc>
                <a:spcPct val="200000"/>
              </a:lnSpc>
            </a:pPr>
            <a:r>
              <a:rPr lang="ko-KR" altLang="en-US" dirty="0"/>
              <a:t>예</a:t>
            </a:r>
            <a:r>
              <a:rPr lang="en-US" altLang="ko-KR" dirty="0">
                <a:latin typeface="Segoe UI Symbol"/>
              </a:rPr>
              <a:t>) ⌈13.3⌋=13, ⌈13.5⌋=14, ⌈13.7⌋=14, </a:t>
            </a:r>
            <a:br>
              <a:rPr lang="en-US" altLang="ko-KR" dirty="0"/>
            </a:br>
            <a:r>
              <a:rPr lang="en-US" altLang="ko-KR" dirty="0">
                <a:latin typeface="Segoe UI Symbol"/>
              </a:rPr>
              <a:t>⌈-13.5⌋=-13, ⌈-13.7⌋=-14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2EA28E-7FB1-FD72-0D30-190BCF55C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BBD68DDF-B9C9-AAA5-0A6E-267E949AE123}"/>
              </a:ext>
            </a:extLst>
          </p:cNvPr>
          <p:cNvSpPr txBox="1">
            <a:spLocks/>
          </p:cNvSpPr>
          <p:nvPr/>
        </p:nvSpPr>
        <p:spPr>
          <a:xfrm>
            <a:off x="990600" y="1447722"/>
            <a:ext cx="5257800" cy="470108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200000"/>
              </a:lnSpc>
              <a:buNone/>
            </a:pPr>
            <a:r>
              <a:rPr lang="en-US" altLang="ko-KR" dirty="0"/>
              <a:t>Floor / Ceiling</a:t>
            </a:r>
          </a:p>
          <a:p>
            <a:pPr>
              <a:lnSpc>
                <a:spcPct val="200000"/>
              </a:lnSpc>
            </a:pPr>
            <a:r>
              <a:rPr lang="en-US" altLang="ko-KR" dirty="0">
                <a:latin typeface="Segoe UI Symbol"/>
              </a:rPr>
              <a:t>⌊x⌋ : x </a:t>
            </a:r>
            <a:r>
              <a:rPr lang="ko-KR" altLang="en-US" dirty="0"/>
              <a:t>이하의 가장 큰 정수</a:t>
            </a:r>
          </a:p>
          <a:p>
            <a:pPr>
              <a:lnSpc>
                <a:spcPct val="200000"/>
              </a:lnSpc>
            </a:pPr>
            <a:r>
              <a:rPr lang="ko-KR" altLang="en-US" dirty="0">
                <a:latin typeface="Segoe UI Symbol"/>
              </a:rPr>
              <a:t>⌈</a:t>
            </a:r>
            <a:r>
              <a:rPr lang="en-US" altLang="ko-KR" dirty="0">
                <a:latin typeface="Segoe UI Symbol"/>
              </a:rPr>
              <a:t>x⌉ : x </a:t>
            </a:r>
            <a:r>
              <a:rPr lang="ko-KR" altLang="en-US" dirty="0"/>
              <a:t>이상의 가장 작은 정수</a:t>
            </a:r>
          </a:p>
          <a:p>
            <a:pPr>
              <a:lnSpc>
                <a:spcPct val="200000"/>
              </a:lnSpc>
            </a:pPr>
            <a:r>
              <a:rPr lang="ko-KR" altLang="en-US" dirty="0"/>
              <a:t>예</a:t>
            </a:r>
            <a:r>
              <a:rPr lang="en-US" altLang="ko-KR" dirty="0">
                <a:latin typeface="Segoe UI Symbol"/>
              </a:rPr>
              <a:t>) ⌊5.25⌋=5, ⌊-5.25⌋=-6, ⌈5.25⌉=6, </a:t>
            </a:r>
            <a:br>
              <a:rPr lang="en-US" altLang="ko-KR" dirty="0">
                <a:latin typeface="Segoe UI Symbol"/>
              </a:rPr>
            </a:br>
            <a:r>
              <a:rPr lang="en-US" altLang="ko-KR" dirty="0">
                <a:latin typeface="Segoe UI Symbol"/>
              </a:rPr>
              <a:t>⌈-5.25⌉=-5</a:t>
            </a:r>
          </a:p>
        </p:txBody>
      </p:sp>
    </p:spTree>
    <p:extLst>
      <p:ext uri="{BB962C8B-B14F-4D97-AF65-F5344CB8AC3E}">
        <p14:creationId xmlns:p14="http://schemas.microsoft.com/office/powerpoint/2010/main" val="36165674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F162A-9E13-BD47-CD9C-0101E483B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B9CF65-2C84-9CCB-E28F-B33645A81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Round</a:t>
            </a:r>
            <a:r>
              <a:rPr lang="en-US" altLang="ko-KR" baseline="-25000" dirty="0" err="1"/>
              <a:t>q</a:t>
            </a:r>
            <a:endParaRPr lang="ko-KR" altLang="en-US" baseline="-25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2650F605-A233-6185-6127-0B7E268DBE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lnSpc>
                    <a:spcPct val="200000"/>
                  </a:lnSpc>
                </a:pPr>
                <a:r>
                  <a:rPr lang="en-US" altLang="ko-KR" dirty="0">
                    <a:solidFill>
                      <a:srgbClr val="404040"/>
                    </a:solidFill>
                  </a:rPr>
                  <a:t>q</a:t>
                </a:r>
                <a:r>
                  <a:rPr lang="ko-KR" altLang="en-US" dirty="0">
                    <a:solidFill>
                      <a:srgbClr val="404040"/>
                    </a:solidFill>
                  </a:rPr>
                  <a:t>는 홀수 소수</a:t>
                </a:r>
                <a:r>
                  <a:rPr lang="en-US" altLang="ko-KR" dirty="0">
                    <a:solidFill>
                      <a:srgbClr val="404040"/>
                    </a:solidFill>
                  </a:rPr>
                  <a:t>, x</a:t>
                </a:r>
                <a:r>
                  <a:rPr lang="ko-KR" altLang="en-US" dirty="0">
                    <a:solidFill>
                      <a:srgbClr val="404040"/>
                    </a:solidFill>
                  </a:rPr>
                  <a:t>는 </a:t>
                </a:r>
                <a:r>
                  <a:rPr lang="en-US" altLang="ko-KR" dirty="0" err="1">
                    <a:solidFill>
                      <a:srgbClr val="404040"/>
                    </a:solidFill>
                  </a:rPr>
                  <a:t>Z</a:t>
                </a:r>
                <a:r>
                  <a:rPr lang="en-US" altLang="ko-KR" baseline="-25000" dirty="0" err="1">
                    <a:solidFill>
                      <a:srgbClr val="404040"/>
                    </a:solidFill>
                  </a:rPr>
                  <a:t>q</a:t>
                </a:r>
                <a:r>
                  <a:rPr lang="ko-KR" altLang="en-US" dirty="0">
                    <a:solidFill>
                      <a:srgbClr val="404040"/>
                    </a:solidFill>
                  </a:rPr>
                  <a:t>의 원소 </a:t>
                </a:r>
                <a:r>
                  <a:rPr lang="en-US" altLang="ko-KR" dirty="0">
                    <a:solidFill>
                      <a:srgbClr val="404040"/>
                    </a:solidFill>
                  </a:rPr>
                  <a:t>(</a:t>
                </a:r>
                <a:r>
                  <a:rPr lang="ko-KR" altLang="en-US" dirty="0">
                    <a:solidFill>
                      <a:srgbClr val="404040"/>
                    </a:solidFill>
                  </a:rPr>
                  <a:t>대칭 </a:t>
                </a:r>
                <a:r>
                  <a:rPr lang="en-US" altLang="ko-KR" dirty="0">
                    <a:solidFill>
                      <a:srgbClr val="404040"/>
                    </a:solidFill>
                  </a:rPr>
                  <a:t>mod q </a:t>
                </a:r>
                <a:r>
                  <a:rPr lang="ko-KR" altLang="en-US" dirty="0">
                    <a:solidFill>
                      <a:srgbClr val="404040"/>
                    </a:solidFill>
                  </a:rPr>
                  <a:t>표현 </a:t>
                </a:r>
                <a:r>
                  <a:rPr lang="en-US" altLang="ko-KR" dirty="0">
                    <a:solidFill>
                      <a:srgbClr val="404040"/>
                    </a:solidFill>
                  </a:rPr>
                  <a:t>x′ = x mods q </a:t>
                </a:r>
                <a:r>
                  <a:rPr lang="ko-KR" altLang="en-US" dirty="0">
                    <a:solidFill>
                      <a:srgbClr val="404040"/>
                    </a:solidFill>
                  </a:rPr>
                  <a:t>사용</a:t>
                </a:r>
                <a:r>
                  <a:rPr lang="en-US" altLang="ko-KR" dirty="0">
                    <a:solidFill>
                      <a:srgbClr val="404040"/>
                    </a:solidFill>
                  </a:rPr>
                  <a:t>)</a:t>
                </a:r>
              </a:p>
              <a:p>
                <a:pPr marL="0" indent="0">
                  <a:lnSpc>
                    <a:spcPct val="2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𝑅𝑜𝑢𝑛𝑑</m:t>
                          </m:r>
                        </m:e>
                        <m:sub>
                          <m:r>
                            <a:rPr lang="ko-KR" altLang="ar-AE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ar-AE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ar-AE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ar-AE" altLang="ko-KR" b="0" i="1" smtClean="0">
                          <a:latin typeface="Cambria Math" panose="02040503050406030204" pitchFamily="18" charset="0"/>
                        </a:rPr>
                        <m:t>)={</m:t>
                      </m:r>
                      <m:m>
                        <m:mPr>
                          <m:plcHide m:val="on"/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a:rPr lang="ar-AE" altLang="ko-K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ar-AE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ar-AE" altLang="ko-K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ko-KR" altLang="ar-AE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ar-AE" altLang="ko-KR" b="0" i="1" smtClean="0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ar-AE" altLang="ko-K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ar-AE" altLang="ko-KR" b="0" i="1" smtClean="0">
                                <a:latin typeface="Cambria Math" panose="02040503050406030204" pitchFamily="18" charset="0"/>
                              </a:rPr>
                              <m:t>&lt;</m:t>
                            </m:r>
                            <m:sSup>
                              <m:sSupPr>
                                <m:ctrlPr>
                                  <a:rPr lang="ar-AE" altLang="ko-K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ko-KR" altLang="ar-AE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ar-AE" altLang="ko-KR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ar-AE" altLang="ko-KR" b="0" i="1" smtClean="0">
                                <a:latin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ko-KR" altLang="ar-AE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ar-AE" altLang="ko-KR" b="0" i="1" smtClean="0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ar-AE" altLang="ko-K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ar-AE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</m:mr>
                        <m:mr>
                          <m:e>
                            <m:r>
                              <a:rPr lang="ar-AE" altLang="ko-K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ar-AE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m:rPr>
                                <m:nor/>
                              </m:rPr>
                              <a:rPr lang="en-US" altLang="ko-KR" i="1"/>
                              <m:t>otherwise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</m:mr>
                      </m:m>
                      <m:sSup>
                        <m:sSup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ar-A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ar-AE" altLang="ko-K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ar-AE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ar-AE" b="0" i="1" smtClean="0">
                          <a:latin typeface="Cambria Math" panose="02040503050406030204" pitchFamily="18" charset="0"/>
                        </a:rPr>
                        <m:t>𝑥</m:t>
                      </m:r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ar-AE" b="0" i="1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</m:e>
                        <m:sub>
                          <m:r>
                            <a:rPr lang="ko-KR" altLang="ar-A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ko-KR" altLang="ar-AE" b="0" i="1" smtClean="0"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ar-AE" altLang="ko-KR" i="1" dirty="0"/>
              </a:p>
              <a:p>
                <a:pPr>
                  <a:lnSpc>
                    <a:spcPct val="200000"/>
                  </a:lnSpc>
                </a:pPr>
                <a:r>
                  <a:rPr lang="ko-KR" altLang="en-US" dirty="0"/>
                  <a:t>예제 </a:t>
                </a:r>
                <a:r>
                  <a:rPr lang="en-US" altLang="ko-KR" dirty="0"/>
                  <a:t>(q = 3329)</a:t>
                </a:r>
              </a:p>
              <a:p>
                <a:pPr lvl="1">
                  <a:lnSpc>
                    <a:spcPct val="200000"/>
                  </a:lnSpc>
                </a:pPr>
                <a:r>
                  <a:rPr lang="en-US" altLang="ko-KR" dirty="0"/>
                  <a:t>-q/4 ≈ -832.25, q/4 ≈ 832.25  ⟹  Round₃₃₂₉(x) = 0 ⟺ x′ ∈ [-832, 832], </a:t>
                </a:r>
                <a:r>
                  <a:rPr lang="ko-KR" altLang="en-US" dirty="0"/>
                  <a:t>그 외에는 </a:t>
                </a:r>
                <a:r>
                  <a:rPr lang="en-US" altLang="ko-KR" dirty="0"/>
                  <a:t>1</a:t>
                </a: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2650F605-A233-6185-6127-0B7E268DBE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D40F53-E6C9-BE0F-CDB5-1BE4DD641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52982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1D91E5-1F3F-A489-CFA9-B9BEB9CEC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13224E-2B08-9E28-E1F5-586706A1E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Round</a:t>
            </a:r>
            <a:r>
              <a:rPr lang="en-US" altLang="ko-KR" baseline="-25000" dirty="0" err="1"/>
              <a:t>q</a:t>
            </a:r>
            <a:r>
              <a:rPr lang="en-US" altLang="ko-KR" dirty="0"/>
              <a:t> </a:t>
            </a:r>
            <a:r>
              <a:rPr lang="ko-KR" altLang="en-US" dirty="0"/>
              <a:t>원형 다이어그램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A95CB54-26BA-732D-CDDE-F57D1A9445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lang="en-US" altLang="ko-KR" dirty="0" err="1">
                <a:solidFill>
                  <a:srgbClr val="404040"/>
                </a:solidFill>
                <a:latin typeface="Segoe UI Symbol"/>
              </a:rPr>
              <a:t>Z</a:t>
            </a:r>
            <a:r>
              <a:rPr lang="en-US" altLang="ko-KR" baseline="-25000" dirty="0" err="1">
                <a:solidFill>
                  <a:srgbClr val="404040"/>
                </a:solidFill>
                <a:latin typeface="Segoe UI Symbol"/>
              </a:rPr>
              <a:t>q</a:t>
            </a:r>
            <a:r>
              <a:rPr lang="ko-KR" altLang="en-US" dirty="0">
                <a:solidFill>
                  <a:srgbClr val="404040"/>
                </a:solidFill>
                <a:latin typeface="Segoe UI Symbol"/>
              </a:rPr>
              <a:t> 위의 정수를 원</a:t>
            </a:r>
            <a:r>
              <a:rPr lang="en-US" altLang="ko-KR" dirty="0">
                <a:solidFill>
                  <a:srgbClr val="404040"/>
                </a:solidFill>
                <a:latin typeface="Segoe UI Symbol"/>
              </a:rPr>
              <a:t> </a:t>
            </a:r>
            <a:r>
              <a:rPr lang="ko-KR" altLang="en-US" dirty="0">
                <a:solidFill>
                  <a:srgbClr val="404040"/>
                </a:solidFill>
                <a:latin typeface="Segoe UI Symbol"/>
              </a:rPr>
              <a:t>위에 배치한 그림</a:t>
            </a:r>
          </a:p>
          <a:p>
            <a:pPr>
              <a:spcAft>
                <a:spcPts val="800"/>
              </a:spcAft>
            </a:pPr>
            <a:r>
              <a:rPr lang="en-US" altLang="ko-KR" dirty="0">
                <a:solidFill>
                  <a:srgbClr val="404040"/>
                </a:solidFill>
                <a:latin typeface="Segoe UI Symbol"/>
              </a:rPr>
              <a:t>0 </a:t>
            </a:r>
            <a:r>
              <a:rPr lang="ko-KR" altLang="en-US" dirty="0">
                <a:solidFill>
                  <a:srgbClr val="404040"/>
                </a:solidFill>
                <a:latin typeface="Segoe UI Symbol"/>
              </a:rPr>
              <a:t>근방의 파란 호 → </a:t>
            </a:r>
            <a:r>
              <a:rPr lang="en-US" altLang="ko-KR" dirty="0" err="1">
                <a:solidFill>
                  <a:srgbClr val="404040"/>
                </a:solidFill>
                <a:latin typeface="Segoe UI Symbol"/>
              </a:rPr>
              <a:t>Round</a:t>
            </a:r>
            <a:r>
              <a:rPr lang="en-US" altLang="ko-KR" baseline="-25000" dirty="0" err="1">
                <a:solidFill>
                  <a:srgbClr val="404040"/>
                </a:solidFill>
                <a:latin typeface="Segoe UI Symbol"/>
              </a:rPr>
              <a:t>q</a:t>
            </a:r>
            <a:r>
              <a:rPr lang="ko-KR" altLang="en-US" dirty="0">
                <a:solidFill>
                  <a:srgbClr val="404040"/>
                </a:solidFill>
                <a:latin typeface="Segoe UI Symbol"/>
              </a:rPr>
              <a:t> </a:t>
            </a:r>
            <a:r>
              <a:rPr lang="en-US" altLang="ko-KR" dirty="0">
                <a:solidFill>
                  <a:srgbClr val="404040"/>
                </a:solidFill>
                <a:latin typeface="Segoe UI Symbol"/>
              </a:rPr>
              <a:t>= 0</a:t>
            </a:r>
          </a:p>
          <a:p>
            <a:pPr>
              <a:spcAft>
                <a:spcPts val="800"/>
              </a:spcAft>
            </a:pPr>
            <a:r>
              <a:rPr lang="en-US" altLang="ko-KR" dirty="0">
                <a:solidFill>
                  <a:srgbClr val="404040"/>
                </a:solidFill>
                <a:latin typeface="Segoe UI Symbol"/>
              </a:rPr>
              <a:t>±q/2 </a:t>
            </a:r>
            <a:r>
              <a:rPr lang="ko-KR" altLang="en-US" dirty="0">
                <a:solidFill>
                  <a:srgbClr val="404040"/>
                </a:solidFill>
                <a:latin typeface="Segoe UI Symbol"/>
              </a:rPr>
              <a:t>근방의 빨간 호 → </a:t>
            </a:r>
            <a:r>
              <a:rPr lang="en-US" altLang="ko-KR" dirty="0" err="1">
                <a:solidFill>
                  <a:srgbClr val="404040"/>
                </a:solidFill>
                <a:latin typeface="Segoe UI Symbol"/>
              </a:rPr>
              <a:t>Round</a:t>
            </a:r>
            <a:r>
              <a:rPr lang="en-US" altLang="ko-KR" baseline="-25000" dirty="0" err="1">
                <a:solidFill>
                  <a:srgbClr val="404040"/>
                </a:solidFill>
                <a:latin typeface="Segoe UI Symbol"/>
              </a:rPr>
              <a:t>q</a:t>
            </a:r>
            <a:r>
              <a:rPr lang="ko-KR" altLang="en-US" dirty="0">
                <a:solidFill>
                  <a:srgbClr val="404040"/>
                </a:solidFill>
                <a:latin typeface="Segoe UI Symbol"/>
              </a:rPr>
              <a:t> </a:t>
            </a:r>
            <a:r>
              <a:rPr lang="en-US" altLang="ko-KR" dirty="0">
                <a:solidFill>
                  <a:srgbClr val="404040"/>
                </a:solidFill>
                <a:latin typeface="Segoe UI Symbol"/>
              </a:rPr>
              <a:t>= 1</a:t>
            </a:r>
          </a:p>
          <a:p>
            <a:pPr>
              <a:spcAft>
                <a:spcPts val="800"/>
              </a:spcAft>
            </a:pPr>
            <a:r>
              <a:rPr lang="ko-KR" altLang="en-US" dirty="0">
                <a:solidFill>
                  <a:srgbClr val="404040"/>
                </a:solidFill>
                <a:latin typeface="Segoe UI Symbol"/>
              </a:rPr>
              <a:t>경계</a:t>
            </a:r>
            <a:r>
              <a:rPr lang="en-US" altLang="ko-KR" dirty="0">
                <a:solidFill>
                  <a:srgbClr val="404040"/>
                </a:solidFill>
                <a:latin typeface="Segoe UI Symbol"/>
              </a:rPr>
              <a:t>: </a:t>
            </a:r>
          </a:p>
          <a:p>
            <a:pPr lvl="1">
              <a:spcAft>
                <a:spcPts val="800"/>
              </a:spcAft>
            </a:pPr>
            <a:r>
              <a:rPr lang="en-US" altLang="ko-KR" dirty="0">
                <a:solidFill>
                  <a:srgbClr val="404040"/>
                </a:solidFill>
                <a:latin typeface="Segoe UI Symbol"/>
              </a:rPr>
              <a:t>⌈-q/4⌉, ⌊q/4⌋ (</a:t>
            </a:r>
            <a:r>
              <a:rPr lang="ko-KR" altLang="en-US" dirty="0">
                <a:solidFill>
                  <a:srgbClr val="404040"/>
                </a:solidFill>
                <a:latin typeface="Segoe UI Symbol"/>
              </a:rPr>
              <a:t>파란 호 끝</a:t>
            </a:r>
            <a:r>
              <a:rPr lang="en-US" altLang="ko-KR" dirty="0">
                <a:solidFill>
                  <a:srgbClr val="404040"/>
                </a:solidFill>
                <a:latin typeface="Segoe UI Symbol"/>
              </a:rPr>
              <a:t>)</a:t>
            </a:r>
          </a:p>
          <a:p>
            <a:pPr lvl="1">
              <a:spcAft>
                <a:spcPts val="800"/>
              </a:spcAft>
            </a:pPr>
            <a:r>
              <a:rPr lang="en-US" altLang="ko-KR" dirty="0">
                <a:solidFill>
                  <a:srgbClr val="404040"/>
                </a:solidFill>
                <a:latin typeface="Segoe UI Symbol"/>
              </a:rPr>
              <a:t>⌊-q/4⌋, ⌈q/4⌉ (</a:t>
            </a:r>
            <a:r>
              <a:rPr lang="ko-KR" altLang="en-US" dirty="0">
                <a:solidFill>
                  <a:srgbClr val="404040"/>
                </a:solidFill>
                <a:latin typeface="Segoe UI Symbol"/>
              </a:rPr>
              <a:t>빨간 호 시작</a:t>
            </a:r>
            <a:r>
              <a:rPr lang="en-US" altLang="ko-KR" dirty="0">
                <a:solidFill>
                  <a:srgbClr val="404040"/>
                </a:solidFill>
                <a:latin typeface="Segoe UI Symbol"/>
              </a:rPr>
              <a:t>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882AC7-0D04-A021-76D2-B200001F3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7</a:t>
            </a:fld>
            <a:endParaRPr lang="ko-KR" altLang="en-US"/>
          </a:p>
        </p:txBody>
      </p:sp>
      <p:pic>
        <p:nvPicPr>
          <p:cNvPr id="5" name="Picture 4" descr="rounding_final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2702" y="1249605"/>
            <a:ext cx="4741098" cy="4701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0635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ABAA3-5829-FB59-754D-7801BE32F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819DA3-F33F-AEBC-1F7B-B489E2AC38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Round</a:t>
            </a:r>
            <a:r>
              <a:rPr lang="en-US" altLang="ko-KR" baseline="-25000" dirty="0" err="1"/>
              <a:t>q</a:t>
            </a:r>
            <a:r>
              <a:rPr lang="ko-KR" altLang="en-US" dirty="0"/>
              <a:t>의</a:t>
            </a:r>
            <a:r>
              <a:rPr lang="en-US" altLang="ko-KR" dirty="0"/>
              <a:t> </a:t>
            </a:r>
            <a:r>
              <a:rPr lang="ko-KR" altLang="en-US" dirty="0"/>
              <a:t>다항식 확장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CF96D5D-6553-AB0C-441F-ED7EF95963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각 계수에 개별적으로 </a:t>
            </a:r>
            <a:r>
              <a:rPr lang="en-US" altLang="ko-KR" dirty="0" err="1"/>
              <a:t>Round</a:t>
            </a:r>
            <a:r>
              <a:rPr lang="en-US" altLang="ko-KR" baseline="-25000" dirty="0" err="1"/>
              <a:t>q</a:t>
            </a:r>
            <a:r>
              <a:rPr lang="ko-KR" altLang="en-US" dirty="0"/>
              <a:t>를 적용해 </a:t>
            </a:r>
            <a:r>
              <a:rPr lang="en-US" altLang="ko-KR" dirty="0" err="1"/>
              <a:t>R</a:t>
            </a:r>
            <a:r>
              <a:rPr lang="en-US" altLang="ko-KR" baseline="-25000" dirty="0" err="1"/>
              <a:t>q</a:t>
            </a:r>
            <a:r>
              <a:rPr lang="ko-KR" altLang="en-US" dirty="0"/>
              <a:t>의 다항식으로 확장한다</a:t>
            </a:r>
            <a:endParaRPr lang="en-US" altLang="ko-KR" dirty="0"/>
          </a:p>
          <a:p>
            <a:r>
              <a:rPr lang="ko-KR" altLang="en-US" dirty="0"/>
              <a:t>예제 </a:t>
            </a:r>
            <a:r>
              <a:rPr lang="en-US" altLang="ko-KR" dirty="0"/>
              <a:t>(q = 3329): Round₃₃₂₉(3000 + 1500x + 2010x² + 37x³) </a:t>
            </a:r>
            <a:r>
              <a:rPr lang="ko-KR" altLang="en-US" dirty="0"/>
              <a:t>계산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>
                <a:solidFill>
                  <a:srgbClr val="404040"/>
                </a:solidFill>
              </a:rPr>
              <a:t>결과</a:t>
            </a:r>
            <a:r>
              <a:rPr lang="en-US" altLang="ko-KR" dirty="0">
                <a:solidFill>
                  <a:srgbClr val="404040"/>
                </a:solidFill>
              </a:rPr>
              <a:t>: Round₃₃₂₉(3000+1500x+2010x²+37x³) = x + x²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E864D2-39A3-FF02-7318-AD937A179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8</a:t>
            </a:fld>
            <a:endParaRPr lang="ko-KR" altLang="en-US"/>
          </a:p>
        </p:txBody>
      </p:sp>
      <p:graphicFrame>
        <p:nvGraphicFramePr>
          <p:cNvPr id="5" name="Table 8">
            <a:extLst>
              <a:ext uri="{FF2B5EF4-FFF2-40B4-BE49-F238E27FC236}">
                <a16:creationId xmlns:a16="http://schemas.microsoft.com/office/drawing/2014/main" id="{6D6738D9-D6A7-BA02-6B26-F9BC668622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079560"/>
              </p:ext>
            </p:extLst>
          </p:nvPr>
        </p:nvGraphicFramePr>
        <p:xfrm>
          <a:off x="838200" y="2514600"/>
          <a:ext cx="10515600" cy="18288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 err="1">
                          <a:solidFill>
                            <a:schemeClr val="bg1"/>
                          </a:solidFill>
                        </a:rPr>
                        <a:t>계수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mods 3329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 err="1">
                          <a:solidFill>
                            <a:schemeClr val="bg1"/>
                          </a:solidFill>
                        </a:rPr>
                        <a:t>절댓값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|·| vs 832.25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 err="1">
                          <a:solidFill>
                            <a:schemeClr val="bg1"/>
                          </a:solidFill>
                        </a:rPr>
                        <a:t>Round</a:t>
                      </a:r>
                      <a:r>
                        <a:rPr sz="1800" b="1" baseline="-25000" dirty="0" err="1">
                          <a:solidFill>
                            <a:schemeClr val="bg1"/>
                          </a:solidFill>
                        </a:rPr>
                        <a:t>q</a:t>
                      </a:r>
                      <a:endParaRPr sz="1800" b="1" baseline="-25000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상수항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404040"/>
                          </a:solidFill>
                        </a:rPr>
                        <a:t>3000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404040"/>
                          </a:solidFill>
                        </a:rPr>
                        <a:t>-329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404040"/>
                          </a:solidFill>
                        </a:rPr>
                        <a:t>329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404040"/>
                          </a:solidFill>
                        </a:rPr>
                        <a:t>&lt; 832.25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0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x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404040"/>
                          </a:solidFill>
                        </a:rPr>
                        <a:t>1500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1500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1500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&gt; 832.25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1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x²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404040"/>
                          </a:solidFill>
                        </a:rPr>
                        <a:t>2010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-1319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404040"/>
                          </a:solidFill>
                        </a:rPr>
                        <a:t>1319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&gt; 832.25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1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x³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37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37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404040"/>
                          </a:solidFill>
                        </a:rPr>
                        <a:t>37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&lt; 832.25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404040"/>
                          </a:solidFill>
                        </a:rPr>
                        <a:t>0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48954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39D39C-A51B-7C9F-A32A-920B0637C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303731-7D0E-8047-E265-E16281332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도메인 파라미터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EDD6023-74AE-0B6E-6AE8-5E898D0275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>
                <a:latin typeface="Segoe UI Symbol"/>
              </a:rPr>
              <a:t>별도 언급이 없으면 </a:t>
            </a:r>
            <a:r>
              <a:rPr lang="en-US" altLang="ko-KR" dirty="0">
                <a:latin typeface="Segoe UI Symbol"/>
              </a:rPr>
              <a:t>ML-KEM-768 (q=3329, n=256, k=3, η₁=2, η₂=2)</a:t>
            </a:r>
            <a:r>
              <a:rPr lang="ko-KR" altLang="en-US" dirty="0">
                <a:latin typeface="Segoe UI Symbol"/>
              </a:rPr>
              <a:t>을 기준으로 한다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38CD51-449A-ECA0-72D7-C761B0D75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9</a:t>
            </a:fld>
            <a:endParaRPr lang="ko-KR" altLang="en-US"/>
          </a:p>
        </p:txBody>
      </p:sp>
      <p:graphicFrame>
        <p:nvGraphicFramePr>
          <p:cNvPr id="5" name="Table 6">
            <a:extLst>
              <a:ext uri="{FF2B5EF4-FFF2-40B4-BE49-F238E27FC236}">
                <a16:creationId xmlns:a16="http://schemas.microsoft.com/office/drawing/2014/main" id="{4DF290FD-35FD-4CAD-FA9D-EA0F5B537F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8650490"/>
              </p:ext>
            </p:extLst>
          </p:nvPr>
        </p:nvGraphicFramePr>
        <p:xfrm>
          <a:off x="838200" y="1295322"/>
          <a:ext cx="10515600" cy="301752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14879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183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800" b="1" dirty="0" err="1">
                          <a:solidFill>
                            <a:schemeClr val="bg1"/>
                          </a:solidFill>
                        </a:rPr>
                        <a:t>파라미터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 err="1">
                          <a:solidFill>
                            <a:schemeClr val="bg1"/>
                          </a:solidFill>
                        </a:rPr>
                        <a:t>의미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ML-KEM-512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ML-KEM-768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ML-KEM-1024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q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소수 modulus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3329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404040"/>
                          </a:solidFill>
                        </a:rPr>
                        <a:t>3329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404040"/>
                          </a:solidFill>
                        </a:rPr>
                        <a:t>3329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n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 err="1">
                          <a:solidFill>
                            <a:srgbClr val="404040"/>
                          </a:solidFill>
                        </a:rPr>
                        <a:t>R</a:t>
                      </a:r>
                      <a:r>
                        <a:rPr sz="1800" baseline="-25000" dirty="0" err="1">
                          <a:solidFill>
                            <a:srgbClr val="404040"/>
                          </a:solidFill>
                        </a:rPr>
                        <a:t>q</a:t>
                      </a:r>
                      <a:r>
                        <a:rPr sz="1800" dirty="0">
                          <a:solidFill>
                            <a:srgbClr val="404040"/>
                          </a:solidFill>
                        </a:rPr>
                        <a:t> = </a:t>
                      </a:r>
                      <a:r>
                        <a:rPr sz="1800" dirty="0" err="1">
                          <a:solidFill>
                            <a:srgbClr val="404040"/>
                          </a:solidFill>
                        </a:rPr>
                        <a:t>Z</a:t>
                      </a:r>
                      <a:r>
                        <a:rPr sz="1800" baseline="-25000" dirty="0" err="1">
                          <a:solidFill>
                            <a:srgbClr val="404040"/>
                          </a:solidFill>
                        </a:rPr>
                        <a:t>q</a:t>
                      </a:r>
                      <a:r>
                        <a:rPr sz="1800" dirty="0">
                          <a:solidFill>
                            <a:srgbClr val="404040"/>
                          </a:solidFill>
                        </a:rPr>
                        <a:t>[x]/(xⁿ+1)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256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256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256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404040"/>
                          </a:solidFill>
                        </a:rPr>
                        <a:t>k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 err="1">
                          <a:solidFill>
                            <a:srgbClr val="404040"/>
                          </a:solidFill>
                        </a:rPr>
                        <a:t>A의</a:t>
                      </a:r>
                      <a:r>
                        <a:rPr sz="1800" dirty="0">
                          <a:solidFill>
                            <a:srgbClr val="404040"/>
                          </a:solidFill>
                        </a:rPr>
                        <a:t> </a:t>
                      </a:r>
                      <a:r>
                        <a:rPr sz="1800" dirty="0" err="1">
                          <a:solidFill>
                            <a:srgbClr val="404040"/>
                          </a:solidFill>
                        </a:rPr>
                        <a:t>차원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2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3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4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η₁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404040"/>
                          </a:solidFill>
                        </a:rPr>
                        <a:t>s, e, </a:t>
                      </a:r>
                      <a:r>
                        <a:rPr sz="1800" dirty="0" err="1">
                          <a:solidFill>
                            <a:srgbClr val="404040"/>
                          </a:solidFill>
                        </a:rPr>
                        <a:t>r의</a:t>
                      </a:r>
                      <a:r>
                        <a:rPr sz="1800" dirty="0">
                          <a:solidFill>
                            <a:srgbClr val="404040"/>
                          </a:solidFill>
                        </a:rPr>
                        <a:t> </a:t>
                      </a:r>
                      <a:r>
                        <a:rPr sz="1800" dirty="0" err="1">
                          <a:solidFill>
                            <a:srgbClr val="404040"/>
                          </a:solidFill>
                        </a:rPr>
                        <a:t>계수</a:t>
                      </a:r>
                      <a:r>
                        <a:rPr sz="1800" dirty="0">
                          <a:solidFill>
                            <a:srgbClr val="404040"/>
                          </a:solidFill>
                        </a:rPr>
                        <a:t> </a:t>
                      </a:r>
                      <a:r>
                        <a:rPr sz="1800" dirty="0" err="1">
                          <a:solidFill>
                            <a:srgbClr val="404040"/>
                          </a:solidFill>
                        </a:rPr>
                        <a:t>상한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3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2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2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η₂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404040"/>
                          </a:solidFill>
                        </a:rPr>
                        <a:t>e₁, </a:t>
                      </a:r>
                      <a:r>
                        <a:rPr sz="1800" dirty="0" err="1">
                          <a:solidFill>
                            <a:srgbClr val="404040"/>
                          </a:solidFill>
                        </a:rPr>
                        <a:t>e₂의</a:t>
                      </a:r>
                      <a:r>
                        <a:rPr sz="1800" dirty="0">
                          <a:solidFill>
                            <a:srgbClr val="404040"/>
                          </a:solidFill>
                        </a:rPr>
                        <a:t> </a:t>
                      </a:r>
                      <a:r>
                        <a:rPr sz="1800" dirty="0" err="1">
                          <a:solidFill>
                            <a:srgbClr val="404040"/>
                          </a:solidFill>
                        </a:rPr>
                        <a:t>계수</a:t>
                      </a:r>
                      <a:r>
                        <a:rPr sz="1800" dirty="0">
                          <a:solidFill>
                            <a:srgbClr val="404040"/>
                          </a:solidFill>
                        </a:rPr>
                        <a:t> </a:t>
                      </a:r>
                      <a:r>
                        <a:rPr sz="1800" dirty="0" err="1">
                          <a:solidFill>
                            <a:srgbClr val="404040"/>
                          </a:solidFill>
                        </a:rPr>
                        <a:t>상한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2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2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2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404040"/>
                          </a:solidFill>
                        </a:rPr>
                        <a:t>(d</a:t>
                      </a:r>
                      <a:r>
                        <a:rPr sz="1800" baseline="-25000" dirty="0">
                          <a:solidFill>
                            <a:srgbClr val="404040"/>
                          </a:solidFill>
                        </a:rPr>
                        <a:t>u</a:t>
                      </a:r>
                      <a:r>
                        <a:rPr sz="1800" dirty="0">
                          <a:solidFill>
                            <a:srgbClr val="404040"/>
                          </a:solidFill>
                        </a:rPr>
                        <a:t>, d</a:t>
                      </a:r>
                      <a:r>
                        <a:rPr sz="1800" baseline="-25000" dirty="0">
                          <a:solidFill>
                            <a:srgbClr val="404040"/>
                          </a:solidFill>
                        </a:rPr>
                        <a:t>v</a:t>
                      </a:r>
                      <a:r>
                        <a:rPr sz="1800" dirty="0">
                          <a:solidFill>
                            <a:srgbClr val="404040"/>
                          </a:solidFill>
                        </a:rPr>
                        <a:t>)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 err="1">
                          <a:solidFill>
                            <a:srgbClr val="404040"/>
                          </a:solidFill>
                        </a:rPr>
                        <a:t>압축</a:t>
                      </a:r>
                      <a:r>
                        <a:rPr sz="1800" dirty="0">
                          <a:solidFill>
                            <a:srgbClr val="404040"/>
                          </a:solidFill>
                        </a:rPr>
                        <a:t> </a:t>
                      </a:r>
                      <a:r>
                        <a:rPr sz="1800" dirty="0" err="1">
                          <a:solidFill>
                            <a:srgbClr val="404040"/>
                          </a:solidFill>
                        </a:rPr>
                        <a:t>파라미터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404040"/>
                          </a:solidFill>
                        </a:rPr>
                        <a:t>(10, 4)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(10, 4)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(11, 5)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λ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목표 보안 수준(비트)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≈128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≈192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404040"/>
                          </a:solidFill>
                        </a:rPr>
                        <a:t>≈256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44610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DB1AD-7C1F-A7CE-F914-516468469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C8BEF2-199A-4E3F-C563-3477BE8DE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키 생성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69721CD9-5C2F-947B-D704-B8934FD862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:r>
                  <a:rPr lang="en-US" altLang="ko-KR" dirty="0"/>
                  <a:t>Kyber-PKE(s) </a:t>
                </a:r>
                <a:r>
                  <a:rPr lang="ko-KR" altLang="en-US" dirty="0" err="1"/>
                  <a:t>키생성</a:t>
                </a:r>
                <a:r>
                  <a:rPr lang="en-US" altLang="ko-KR" dirty="0"/>
                  <a:t>: Alice</a:t>
                </a:r>
                <a:r>
                  <a:rPr lang="ko-KR" altLang="en-US" dirty="0"/>
                  <a:t>가</a:t>
                </a:r>
                <a:endParaRPr lang="en-US" altLang="ko-KR" dirty="0"/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ko-KR" altLang="ar-AE" i="1" smtClean="0">
                        <a:latin typeface="Cambria Math" panose="02040503050406030204" pitchFamily="18" charset="0"/>
                      </a:rPr>
                      <m:t>𝐴</m:t>
                    </m:r>
                    <m:sSub>
                      <m:sSub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altLang="ko-KR" i="1" smtClean="0">
                            <a:latin typeface="Cambria Math" panose="02040503050406030204" pitchFamily="18" charset="0"/>
                          </a:rPr>
                          <m:t>∈</m:t>
                        </m:r>
                      </m:e>
                      <m:sub>
                        <m:r>
                          <a:rPr lang="ko-KR" altLang="ar-AE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sSubSup>
                      <m:sSubSup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ko-KR" altLang="ar-AE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ko-KR" altLang="ar-AE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  <m:sup>
                        <m:r>
                          <a:rPr lang="ko-KR" altLang="ar-AE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 altLang="ko-KR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ko-KR" altLang="ar-AE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  <m:r>
                      <a:rPr lang="ar-AE" altLang="ko-KR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ko-KR" altLang="ar-AE" i="1" smtClean="0">
                        <a:latin typeface="Cambria Math" panose="02040503050406030204" pitchFamily="18" charset="0"/>
                      </a:rPr>
                      <m:t>𝑠</m:t>
                    </m:r>
                    <m:sSub>
                      <m:sSub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altLang="ko-KR" i="1" smtClean="0">
                            <a:latin typeface="Cambria Math" panose="02040503050406030204" pitchFamily="18" charset="0"/>
                          </a:rPr>
                          <m:t>∈</m:t>
                        </m:r>
                      </m:e>
                      <m:sub>
                        <m:r>
                          <a:rPr lang="ko-KR" altLang="ar-AE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sSubSup>
                      <m:sSubSup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ko-KR" altLang="ar-AE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sSub>
                          <m:sSubPr>
                            <m:ctrlPr>
                              <a:rPr lang="ar-AE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ar-AE" i="1" smtClean="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ar-AE" altLang="ko-KR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  <m:sup>
                        <m:r>
                          <a:rPr lang="ko-KR" altLang="ar-AE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  <m:r>
                      <a:rPr lang="ar-AE" altLang="ko-KR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ko-KR" altLang="ar-AE" i="1" smtClean="0">
                        <a:latin typeface="Cambria Math" panose="02040503050406030204" pitchFamily="18" charset="0"/>
                      </a:rPr>
                      <m:t>𝑒</m:t>
                    </m:r>
                    <m:sSub>
                      <m:sSub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altLang="ko-KR" i="1" smtClean="0">
                            <a:latin typeface="Cambria Math" panose="02040503050406030204" pitchFamily="18" charset="0"/>
                          </a:rPr>
                          <m:t>∈</m:t>
                        </m:r>
                      </m:e>
                      <m:sub>
                        <m:r>
                          <a:rPr lang="ko-KR" altLang="ar-AE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sSubSup>
                      <m:sSubSup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ko-KR" altLang="ar-AE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sSub>
                          <m:sSubPr>
                            <m:ctrlPr>
                              <a:rPr lang="ar-AE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ar-AE" i="1" smtClean="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ar-AE" altLang="ko-KR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  <m:sup>
                        <m:r>
                          <a:rPr lang="ko-KR" altLang="ar-AE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  <m:r>
                      <a:rPr lang="ar-AE" altLang="ko-KR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ko-KR" altLang="ar-AE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ar-AE" altLang="ko-KR" i="1" smtClean="0">
                        <a:latin typeface="Cambria Math" panose="02040503050406030204" pitchFamily="18" charset="0"/>
                      </a:rPr>
                      <m:t>:=</m:t>
                    </m:r>
                    <m:r>
                      <a:rPr lang="ko-KR" altLang="ar-AE" i="1" smtClean="0">
                        <a:latin typeface="Cambria Math" panose="02040503050406030204" pitchFamily="18" charset="0"/>
                      </a:rPr>
                      <m:t>𝐴𝑠</m:t>
                    </m:r>
                    <m:r>
                      <a:rPr lang="ar-AE" altLang="ko-KR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ko-KR" altLang="ar-AE" i="1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altLang="ko-KR" i="1" dirty="0"/>
                  <a:t> </a:t>
                </a:r>
                <a:r>
                  <a:rPr lang="ko-KR" altLang="en-US" dirty="0"/>
                  <a:t>선택</a:t>
                </a:r>
                <a:endParaRPr lang="en-US" altLang="ko-KR" dirty="0"/>
              </a:p>
              <a:p>
                <a:pPr lvl="2"/>
                <a:r>
                  <a:rPr lang="en-US" altLang="ko-KR" dirty="0"/>
                  <a:t>A: </a:t>
                </a:r>
                <a:r>
                  <a:rPr lang="en-US" altLang="ko-KR" dirty="0" err="1"/>
                  <a:t>k×k</a:t>
                </a:r>
                <a:r>
                  <a:rPr lang="en-US" altLang="ko-KR" dirty="0"/>
                  <a:t> </a:t>
                </a:r>
                <a:r>
                  <a:rPr lang="ko-KR" altLang="en-US" dirty="0"/>
                  <a:t>크기 무작위 다항식 행렬 선택</a:t>
                </a:r>
              </a:p>
              <a:p>
                <a:pPr lvl="2"/>
                <a:r>
                  <a:rPr lang="en-US" altLang="ko-KR" dirty="0"/>
                  <a:t>s: </a:t>
                </a:r>
                <a:r>
                  <a:rPr lang="ko-KR" altLang="en-US" dirty="0"/>
                  <a:t>작은</a:t>
                </a:r>
                <a:r>
                  <a:rPr lang="en-US" altLang="ko-KR" dirty="0"/>
                  <a:t>(</a:t>
                </a:r>
                <a:r>
                  <a:rPr lang="ko-KR" altLang="en-US" dirty="0"/>
                  <a:t>계수 ≤ </a:t>
                </a:r>
                <a:r>
                  <a:rPr lang="en-US" altLang="ko-KR" dirty="0"/>
                  <a:t>η₁) </a:t>
                </a:r>
                <a:r>
                  <a:rPr lang="ko-KR" altLang="en-US" dirty="0"/>
                  <a:t>무작위 다항식 벡터 선택 </a:t>
                </a:r>
                <a:r>
                  <a:rPr lang="en-US" altLang="ko-KR" dirty="0"/>
                  <a:t>(</a:t>
                </a:r>
                <a:r>
                  <a:rPr lang="ko-KR" altLang="en-US" dirty="0"/>
                  <a:t>비밀</a:t>
                </a:r>
                <a:r>
                  <a:rPr lang="en-US" altLang="ko-KR" dirty="0"/>
                  <a:t>)</a:t>
                </a:r>
              </a:p>
              <a:p>
                <a:pPr lvl="2"/>
                <a:r>
                  <a:rPr lang="en-US" altLang="ko-KR" dirty="0"/>
                  <a:t>e: </a:t>
                </a:r>
                <a:r>
                  <a:rPr lang="ko-KR" altLang="en-US" dirty="0"/>
                  <a:t>작은</a:t>
                </a:r>
                <a:r>
                  <a:rPr lang="en-US" altLang="ko-KR" dirty="0"/>
                  <a:t>(</a:t>
                </a:r>
                <a:r>
                  <a:rPr lang="ko-KR" altLang="en-US" dirty="0"/>
                  <a:t>계수 ≤ </a:t>
                </a:r>
                <a:r>
                  <a:rPr lang="en-US" altLang="ko-KR" dirty="0"/>
                  <a:t>η₁) </a:t>
                </a:r>
                <a:r>
                  <a:rPr lang="ko-KR" altLang="en-US" dirty="0"/>
                  <a:t>무작위 다항식 벡터 선택 </a:t>
                </a:r>
                <a:r>
                  <a:rPr lang="en-US" altLang="ko-KR" dirty="0"/>
                  <a:t>(</a:t>
                </a:r>
                <a:r>
                  <a:rPr lang="ko-KR" altLang="en-US" dirty="0"/>
                  <a:t>오차</a:t>
                </a:r>
                <a:r>
                  <a:rPr lang="en-US" altLang="ko-KR" dirty="0"/>
                  <a:t>)</a:t>
                </a:r>
              </a:p>
              <a:p>
                <a:pPr lvl="2"/>
                <a:r>
                  <a:rPr lang="en-US" altLang="ko-KR" dirty="0"/>
                  <a:t>t = As + e  </a:t>
                </a:r>
                <a:r>
                  <a:rPr lang="ko-KR" altLang="en-US" dirty="0"/>
                  <a:t>계산</a:t>
                </a:r>
              </a:p>
              <a:p>
                <a:pPr marL="800100" lvl="1" indent="-342900">
                  <a:buFont typeface="+mj-lt"/>
                  <a:buAutoNum type="arabicPeriod"/>
                </a:pPr>
                <a:r>
                  <a:rPr lang="ko-KR" altLang="en-US" dirty="0"/>
                  <a:t>공개키</a:t>
                </a:r>
                <a:r>
                  <a:rPr lang="en-US" altLang="ko-KR" dirty="0"/>
                  <a:t>: (A, t)</a:t>
                </a:r>
              </a:p>
              <a:p>
                <a:pPr marL="800100" lvl="1" indent="-342900">
                  <a:buFont typeface="+mj-lt"/>
                  <a:buAutoNum type="arabicPeriod"/>
                </a:pPr>
                <a:r>
                  <a:rPr lang="ko-KR" altLang="en-US" dirty="0"/>
                  <a:t>개인키</a:t>
                </a:r>
                <a:r>
                  <a:rPr lang="en-US" altLang="ko-KR" dirty="0"/>
                  <a:t>: s</a:t>
                </a: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69721CD9-5C2F-947B-D704-B8934FD862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EB5BBC-05E4-A8C8-C706-FFFF057D1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29907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2C526-C9DF-C42B-ED5D-336CA4339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DA9AFF-90BB-BE42-4CFA-57D294061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암호화</a:t>
            </a:r>
            <a:r>
              <a:rPr lang="en-US" altLang="ko-KR" dirty="0"/>
              <a:t>, </a:t>
            </a:r>
            <a:r>
              <a:rPr lang="ko-KR" altLang="en-US" dirty="0"/>
              <a:t>복호화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7E25D3-D347-5EC6-58F4-769D99ADC9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6220326" cy="4701089"/>
          </a:xfrm>
        </p:spPr>
        <p:txBody>
          <a:bodyPr>
            <a:noAutofit/>
          </a:bodyPr>
          <a:lstStyle/>
          <a:p>
            <a:r>
              <a:rPr lang="en-US" altLang="ko-KR" dirty="0"/>
              <a:t>Kyber-PKE(s) </a:t>
            </a:r>
            <a:r>
              <a:rPr lang="ko-KR" altLang="en-US" dirty="0"/>
              <a:t>암호화</a:t>
            </a:r>
            <a:r>
              <a:rPr lang="en-US" altLang="ko-KR" dirty="0"/>
              <a:t>: </a:t>
            </a:r>
            <a:r>
              <a:rPr lang="ko-KR" altLang="en-US" dirty="0" err="1"/>
              <a:t>평문</a:t>
            </a:r>
            <a:r>
              <a:rPr lang="ko-KR" altLang="en-US" dirty="0"/>
              <a:t> </a:t>
            </a:r>
            <a:r>
              <a:rPr lang="en-US" altLang="ko-KR" dirty="0"/>
              <a:t>m∈{0,1}ⁿ</a:t>
            </a:r>
            <a:r>
              <a:rPr lang="ko-KR" altLang="en-US" dirty="0"/>
              <a:t>을 </a:t>
            </a:r>
            <a:r>
              <a:rPr lang="en-US" altLang="ko-KR" dirty="0"/>
              <a:t>Alice</a:t>
            </a:r>
            <a:r>
              <a:rPr lang="ko-KR" altLang="en-US" dirty="0"/>
              <a:t>에게</a:t>
            </a:r>
            <a:r>
              <a:rPr lang="en-US" altLang="ko-KR" dirty="0"/>
              <a:t>, Bob</a:t>
            </a:r>
            <a:r>
              <a:rPr lang="ko-KR" altLang="en-US" dirty="0"/>
              <a:t>이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/>
              <a:t>Alice</a:t>
            </a:r>
            <a:r>
              <a:rPr lang="ko-KR" altLang="en-US" dirty="0"/>
              <a:t>의 인증된 공개키 </a:t>
            </a:r>
            <a:r>
              <a:rPr lang="en-US" altLang="ko-KR" dirty="0"/>
              <a:t>(A, t) </a:t>
            </a:r>
            <a:r>
              <a:rPr lang="ko-KR" altLang="en-US" dirty="0"/>
              <a:t>확보</a:t>
            </a:r>
            <a:endParaRPr lang="en-US" altLang="ko-KR" dirty="0"/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/>
              <a:t>r, e</a:t>
            </a:r>
            <a:r>
              <a:rPr lang="en-US" altLang="ko-KR" baseline="-25000" dirty="0"/>
              <a:t>1</a:t>
            </a:r>
            <a:r>
              <a:rPr lang="en-US" altLang="ko-KR" dirty="0"/>
              <a:t>, e</a:t>
            </a:r>
            <a:r>
              <a:rPr lang="en-US" altLang="ko-KR" baseline="-25000" dirty="0"/>
              <a:t>2</a:t>
            </a:r>
            <a:r>
              <a:rPr lang="en-US" altLang="ko-KR" dirty="0"/>
              <a:t> </a:t>
            </a:r>
            <a:r>
              <a:rPr lang="ko-KR" altLang="en-US" dirty="0"/>
              <a:t>선택</a:t>
            </a:r>
            <a:endParaRPr lang="en-US" altLang="ko-KR" dirty="0"/>
          </a:p>
          <a:p>
            <a:pPr lvl="2"/>
            <a:r>
              <a:rPr lang="en-US" altLang="ko-KR" dirty="0"/>
              <a:t>r: </a:t>
            </a:r>
            <a:r>
              <a:rPr lang="ko-KR" altLang="en-US" dirty="0"/>
              <a:t>작은</a:t>
            </a:r>
            <a:r>
              <a:rPr lang="en-US" altLang="ko-KR" dirty="0"/>
              <a:t>(</a:t>
            </a:r>
            <a:r>
              <a:rPr lang="ko-KR" altLang="en-US" dirty="0"/>
              <a:t>계수 ≤ </a:t>
            </a:r>
            <a:r>
              <a:rPr lang="en-US" altLang="ko-KR" dirty="0"/>
              <a:t>η₁) </a:t>
            </a:r>
            <a:r>
              <a:rPr lang="ko-KR" altLang="en-US" dirty="0"/>
              <a:t>무작위 다항식 벡터 선택</a:t>
            </a:r>
          </a:p>
          <a:p>
            <a:pPr lvl="2"/>
            <a:r>
              <a:rPr lang="en-US" altLang="ko-KR" dirty="0"/>
              <a:t>e₁: </a:t>
            </a:r>
            <a:r>
              <a:rPr lang="ko-KR" altLang="en-US" dirty="0"/>
              <a:t>작은</a:t>
            </a:r>
            <a:r>
              <a:rPr lang="en-US" altLang="ko-KR" dirty="0"/>
              <a:t>(</a:t>
            </a:r>
            <a:r>
              <a:rPr lang="ko-KR" altLang="en-US" dirty="0"/>
              <a:t>계수 ≤ </a:t>
            </a:r>
            <a:r>
              <a:rPr lang="en-US" altLang="ko-KR" dirty="0"/>
              <a:t>η₂) </a:t>
            </a:r>
            <a:r>
              <a:rPr lang="ko-KR" altLang="en-US" dirty="0"/>
              <a:t>무작위 다항식 벡터 선택</a:t>
            </a:r>
          </a:p>
          <a:p>
            <a:pPr lvl="2"/>
            <a:r>
              <a:rPr lang="en-US" altLang="ko-KR" dirty="0"/>
              <a:t>e₂: </a:t>
            </a:r>
            <a:r>
              <a:rPr lang="ko-KR" altLang="en-US" dirty="0"/>
              <a:t>작은</a:t>
            </a:r>
            <a:r>
              <a:rPr lang="en-US" altLang="ko-KR" dirty="0"/>
              <a:t>(</a:t>
            </a:r>
            <a:r>
              <a:rPr lang="ko-KR" altLang="en-US" dirty="0"/>
              <a:t>계수 ≤ </a:t>
            </a:r>
            <a:r>
              <a:rPr lang="en-US" altLang="ko-KR" dirty="0"/>
              <a:t>η₂) </a:t>
            </a:r>
            <a:r>
              <a:rPr lang="ko-KR" altLang="en-US" dirty="0"/>
              <a:t>무작위 다항식 선택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/>
              <a:t>u = </a:t>
            </a:r>
            <a:r>
              <a:rPr lang="en-US" altLang="ko-KR" dirty="0" err="1"/>
              <a:t>Aᵀr</a:t>
            </a:r>
            <a:r>
              <a:rPr lang="en-US" altLang="ko-KR" dirty="0"/>
              <a:t> + e₁ </a:t>
            </a:r>
            <a:r>
              <a:rPr lang="ko-KR" altLang="en-US" dirty="0"/>
              <a:t>계산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/>
              <a:t>v = </a:t>
            </a:r>
            <a:r>
              <a:rPr lang="en-US" altLang="ko-KR" dirty="0" err="1"/>
              <a:t>tᵀr</a:t>
            </a:r>
            <a:r>
              <a:rPr lang="en-US" altLang="ko-KR" dirty="0">
                <a:latin typeface="Segoe UI Symbol"/>
              </a:rPr>
              <a:t> + e₂ + ⌈q/2⌋m </a:t>
            </a:r>
            <a:r>
              <a:rPr lang="ko-KR" altLang="en-US" dirty="0"/>
              <a:t>계산</a:t>
            </a:r>
          </a:p>
          <a:p>
            <a:r>
              <a:rPr lang="ko-KR" altLang="en-US" dirty="0">
                <a:solidFill>
                  <a:srgbClr val="404040"/>
                </a:solidFill>
                <a:latin typeface="Segoe UI Symbol"/>
              </a:rPr>
              <a:t>출력</a:t>
            </a:r>
            <a:r>
              <a:rPr lang="en-US" altLang="ko-KR" dirty="0">
                <a:solidFill>
                  <a:srgbClr val="404040"/>
                </a:solidFill>
                <a:latin typeface="Segoe UI Symbol"/>
              </a:rPr>
              <a:t>: </a:t>
            </a:r>
            <a:r>
              <a:rPr lang="ko-KR" altLang="en-US" dirty="0">
                <a:solidFill>
                  <a:srgbClr val="404040"/>
                </a:solidFill>
                <a:latin typeface="Segoe UI Symbol"/>
              </a:rPr>
              <a:t>암호문 </a:t>
            </a:r>
            <a:r>
              <a:rPr lang="en-US" altLang="ko-KR" dirty="0">
                <a:solidFill>
                  <a:srgbClr val="404040"/>
                </a:solidFill>
                <a:latin typeface="Segoe UI Symbol"/>
              </a:rPr>
              <a:t>c = (u, v)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769A19-874C-012E-BFAE-CDBD30742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9562FF33-F2E5-2995-2B09-446C38C92B4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058526" y="1295322"/>
                <a:ext cx="4295274" cy="4701089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Autofit/>
              </a:bodyPr>
              <a:lstStyle>
                <a:lvl1pPr marL="228600" indent="-228600" algn="l" defTabSz="914400" rtl="0" eaLnBrk="1" latinLnBrk="1" hangingPunct="1">
                  <a:lnSpc>
                    <a:spcPct val="15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15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15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15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15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ko-KR" dirty="0"/>
                  <a:t>Kyber-PKE(s) </a:t>
                </a:r>
                <a:r>
                  <a:rPr lang="ko-KR" altLang="en-US" dirty="0"/>
                  <a:t>복호화</a:t>
                </a:r>
                <a:r>
                  <a:rPr lang="en-US" altLang="ko-KR" dirty="0"/>
                  <a:t>: </a:t>
                </a:r>
                <a:br>
                  <a:rPr lang="en-US" altLang="ko-KR" dirty="0"/>
                </a:br>
                <a:r>
                  <a:rPr lang="ko-KR" altLang="en-US" dirty="0"/>
                  <a:t>암호문 </a:t>
                </a:r>
                <a:r>
                  <a:rPr lang="en-US" altLang="ko-KR" dirty="0"/>
                  <a:t>c = (u, v)</a:t>
                </a:r>
                <a:r>
                  <a:rPr lang="ko-KR" altLang="en-US" dirty="0"/>
                  <a:t>를</a:t>
                </a:r>
                <a:r>
                  <a:rPr lang="en-US" altLang="ko-KR" dirty="0"/>
                  <a:t>, Alice(</a:t>
                </a:r>
                <a:r>
                  <a:rPr lang="ko-KR" altLang="en-US" dirty="0"/>
                  <a:t>개인키 </a:t>
                </a:r>
                <a:r>
                  <a:rPr lang="en-US" altLang="ko-KR" dirty="0"/>
                  <a:t>s)</a:t>
                </a:r>
                <a:r>
                  <a:rPr lang="ko-KR" altLang="en-US" dirty="0"/>
                  <a:t>가</a:t>
                </a:r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ko-KR" altLang="ar-AE" i="1">
                        <a:latin typeface="Cambria Math"/>
                      </a:rPr>
                      <m:t>𝑚</m:t>
                    </m:r>
                    <m:r>
                      <a:rPr lang="ar-AE" altLang="ko-KR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i="1">
                            <a:latin typeface="Cambria Math"/>
                          </a:rPr>
                          <m:t>Round</m:t>
                        </m:r>
                      </m:e>
                      <m:sub>
                        <m:r>
                          <a:rPr lang="ko-KR" altLang="ar-AE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ar-AE" altLang="ko-KR" i="1">
                        <a:latin typeface="Cambria Math"/>
                      </a:rPr>
                      <m:t>(</m:t>
                    </m:r>
                    <m:r>
                      <a:rPr lang="ko-KR" altLang="ar-AE" i="1">
                        <a:latin typeface="Cambria Math"/>
                      </a:rPr>
                      <m:t>𝑣</m:t>
                    </m:r>
                    <m:r>
                      <a:rPr lang="ko-KR" altLang="ar-AE" i="1">
                        <a:latin typeface="Cambria Math"/>
                      </a:rPr>
                      <m:t>−</m:t>
                    </m:r>
                    <m:sSup>
                      <m:sSup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ar-AE" i="1">
                            <a:latin typeface="Cambria Math"/>
                          </a:rPr>
                          <m:t>𝑠</m:t>
                        </m:r>
                      </m:e>
                      <m:sup>
                        <m:r>
                          <a:rPr lang="ko-KR" altLang="ar-AE" i="1">
                            <a:latin typeface="Cambria Math"/>
                          </a:rPr>
                          <m:t>𝑇</m:t>
                        </m:r>
                      </m:sup>
                    </m:sSup>
                    <m:r>
                      <a:rPr lang="ko-KR" altLang="ar-AE" i="1">
                        <a:latin typeface="Cambria Math"/>
                      </a:rPr>
                      <m:t>𝑢</m:t>
                    </m:r>
                    <m:r>
                      <a:rPr lang="ar-AE" altLang="ko-KR" i="1">
                        <a:latin typeface="Cambria Math"/>
                      </a:rPr>
                      <m:t>)</m:t>
                    </m:r>
                  </m:oMath>
                </a14:m>
                <a:r>
                  <a:rPr lang="en-US" altLang="ko-KR" dirty="0"/>
                  <a:t> </a:t>
                </a:r>
                <a:r>
                  <a:rPr lang="ko-KR" altLang="en-US" dirty="0"/>
                  <a:t>계산</a:t>
                </a:r>
                <a:endParaRPr lang="ar-AE" altLang="ko-KR" dirty="0"/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9562FF33-F2E5-2995-2B09-446C38C92B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8526" y="1295322"/>
                <a:ext cx="4295274" cy="4701089"/>
              </a:xfrm>
              <a:prstGeom prst="rect">
                <a:avLst/>
              </a:prstGeom>
              <a:blipFill>
                <a:blip r:embed="rId2"/>
                <a:stretch>
                  <a:fillRect l="-9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5261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6A314-7433-866E-E6E7-3F4D34DE0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038B92-0CC2-AD20-FF46-D5063C957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예제</a:t>
            </a:r>
            <a:r>
              <a:rPr lang="en-US" altLang="ko-KR" dirty="0"/>
              <a:t>1: </a:t>
            </a:r>
            <a:r>
              <a:rPr lang="ko-KR" altLang="en-US" dirty="0"/>
              <a:t>키 생성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529C32AD-EE13-B045-4700-EBB05D2E2E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ko-KR" altLang="en-US" dirty="0">
                    <a:solidFill>
                      <a:schemeClr val="tx1"/>
                    </a:solidFill>
                  </a:rPr>
                  <a:t>파라미터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: q = 137,  n = 4,  k = 2,  η₁ = η₂ = 2</a:t>
                </a:r>
              </a:p>
              <a:p>
                <a:r>
                  <a:rPr lang="ko-KR" altLang="en-US" dirty="0">
                    <a:solidFill>
                      <a:schemeClr val="tx1"/>
                    </a:solidFill>
                  </a:rPr>
                  <a:t>키 생성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ko-KR" altLang="ar-AE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ar-AE" altLang="ko-K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=[</m:t>
                    </m:r>
                    <m:m>
                      <m:mPr>
                        <m:plcHide m:val="on"/>
                        <m:mcs>
                          <m:mc>
                            <m:mcPr>
                              <m:count m:val="2"/>
                              <m:mcJc m:val="center"/>
                            </m:mcPr>
                          </m:mc>
                        </m:mcs>
                        <m:ctrlPr>
                          <a:rPr lang="ar-AE" altLang="ko-K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a:rPr lang="ar-AE" altLang="ko-K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21</m:t>
                          </m:r>
                          <m:r>
                            <a:rPr lang="ar-AE" altLang="ko-K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altLang="ko-K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57</m:t>
                          </m:r>
                          <m:r>
                            <a:rPr lang="ko-KR" altLang="ar-AE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ar-AE" altLang="ko-K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altLang="ko-K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78</m:t>
                          </m:r>
                          <m:sSup>
                            <m:sSupPr>
                              <m:ctrlPr>
                                <a:rPr lang="ar-AE" altLang="ko-K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ko-KR" altLang="ar-AE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ar-AE" altLang="ko-K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ar-AE" altLang="ko-K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altLang="ko-K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43</m:t>
                          </m:r>
                          <m:sSup>
                            <m:sSupPr>
                              <m:ctrlPr>
                                <a:rPr lang="ar-AE" altLang="ko-K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ko-KR" altLang="ar-AE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ar-AE" altLang="ko-K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e>
                        <m:e>
                          <m:r>
                            <a:rPr lang="ar-AE" altLang="ko-K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126</m:t>
                          </m:r>
                          <m:r>
                            <a:rPr lang="ar-AE" altLang="ko-K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altLang="ko-K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122</m:t>
                          </m:r>
                          <m:r>
                            <a:rPr lang="ko-KR" altLang="ar-AE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ar-AE" altLang="ko-K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altLang="ko-K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19</m:t>
                          </m:r>
                          <m:sSup>
                            <m:sSupPr>
                              <m:ctrlPr>
                                <a:rPr lang="ar-AE" altLang="ko-K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ko-KR" altLang="ar-AE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ar-AE" altLang="ko-K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ar-AE" altLang="ko-K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altLang="ko-K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125</m:t>
                          </m:r>
                          <m:sSup>
                            <m:sSupPr>
                              <m:ctrlPr>
                                <a:rPr lang="ar-AE" altLang="ko-K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ko-KR" altLang="ar-AE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ar-AE" altLang="ko-K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e>
                      </m:mr>
                      <m:mr>
                        <m:e>
                          <m:r>
                            <a:rPr lang="ar-AE" altLang="ko-K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111</m:t>
                          </m:r>
                          <m:r>
                            <a:rPr lang="ar-AE" altLang="ko-K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altLang="ko-K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ko-KR" altLang="ar-AE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ar-AE" altLang="ko-K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altLang="ko-K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63</m:t>
                          </m:r>
                          <m:sSup>
                            <m:sSupPr>
                              <m:ctrlPr>
                                <a:rPr lang="ar-AE" altLang="ko-K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ko-KR" altLang="ar-AE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ar-AE" altLang="ko-K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ar-AE" altLang="ko-K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altLang="ko-K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33</m:t>
                          </m:r>
                          <m:sSup>
                            <m:sSupPr>
                              <m:ctrlPr>
                                <a:rPr lang="ar-AE" altLang="ko-K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ko-KR" altLang="ar-AE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ar-AE" altLang="ko-K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e>
                        <m:e>
                          <m:r>
                            <a:rPr lang="ar-AE" altLang="ko-K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105</m:t>
                          </m:r>
                          <m:r>
                            <a:rPr lang="ar-AE" altLang="ko-K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altLang="ko-K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61</m:t>
                          </m:r>
                          <m:r>
                            <a:rPr lang="ko-KR" altLang="ar-AE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ar-AE" altLang="ko-K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altLang="ko-K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71</m:t>
                          </m:r>
                          <m:sSup>
                            <m:sSupPr>
                              <m:ctrlPr>
                                <a:rPr lang="ar-AE" altLang="ko-K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ko-KR" altLang="ar-AE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ar-AE" altLang="ko-K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ar-AE" altLang="ko-K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altLang="ko-K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64</m:t>
                          </m:r>
                          <m:sSup>
                            <m:sSupPr>
                              <m:ctrlPr>
                                <a:rPr lang="ar-AE" altLang="ko-K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ko-KR" altLang="ar-AE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ar-AE" altLang="ko-K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e>
                      </m:mr>
                    </m:m>
                    <m:r>
                      <a:rPr lang="ar-AE" altLang="ko-K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ar-AE" altLang="ko-KR" i="1" dirty="0">
                  <a:solidFill>
                    <a:schemeClr val="tx1"/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ko-KR" altLang="ar-AE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ar-AE" altLang="ko-K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 altLang="ko-K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ar-AE" altLang="ko-K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ar-AE" altLang="ko-K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ar-AE" altLang="ko-K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ar-AE" altLang="ko-K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ko-KR" altLang="ar-AE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ko-KR" altLang="ar-AE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ar-AE" altLang="ko-K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ko-KR" altLang="ar-AE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ar-AE" altLang="ko-KR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ar-AE" altLang="ko-K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ar-AE" altLang="ko-K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sSup>
                              <m:sSupPr>
                                <m:ctrlPr>
                                  <a:rPr lang="ar-AE" altLang="ko-K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ko-KR" altLang="ar-AE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ar-AE" altLang="ko-KR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</m:sSup>
                          </m:e>
                          <m:e>
                            <m:r>
                              <a:rPr lang="ar-AE" altLang="ko-K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ko-KR" altLang="ar-AE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ar-AE" altLang="ko-K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ar-AE" altLang="ko-K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sSup>
                              <m:sSupPr>
                                <m:ctrlPr>
                                  <a:rPr lang="ar-AE" altLang="ko-K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ko-KR" altLang="ar-AE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ar-AE" altLang="ko-KR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</m:sSup>
                          </m:e>
                        </m:eqArr>
                      </m:e>
                    </m:d>
                  </m:oMath>
                </a14:m>
                <a:r>
                  <a:rPr lang="en-US" altLang="ko-KR" i="1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ko-KR" altLang="ar-AE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ar-AE" altLang="ko-K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=[</m:t>
                    </m:r>
                    <m:eqArr>
                      <m:eqArrPr>
                        <m:ctrlPr>
                          <a:rPr lang="ar-AE" altLang="ko-K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eqArrPr>
                      <m:e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ar-AE" altLang="ko-K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ko-KR" altLang="ar-AE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ar-AE" altLang="ko-K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altLang="ko-K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ko-KR" altLang="ar-AE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ar-AE" altLang="ko-K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  <m:e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ko-KR" altLang="ar-AE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altLang="ko-K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ko-KR" altLang="ar-AE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ar-AE" altLang="ko-K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eqArr>
                    <m:r>
                      <a:rPr lang="ar-AE" altLang="ko-K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altLang="ko-KR" i="1" dirty="0">
                  <a:solidFill>
                    <a:schemeClr val="tx1"/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ko-KR" altLang="ar-AE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ar-AE" altLang="ko-K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ko-KR" altLang="ar-AE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𝐴𝑠</m:t>
                    </m:r>
                    <m:r>
                      <a:rPr lang="ar-AE" altLang="ko-K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ko-KR" altLang="ar-AE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ar-AE" altLang="ko-K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=[</m:t>
                    </m:r>
                    <m:eqArr>
                      <m:eqArrPr>
                        <m:ctrlPr>
                          <a:rPr lang="ar-AE" altLang="ko-K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eqArrPr>
                      <m:e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55</m:t>
                        </m:r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96</m:t>
                        </m:r>
                        <m:r>
                          <a:rPr lang="ko-KR" altLang="ar-AE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123</m:t>
                        </m:r>
                        <m:sSup>
                          <m:sSupPr>
                            <m:ctrlPr>
                              <a:rPr lang="ar-AE" altLang="ko-K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ko-KR" altLang="ar-AE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ar-AE" altLang="ko-K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  <m:sSup>
                          <m:sSupPr>
                            <m:ctrlPr>
                              <a:rPr lang="ar-AE" altLang="ko-K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ko-KR" altLang="ar-AE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ar-AE" altLang="ko-K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  <m:e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32</m:t>
                        </m:r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27</m:t>
                        </m:r>
                        <m:r>
                          <a:rPr lang="ko-KR" altLang="ar-AE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127</m:t>
                        </m:r>
                        <m:sSup>
                          <m:sSupPr>
                            <m:ctrlPr>
                              <a:rPr lang="ar-AE" altLang="ko-K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ko-KR" altLang="ar-AE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ar-AE" altLang="ko-K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100</m:t>
                        </m:r>
                        <m:sSup>
                          <m:sSupPr>
                            <m:ctrlPr>
                              <a:rPr lang="ar-AE" altLang="ko-K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ko-KR" altLang="ar-AE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ar-AE" altLang="ko-K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eqArr>
                    <m:r>
                      <a:rPr lang="ar-AE" altLang="ko-K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ar-AE" altLang="ko-KR" i="1" dirty="0">
                  <a:solidFill>
                    <a:schemeClr val="tx1"/>
                  </a:solidFill>
                </a:endParaRPr>
              </a:p>
              <a:p>
                <a:pPr lvl="1"/>
                <a:r>
                  <a:rPr lang="en-US" altLang="ko-KR" dirty="0">
                    <a:solidFill>
                      <a:schemeClr val="tx1"/>
                    </a:solidFill>
                  </a:rPr>
                  <a:t>Alice</a:t>
                </a:r>
                <a:r>
                  <a:rPr lang="ko-KR" altLang="en-US" dirty="0">
                    <a:solidFill>
                      <a:schemeClr val="tx1"/>
                    </a:solidFill>
                  </a:rPr>
                  <a:t>의 공개키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: (A, t), </a:t>
                </a:r>
                <a:r>
                  <a:rPr lang="ko-KR" altLang="en-US" dirty="0">
                    <a:solidFill>
                      <a:schemeClr val="tx1"/>
                    </a:solidFill>
                  </a:rPr>
                  <a:t>개인키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: s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529C32AD-EE13-B045-4700-EBB05D2E2E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54B0B0-2860-7132-41EF-950FA9D54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12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56AD095-0C17-B370-A52E-468632F89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4438" y="3775212"/>
            <a:ext cx="4369362" cy="1787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6665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1E6B5-A70C-84F4-FAA6-9264A3F12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30C699-418E-4838-B109-3B690D49F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예제</a:t>
            </a:r>
            <a:r>
              <a:rPr lang="en-US" altLang="ko-KR" dirty="0"/>
              <a:t>1: </a:t>
            </a:r>
            <a:r>
              <a:rPr lang="ko-KR" altLang="en-US" dirty="0"/>
              <a:t>암호화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5BCA2E5B-501F-7EC4-0CBE-BB78533B5C9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lnSpc>
                    <a:spcPct val="200000"/>
                  </a:lnSpc>
                </a:pPr>
                <a:r>
                  <a:rPr lang="ko-KR" altLang="en-US" dirty="0" err="1"/>
                  <a:t>평문</a:t>
                </a:r>
                <a:r>
                  <a:rPr lang="ko-KR" altLang="en-US" dirty="0">
                    <a:solidFill>
                      <a:schemeClr val="tx1"/>
                    </a:solidFill>
                  </a:rPr>
                  <a:t> 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m = 0111 ↔ x + x² + x³</a:t>
                </a:r>
              </a:p>
              <a:p>
                <a:pPr>
                  <a:lnSpc>
                    <a:spcPct val="200000"/>
                  </a:lnSpc>
                </a:pPr>
                <a14:m>
                  <m:oMath xmlns:m="http://schemas.openxmlformats.org/officeDocument/2006/math">
                    <m:r>
                      <a:rPr lang="ko-KR" altLang="ar-AE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ar-AE" altLang="ko-K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=[</m:t>
                    </m:r>
                    <m:eqArr>
                      <m:eqArrPr>
                        <m:ctrlPr>
                          <a:rPr lang="ar-AE" altLang="ko-K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eqArrPr>
                      <m:e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ko-KR" altLang="ar-AE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altLang="ko-K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ko-KR" altLang="ar-AE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ar-AE" altLang="ko-K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ar-AE" altLang="ko-K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ko-KR" altLang="ar-AE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ar-AE" altLang="ko-K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  <m:e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ko-KR" altLang="ar-AE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altLang="ko-K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ko-KR" altLang="ar-AE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ar-AE" altLang="ko-K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eqArr>
                    <m:r>
                      <a:rPr lang="ar-AE" altLang="ko-K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ko-KR" i="1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altLang="ko-K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 altLang="ko-K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=[</m:t>
                    </m:r>
                    <m:eqArr>
                      <m:eqArrPr>
                        <m:ctrlPr>
                          <a:rPr lang="ar-AE" altLang="ko-K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eqArrPr>
                      <m:e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sSup>
                          <m:sSupPr>
                            <m:ctrlPr>
                              <a:rPr lang="ar-AE" altLang="ko-K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ko-KR" altLang="ar-AE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ar-AE" altLang="ko-K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altLang="ko-K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ko-KR" altLang="ar-AE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ar-AE" altLang="ko-K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  <m:e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ko-KR" altLang="ar-AE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ko-KR" altLang="ar-AE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sSup>
                          <m:sSupPr>
                            <m:ctrlPr>
                              <a:rPr lang="ar-AE" altLang="ko-K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ko-KR" altLang="ar-AE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ar-AE" altLang="ko-K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altLang="ko-K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ko-KR" altLang="ar-AE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ar-AE" altLang="ko-K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eqArr>
                    <m:r>
                      <a:rPr lang="ar-AE" altLang="ko-K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ko-KR" i="1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altLang="ko-K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 altLang="ko-K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altLang="ko-K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ar-AE" altLang="ko-K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altLang="ko-K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ko-KR" altLang="ar-AE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ko-KR" altLang="ar-AE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altLang="ko-K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ar-AE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 altLang="ko-K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ar-AE" altLang="ko-K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ar-AE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ar-AE" altLang="ko-KR" i="1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200000"/>
                  </a:lnSpc>
                </a:pPr>
                <a14:m>
                  <m:oMath xmlns:m="http://schemas.openxmlformats.org/officeDocument/2006/math">
                    <m:r>
                      <a:rPr lang="ko-KR" altLang="ar-AE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ar-AE" altLang="ko-K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altLang="ko-K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ar-AE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ko-KR" altLang="ar-AE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ko-KR" altLang="ar-AE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ar-AE" altLang="ko-K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altLang="ko-K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 altLang="ko-K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=[</m:t>
                    </m:r>
                    <m:eqArr>
                      <m:eqArrPr>
                        <m:ctrlPr>
                          <a:rPr lang="ar-AE" altLang="ko-K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eqArrPr>
                      <m:e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56</m:t>
                        </m:r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32</m:t>
                        </m:r>
                        <m:r>
                          <a:rPr lang="ko-KR" altLang="ar-AE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77</m:t>
                        </m:r>
                        <m:sSup>
                          <m:sSupPr>
                            <m:ctrlPr>
                              <a:rPr lang="ar-AE" altLang="ko-K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ko-KR" altLang="ar-AE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ar-AE" altLang="ko-K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  <m:sSup>
                          <m:sSupPr>
                            <m:ctrlPr>
                              <a:rPr lang="ar-AE" altLang="ko-K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ko-KR" altLang="ar-AE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ar-AE" altLang="ko-K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  <m:e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45</m:t>
                        </m:r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21</m:t>
                        </m:r>
                        <m:r>
                          <a:rPr lang="ko-KR" altLang="ar-AE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sSup>
                          <m:sSupPr>
                            <m:ctrlPr>
                              <a:rPr lang="ar-AE" altLang="ko-K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ko-KR" altLang="ar-AE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ar-AE" altLang="ko-K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127</m:t>
                        </m:r>
                        <m:sSup>
                          <m:sSupPr>
                            <m:ctrlPr>
                              <a:rPr lang="ar-AE" altLang="ko-K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ko-KR" altLang="ar-AE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ar-AE" altLang="ko-K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eqArr>
                    <m:r>
                      <a:rPr lang="ar-AE" altLang="ko-K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ar-AE" altLang="ko-KR" i="1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200000"/>
                  </a:lnSpc>
                </a:pPr>
                <a14:m>
                  <m:oMath xmlns:m="http://schemas.openxmlformats.org/officeDocument/2006/math">
                    <m:r>
                      <a:rPr lang="ko-KR" altLang="ar-AE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ar-AE" altLang="ko-K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altLang="ko-K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ar-AE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ko-KR" altLang="ar-AE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ko-KR" altLang="ar-AE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ar-AE" altLang="ko-K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altLang="ko-K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 altLang="ko-K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altLang="ko-K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69</m:t>
                    </m:r>
                    <m:r>
                      <a:rPr lang="ko-KR" altLang="ar-AE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ar-AE" altLang="ko-K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altLang="ko-K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ar-AE" altLang="ko-K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altLang="ko-K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10</m:t>
                    </m:r>
                    <m:r>
                      <a:rPr lang="ko-KR" altLang="ar-AE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ar-AE" altLang="ko-K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altLang="ko-K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8</m:t>
                    </m:r>
                    <m:sSup>
                      <m:sSupPr>
                        <m:ctrlPr>
                          <a:rPr lang="ar-AE" altLang="ko-K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ar-AE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 altLang="ko-K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altLang="ko-K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123</m:t>
                    </m:r>
                    <m:sSup>
                      <m:sSupPr>
                        <m:ctrlPr>
                          <a:rPr lang="ar-AE" altLang="ko-K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ar-AE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 altLang="ko-K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ar-AE" altLang="ko-KR" i="1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dirty="0">
                    <a:solidFill>
                      <a:schemeClr val="tx1"/>
                    </a:solidFill>
                    <a:latin typeface="Segoe UI Symbol"/>
                  </a:rPr>
                  <a:t>⌈</a:t>
                </a:r>
                <a:r>
                  <a:rPr lang="en-US" altLang="ko-KR" dirty="0">
                    <a:solidFill>
                      <a:schemeClr val="tx1"/>
                    </a:solidFill>
                    <a:latin typeface="Segoe UI Symbol"/>
                  </a:rPr>
                  <a:t>137/2⌋ = 69 </a:t>
                </a:r>
                <a:r>
                  <a:rPr lang="ko-KR" altLang="en-US" dirty="0">
                    <a:solidFill>
                      <a:schemeClr val="tx1"/>
                    </a:solidFill>
                  </a:rPr>
                  <a:t>이므로 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69m = 69x + 69x² + 69x³.  </a:t>
                </a:r>
                <a:r>
                  <a:rPr lang="ko-KR" altLang="en-US" dirty="0">
                    <a:solidFill>
                      <a:schemeClr val="tx1"/>
                    </a:solidFill>
                  </a:rPr>
                  <a:t>암호문 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c = (u, v)</a:t>
                </a:r>
                <a:endParaRPr lang="ar-AE" altLang="ko-KR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5BCA2E5B-501F-7EC4-0CBE-BB78533B5C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304786-D749-F400-65B2-59C7E1AF9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13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449AE6F-D72E-010B-3B48-C30F024F3B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311696"/>
            <a:ext cx="4038600" cy="1641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15871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2C36D-421D-B5C8-12B7-685EF6000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D57964-AEE6-9651-A70C-346E6AA00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예제</a:t>
            </a:r>
            <a:r>
              <a:rPr lang="en-US" altLang="ko-KR" dirty="0"/>
              <a:t>1: </a:t>
            </a:r>
            <a:r>
              <a:rPr lang="ko-KR" altLang="en-US" dirty="0"/>
              <a:t>복호화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38D6EC7-1217-551E-F1D8-EDFFE463747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ko-KR" altLang="ar-AE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ko-KR" altLang="ar-AE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ar-A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ko-KR" altLang="ar-AE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ko-KR" altLang="ar-A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ar-AE" altLang="ko-K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altLang="ko-KR" i="1">
                        <a:latin typeface="Cambria Math" panose="02040503050406030204" pitchFamily="18" charset="0"/>
                      </a:rPr>
                      <m:t>4</m:t>
                    </m:r>
                    <m:r>
                      <a:rPr lang="ar-AE" altLang="ko-K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altLang="ko-KR" i="1">
                        <a:latin typeface="Cambria Math" panose="02040503050406030204" pitchFamily="18" charset="0"/>
                      </a:rPr>
                      <m:t>60</m:t>
                    </m:r>
                    <m:r>
                      <a:rPr lang="ko-KR" altLang="ar-AE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ar-AE" altLang="ko-K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altLang="ko-KR" i="1">
                        <a:latin typeface="Cambria Math" panose="02040503050406030204" pitchFamily="18" charset="0"/>
                      </a:rPr>
                      <m:t>79</m:t>
                    </m:r>
                    <m:sSup>
                      <m:sSup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 altLang="ko-K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 altLang="ko-K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altLang="ko-KR" i="1">
                        <a:latin typeface="Cambria Math" panose="02040503050406030204" pitchFamily="18" charset="0"/>
                      </a:rPr>
                      <m:t>66</m:t>
                    </m:r>
                    <m:sSup>
                      <m:sSup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 altLang="ko-KR" i="1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ar-AE" altLang="ko-KR" i="1" dirty="0"/>
              </a:p>
              <a:p>
                <a:r>
                  <a:rPr lang="ko-KR" altLang="en-US" dirty="0"/>
                  <a:t>계수별 </a:t>
                </a:r>
                <a:r>
                  <a:rPr lang="en-US" altLang="ko-KR" dirty="0"/>
                  <a:t>Round₁₃₇ </a:t>
                </a:r>
                <a:r>
                  <a:rPr lang="ko-KR" altLang="en-US" dirty="0"/>
                  <a:t>적용 </a:t>
                </a:r>
                <a:r>
                  <a:rPr lang="en-US" altLang="ko-KR" dirty="0"/>
                  <a:t>(137/4 = 34.25):</a:t>
                </a:r>
              </a:p>
              <a:p>
                <a:endParaRPr lang="en-US" altLang="ko-KR" dirty="0"/>
              </a:p>
              <a:p>
                <a:endParaRPr lang="en-US" altLang="ko-KR" dirty="0"/>
              </a:p>
              <a:p>
                <a:endParaRPr lang="en-US" altLang="ko-KR" dirty="0"/>
              </a:p>
              <a:p>
                <a:endParaRPr lang="en-US" altLang="ko-KR" dirty="0"/>
              </a:p>
              <a:p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결과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: x + x² + x³ = </a:t>
                </a: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원래 </a:t>
                </a:r>
                <a:r>
                  <a:rPr lang="ko-KR" altLang="en-US" dirty="0" err="1">
                    <a:solidFill>
                      <a:srgbClr val="404040"/>
                    </a:solidFill>
                    <a:latin typeface="Segoe UI Symbol"/>
                  </a:rPr>
                  <a:t>평문</a:t>
                </a: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 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m = 0111</a:t>
                </a:r>
                <a:endParaRPr lang="en-US" altLang="ko-KR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38D6EC7-1217-551E-F1D8-EDFFE46374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D3301E-F746-0AFC-F50A-B06EC7CF9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14</a:t>
            </a:fld>
            <a:endParaRPr lang="ko-KR" altLang="en-US"/>
          </a:p>
        </p:txBody>
      </p:sp>
      <p:graphicFrame>
        <p:nvGraphicFramePr>
          <p:cNvPr id="5" name="Table 8">
            <a:extLst>
              <a:ext uri="{FF2B5EF4-FFF2-40B4-BE49-F238E27FC236}">
                <a16:creationId xmlns:a16="http://schemas.microsoft.com/office/drawing/2014/main" id="{AE510AFC-B6DE-F0F8-53D1-FB951EF009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2125216"/>
              </p:ext>
            </p:extLst>
          </p:nvPr>
        </p:nvGraphicFramePr>
        <p:xfrm>
          <a:off x="838200" y="2560320"/>
          <a:ext cx="10515600" cy="173736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1800" b="1" dirty="0" err="1">
                          <a:solidFill>
                            <a:schemeClr val="bg1"/>
                          </a:solidFill>
                        </a:rPr>
                        <a:t>계수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값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mod</a:t>
                      </a:r>
                      <a:r>
                        <a:rPr sz="1800" b="1" baseline="-25000" dirty="0">
                          <a:solidFill>
                            <a:schemeClr val="bg1"/>
                          </a:solidFill>
                        </a:rPr>
                        <a:t>s</a:t>
                      </a:r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 137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 err="1">
                          <a:solidFill>
                            <a:schemeClr val="bg1"/>
                          </a:solidFill>
                        </a:rPr>
                        <a:t>절댓값</a:t>
                      </a:r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 vs 34.25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Round</a:t>
                      </a:r>
                      <a:r>
                        <a:rPr lang="en-US" sz="1800" b="1" baseline="-25000" dirty="0">
                          <a:solidFill>
                            <a:schemeClr val="bg1"/>
                          </a:solidFill>
                        </a:rPr>
                        <a:t>137</a:t>
                      </a:r>
                      <a:endParaRPr sz="1800" b="1" baseline="-25000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상수항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4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4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&lt; 34.25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0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x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404040"/>
                          </a:solidFill>
                        </a:rPr>
                        <a:t>60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-77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&gt; 34.25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1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x²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79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-58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&gt; 34.25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1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x³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404040"/>
                          </a:solidFill>
                        </a:rPr>
                        <a:t>66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404040"/>
                          </a:solidFill>
                        </a:rPr>
                        <a:t>-71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&gt; 34.25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404040"/>
                          </a:solidFill>
                        </a:rPr>
                        <a:t>1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033429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A1914-B36E-6197-0D47-C892C67A9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817A77-5D02-9F63-8D05-E6ADC7DEF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안전성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B5054603-4F99-7B3B-A281-FB633B090B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ko-KR" altLang="en-US" dirty="0"/>
                  <a:t>주장</a:t>
                </a:r>
                <a:r>
                  <a:rPr lang="en-US" altLang="ko-KR" dirty="0"/>
                  <a:t>: </a:t>
                </a:r>
                <a:r>
                  <a:rPr lang="ko-KR" altLang="en-US" dirty="0"/>
                  <a:t>단순화된 </a:t>
                </a:r>
                <a:r>
                  <a:rPr lang="en-US" altLang="ko-KR" dirty="0"/>
                  <a:t>Kyber-PKE(s)</a:t>
                </a:r>
                <a:r>
                  <a:rPr lang="ko-KR" altLang="en-US" dirty="0"/>
                  <a:t>는 </a:t>
                </a:r>
                <a:r>
                  <a:rPr lang="en-US" altLang="ko-KR" dirty="0"/>
                  <a:t>D-MLWE</a:t>
                </a:r>
                <a:r>
                  <a:rPr lang="ko-KR" altLang="en-US" dirty="0"/>
                  <a:t>가 어렵다는 가정 아래 선택</a:t>
                </a:r>
                <a:r>
                  <a:rPr lang="en-US" altLang="ko-KR" dirty="0"/>
                  <a:t>-</a:t>
                </a:r>
                <a:r>
                  <a:rPr lang="ko-KR" altLang="en-US" dirty="0" err="1"/>
                  <a:t>평문</a:t>
                </a:r>
                <a:r>
                  <a:rPr lang="ko-KR" altLang="en-US" dirty="0"/>
                  <a:t> 공격 하 구별 불가능</a:t>
                </a:r>
                <a:r>
                  <a:rPr lang="en-US" altLang="ko-KR" dirty="0"/>
                  <a:t>(IND-CPA)</a:t>
                </a:r>
                <a:r>
                  <a:rPr lang="ko-KR" altLang="en-US" dirty="0"/>
                  <a:t>하다</a:t>
                </a:r>
                <a:r>
                  <a:rPr lang="en-US" altLang="ko-KR" dirty="0"/>
                  <a:t>.</a:t>
                </a:r>
              </a:p>
              <a:p>
                <a:r>
                  <a:rPr lang="ko-KR" altLang="en-US" dirty="0"/>
                  <a:t>증명</a:t>
                </a:r>
                <a:r>
                  <a:rPr lang="en-US" altLang="ko-KR" dirty="0"/>
                  <a:t>: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ar-AE" altLang="ko-KR" i="1">
                        <a:latin typeface="Cambria Math"/>
                      </a:rPr>
                      <m:t>[</m:t>
                    </m:r>
                    <m:eqArr>
                      <m:eqArr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eqArrPr>
                      <m:e>
                        <m:r>
                          <a:rPr lang="ko-KR" altLang="ar-AE" i="1">
                            <a:latin typeface="Cambria Math"/>
                          </a:rPr>
                          <m:t>𝑢</m:t>
                        </m:r>
                      </m:e>
                      <m:e>
                        <m:r>
                          <a:rPr lang="ko-KR" altLang="ar-AE" i="1">
                            <a:latin typeface="Cambria Math"/>
                          </a:rPr>
                          <m:t>𝑣</m:t>
                        </m:r>
                      </m:e>
                    </m:eqArr>
                    <m:r>
                      <a:rPr lang="ar-AE" altLang="ko-KR" i="1">
                        <a:latin typeface="Cambria Math"/>
                      </a:rPr>
                      <m:t>]=[</m:t>
                    </m:r>
                    <m:eqArr>
                      <m:eqArr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eqArrPr>
                      <m:e>
                        <m:sSup>
                          <m:sSupPr>
                            <m:ctrlPr>
                              <a:rPr lang="ar-AE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ko-KR" altLang="ar-AE" i="1">
                                <a:latin typeface="Cambria Math"/>
                              </a:rPr>
                              <m:t>𝐴</m:t>
                            </m:r>
                          </m:e>
                          <m:sup>
                            <m:r>
                              <a:rPr lang="ko-KR" altLang="ar-AE" i="1">
                                <a:latin typeface="Cambria Math"/>
                              </a:rPr>
                              <m:t>𝑇</m:t>
                            </m:r>
                          </m:sup>
                        </m:sSup>
                      </m:e>
                      <m:e>
                        <m:sSup>
                          <m:sSupPr>
                            <m:ctrlPr>
                              <a:rPr lang="ar-AE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ko-KR" altLang="ar-AE" i="1">
                                <a:latin typeface="Cambria Math"/>
                              </a:rPr>
                              <m:t>𝑡</m:t>
                            </m:r>
                          </m:e>
                          <m:sup>
                            <m:r>
                              <a:rPr lang="ko-KR" altLang="ar-AE" i="1">
                                <a:latin typeface="Cambria Math"/>
                              </a:rPr>
                              <m:t>𝑇</m:t>
                            </m:r>
                          </m:sup>
                        </m:sSup>
                      </m:e>
                    </m:eqArr>
                    <m:r>
                      <a:rPr lang="ar-AE" altLang="ko-KR" i="1">
                        <a:latin typeface="Cambria Math"/>
                      </a:rPr>
                      <m:t>]</m:t>
                    </m:r>
                    <m:r>
                      <a:rPr lang="ko-KR" altLang="ar-AE" i="1">
                        <a:latin typeface="Cambria Math"/>
                      </a:rPr>
                      <m:t>𝑟</m:t>
                    </m:r>
                    <m:r>
                      <a:rPr lang="ar-AE" altLang="ko-KR" i="1">
                        <a:latin typeface="Cambria Math"/>
                      </a:rPr>
                      <m:t>+[</m:t>
                    </m:r>
                    <m:eqArr>
                      <m:eqArr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eqArrPr>
                      <m:e>
                        <m:sSub>
                          <m:sSubPr>
                            <m:ctrlPr>
                              <a:rPr lang="ar-AE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ar-AE" i="1">
                                <a:latin typeface="Cambria Math"/>
                              </a:rPr>
                              <m:t>𝑒</m:t>
                            </m:r>
                          </m:e>
                          <m:sub>
                            <m:r>
                              <a:rPr lang="ar-AE" altLang="ko-KR" i="1">
                                <a:latin typeface="Cambria Math"/>
                              </a:rPr>
                              <m:t>1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ar-AE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ar-AE" i="1">
                                <a:latin typeface="Cambria Math"/>
                              </a:rPr>
                              <m:t>𝑒</m:t>
                            </m:r>
                          </m:e>
                          <m:sub>
                            <m:r>
                              <a:rPr lang="ar-AE" altLang="ko-KR" i="1">
                                <a:latin typeface="Cambria Math"/>
                              </a:rPr>
                              <m:t>2</m:t>
                            </m:r>
                          </m:sub>
                        </m:sSub>
                      </m:e>
                    </m:eqArr>
                    <m:r>
                      <a:rPr lang="ar-AE" altLang="ko-KR" i="1">
                        <a:latin typeface="Cambria Math"/>
                      </a:rPr>
                      <m:t>]+[</m:t>
                    </m:r>
                    <m:eqArr>
                      <m:eqArr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eqArrPr>
                      <m:e>
                        <m:r>
                          <a:rPr lang="ar-AE" altLang="ko-KR" i="1">
                            <a:latin typeface="Cambria Math"/>
                          </a:rPr>
                          <m:t>0</m:t>
                        </m:r>
                      </m:e>
                      <m:e>
                        <m:d>
                          <m:dPr>
                            <m:begChr m:val="⌈"/>
                            <m:endChr m:val="⌋"/>
                            <m:ctrlPr>
                              <a:rPr lang="ar-AE" altLang="ko-K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ko-KR" altLang="ar-AE" i="1">
                                <a:latin typeface="Cambria Math"/>
                              </a:rPr>
                              <m:t>𝑞</m:t>
                            </m:r>
                            <m:r>
                              <a:rPr lang="ar-AE" altLang="ko-KR" i="1">
                                <a:latin typeface="Cambria Math"/>
                              </a:rPr>
                              <m:t>/</m:t>
                            </m:r>
                            <m:r>
                              <a:rPr lang="ar-AE" altLang="ko-KR" i="1">
                                <a:latin typeface="Cambria Math"/>
                              </a:rPr>
                              <m:t>2</m:t>
                            </m:r>
                          </m:e>
                        </m:d>
                        <m:r>
                          <a:rPr lang="ko-KR" altLang="ar-AE" i="1">
                            <a:latin typeface="Cambria Math"/>
                          </a:rPr>
                          <m:t>𝑚</m:t>
                        </m:r>
                      </m:e>
                    </m:eqArr>
                    <m:r>
                      <a:rPr lang="ar-AE" altLang="ko-KR" i="1">
                        <a:latin typeface="Cambria Math"/>
                      </a:rPr>
                      <m:t>]</m:t>
                    </m:r>
                  </m:oMath>
                </a14:m>
                <a:endParaRPr lang="ar-AE" altLang="ko-KR" dirty="0"/>
              </a:p>
              <a:p>
                <a:pPr lvl="1">
                  <a:lnSpc>
                    <a:spcPct val="115000"/>
                  </a:lnSpc>
                  <a:spcAft>
                    <a:spcPts val="800"/>
                  </a:spcAft>
                </a:pP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D-MLWE </a:t>
                </a: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가정에 의해 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[A; t] (</a:t>
                </a: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즉 공개키 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(A, t) </a:t>
                </a: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자체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, t = As + e)</a:t>
                </a: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는 균등 랜덤 행렬과 구별 불가능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.</a:t>
                </a:r>
              </a:p>
              <a:p>
                <a:pPr lvl="1">
                  <a:lnSpc>
                    <a:spcPct val="115000"/>
                  </a:lnSpc>
                  <a:spcAft>
                    <a:spcPts val="800"/>
                  </a:spcAft>
                </a:pP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다시 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D-MLWE </a:t>
                </a: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가정을 적용하면 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[A; t]r + [e₁; e₂] = [</a:t>
                </a:r>
                <a:r>
                  <a:rPr lang="en-US" altLang="ko-KR" dirty="0" err="1">
                    <a:solidFill>
                      <a:srgbClr val="404040"/>
                    </a:solidFill>
                    <a:latin typeface="Segoe UI Symbol"/>
                  </a:rPr>
                  <a:t>Aᵀr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 + e</a:t>
                </a: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₁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; </a:t>
                </a:r>
                <a:r>
                  <a:rPr lang="en-US" altLang="ko-KR" dirty="0" err="1">
                    <a:solidFill>
                      <a:srgbClr val="404040"/>
                    </a:solidFill>
                    <a:latin typeface="Segoe UI Symbol"/>
                  </a:rPr>
                  <a:t>tᵀr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 + e</a:t>
                </a: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₂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] </a:t>
                </a: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역시 균등 랜덤 벡터와 구별 불가능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.</a:t>
                </a:r>
              </a:p>
              <a:p>
                <a:pPr lvl="1">
                  <a:lnSpc>
                    <a:spcPct val="115000"/>
                  </a:lnSpc>
                  <a:spcAft>
                    <a:spcPts val="800"/>
                  </a:spcAft>
                </a:pP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따라서 공격자 관점에서 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v</a:t>
                </a: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는 균등 랜덤 원소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(</a:t>
                </a:r>
                <a:r>
                  <a:rPr lang="en-US" altLang="ko-KR" dirty="0" err="1">
                    <a:solidFill>
                      <a:srgbClr val="404040"/>
                    </a:solidFill>
                    <a:latin typeface="Segoe UI Symbol"/>
                  </a:rPr>
                  <a:t>tᵀr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 + e</a:t>
                </a: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₂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)</a:t>
                </a: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와 메시지 다항식 ⌈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q/2⌋m</a:t>
                </a: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의 합처럼 보인다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.</a:t>
                </a:r>
              </a:p>
              <a:p>
                <a:pPr lvl="1">
                  <a:lnSpc>
                    <a:spcPct val="115000"/>
                  </a:lnSpc>
                  <a:spcAft>
                    <a:spcPts val="800"/>
                  </a:spcAft>
                </a:pP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공격자는 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m</a:t>
                </a: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에 대해 아무것도 알아낼 수 없다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. </a:t>
                </a:r>
                <a:endParaRPr lang="en-US" altLang="ko-KR" dirty="0"/>
              </a:p>
              <a:p>
                <a:endParaRPr lang="en-US" altLang="ko-KR" dirty="0"/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B5054603-4F99-7B3B-A281-FB633B090B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r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059EDC-AA92-C73C-F3CD-07A4D1D83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59061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28F942-19A7-4CB2-7EC3-AE9F66223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D4C215-F839-17C0-D13D-BF103E72F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복호화가 항상 성공하는가</a:t>
            </a:r>
            <a:r>
              <a:rPr lang="en-US" altLang="ko-KR" dirty="0"/>
              <a:t>?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03A5F225-FA0A-AA86-7F84-A8DFABB4DF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ko-KR" dirty="0"/>
                  <a:t>m = </a:t>
                </a:r>
                <a:r>
                  <a:rPr lang="en-US" altLang="ko-KR" dirty="0" err="1"/>
                  <a:t>Round</a:t>
                </a:r>
                <a:r>
                  <a:rPr lang="en-US" altLang="ko-KR" baseline="-25000" dirty="0" err="1"/>
                  <a:t>q</a:t>
                </a:r>
                <a:r>
                  <a:rPr lang="en-US" altLang="ko-KR" dirty="0"/>
                  <a:t>(v - </a:t>
                </a:r>
                <a:r>
                  <a:rPr lang="en-US" altLang="ko-KR" dirty="0" err="1"/>
                  <a:t>sᵀu</a:t>
                </a:r>
                <a:r>
                  <a:rPr lang="en-US" altLang="ko-KR" dirty="0"/>
                  <a:t>) </a:t>
                </a:r>
                <a:r>
                  <a:rPr lang="ko-KR" altLang="en-US" dirty="0"/>
                  <a:t>가 항상 성립하는가</a:t>
                </a:r>
                <a:r>
                  <a:rPr lang="en-US" altLang="ko-KR" dirty="0"/>
                  <a:t>?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ar-AE" i="1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ko-KR" altLang="ar-AE" i="1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ko-KR" altLang="ar-AE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ar-AE" altLang="ko-KR" i="1">
                          <a:latin typeface="Cambria Math" panose="02040503050406030204" pitchFamily="18" charset="0"/>
                        </a:rPr>
                        <m:t>=(</m:t>
                      </m:r>
                      <m:sSup>
                        <m:sSup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ko-KR" altLang="ar-AE" i="1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ar-AE" altLang="ko-K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ar-AE" altLang="ko-K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 altLang="ko-KR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⌈"/>
                          <m:endChr m:val="⌋"/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ar-AE" altLang="ko-KR" i="1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ar-AE" altLang="ko-KR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ko-KR" altLang="ar-AE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ar-AE" altLang="ko-KR" i="1">
                          <a:latin typeface="Cambria Math" panose="02040503050406030204" pitchFamily="18" charset="0"/>
                        </a:rPr>
                        <m:t>)−</m:t>
                      </m:r>
                      <m:sSup>
                        <m:sSup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ko-KR" altLang="ar-AE" i="1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ar-AE" altLang="ko-KR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altLang="ko-KR" i="1">
                          <a:latin typeface="Cambria Math" panose="02040503050406030204" pitchFamily="18" charset="0"/>
                        </a:rPr>
                        <m:t>=(</m:t>
                      </m:r>
                      <m:sSup>
                        <m:sSup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ar-AE" altLang="ko-KR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ar-AE" altLang="ko-KR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ko-KR" altLang="ar-AE" i="1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ar-AE" altLang="ko-K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ar-AE" altLang="ko-K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 altLang="ko-KR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⌈"/>
                          <m:endChr m:val="⌋"/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ar-AE" altLang="ko-KR" i="1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ar-AE" altLang="ko-KR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ko-KR" altLang="ar-AE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ko-KR" altLang="ar-AE" i="1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ar-AE" altLang="ko-KR" i="1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ko-KR" altLang="ar-AE" i="1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ar-AE" altLang="ko-K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ar-AE" altLang="ko-K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 altLang="ko-K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ar-AE" altLang="ko-KR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altLang="ko-KR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ko-KR" altLang="ar-AE" i="1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ar-AE" altLang="ko-KR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ko-KR" altLang="ar-AE" i="1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ar-AE" altLang="ko-K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ar-AE" altLang="ko-K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 altLang="ko-KR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⌈"/>
                          <m:endChr m:val="⌋"/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ar-AE" altLang="ko-KR" i="1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ar-AE" altLang="ko-KR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ko-KR" altLang="ar-AE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ko-KR" altLang="ar-AE" i="1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ko-KR" altLang="ar-AE" i="1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ko-KR" altLang="ar-AE" i="1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ar-AE" altLang="ko-K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ar-AE" altLang="ko-KR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altLang="ko-KR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ko-KR" altLang="ar-AE" i="1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ar-AE" altLang="ko-K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ar-AE" altLang="ko-K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 altLang="ko-KR" i="1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ar-AE" altLang="ko-K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 altLang="ko-KR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⌈"/>
                          <m:endChr m:val="⌋"/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ar-AE" altLang="ko-KR" i="1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ar-AE" altLang="ko-KR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ko-KR" altLang="ar-AE" i="1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ar-AE" altLang="ko-KR" dirty="0"/>
              </a:p>
              <a:p>
                <a:r>
                  <a:rPr lang="ko-KR" altLang="en-US" dirty="0"/>
                  <a:t>오차 다항식</a:t>
                </a:r>
              </a:p>
              <a:p>
                <a:pPr lvl="1"/>
                <a:r>
                  <a:rPr lang="en-US" altLang="ko-KR" dirty="0"/>
                  <a:t>E(x) = </a:t>
                </a:r>
                <a:r>
                  <a:rPr lang="en-US" altLang="ko-KR" dirty="0" err="1"/>
                  <a:t>eᵀr</a:t>
                </a:r>
                <a:r>
                  <a:rPr lang="en-US" altLang="ko-KR" dirty="0"/>
                  <a:t> + e₂ - </a:t>
                </a:r>
                <a:r>
                  <a:rPr lang="en-US" altLang="ko-KR" dirty="0" err="1"/>
                  <a:t>sᵀe</a:t>
                </a:r>
                <a:r>
                  <a:rPr lang="en-US" altLang="ko-KR" dirty="0"/>
                  <a:t>₁</a:t>
                </a:r>
              </a:p>
              <a:p>
                <a:pPr lvl="1"/>
                <a:r>
                  <a:rPr lang="en-US" altLang="ko-KR" dirty="0" err="1"/>
                  <a:t>Round</a:t>
                </a:r>
                <a:r>
                  <a:rPr lang="en-US" altLang="ko-KR" baseline="-25000" dirty="0" err="1"/>
                  <a:t>q</a:t>
                </a:r>
                <a:r>
                  <a:rPr lang="en-US" altLang="ko-KR" dirty="0"/>
                  <a:t>(</a:t>
                </a:r>
                <a:r>
                  <a:rPr lang="en-US" altLang="ko-KR" dirty="0" err="1"/>
                  <a:t>v-sᵀu</a:t>
                </a:r>
                <a:r>
                  <a:rPr lang="en-US" altLang="ko-KR" dirty="0"/>
                  <a:t>) = m  ⟺  </a:t>
                </a:r>
                <a:r>
                  <a:rPr lang="ko-KR" altLang="en-US" dirty="0"/>
                  <a:t>각 계수 </a:t>
                </a:r>
                <a:r>
                  <a:rPr lang="en-US" altLang="ko-KR" dirty="0"/>
                  <a:t>Eᵢ</a:t>
                </a:r>
                <a:r>
                  <a:rPr lang="ko-KR" altLang="en-US" dirty="0"/>
                  <a:t>가 </a:t>
                </a:r>
                <a:r>
                  <a:rPr lang="en-US" altLang="ko-KR" dirty="0"/>
                  <a:t>-q/4 &lt; Eᵢ mods q &lt; q/4, </a:t>
                </a:r>
                <a:r>
                  <a:rPr lang="ko-KR" altLang="en-US" dirty="0"/>
                  <a:t>즉 </a:t>
                </a:r>
                <a:r>
                  <a:rPr lang="en-US" altLang="ko-KR" dirty="0"/>
                  <a:t>‖E‖</a:t>
                </a:r>
                <a:r>
                  <a:rPr lang="en-US" altLang="ko-KR" baseline="-25000" dirty="0"/>
                  <a:t>∞</a:t>
                </a:r>
                <a:r>
                  <a:rPr lang="en-US" altLang="ko-KR" dirty="0"/>
                  <a:t> &lt; q/4</a:t>
                </a:r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03A5F225-FA0A-AA86-7F84-A8DFABB4DF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6E9EA2-C031-196C-CC98-EF0AA555E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7810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0CF46-9047-E6C6-C9CB-E3EE050FD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541528-B016-1293-255A-693DD2B81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오차 다항식의 크기 상계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06E58601-02E7-9911-ECCD-6180C0597E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/>
                  <a:t>삼각부등식으로 계수별 상계를 구하면</a:t>
                </a:r>
                <a:r>
                  <a:rPr lang="en-US" altLang="ko-KR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altLang="ko-KR" i="1">
                          <a:latin typeface="Cambria Math" panose="02040503050406030204" pitchFamily="18" charset="0"/>
                        </a:rPr>
                        <m:t>‖</m:t>
                      </m:r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altLang="ko-KR" i="1">
                              <a:latin typeface="Cambria Math" panose="02040503050406030204" pitchFamily="18" charset="0"/>
                            </a:rPr>
                            <m:t>‖</m:t>
                          </m:r>
                        </m:e>
                        <m:sub>
                          <m:r>
                            <a:rPr lang="ar-AE" altLang="ko-KR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ar-AE" altLang="ko-KR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ko-KR" altLang="ar-AE" i="1">
                          <a:latin typeface="Cambria Math" panose="02040503050406030204" pitchFamily="18" charset="0"/>
                        </a:rPr>
                        <m:t>𝑘𝑛</m:t>
                      </m:r>
                      <m:sSubSup>
                        <m:sSubSup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ar-AE" altLang="ko-K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ar-AE" altLang="ko-K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ar-AE" altLang="ko-K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ar-AE" altLang="ko-K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 altLang="ko-KR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ar-AE" i="1">
                          <a:latin typeface="Cambria Math" panose="02040503050406030204" pitchFamily="18" charset="0"/>
                        </a:rPr>
                        <m:t>𝑘𝑛</m:t>
                      </m:r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ar-AE" altLang="ko-K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ar-AE" altLang="ko-K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ar-AE" altLang="ko-KR" dirty="0"/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06E58601-02E7-9911-ECCD-6180C0597E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087EAA-AA3D-5E03-5573-C1383230F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17</a:t>
            </a:fld>
            <a:endParaRPr lang="ko-KR" altLang="en-US"/>
          </a:p>
        </p:txBody>
      </p:sp>
      <p:graphicFrame>
        <p:nvGraphicFramePr>
          <p:cNvPr id="5" name="Table 8">
            <a:extLst>
              <a:ext uri="{FF2B5EF4-FFF2-40B4-BE49-F238E27FC236}">
                <a16:creationId xmlns:a16="http://schemas.microsoft.com/office/drawing/2014/main" id="{A5292466-3061-2684-40CD-136E17CAB9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7527295"/>
              </p:ext>
            </p:extLst>
          </p:nvPr>
        </p:nvGraphicFramePr>
        <p:xfrm>
          <a:off x="838200" y="2560320"/>
          <a:ext cx="10515599" cy="173736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14380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508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66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 err="1">
                          <a:solidFill>
                            <a:schemeClr val="bg1"/>
                          </a:solidFill>
                        </a:rPr>
                        <a:t>출처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 err="1">
                          <a:solidFill>
                            <a:schemeClr val="bg1"/>
                          </a:solidFill>
                        </a:rPr>
                        <a:t>상계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knη₁²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 err="1">
                          <a:solidFill>
                            <a:srgbClr val="404040"/>
                          </a:solidFill>
                        </a:rPr>
                        <a:t>eᵀr</a:t>
                      </a:r>
                      <a:r>
                        <a:rPr sz="1800" dirty="0">
                          <a:solidFill>
                            <a:srgbClr val="404040"/>
                          </a:solidFill>
                        </a:rPr>
                        <a:t> = Σᵢ </a:t>
                      </a:r>
                      <a:r>
                        <a:rPr sz="1800" dirty="0" err="1">
                          <a:solidFill>
                            <a:srgbClr val="404040"/>
                          </a:solidFill>
                        </a:rPr>
                        <a:t>eᵢr</a:t>
                      </a:r>
                      <a:r>
                        <a:rPr sz="1800" dirty="0">
                          <a:solidFill>
                            <a:srgbClr val="404040"/>
                          </a:solidFill>
                        </a:rPr>
                        <a:t>ᵢ (</a:t>
                      </a:r>
                      <a:r>
                        <a:rPr sz="1800" dirty="0" err="1">
                          <a:solidFill>
                            <a:srgbClr val="404040"/>
                          </a:solidFill>
                        </a:rPr>
                        <a:t>k개</a:t>
                      </a:r>
                      <a:r>
                        <a:rPr sz="1800" dirty="0">
                          <a:solidFill>
                            <a:srgbClr val="404040"/>
                          </a:solidFill>
                        </a:rPr>
                        <a:t> </a:t>
                      </a:r>
                      <a:r>
                        <a:rPr sz="1800" dirty="0" err="1">
                          <a:solidFill>
                            <a:srgbClr val="404040"/>
                          </a:solidFill>
                        </a:rPr>
                        <a:t>곱의</a:t>
                      </a:r>
                      <a:r>
                        <a:rPr sz="1800" dirty="0">
                          <a:solidFill>
                            <a:srgbClr val="404040"/>
                          </a:solidFill>
                        </a:rPr>
                        <a:t> 합, </a:t>
                      </a:r>
                      <a:r>
                        <a:rPr sz="1800" dirty="0" err="1">
                          <a:solidFill>
                            <a:srgbClr val="404040"/>
                          </a:solidFill>
                        </a:rPr>
                        <a:t>곱마다</a:t>
                      </a:r>
                      <a:r>
                        <a:rPr sz="1800" dirty="0">
                          <a:solidFill>
                            <a:srgbClr val="404040"/>
                          </a:solidFill>
                        </a:rPr>
                        <a:t> </a:t>
                      </a:r>
                      <a:r>
                        <a:rPr sz="1800" dirty="0" err="1">
                          <a:solidFill>
                            <a:srgbClr val="404040"/>
                          </a:solidFill>
                        </a:rPr>
                        <a:t>계수</a:t>
                      </a:r>
                      <a:r>
                        <a:rPr sz="1800" dirty="0">
                          <a:solidFill>
                            <a:srgbClr val="404040"/>
                          </a:solidFill>
                        </a:rPr>
                        <a:t> </a:t>
                      </a:r>
                      <a:r>
                        <a:rPr sz="1800" dirty="0" err="1">
                          <a:solidFill>
                            <a:srgbClr val="404040"/>
                          </a:solidFill>
                        </a:rPr>
                        <a:t>크기</a:t>
                      </a:r>
                      <a:r>
                        <a:rPr sz="1800" dirty="0">
                          <a:solidFill>
                            <a:srgbClr val="404040"/>
                          </a:solidFill>
                        </a:rPr>
                        <a:t> nη₁²)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eᵀr 계수 상계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η₂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404040"/>
                          </a:solidFill>
                        </a:rPr>
                        <a:t>e₂ </a:t>
                      </a:r>
                      <a:r>
                        <a:rPr sz="1800" dirty="0" err="1">
                          <a:solidFill>
                            <a:srgbClr val="404040"/>
                          </a:solidFill>
                        </a:rPr>
                        <a:t>자체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e₂ 상계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knη₁η₂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sᵀe₁ (k개 곱의 합)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 err="1">
                          <a:solidFill>
                            <a:srgbClr val="404040"/>
                          </a:solidFill>
                        </a:rPr>
                        <a:t>sᵀe</a:t>
                      </a:r>
                      <a:r>
                        <a:rPr sz="1800" dirty="0">
                          <a:solidFill>
                            <a:srgbClr val="404040"/>
                          </a:solidFill>
                        </a:rPr>
                        <a:t>₁ </a:t>
                      </a:r>
                      <a:r>
                        <a:rPr sz="1800" dirty="0" err="1">
                          <a:solidFill>
                            <a:srgbClr val="404040"/>
                          </a:solidFill>
                        </a:rPr>
                        <a:t>계수</a:t>
                      </a:r>
                      <a:r>
                        <a:rPr sz="1800" dirty="0">
                          <a:solidFill>
                            <a:srgbClr val="404040"/>
                          </a:solidFill>
                        </a:rPr>
                        <a:t> </a:t>
                      </a:r>
                      <a:r>
                        <a:rPr sz="1800" dirty="0" err="1">
                          <a:solidFill>
                            <a:srgbClr val="404040"/>
                          </a:solidFill>
                        </a:rPr>
                        <a:t>상계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422702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E6A9C-AEAB-64B2-ECE4-CC83E61F2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BA1BA3-36F7-DF91-26B4-1E15A3C4E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ML-KEM-768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4FF21898-09E8-3A61-CC9F-58421F234A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altLang="ko-KR" i="1">
                          <a:latin typeface="Cambria Math" panose="02040503050406030204" pitchFamily="18" charset="0"/>
                        </a:rPr>
                        <m:t>‖</m:t>
                      </m:r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altLang="ko-KR" i="1">
                              <a:latin typeface="Cambria Math" panose="02040503050406030204" pitchFamily="18" charset="0"/>
                            </a:rPr>
                            <m:t>‖</m:t>
                          </m:r>
                        </m:e>
                        <m:sub>
                          <m:r>
                            <a:rPr lang="ar-AE" altLang="ko-KR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ar-AE" altLang="ko-KR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ar-AE" altLang="ko-KR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ar-AE" altLang="ko-KR" i="1"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ar-AE" altLang="ko-KR" i="1">
                          <a:latin typeface="Cambria Math" panose="02040503050406030204" pitchFamily="18" charset="0"/>
                        </a:rPr>
                        <m:t>256</m:t>
                      </m:r>
                      <m:r>
                        <a:rPr lang="ar-AE" altLang="ko-KR" i="1">
                          <a:latin typeface="Cambria Math" panose="02040503050406030204" pitchFamily="18" charset="0"/>
                        </a:rPr>
                        <m:t>·</m:t>
                      </m:r>
                      <m:sSup>
                        <m:sSup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altLang="ko-KR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ar-AE" altLang="ko-K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ar-AE" altLang="ko-KR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ar-AE" altLang="ko-KR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ar-AE" altLang="ko-KR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ar-AE" altLang="ko-KR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ar-AE" altLang="ko-KR" i="1"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ar-AE" altLang="ko-KR" i="1">
                          <a:latin typeface="Cambria Math" panose="02040503050406030204" pitchFamily="18" charset="0"/>
                        </a:rPr>
                        <m:t>256</m:t>
                      </m:r>
                      <m:r>
                        <a:rPr lang="ar-AE" altLang="ko-KR" i="1"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ar-AE" altLang="ko-KR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ar-AE" altLang="ko-KR" i="1"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ar-AE" altLang="ko-KR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ar-AE" altLang="ko-K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altLang="ko-KR" i="1">
                          <a:latin typeface="Cambria Math" panose="02040503050406030204" pitchFamily="18" charset="0"/>
                        </a:rPr>
                        <m:t>3072</m:t>
                      </m:r>
                      <m:r>
                        <a:rPr lang="ar-AE" altLang="ko-KR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ar-AE" altLang="ko-KR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ar-AE" altLang="ko-KR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ar-AE" altLang="ko-KR" i="1">
                          <a:latin typeface="Cambria Math" panose="02040503050406030204" pitchFamily="18" charset="0"/>
                        </a:rPr>
                        <m:t>3072</m:t>
                      </m:r>
                      <m:r>
                        <a:rPr lang="ar-AE" altLang="ko-K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altLang="ko-KR" i="1">
                          <a:latin typeface="Cambria Math" panose="02040503050406030204" pitchFamily="18" charset="0"/>
                        </a:rPr>
                        <m:t>6146</m:t>
                      </m:r>
                    </m:oMath>
                  </m:oMathPara>
                </a14:m>
                <a:endParaRPr lang="ar-AE" altLang="ko-KR" dirty="0"/>
              </a:p>
              <a:p>
                <a:r>
                  <a:rPr lang="en-US" altLang="ko-KR" dirty="0"/>
                  <a:t>q/4 = 832.25 </a:t>
                </a:r>
                <a:r>
                  <a:rPr lang="ko-KR" altLang="en-US" dirty="0"/>
                  <a:t>인데 </a:t>
                </a:r>
                <a:r>
                  <a:rPr lang="en-US" altLang="ko-KR" dirty="0"/>
                  <a:t>6146 ≮ 832.25  ⟹  </a:t>
                </a:r>
                <a:r>
                  <a:rPr lang="ko-KR" altLang="en-US" dirty="0"/>
                  <a:t>복호화가 항상 성공한다는 보장은 없다</a:t>
                </a:r>
                <a:r>
                  <a:rPr lang="en-US" altLang="ko-KR" dirty="0"/>
                  <a:t>.</a:t>
                </a:r>
              </a:p>
              <a:p>
                <a:pPr>
                  <a:lnSpc>
                    <a:spcPct val="115000"/>
                  </a:lnSpc>
                  <a:spcAft>
                    <a:spcPts val="800"/>
                  </a:spcAft>
                </a:pPr>
                <a:r>
                  <a:rPr lang="en-US" altLang="ko-KR" dirty="0">
                    <a:solidFill>
                      <a:srgbClr val="404040"/>
                    </a:solidFill>
                  </a:rPr>
                  <a:t>6146</a:t>
                </a:r>
                <a:r>
                  <a:rPr lang="ko-KR" altLang="en-US" dirty="0">
                    <a:solidFill>
                      <a:srgbClr val="404040"/>
                    </a:solidFill>
                  </a:rPr>
                  <a:t>은 세 항</a:t>
                </a:r>
                <a:r>
                  <a:rPr lang="en-US" altLang="ko-KR" dirty="0">
                    <a:solidFill>
                      <a:srgbClr val="404040"/>
                    </a:solidFill>
                  </a:rPr>
                  <a:t>(</a:t>
                </a:r>
                <a:r>
                  <a:rPr lang="en-US" altLang="ko-KR" dirty="0" err="1">
                    <a:solidFill>
                      <a:srgbClr val="404040"/>
                    </a:solidFill>
                  </a:rPr>
                  <a:t>eᵀr</a:t>
                </a:r>
                <a:r>
                  <a:rPr lang="en-US" altLang="ko-KR" dirty="0">
                    <a:solidFill>
                      <a:srgbClr val="404040"/>
                    </a:solidFill>
                  </a:rPr>
                  <a:t>, e₂, -</a:t>
                </a:r>
                <a:r>
                  <a:rPr lang="en-US" altLang="ko-KR" dirty="0" err="1">
                    <a:solidFill>
                      <a:srgbClr val="404040"/>
                    </a:solidFill>
                  </a:rPr>
                  <a:t>sᵀe</a:t>
                </a:r>
                <a:r>
                  <a:rPr lang="ko-KR" altLang="en-US" dirty="0">
                    <a:solidFill>
                      <a:srgbClr val="404040"/>
                    </a:solidFill>
                  </a:rPr>
                  <a:t>₁</a:t>
                </a:r>
                <a:r>
                  <a:rPr lang="en-US" altLang="ko-KR" dirty="0">
                    <a:solidFill>
                      <a:srgbClr val="404040"/>
                    </a:solidFill>
                  </a:rPr>
                  <a:t>)</a:t>
                </a:r>
                <a:r>
                  <a:rPr lang="ko-KR" altLang="en-US" dirty="0">
                    <a:solidFill>
                      <a:srgbClr val="404040"/>
                    </a:solidFill>
                  </a:rPr>
                  <a:t>이 최악의 경우 모두 같은 부호로 정렬될 때의 극단적 상계일 뿐이다</a:t>
                </a:r>
                <a:r>
                  <a:rPr lang="en-US" altLang="ko-KR" dirty="0">
                    <a:solidFill>
                      <a:srgbClr val="404040"/>
                    </a:solidFill>
                  </a:rPr>
                  <a:t>.</a:t>
                </a:r>
              </a:p>
              <a:p>
                <a:pPr>
                  <a:lnSpc>
                    <a:spcPct val="115000"/>
                  </a:lnSpc>
                  <a:spcAft>
                    <a:spcPts val="800"/>
                  </a:spcAft>
                </a:pPr>
                <a:r>
                  <a:rPr lang="ko-KR" altLang="en-US" dirty="0">
                    <a:solidFill>
                      <a:srgbClr val="404040"/>
                    </a:solidFill>
                  </a:rPr>
                  <a:t>실제로는 각 항이 무작위 부호를 갖는 여러 항의 합이므로 상당한 상쇄가 기대되고</a:t>
                </a:r>
                <a:r>
                  <a:rPr lang="en-US" altLang="ko-KR" dirty="0">
                    <a:solidFill>
                      <a:srgbClr val="404040"/>
                    </a:solidFill>
                  </a:rPr>
                  <a:t>,</a:t>
                </a:r>
                <a:br>
                  <a:rPr lang="en-US" altLang="ko-KR" dirty="0">
                    <a:solidFill>
                      <a:srgbClr val="404040"/>
                    </a:solidFill>
                  </a:rPr>
                </a:br>
                <a:r>
                  <a:rPr lang="en-US" altLang="ko-KR" dirty="0">
                    <a:solidFill>
                      <a:srgbClr val="404040"/>
                    </a:solidFill>
                  </a:rPr>
                  <a:t>‖E‖</a:t>
                </a:r>
                <a:r>
                  <a:rPr lang="en-US" altLang="ko-KR" baseline="-25000" dirty="0">
                    <a:solidFill>
                      <a:srgbClr val="404040"/>
                    </a:solidFill>
                  </a:rPr>
                  <a:t>∞</a:t>
                </a:r>
                <a:r>
                  <a:rPr lang="en-US" altLang="ko-KR" dirty="0">
                    <a:solidFill>
                      <a:srgbClr val="404040"/>
                    </a:solidFill>
                  </a:rPr>
                  <a:t> &lt; q/4</a:t>
                </a:r>
                <a:r>
                  <a:rPr lang="ko-KR" altLang="en-US" dirty="0">
                    <a:solidFill>
                      <a:srgbClr val="404040"/>
                    </a:solidFill>
                  </a:rPr>
                  <a:t>가 압도적인 확률로 성립함을 보일 수 있다</a:t>
                </a:r>
                <a:r>
                  <a:rPr lang="en-US" altLang="ko-KR" dirty="0">
                    <a:solidFill>
                      <a:srgbClr val="404040"/>
                    </a:solidFill>
                  </a:rPr>
                  <a:t>.</a:t>
                </a:r>
              </a:p>
              <a:p>
                <a:r>
                  <a:rPr lang="ko-KR" altLang="en-US" dirty="0">
                    <a:solidFill>
                      <a:srgbClr val="404040"/>
                    </a:solidFill>
                  </a:rPr>
                  <a:t>결론</a:t>
                </a:r>
                <a:r>
                  <a:rPr lang="en-US" altLang="ko-KR" dirty="0">
                    <a:solidFill>
                      <a:srgbClr val="404040"/>
                    </a:solidFill>
                  </a:rPr>
                  <a:t>: </a:t>
                </a:r>
                <a:r>
                  <a:rPr lang="ko-KR" altLang="en-US" dirty="0">
                    <a:solidFill>
                      <a:srgbClr val="404040"/>
                    </a:solidFill>
                  </a:rPr>
                  <a:t>복호화는 거의 항상 성공한다</a:t>
                </a:r>
                <a:endParaRPr lang="en-US" altLang="ko-KR" dirty="0">
                  <a:solidFill>
                    <a:srgbClr val="404040"/>
                  </a:solidFill>
                </a:endParaRPr>
              </a:p>
              <a:p>
                <a:pPr lvl="1"/>
                <a:r>
                  <a:rPr lang="en-US" altLang="ko-KR" dirty="0">
                    <a:solidFill>
                      <a:srgbClr val="404040"/>
                    </a:solidFill>
                  </a:rPr>
                  <a:t>Kyber </a:t>
                </a:r>
                <a:r>
                  <a:rPr lang="ko-KR" altLang="en-US" dirty="0">
                    <a:solidFill>
                      <a:srgbClr val="404040"/>
                    </a:solidFill>
                  </a:rPr>
                  <a:t>파라미터는 복호화 오류 확률 최소화하도록 신중히 선택됨</a:t>
                </a:r>
                <a:endParaRPr lang="en-US" altLang="ko-KR" dirty="0">
                  <a:solidFill>
                    <a:srgbClr val="404040"/>
                  </a:solidFill>
                </a:endParaRP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4FF21898-09E8-3A61-CC9F-58421F234A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014984-65B3-BC2A-4C2B-7793453DA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43297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D9E7D-C75D-A92A-34A2-3988F5E38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9112B2-A063-CEA3-6CE7-22C8BC030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암호화 </a:t>
            </a:r>
            <a:r>
              <a:rPr lang="ko-KR" altLang="en-US" dirty="0" err="1"/>
              <a:t>키∙암호문</a:t>
            </a:r>
            <a:r>
              <a:rPr lang="ko-KR" altLang="en-US" dirty="0"/>
              <a:t> 크기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71DCA2E-AE19-0FCC-8953-D2B526E640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RSA·</a:t>
            </a:r>
            <a:r>
              <a:rPr lang="ko-KR" altLang="en-US" dirty="0"/>
              <a:t>타원곡선 암호의 공개키</a:t>
            </a:r>
            <a:r>
              <a:rPr lang="en-US" altLang="ko-KR" dirty="0"/>
              <a:t>·</a:t>
            </a:r>
            <a:r>
              <a:rPr lang="ko-KR" altLang="en-US" dirty="0"/>
              <a:t>암호문 크기</a:t>
            </a:r>
            <a:r>
              <a:rPr lang="en-US" altLang="ko-KR" dirty="0"/>
              <a:t>(</a:t>
            </a:r>
            <a:r>
              <a:rPr lang="ko-KR" altLang="en-US" dirty="0"/>
              <a:t>수백 바이트 수준</a:t>
            </a:r>
            <a:r>
              <a:rPr lang="en-US" altLang="ko-KR" dirty="0"/>
              <a:t>)</a:t>
            </a:r>
            <a:r>
              <a:rPr lang="ko-KR" altLang="en-US" dirty="0"/>
              <a:t>에 비해 훨씬 크다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따라서 이를 줄이는 것이 목표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FFE008-9E39-B1D4-9E85-3ACB2C67C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19</a:t>
            </a:fld>
            <a:endParaRPr lang="ko-KR" altLang="en-US"/>
          </a:p>
        </p:txBody>
      </p:sp>
      <p:graphicFrame>
        <p:nvGraphicFramePr>
          <p:cNvPr id="5" name="Table 6">
            <a:extLst>
              <a:ext uri="{FF2B5EF4-FFF2-40B4-BE49-F238E27FC236}">
                <a16:creationId xmlns:a16="http://schemas.microsoft.com/office/drawing/2014/main" id="{F60A35DF-ECF7-69C4-0102-A853EE1663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5510593"/>
              </p:ext>
            </p:extLst>
          </p:nvPr>
        </p:nvGraphicFramePr>
        <p:xfrm>
          <a:off x="838200" y="1295322"/>
          <a:ext cx="10515600" cy="146304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2975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670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09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04040"/>
                          </a:solidFill>
                        </a:rPr>
                        <a:t>구성 요소</a:t>
                      </a:r>
                      <a:endParaRPr sz="1800" b="1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 err="1">
                          <a:solidFill>
                            <a:srgbClr val="404040"/>
                          </a:solidFill>
                        </a:rPr>
                        <a:t>계산</a:t>
                      </a:r>
                      <a:endParaRPr sz="1800" b="1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04040"/>
                          </a:solidFill>
                        </a:rPr>
                        <a:t>크기</a:t>
                      </a:r>
                      <a:endParaRPr sz="1800" b="1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공개키 (A, t)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404040"/>
                          </a:solidFill>
                        </a:rPr>
                        <a:t>(9×256×12) + (3×256×12) bit = 36,864 bit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4,608 바이트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dirty="0" err="1">
                          <a:solidFill>
                            <a:srgbClr val="404040"/>
                          </a:solidFill>
                        </a:rPr>
                        <a:t>암호문</a:t>
                      </a:r>
                      <a:r>
                        <a:rPr sz="1800" dirty="0">
                          <a:solidFill>
                            <a:srgbClr val="404040"/>
                          </a:solidFill>
                        </a:rPr>
                        <a:t> c</a:t>
                      </a:r>
                      <a:r>
                        <a:rPr lang="en-US" sz="1800" dirty="0">
                          <a:solidFill>
                            <a:srgbClr val="404040"/>
                          </a:solidFill>
                        </a:rPr>
                        <a:t> </a:t>
                      </a:r>
                      <a:r>
                        <a:rPr sz="1800" dirty="0">
                          <a:solidFill>
                            <a:srgbClr val="404040"/>
                          </a:solidFill>
                        </a:rPr>
                        <a:t>=</a:t>
                      </a:r>
                      <a:r>
                        <a:rPr lang="en-US" sz="1800" dirty="0">
                          <a:solidFill>
                            <a:srgbClr val="404040"/>
                          </a:solidFill>
                        </a:rPr>
                        <a:t> </a:t>
                      </a:r>
                      <a:r>
                        <a:rPr sz="1800" dirty="0">
                          <a:solidFill>
                            <a:srgbClr val="404040"/>
                          </a:solidFill>
                        </a:rPr>
                        <a:t>(</a:t>
                      </a:r>
                      <a:r>
                        <a:rPr sz="1800" dirty="0" err="1">
                          <a:solidFill>
                            <a:srgbClr val="404040"/>
                          </a:solidFill>
                        </a:rPr>
                        <a:t>u,v</a:t>
                      </a:r>
                      <a:r>
                        <a:rPr sz="1800" dirty="0">
                          <a:solidFill>
                            <a:srgbClr val="404040"/>
                          </a:solidFill>
                        </a:rPr>
                        <a:t>)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(3×256×12) + (256×12) bit = 12,288 bit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404040"/>
                          </a:solidFill>
                        </a:rPr>
                        <a:t>1,536 </a:t>
                      </a:r>
                      <a:r>
                        <a:rPr sz="1800" dirty="0" err="1">
                          <a:solidFill>
                            <a:srgbClr val="404040"/>
                          </a:solidFill>
                        </a:rPr>
                        <a:t>바이트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94436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C3E70-842B-8729-7C6C-8CCF38B47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222F45-A2C7-E6EC-F52F-FDB1E298AF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공개키 크기 감소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796A44F5-587E-2A8D-11CA-8FD63E1BED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lnSpc>
                    <a:spcPct val="200000"/>
                  </a:lnSpc>
                </a:pPr>
                <a:r>
                  <a:rPr lang="ko-KR" altLang="en-US" dirty="0">
                    <a:solidFill>
                      <a:schemeClr val="tx1"/>
                    </a:solidFill>
                  </a:rPr>
                  <a:t>아이디어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:</a:t>
                </a:r>
                <a:endParaRPr lang="ko-KR" altLang="en-US" dirty="0">
                  <a:solidFill>
                    <a:schemeClr val="tx1"/>
                  </a:solidFill>
                </a:endParaRPr>
              </a:p>
              <a:p>
                <a:pPr lvl="1">
                  <a:lnSpc>
                    <a:spcPct val="200000"/>
                  </a:lnSpc>
                </a:pPr>
                <a:r>
                  <a:rPr lang="ko-KR" altLang="en-US" dirty="0">
                    <a:solidFill>
                      <a:schemeClr val="tx1"/>
                    </a:solidFill>
                  </a:rPr>
                  <a:t>무작위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(</a:t>
                </a:r>
                <a:r>
                  <a:rPr lang="ko-KR" altLang="en-US" dirty="0">
                    <a:solidFill>
                      <a:schemeClr val="tx1"/>
                    </a:solidFill>
                  </a:rPr>
                  <a:t>공개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) 256</a:t>
                </a:r>
                <a:r>
                  <a:rPr lang="ko-KR" altLang="en-US" dirty="0">
                    <a:solidFill>
                      <a:schemeClr val="tx1"/>
                    </a:solidFill>
                  </a:rPr>
                  <a:t>비트 </a:t>
                </a:r>
                <a:r>
                  <a:rPr lang="ko-KR" altLang="en-US" dirty="0" err="1">
                    <a:solidFill>
                      <a:schemeClr val="tx1"/>
                    </a:solidFill>
                  </a:rPr>
                  <a:t>시드</a:t>
                </a:r>
                <a:r>
                  <a:rPr lang="ko-KR" altLang="en-US" dirty="0">
                    <a:solidFill>
                      <a:schemeClr val="tx1"/>
                    </a:solidFill>
                  </a:rPr>
                  <a:t> 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ρ ∈</a:t>
                </a:r>
                <a:r>
                  <a:rPr lang="en-US" altLang="ko-KR" baseline="-25000" dirty="0">
                    <a:solidFill>
                      <a:schemeClr val="tx1"/>
                    </a:solidFill>
                  </a:rPr>
                  <a:t>R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 {0,1}</a:t>
                </a:r>
                <a:r>
                  <a:rPr lang="en-US" altLang="ko-KR" baseline="30000" dirty="0">
                    <a:solidFill>
                      <a:schemeClr val="tx1"/>
                    </a:solidFill>
                  </a:rPr>
                  <a:t>256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 </a:t>
                </a:r>
                <a:r>
                  <a:rPr lang="ko-KR" altLang="en-US" dirty="0">
                    <a:solidFill>
                      <a:schemeClr val="tx1"/>
                    </a:solidFill>
                  </a:rPr>
                  <a:t>를 먼저 고른다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.</a:t>
                </a:r>
              </a:p>
              <a:p>
                <a:pPr lvl="1">
                  <a:lnSpc>
                    <a:spcPct val="200000"/>
                  </a:lnSpc>
                </a:pPr>
                <a:r>
                  <a:rPr lang="en-US" altLang="ko-KR" dirty="0">
                    <a:solidFill>
                      <a:schemeClr val="tx1"/>
                    </a:solidFill>
                  </a:rPr>
                  <a:t>ρ</a:t>
                </a:r>
                <a:r>
                  <a:rPr lang="ko-KR" altLang="en-US" dirty="0">
                    <a:solidFill>
                      <a:schemeClr val="tx1"/>
                    </a:solidFill>
                  </a:rPr>
                  <a:t>를 카운터와 함께 </a:t>
                </a:r>
                <a:r>
                  <a:rPr lang="ko-KR" altLang="en-US" dirty="0" err="1">
                    <a:solidFill>
                      <a:schemeClr val="tx1"/>
                    </a:solidFill>
                  </a:rPr>
                  <a:t>해싱해</a:t>
                </a:r>
                <a:r>
                  <a:rPr lang="ko-KR" altLang="en-US" dirty="0">
                    <a:solidFill>
                      <a:schemeClr val="tx1"/>
                    </a:solidFill>
                  </a:rPr>
                  <a:t> 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A</a:t>
                </a:r>
                <a:r>
                  <a:rPr lang="ko-KR" altLang="en-US" dirty="0">
                    <a:solidFill>
                      <a:schemeClr val="tx1"/>
                    </a:solidFill>
                  </a:rPr>
                  <a:t>의 다항식 계수들을 생성한다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.</a:t>
                </a:r>
              </a:p>
              <a:p>
                <a:pPr lvl="1">
                  <a:lnSpc>
                    <a:spcPct val="200000"/>
                  </a:lnSpc>
                </a:pPr>
                <a:r>
                  <a:rPr lang="en-US" altLang="ko-KR" dirty="0">
                    <a:solidFill>
                      <a:schemeClr val="tx1"/>
                    </a:solidFill>
                  </a:rPr>
                  <a:t>ρ</a:t>
                </a:r>
                <a:r>
                  <a:rPr lang="ko-KR" altLang="en-US" dirty="0">
                    <a:solidFill>
                      <a:schemeClr val="tx1"/>
                    </a:solidFill>
                  </a:rPr>
                  <a:t>를 아는 사람은 누구나 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A</a:t>
                </a:r>
                <a:r>
                  <a:rPr lang="ko-KR" altLang="en-US" dirty="0">
                    <a:solidFill>
                      <a:schemeClr val="tx1"/>
                    </a:solidFill>
                  </a:rPr>
                  <a:t>를 </a:t>
                </a:r>
                <a:r>
                  <a:rPr lang="ko-KR" altLang="en-US" dirty="0" err="1">
                    <a:solidFill>
                      <a:schemeClr val="tx1"/>
                    </a:solidFill>
                  </a:rPr>
                  <a:t>재생성할</a:t>
                </a:r>
                <a:r>
                  <a:rPr lang="ko-KR" altLang="en-US" dirty="0">
                    <a:solidFill>
                      <a:schemeClr val="tx1"/>
                    </a:solidFill>
                  </a:rPr>
                  <a:t> 수 있으므로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, </a:t>
                </a:r>
                <a:r>
                  <a:rPr lang="ko-KR" altLang="en-US" dirty="0">
                    <a:solidFill>
                      <a:schemeClr val="tx1"/>
                    </a:solidFill>
                  </a:rPr>
                  <a:t>공개키를 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(A, t) </a:t>
                </a:r>
                <a:r>
                  <a:rPr lang="ko-KR" altLang="en-US" dirty="0">
                    <a:solidFill>
                      <a:schemeClr val="tx1"/>
                    </a:solidFill>
                  </a:rPr>
                  <a:t>대신 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(ρ, t)</a:t>
                </a:r>
                <a:r>
                  <a:rPr lang="ko-KR" altLang="en-US" dirty="0">
                    <a:solidFill>
                      <a:schemeClr val="tx1"/>
                    </a:solidFill>
                  </a:rPr>
                  <a:t>로 저장한다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.</a:t>
                </a:r>
              </a:p>
              <a:p>
                <a:pPr lvl="1">
                  <a:lnSpc>
                    <a:spcPct val="200000"/>
                  </a:lnSpc>
                </a:pPr>
                <a14:m>
                  <m:oMath xmlns:m="http://schemas.openxmlformats.org/officeDocument/2006/math">
                    <m:r>
                      <a:rPr lang="sv-SE" altLang="ko-K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256</m:t>
                    </m:r>
                    <m:r>
                      <a:rPr lang="sv-SE" altLang="ko-K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+(</m:t>
                    </m:r>
                    <m:r>
                      <a:rPr lang="sv-SE" altLang="ko-K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sv-SE" altLang="ko-K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sv-SE" altLang="ko-K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256</m:t>
                    </m:r>
                    <m:r>
                      <a:rPr lang="sv-SE" altLang="ko-K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sv-SE" altLang="ko-K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12</m:t>
                    </m:r>
                    <m:r>
                      <a:rPr lang="sv-SE" altLang="ko-K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m:rPr>
                        <m:nor/>
                      </m:rPr>
                      <a:rPr lang="sv-SE" altLang="ko-KR" i="1">
                        <a:solidFill>
                          <a:schemeClr val="tx1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sv-SE" altLang="ko-KR" i="1">
                        <a:solidFill>
                          <a:schemeClr val="tx1"/>
                        </a:solidFill>
                      </a:rPr>
                      <m:t>bit</m:t>
                    </m:r>
                    <m:r>
                      <a:rPr lang="sv-SE" altLang="ko-K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sv-SE" altLang="ko-K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9472</m:t>
                    </m:r>
                    <m:r>
                      <m:rPr>
                        <m:nor/>
                      </m:rPr>
                      <a:rPr lang="sv-SE" altLang="ko-KR" i="1">
                        <a:solidFill>
                          <a:schemeClr val="tx1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sv-SE" altLang="ko-KR" i="1">
                        <a:solidFill>
                          <a:schemeClr val="tx1"/>
                        </a:solidFill>
                      </a:rPr>
                      <m:t>bit</m:t>
                    </m:r>
                    <m:r>
                      <a:rPr lang="sv-SE" altLang="ko-K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sv-SE" altLang="ko-K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1184</m:t>
                    </m:r>
                    <m:r>
                      <m:rPr>
                        <m:nor/>
                      </m:rPr>
                      <a:rPr lang="sv-SE" altLang="ko-KR" i="1">
                        <a:solidFill>
                          <a:schemeClr val="tx1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sv-SE" altLang="ko-KR" i="1">
                        <a:solidFill>
                          <a:schemeClr val="tx1"/>
                        </a:solidFill>
                      </a:rPr>
                      <m:t>bytes</m:t>
                    </m:r>
                  </m:oMath>
                </a14:m>
                <a:endParaRPr lang="sv-SE" altLang="ko-KR" dirty="0">
                  <a:solidFill>
                    <a:schemeClr val="tx1"/>
                  </a:solidFill>
                </a:endParaRPr>
              </a:p>
              <a:p>
                <a:pPr lvl="2">
                  <a:lnSpc>
                    <a:spcPct val="200000"/>
                  </a:lnSpc>
                </a:pPr>
                <a:r>
                  <a:rPr lang="en-US" altLang="ko-KR" dirty="0"/>
                  <a:t>ρ</a:t>
                </a:r>
                <a:r>
                  <a:rPr lang="ko-KR" altLang="en-US" dirty="0"/>
                  <a:t>는 </a:t>
                </a:r>
                <a:r>
                  <a:rPr lang="en-US" altLang="ko-KR" dirty="0"/>
                  <a:t>32</a:t>
                </a:r>
                <a:r>
                  <a:rPr lang="ko-KR" altLang="en-US" dirty="0"/>
                  <a:t>바이트</a:t>
                </a:r>
                <a:r>
                  <a:rPr lang="en-US" altLang="ko-KR" dirty="0"/>
                  <a:t>, t</a:t>
                </a:r>
                <a:r>
                  <a:rPr lang="ko-KR" altLang="en-US" dirty="0"/>
                  <a:t>는 </a:t>
                </a:r>
                <a:r>
                  <a:rPr lang="en-US" altLang="ko-KR" dirty="0"/>
                  <a:t>3×256×12</a:t>
                </a:r>
                <a:r>
                  <a:rPr lang="ko-KR" altLang="en-US" dirty="0"/>
                  <a:t>비트</a:t>
                </a:r>
                <a:r>
                  <a:rPr lang="en-US" altLang="ko-KR" dirty="0"/>
                  <a:t>(=1,152</a:t>
                </a:r>
                <a:r>
                  <a:rPr lang="ko-KR" altLang="en-US" dirty="0"/>
                  <a:t>바이트</a:t>
                </a:r>
                <a:r>
                  <a:rPr lang="en-US" altLang="ko-KR" dirty="0"/>
                  <a:t>)</a:t>
                </a:r>
                <a:endParaRPr lang="sv-SE" altLang="ko-KR" dirty="0">
                  <a:solidFill>
                    <a:schemeClr val="tx1"/>
                  </a:solidFill>
                </a:endParaRPr>
              </a:p>
              <a:p>
                <a:pPr lvl="1">
                  <a:lnSpc>
                    <a:spcPct val="200000"/>
                  </a:lnSpc>
                </a:pPr>
                <a:r>
                  <a:rPr lang="en-US" altLang="ko-KR" dirty="0">
                    <a:solidFill>
                      <a:schemeClr val="tx1"/>
                    </a:solidFill>
                  </a:rPr>
                  <a:t>4,608 </a:t>
                </a:r>
                <a:r>
                  <a:rPr lang="ko-KR" altLang="en-US" dirty="0">
                    <a:solidFill>
                      <a:schemeClr val="tx1"/>
                    </a:solidFill>
                  </a:rPr>
                  <a:t>바이트 → 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1,184 </a:t>
                </a:r>
                <a:r>
                  <a:rPr lang="ko-KR" altLang="en-US" dirty="0">
                    <a:solidFill>
                      <a:schemeClr val="tx1"/>
                    </a:solidFill>
                  </a:rPr>
                  <a:t>바이트 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(</a:t>
                </a:r>
                <a:r>
                  <a:rPr lang="ko-KR" altLang="en-US" dirty="0">
                    <a:solidFill>
                      <a:schemeClr val="tx1"/>
                    </a:solidFill>
                  </a:rPr>
                  <a:t>약 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74% </a:t>
                </a:r>
                <a:r>
                  <a:rPr lang="ko-KR" altLang="en-US" dirty="0">
                    <a:solidFill>
                      <a:schemeClr val="tx1"/>
                    </a:solidFill>
                  </a:rPr>
                  <a:t>감소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796A44F5-587E-2A8D-11CA-8FD63E1BED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7D3612-9C17-E382-B5F6-B7BB9C659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79038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CE163-FF76-43E9-1444-7062CC237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843677-C8D6-B95A-A4D9-64A710481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Compress</a:t>
            </a:r>
            <a:r>
              <a:rPr lang="en-US" altLang="ko-KR" baseline="-25000" dirty="0" err="1"/>
              <a:t>q</a:t>
            </a:r>
            <a:r>
              <a:rPr lang="en-US" altLang="ko-KR" dirty="0"/>
              <a:t>, </a:t>
            </a:r>
            <a:r>
              <a:rPr lang="en-US" altLang="ko-KR" dirty="0" err="1"/>
              <a:t>Decompress</a:t>
            </a:r>
            <a:r>
              <a:rPr lang="en-US" altLang="ko-KR" baseline="-25000" dirty="0" err="1"/>
              <a:t>q</a:t>
            </a:r>
            <a:endParaRPr lang="ko-KR" altLang="en-US" baseline="-25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A6965929-4504-A4FE-6CB3-ABFB4BDBC0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ko-KR" altLang="en-US" dirty="0">
                    <a:solidFill>
                      <a:schemeClr val="tx1"/>
                    </a:solidFill>
                  </a:rPr>
                  <a:t>아이디어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:</a:t>
                </a:r>
                <a:endParaRPr lang="ko-KR" altLang="en-US" dirty="0">
                  <a:solidFill>
                    <a:schemeClr val="tx1"/>
                  </a:solidFill>
                </a:endParaRPr>
              </a:p>
              <a:p>
                <a:pPr lvl="1"/>
                <a:r>
                  <a:rPr lang="ko-KR" altLang="en-US" dirty="0">
                    <a:solidFill>
                      <a:schemeClr val="tx1"/>
                    </a:solidFill>
                  </a:rPr>
                  <a:t>암호문 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c = (u, v)</a:t>
                </a:r>
                <a:r>
                  <a:rPr lang="ko-KR" altLang="en-US" dirty="0">
                    <a:solidFill>
                      <a:schemeClr val="tx1"/>
                    </a:solidFill>
                  </a:rPr>
                  <a:t>를 이루는 모든 다항식의 계수에서 하위 비트를 버린다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.</a:t>
                </a:r>
              </a:p>
              <a:p>
                <a:pPr lvl="2"/>
                <a:r>
                  <a:rPr lang="ko-KR" altLang="en-US" dirty="0">
                    <a:solidFill>
                      <a:schemeClr val="tx1"/>
                    </a:solidFill>
                  </a:rPr>
                  <a:t>정보 손실이 생기지만 복호화에 미치는 영향은 작다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i="1">
                            <a:latin typeface="Cambria Math" panose="02040503050406030204" pitchFamily="18" charset="0"/>
                          </a:rPr>
                          <m:t>Compress</m:t>
                        </m:r>
                      </m:e>
                      <m:sub>
                        <m:r>
                          <a:rPr lang="ko-KR" altLang="ar-AE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ar-AE" altLang="ko-K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ar-AE" altLang="ko-KR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ko-KR" altLang="ar-AE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ar-AE" altLang="ko-KR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ar-AE" altLang="ko-KR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⌈"/>
                        <m:endChr m:val="⌋"/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ar-AE" altLang="ko-KR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ar-AE" altLang="ko-K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altLang="ko-K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ko-KR" altLang="ar-AE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</m:num>
                          <m:den>
                            <m:r>
                              <a:rPr lang="ko-KR" altLang="ar-AE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den>
                        </m:f>
                        <m:r>
                          <a:rPr lang="ar-AE" altLang="ko-KR" i="1">
                            <a:latin typeface="Cambria Math" panose="02040503050406030204" pitchFamily="18" charset="0"/>
                          </a:rPr>
                          <m:t>·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ko-KR" altLang="ar-AE" i="1">
                        <a:latin typeface="Cambria Math" panose="02040503050406030204" pitchFamily="18" charset="0"/>
                      </a:rPr>
                      <m:t>𝑚𝑜𝑑</m:t>
                    </m:r>
                    <m:sSup>
                      <m:sSup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 altLang="ko-KR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ko-KR" altLang="ar-AE" i="1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en-US" altLang="ko-K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i="1">
                            <a:latin typeface="Cambria Math" panose="02040503050406030204" pitchFamily="18" charset="0"/>
                          </a:rPr>
                          <m:t>Decompress</m:t>
                        </m:r>
                      </m:e>
                      <m:sub>
                        <m:r>
                          <a:rPr lang="ko-KR" altLang="ar-AE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ar-AE" altLang="ko-K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ko-KR" altLang="ar-AE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  <m:r>
                      <a:rPr lang="ar-AE" altLang="ko-KR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⌈"/>
                        <m:endChr m:val="⌋"/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ar-AE" altLang="ko-KR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ko-KR" altLang="ar-AE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num>
                          <m:den>
                            <m:sSup>
                              <m:sSupPr>
                                <m:ctrlPr>
                                  <a:rPr lang="ar-AE" altLang="ko-K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altLang="ko-K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ko-KR" altLang="ar-AE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</m:den>
                        </m:f>
                        <m:r>
                          <a:rPr lang="ar-AE" altLang="ko-KR" i="1">
                            <a:latin typeface="Cambria Math" panose="02040503050406030204" pitchFamily="18" charset="0"/>
                          </a:rPr>
                          <m:t>·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ko-KR" altLang="ar-AE" i="1">
                        <a:latin typeface="Cambria Math" panose="02040503050406030204" pitchFamily="18" charset="0"/>
                      </a:rPr>
                      <m:t>𝑚𝑜𝑑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ar-AE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ar-AE" altLang="ko-KR" dirty="0">
                  <a:solidFill>
                    <a:schemeClr val="tx1"/>
                  </a:solidFill>
                </a:endParaRPr>
              </a:p>
              <a:p>
                <a:pPr lvl="2"/>
                <a:r>
                  <a:rPr lang="en-US" altLang="ko-KR" dirty="0"/>
                  <a:t>x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 ∈ [0, q-1],  y ∈ [0, 2ᵈ-1],  </a:t>
                </a:r>
                <a:r>
                  <a:rPr lang="ko-KR" altLang="en-US" dirty="0">
                    <a:solidFill>
                      <a:schemeClr val="tx1"/>
                    </a:solidFill>
                  </a:rPr>
                  <a:t>압축 파라미터 </a:t>
                </a:r>
                <a:r>
                  <a:rPr lang="en-US" altLang="ko-KR" dirty="0">
                    <a:solidFill>
                      <a:schemeClr val="tx1"/>
                    </a:solidFill>
                    <a:latin typeface="Segoe UI Symbol"/>
                  </a:rPr>
                  <a:t>d ∈ [1, ⌊</a:t>
                </a:r>
                <a:r>
                  <a:rPr lang="en-US" altLang="ko-KR" dirty="0" err="1">
                    <a:solidFill>
                      <a:schemeClr val="tx1"/>
                    </a:solidFill>
                  </a:rPr>
                  <a:t>log₂q</a:t>
                </a:r>
                <a:r>
                  <a:rPr lang="ko-KR" altLang="en-US" dirty="0">
                    <a:solidFill>
                      <a:schemeClr val="tx1"/>
                    </a:solidFill>
                    <a:latin typeface="Segoe UI Symbol"/>
                  </a:rPr>
                  <a:t>⌋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]</a:t>
                </a:r>
              </a:p>
              <a:p>
                <a:r>
                  <a:rPr lang="ko-KR" altLang="en-US" dirty="0">
                    <a:solidFill>
                      <a:schemeClr val="tx1"/>
                    </a:solidFill>
                  </a:rPr>
                  <a:t>암호문 압축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:</a:t>
                </a:r>
              </a:p>
              <a:p>
                <a:pPr lvl="1"/>
                <a:r>
                  <a:rPr lang="en-US" altLang="ko-KR" dirty="0">
                    <a:solidFill>
                      <a:schemeClr val="tx1"/>
                    </a:solidFill>
                  </a:rPr>
                  <a:t>c₁ = </a:t>
                </a:r>
                <a:r>
                  <a:rPr lang="en-US" altLang="ko-KR" dirty="0" err="1">
                    <a:solidFill>
                      <a:schemeClr val="tx1"/>
                    </a:solidFill>
                  </a:rPr>
                  <a:t>Compress</a:t>
                </a:r>
                <a:r>
                  <a:rPr lang="en-US" altLang="ko-KR" baseline="-25000" dirty="0" err="1">
                    <a:solidFill>
                      <a:schemeClr val="tx1"/>
                    </a:solidFill>
                  </a:rPr>
                  <a:t>q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(u, d</a:t>
                </a:r>
                <a:r>
                  <a:rPr lang="en-US" altLang="ko-KR" baseline="-25000" dirty="0">
                    <a:solidFill>
                      <a:schemeClr val="tx1"/>
                    </a:solidFill>
                  </a:rPr>
                  <a:t>u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), c₂ = </a:t>
                </a:r>
                <a:r>
                  <a:rPr lang="en-US" altLang="ko-KR" dirty="0" err="1">
                    <a:solidFill>
                      <a:schemeClr val="tx1"/>
                    </a:solidFill>
                  </a:rPr>
                  <a:t>Compress</a:t>
                </a:r>
                <a:r>
                  <a:rPr lang="en-US" altLang="ko-KR" baseline="-25000" dirty="0" err="1">
                    <a:solidFill>
                      <a:schemeClr val="tx1"/>
                    </a:solidFill>
                  </a:rPr>
                  <a:t>q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(v, d</a:t>
                </a:r>
                <a:r>
                  <a:rPr lang="en-US" altLang="ko-KR" baseline="-25000" dirty="0">
                    <a:solidFill>
                      <a:schemeClr val="tx1"/>
                    </a:solidFill>
                  </a:rPr>
                  <a:t>v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)</a:t>
                </a:r>
              </a:p>
              <a:p>
                <a:pPr lvl="1"/>
                <a:r>
                  <a:rPr lang="en-US" altLang="ko-KR" dirty="0">
                    <a:solidFill>
                      <a:schemeClr val="tx1"/>
                    </a:solidFill>
                  </a:rPr>
                  <a:t>Compress/Decompress</a:t>
                </a:r>
                <a:r>
                  <a:rPr lang="ko-KR" altLang="en-US" dirty="0">
                    <a:solidFill>
                      <a:schemeClr val="tx1"/>
                    </a:solidFill>
                  </a:rPr>
                  <a:t>는 각 계수에 적용해 다항식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·</a:t>
                </a:r>
                <a:r>
                  <a:rPr lang="ko-KR" altLang="en-US" dirty="0">
                    <a:solidFill>
                      <a:schemeClr val="tx1"/>
                    </a:solidFill>
                  </a:rPr>
                  <a:t>벡터로 자연스럽게 확장한다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.</a:t>
                </a:r>
              </a:p>
              <a:p>
                <a:pPr lvl="1"/>
                <a:r>
                  <a:rPr lang="en-US" altLang="ko-KR" dirty="0">
                    <a:solidFill>
                      <a:schemeClr val="tx1"/>
                    </a:solidFill>
                  </a:rPr>
                  <a:t>ML-KEM-768: d</a:t>
                </a:r>
                <a:r>
                  <a:rPr lang="en-US" altLang="ko-KR" baseline="-25000" dirty="0">
                    <a:solidFill>
                      <a:schemeClr val="tx1"/>
                    </a:solidFill>
                  </a:rPr>
                  <a:t>u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 = 10, d</a:t>
                </a:r>
                <a:r>
                  <a:rPr lang="en-US" altLang="ko-KR" baseline="-25000" dirty="0">
                    <a:solidFill>
                      <a:schemeClr val="tx1"/>
                    </a:solidFill>
                  </a:rPr>
                  <a:t>v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 = 4</a:t>
                </a: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A6965929-4504-A4FE-6CB3-ABFB4BDBC0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E81790-0247-0BDD-DF79-3A6C6374D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35095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8F0A0-20BA-0EA0-8850-C1914FF4C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CCB4A-2FC5-EEC2-24FB-851F73A162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압축 오차 상계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79D0F5CD-2FEF-B375-7D3E-16C5CD1CE4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lnSpc>
                    <a:spcPct val="200000"/>
                  </a:lnSpc>
                </a:pPr>
                <a:r>
                  <a:rPr lang="en-US" altLang="ko-KR" dirty="0">
                    <a:solidFill>
                      <a:schemeClr val="tx1"/>
                    </a:solidFill>
                  </a:rPr>
                  <a:t>Fact: </a:t>
                </a:r>
                <a:r>
                  <a:rPr lang="en-US" altLang="ko-KR" dirty="0"/>
                  <a:t>x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 ∈ [0,q-1], x′ = </a:t>
                </a:r>
                <a:r>
                  <a:rPr lang="en-US" altLang="ko-KR" dirty="0" err="1">
                    <a:solidFill>
                      <a:schemeClr val="tx1"/>
                    </a:solidFill>
                  </a:rPr>
                  <a:t>Decompress</a:t>
                </a:r>
                <a:r>
                  <a:rPr lang="en-US" altLang="ko-KR" baseline="-25000" dirty="0" err="1">
                    <a:solidFill>
                      <a:schemeClr val="tx1"/>
                    </a:solidFill>
                  </a:rPr>
                  <a:t>q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(</a:t>
                </a:r>
                <a:r>
                  <a:rPr lang="en-US" altLang="ko-KR" dirty="0" err="1">
                    <a:solidFill>
                      <a:schemeClr val="tx1"/>
                    </a:solidFill>
                  </a:rPr>
                  <a:t>Compress</a:t>
                </a:r>
                <a:r>
                  <a:rPr lang="en-US" altLang="ko-KR" baseline="-25000" dirty="0" err="1">
                    <a:solidFill>
                      <a:schemeClr val="tx1"/>
                    </a:solidFill>
                  </a:rPr>
                  <a:t>q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(</a:t>
                </a:r>
                <a:r>
                  <a:rPr lang="en-US" altLang="ko-KR" dirty="0" err="1">
                    <a:solidFill>
                      <a:schemeClr val="tx1"/>
                    </a:solidFill>
                  </a:rPr>
                  <a:t>x,d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), d)</a:t>
                </a:r>
                <a:r>
                  <a:rPr lang="ko-KR" altLang="en-US" dirty="0">
                    <a:solidFill>
                      <a:schemeClr val="tx1"/>
                    </a:solidFill>
                  </a:rPr>
                  <a:t>라 하면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, </a:t>
                </a:r>
              </a:p>
              <a:p>
                <a:pPr marL="0" indent="0" algn="ctr">
                  <a:lnSpc>
                    <a:spcPct val="200000"/>
                  </a:lnSpc>
                  <a:buNone/>
                </a:pPr>
                <a14:m>
                  <m:oMath xmlns:m="http://schemas.openxmlformats.org/officeDocument/2006/math">
                    <m:r>
                      <a:rPr lang="ar-AE" altLang="ko-K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‖</m:t>
                    </m:r>
                    <m:sSup>
                      <m:sSupPr>
                        <m:ctrlPr>
                          <a:rPr lang="ar-AE" altLang="ko-K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 altLang="ko-K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ar-AE" altLang="ko-K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ko-K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sSub>
                      <m:sSubPr>
                        <m:ctrlPr>
                          <a:rPr lang="ar-AE" altLang="ko-K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altLang="ko-K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‖</m:t>
                        </m:r>
                      </m:e>
                      <m:sub>
                        <m:r>
                          <a:rPr lang="ar-AE" altLang="ko-K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ar-AE" altLang="ko-K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d>
                      <m:dPr>
                        <m:begChr m:val="⌈"/>
                        <m:endChr m:val="⌋"/>
                        <m:ctrlPr>
                          <a:rPr lang="ar-AE" altLang="ko-K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ar-AE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ar-AE" altLang="ko-K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/</m:t>
                        </m:r>
                        <m:sSup>
                          <m:sSupPr>
                            <m:ctrlPr>
                              <a:rPr lang="ar-AE" altLang="ko-K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altLang="ko-K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ko-KR" altLang="ar-AE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ar-AE" altLang="ko-K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ar-AE" altLang="ko-K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altLang="ko-KR" dirty="0">
                    <a:solidFill>
                      <a:schemeClr val="tx1"/>
                    </a:solidFill>
                  </a:rPr>
                  <a:t>.</a:t>
                </a:r>
                <a:endParaRPr lang="ar-AE" altLang="ko-KR" dirty="0">
                  <a:solidFill>
                    <a:schemeClr val="tx1"/>
                  </a:solidFill>
                </a:endParaRPr>
              </a:p>
              <a:p>
                <a:pPr lvl="1">
                  <a:lnSpc>
                    <a:spcPct val="200000"/>
                  </a:lnSpc>
                  <a:spcAft>
                    <a:spcPts val="800"/>
                  </a:spcAft>
                </a:pPr>
                <a:r>
                  <a:rPr lang="en-US" altLang="ko-KR" dirty="0">
                    <a:solidFill>
                      <a:schemeClr val="tx1"/>
                    </a:solidFill>
                  </a:rPr>
                  <a:t>d</a:t>
                </a:r>
                <a:r>
                  <a:rPr lang="ko-KR" altLang="en-US" dirty="0">
                    <a:solidFill>
                      <a:schemeClr val="tx1"/>
                    </a:solidFill>
                  </a:rPr>
                  <a:t>가 클수록 하위 비트를 덜 버리므로 오차 상계가 작다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.</a:t>
                </a:r>
              </a:p>
              <a:p>
                <a:pPr lvl="1">
                  <a:lnSpc>
                    <a:spcPct val="200000"/>
                  </a:lnSpc>
                  <a:spcAft>
                    <a:spcPts val="800"/>
                  </a:spcAft>
                </a:pPr>
                <a:r>
                  <a:rPr lang="ko-KR" altLang="en-US" dirty="0">
                    <a:solidFill>
                      <a:schemeClr val="tx1"/>
                    </a:solidFill>
                  </a:rPr>
                  <a:t>이 오차는 복호화 오차 다항식 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E(x)</a:t>
                </a:r>
                <a:r>
                  <a:rPr lang="ko-KR" altLang="en-US" dirty="0">
                    <a:solidFill>
                      <a:schemeClr val="tx1"/>
                    </a:solidFill>
                  </a:rPr>
                  <a:t>에 새 오차 항으로 추가되는 정도다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.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79D0F5CD-2FEF-B375-7D3E-16C5CD1CE4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C507AB-E0D8-2AFF-1EDD-52B5584E9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61929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7CE55A-0EE9-F823-D741-A79E22097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8C074D-702C-FBF1-EC62-A27AA14B0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예제</a:t>
            </a:r>
            <a:r>
              <a:rPr lang="en-US" altLang="ko-KR" dirty="0"/>
              <a:t>2: q = 19, d = 2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E8D16F3F-CD2E-590F-5B18-A8793C7898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s-ES" altLang="ko-KR" dirty="0"/>
                  <a:t>y = Compress₁₉(x, 2), x′ = Decompress₁₉(y, 2)</a:t>
                </a:r>
              </a:p>
              <a:p>
                <a:endParaRPr lang="es-ES" altLang="ko-KR" dirty="0"/>
              </a:p>
              <a:p>
                <a:endParaRPr lang="es-ES" altLang="ko-KR" dirty="0"/>
              </a:p>
              <a:p>
                <a:endParaRPr lang="es-ES" altLang="ko-KR" dirty="0"/>
              </a:p>
              <a:p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‖x′-x‖</a:t>
                </a:r>
                <a:r>
                  <a:rPr lang="en-US" altLang="ko-KR" baseline="-25000" dirty="0">
                    <a:solidFill>
                      <a:srgbClr val="404040"/>
                    </a:solidFill>
                    <a:latin typeface="Segoe UI Symbol"/>
                  </a:rPr>
                  <a:t>∞</a:t>
                </a: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는 최대 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2 (</a:t>
                </a: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예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: x=7→x′=5, </a:t>
                </a: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차이 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2 / x=8→x′=10, </a:t>
                </a: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차이 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2)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begChr m:val="⌈"/>
                        <m:endChr m:val="⌋"/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altLang="ko-KR" i="1">
                            <a:latin typeface="Cambria Math"/>
                          </a:rPr>
                          <m:t>19</m:t>
                        </m:r>
                        <m:r>
                          <a:rPr lang="ar-AE" altLang="ko-KR" i="1">
                            <a:latin typeface="Cambria Math"/>
                          </a:rPr>
                          <m:t>/</m:t>
                        </m:r>
                        <m:sSup>
                          <m:sSupPr>
                            <m:ctrlPr>
                              <a:rPr lang="ar-AE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altLang="ko-KR" i="1">
                                <a:latin typeface="Cambria Math"/>
                              </a:rPr>
                              <m:t>2</m:t>
                            </m:r>
                          </m:e>
                          <m:sup>
                            <m:r>
                              <a:rPr lang="ar-AE" altLang="ko-KR" i="1">
                                <a:latin typeface="Cambria Math"/>
                              </a:rPr>
                              <m:t>3</m:t>
                            </m:r>
                          </m:sup>
                        </m:sSup>
                      </m:e>
                    </m:d>
                    <m:r>
                      <a:rPr lang="ar-AE" altLang="ko-KR" i="1">
                        <a:latin typeface="Cambria Math"/>
                      </a:rPr>
                      <m:t>=</m:t>
                    </m:r>
                    <m:d>
                      <m:dPr>
                        <m:begChr m:val="⌈"/>
                        <m:endChr m:val="⌋"/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altLang="ko-KR" i="1">
                            <a:latin typeface="Cambria Math"/>
                          </a:rPr>
                          <m:t>2</m:t>
                        </m:r>
                        <m:r>
                          <a:rPr lang="ar-AE" altLang="ko-KR" i="1">
                            <a:latin typeface="Cambria Math"/>
                          </a:rPr>
                          <m:t>.</m:t>
                        </m:r>
                        <m:r>
                          <a:rPr lang="ar-AE" altLang="ko-KR" i="1">
                            <a:latin typeface="Cambria Math"/>
                          </a:rPr>
                          <m:t>375</m:t>
                        </m:r>
                      </m:e>
                    </m:d>
                    <m:r>
                      <a:rPr lang="ar-AE" altLang="ko-KR" i="1">
                        <a:latin typeface="Cambria Math"/>
                      </a:rPr>
                      <m:t>=</m:t>
                    </m:r>
                    <m:r>
                      <a:rPr lang="ar-AE" altLang="ko-KR" i="1">
                        <a:latin typeface="Cambria Math"/>
                      </a:rPr>
                      <m:t>2</m:t>
                    </m:r>
                  </m:oMath>
                </a14:m>
                <a:endParaRPr lang="ar-AE" altLang="ko-KR" dirty="0"/>
              </a:p>
              <a:p>
                <a:pPr>
                  <a:lnSpc>
                    <a:spcPct val="115000"/>
                  </a:lnSpc>
                  <a:spcAft>
                    <a:spcPts val="800"/>
                  </a:spcAft>
                </a:pP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Z₁₉</a:t>
                </a: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의 원소 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0~18</a:t>
                </a: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을 원 위에 배치</a:t>
                </a:r>
              </a:p>
              <a:p>
                <a:pPr>
                  <a:lnSpc>
                    <a:spcPct val="115000"/>
                  </a:lnSpc>
                  <a:spcAft>
                    <a:spcPts val="800"/>
                  </a:spcAft>
                </a:pP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각 점 옆에 파란 숫자 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= y (</a:t>
                </a:r>
                <a:r>
                  <a:rPr lang="ko-KR" altLang="en-US" dirty="0" err="1">
                    <a:solidFill>
                      <a:srgbClr val="404040"/>
                    </a:solidFill>
                    <a:latin typeface="Segoe UI Symbol"/>
                  </a:rPr>
                  <a:t>압축값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)</a:t>
                </a:r>
              </a:p>
              <a:p>
                <a:pPr>
                  <a:lnSpc>
                    <a:spcPct val="115000"/>
                  </a:lnSpc>
                  <a:spcAft>
                    <a:spcPts val="800"/>
                  </a:spcAft>
                </a:pP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각 점 옆에 빨간 숫자 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= x′ (</a:t>
                </a:r>
                <a:r>
                  <a:rPr lang="ko-KR" altLang="en-US" dirty="0" err="1">
                    <a:solidFill>
                      <a:srgbClr val="404040"/>
                    </a:solidFill>
                    <a:latin typeface="Segoe UI Symbol"/>
                  </a:rPr>
                  <a:t>복원값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)</a:t>
                </a:r>
              </a:p>
              <a:p>
                <a:endParaRPr lang="es-ES" altLang="ko-KR" dirty="0"/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E8D16F3F-CD2E-590F-5B18-A8793C7898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DE55DD-D02A-FA28-2E58-93C05567F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23</a:t>
            </a:fld>
            <a:endParaRPr lang="ko-KR" altLang="en-US"/>
          </a:p>
        </p:txBody>
      </p:sp>
      <p:graphicFrame>
        <p:nvGraphicFramePr>
          <p:cNvPr id="5" name="Table 7">
            <a:extLst>
              <a:ext uri="{FF2B5EF4-FFF2-40B4-BE49-F238E27FC236}">
                <a16:creationId xmlns:a16="http://schemas.microsoft.com/office/drawing/2014/main" id="{1BC97CFE-0A10-C075-29C9-9585C4FFCD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4345215"/>
              </p:ext>
            </p:extLst>
          </p:nvPr>
        </p:nvGraphicFramePr>
        <p:xfrm>
          <a:off x="328422" y="1877728"/>
          <a:ext cx="11535156" cy="13716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50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06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06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06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06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06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806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8064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806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8064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806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8064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580644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580644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580644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80644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580644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580644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580644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580644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x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4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5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6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7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8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9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10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11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12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13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14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15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16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17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18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y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0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0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0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1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1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1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1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1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2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2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2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2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3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3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3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3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3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0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0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x′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0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0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0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5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5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5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5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5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10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10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10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10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14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14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14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14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14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0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404040"/>
                          </a:solidFill>
                        </a:rPr>
                        <a:t>0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6" name="그림 5">
            <a:extLst>
              <a:ext uri="{FF2B5EF4-FFF2-40B4-BE49-F238E27FC236}">
                <a16:creationId xmlns:a16="http://schemas.microsoft.com/office/drawing/2014/main" id="{74F860EA-A419-C865-02E5-FE938664F0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7329" y="3429000"/>
            <a:ext cx="3086471" cy="3045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4981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C6083-3B4A-55BD-32BD-5532A173D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12DCF2-296B-46B6-DE30-03CD2FAA6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예제</a:t>
            </a:r>
            <a:r>
              <a:rPr lang="en-US" altLang="ko-KR" dirty="0"/>
              <a:t>3: q = 3329, d = 10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FD2C09FD-F5F8-8E56-2807-F49F1F45B1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d>
                      <m:dPr>
                        <m:begChr m:val="⌈"/>
                        <m:endChr m:val="⌋"/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altLang="ko-KR" i="1">
                            <a:latin typeface="Cambria Math" panose="02040503050406030204" pitchFamily="18" charset="0"/>
                          </a:rPr>
                          <m:t>3329</m:t>
                        </m:r>
                        <m:r>
                          <a:rPr lang="ar-AE" altLang="ko-KR" i="1">
                            <a:latin typeface="Cambria Math" panose="02040503050406030204" pitchFamily="18" charset="0"/>
                          </a:rPr>
                          <m:t>/</m:t>
                        </m:r>
                        <m:sSup>
                          <m:sSupPr>
                            <m:ctrlPr>
                              <a:rPr lang="ar-AE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altLang="ko-K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ar-AE" altLang="ko-KR" i="1">
                                <a:latin typeface="Cambria Math" panose="02040503050406030204" pitchFamily="18" charset="0"/>
                              </a:rPr>
                              <m:t>11</m:t>
                            </m:r>
                          </m:sup>
                        </m:sSup>
                      </m:e>
                    </m:d>
                    <m:r>
                      <a:rPr lang="ar-AE" altLang="ko-K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altLang="ko-KR" i="1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ar-AE" altLang="ko-KR" dirty="0"/>
              </a:p>
              <a:p>
                <a14:m>
                  <m:oMath xmlns:m="http://schemas.openxmlformats.org/officeDocument/2006/math">
                    <m:r>
                      <a:rPr lang="ko-KR" altLang="ar-AE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ar-AE" altLang="ko-K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altLang="ko-KR" i="1">
                        <a:latin typeface="Cambria Math" panose="02040503050406030204" pitchFamily="18" charset="0"/>
                      </a:rPr>
                      <m:t>2426</m:t>
                    </m:r>
                    <m:r>
                      <a:rPr lang="ar-AE" altLang="ko-K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altLang="ko-KR" i="1">
                        <a:latin typeface="Cambria Math" panose="02040503050406030204" pitchFamily="18" charset="0"/>
                      </a:rPr>
                      <m:t>1198</m:t>
                    </m:r>
                    <m:r>
                      <a:rPr lang="ko-KR" altLang="ar-AE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ar-AE" altLang="ko-K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altLang="ko-KR" i="1">
                        <a:latin typeface="Cambria Math" panose="02040503050406030204" pitchFamily="18" charset="0"/>
                      </a:rPr>
                      <m:t>2055</m:t>
                    </m:r>
                    <m:sSup>
                      <m:sSup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 altLang="ko-K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 altLang="ko-K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altLang="ko-KR" i="1">
                        <a:latin typeface="Cambria Math" panose="02040503050406030204" pitchFamily="18" charset="0"/>
                      </a:rPr>
                      <m:t>2409</m:t>
                    </m:r>
                    <m:sSup>
                      <m:sSup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 altLang="ko-KR" i="1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ar-AE" altLang="ko-KR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i="1">
                            <a:latin typeface="Cambria Math" panose="02040503050406030204" pitchFamily="18" charset="0"/>
                          </a:rPr>
                          <m:t>Compress</m:t>
                        </m:r>
                      </m:e>
                      <m:sub>
                        <m:r>
                          <a:rPr lang="ko-KR" altLang="ar-AE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ar-AE" altLang="ko-K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ko-KR" altLang="ar-AE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ar-AE" altLang="ko-KR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ar-AE" altLang="ko-KR" i="1">
                        <a:latin typeface="Cambria Math" panose="02040503050406030204" pitchFamily="18" charset="0"/>
                      </a:rPr>
                      <m:t>10</m:t>
                    </m:r>
                    <m:r>
                      <a:rPr lang="ar-AE" altLang="ko-KR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ar-AE" altLang="ko-KR" i="1">
                        <a:latin typeface="Cambria Math" panose="02040503050406030204" pitchFamily="18" charset="0"/>
                      </a:rPr>
                      <m:t>746</m:t>
                    </m:r>
                    <m:r>
                      <a:rPr lang="ar-AE" altLang="ko-K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altLang="ko-KR" i="1">
                        <a:latin typeface="Cambria Math" panose="02040503050406030204" pitchFamily="18" charset="0"/>
                      </a:rPr>
                      <m:t>369</m:t>
                    </m:r>
                    <m:r>
                      <a:rPr lang="ko-KR" altLang="ar-AE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ar-AE" altLang="ko-K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altLang="ko-KR" i="1">
                        <a:latin typeface="Cambria Math" panose="02040503050406030204" pitchFamily="18" charset="0"/>
                      </a:rPr>
                      <m:t>632</m:t>
                    </m:r>
                    <m:sSup>
                      <m:sSup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 altLang="ko-K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 altLang="ko-K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altLang="ko-KR" i="1">
                        <a:latin typeface="Cambria Math" panose="02040503050406030204" pitchFamily="18" charset="0"/>
                      </a:rPr>
                      <m:t>741</m:t>
                    </m:r>
                    <m:sSup>
                      <m:sSup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 altLang="ko-KR" i="1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ar-AE" altLang="ko-KR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i="1">
                            <a:latin typeface="Cambria Math" panose="02040503050406030204" pitchFamily="18" charset="0"/>
                          </a:rPr>
                          <m:t>Decompress</m:t>
                        </m:r>
                      </m:e>
                      <m:sub>
                        <m:r>
                          <a:rPr lang="ko-KR" altLang="ar-AE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ar-AE" altLang="ko-KR" i="1">
                        <a:latin typeface="Cambria Math" panose="02040503050406030204" pitchFamily="18" charset="0"/>
                      </a:rPr>
                      <m:t>(⋯,</m:t>
                    </m:r>
                    <m:r>
                      <a:rPr lang="ar-AE" altLang="ko-KR" i="1">
                        <a:latin typeface="Cambria Math" panose="02040503050406030204" pitchFamily="18" charset="0"/>
                      </a:rPr>
                      <m:t>10</m:t>
                    </m:r>
                    <m:r>
                      <a:rPr lang="ar-AE" altLang="ko-KR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ar-AE" altLang="ko-KR" i="1">
                        <a:latin typeface="Cambria Math" panose="02040503050406030204" pitchFamily="18" charset="0"/>
                      </a:rPr>
                      <m:t>2425</m:t>
                    </m:r>
                    <m:r>
                      <a:rPr lang="ar-AE" altLang="ko-K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altLang="ko-KR" i="1">
                        <a:latin typeface="Cambria Math" panose="02040503050406030204" pitchFamily="18" charset="0"/>
                      </a:rPr>
                      <m:t>1200</m:t>
                    </m:r>
                    <m:r>
                      <a:rPr lang="ko-KR" altLang="ar-AE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ar-AE" altLang="ko-K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altLang="ko-KR" i="1">
                        <a:latin typeface="Cambria Math" panose="02040503050406030204" pitchFamily="18" charset="0"/>
                      </a:rPr>
                      <m:t>2055</m:t>
                    </m:r>
                    <m:sSup>
                      <m:sSup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 altLang="ko-K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 altLang="ko-K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altLang="ko-KR" i="1">
                        <a:latin typeface="Cambria Math" panose="02040503050406030204" pitchFamily="18" charset="0"/>
                      </a:rPr>
                      <m:t>2409</m:t>
                    </m:r>
                    <m:sSup>
                      <m:sSup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 altLang="ko-KR" i="1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ar-AE" altLang="ko-KR" dirty="0"/>
              </a:p>
              <a:p>
                <a:r>
                  <a:rPr lang="ko-KR" altLang="en-US" dirty="0">
                    <a:solidFill>
                      <a:srgbClr val="404040"/>
                    </a:solidFill>
                  </a:rPr>
                  <a:t>오차 </a:t>
                </a:r>
                <a:r>
                  <a:rPr lang="en-US" altLang="ko-KR" dirty="0">
                    <a:solidFill>
                      <a:srgbClr val="404040"/>
                    </a:solidFill>
                  </a:rPr>
                  <a:t>U - U′ = 1 - 2x (</a:t>
                </a:r>
                <a:r>
                  <a:rPr lang="ko-KR" altLang="en-US" dirty="0">
                    <a:solidFill>
                      <a:srgbClr val="404040"/>
                    </a:solidFill>
                  </a:rPr>
                  <a:t>계수별 절댓값 모두 ≤ </a:t>
                </a:r>
                <a:r>
                  <a:rPr lang="en-US" altLang="ko-KR" dirty="0">
                    <a:solidFill>
                      <a:srgbClr val="404040"/>
                    </a:solidFill>
                  </a:rPr>
                  <a:t>2, </a:t>
                </a:r>
                <a:r>
                  <a:rPr lang="ko-KR" altLang="en-US" dirty="0">
                    <a:solidFill>
                      <a:srgbClr val="404040"/>
                    </a:solidFill>
                  </a:rPr>
                  <a:t>이론적 상계와 일치</a:t>
                </a:r>
                <a:r>
                  <a:rPr lang="en-US" altLang="ko-KR" dirty="0">
                    <a:solidFill>
                      <a:srgbClr val="404040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FD2C09FD-F5F8-8E56-2807-F49F1F45B1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5E8431-48C8-F4E2-4E36-3BAA33250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72422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214F0-45AC-02EE-D67E-E0C23365A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389001-9B1D-7014-3C18-1C1CD4D23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압축 파라미터 비교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0D52989-DA62-59F3-FD01-7A2E4BBF01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두 경우 모두 계수 절댓값이 이론적 상계 이내</a:t>
            </a:r>
            <a:r>
              <a:rPr lang="en-US" altLang="ko-KR" dirty="0"/>
              <a:t>(d=10: ≤2, d=4: ≤104)</a:t>
            </a:r>
          </a:p>
          <a:p>
            <a:r>
              <a:rPr lang="en-US" altLang="ko-KR" dirty="0">
                <a:solidFill>
                  <a:srgbClr val="404040"/>
                </a:solidFill>
                <a:latin typeface="Segoe UI Symbol"/>
              </a:rPr>
              <a:t>d=10 (</a:t>
            </a:r>
            <a:r>
              <a:rPr lang="ko-KR" altLang="en-US" dirty="0">
                <a:solidFill>
                  <a:srgbClr val="404040"/>
                </a:solidFill>
                <a:latin typeface="Segoe UI Symbol"/>
              </a:rPr>
              <a:t>오차 작음</a:t>
            </a:r>
            <a:r>
              <a:rPr lang="en-US" altLang="ko-KR" dirty="0">
                <a:solidFill>
                  <a:srgbClr val="404040"/>
                </a:solidFill>
                <a:latin typeface="Segoe UI Symbol"/>
              </a:rPr>
              <a:t>, </a:t>
            </a:r>
            <a:r>
              <a:rPr lang="ko-KR" altLang="en-US" dirty="0">
                <a:solidFill>
                  <a:srgbClr val="404040"/>
                </a:solidFill>
                <a:latin typeface="Segoe UI Symbol"/>
              </a:rPr>
              <a:t>상계 </a:t>
            </a:r>
            <a:r>
              <a:rPr lang="en-US" altLang="ko-KR" dirty="0">
                <a:solidFill>
                  <a:srgbClr val="404040"/>
                </a:solidFill>
                <a:latin typeface="Segoe UI Symbol"/>
              </a:rPr>
              <a:t>2) vs d=4 (</a:t>
            </a:r>
            <a:r>
              <a:rPr lang="ko-KR" altLang="en-US" dirty="0">
                <a:solidFill>
                  <a:srgbClr val="404040"/>
                </a:solidFill>
                <a:latin typeface="Segoe UI Symbol"/>
              </a:rPr>
              <a:t>오차 큼</a:t>
            </a:r>
            <a:r>
              <a:rPr lang="en-US" altLang="ko-KR" dirty="0">
                <a:solidFill>
                  <a:srgbClr val="404040"/>
                </a:solidFill>
                <a:latin typeface="Segoe UI Symbol"/>
              </a:rPr>
              <a:t>, </a:t>
            </a:r>
            <a:r>
              <a:rPr lang="ko-KR" altLang="en-US" dirty="0">
                <a:solidFill>
                  <a:srgbClr val="404040"/>
                </a:solidFill>
                <a:latin typeface="Segoe UI Symbol"/>
              </a:rPr>
              <a:t>상계 </a:t>
            </a:r>
            <a:r>
              <a:rPr lang="en-US" altLang="ko-KR" dirty="0">
                <a:solidFill>
                  <a:srgbClr val="404040"/>
                </a:solidFill>
                <a:latin typeface="Segoe UI Symbol"/>
              </a:rPr>
              <a:t>104)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5FEFBC-711B-604F-7C21-A3A25F69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25</a:t>
            </a:fld>
            <a:endParaRPr lang="ko-KR" altLang="en-US"/>
          </a:p>
        </p:txBody>
      </p:sp>
      <p:graphicFrame>
        <p:nvGraphicFramePr>
          <p:cNvPr id="5" name="Table 6">
            <a:extLst>
              <a:ext uri="{FF2B5EF4-FFF2-40B4-BE49-F238E27FC236}">
                <a16:creationId xmlns:a16="http://schemas.microsoft.com/office/drawing/2014/main" id="{88D3E8C7-6984-762B-25E3-D6E93A59F8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2124652"/>
              </p:ext>
            </p:extLst>
          </p:nvPr>
        </p:nvGraphicFramePr>
        <p:xfrm>
          <a:off x="838200" y="1295322"/>
          <a:ext cx="10515601" cy="155448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5888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15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07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640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37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d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 err="1">
                          <a:solidFill>
                            <a:schemeClr val="bg1"/>
                          </a:solidFill>
                        </a:rPr>
                        <a:t>이론적</a:t>
                      </a:r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1800" b="1" dirty="0" err="1">
                          <a:solidFill>
                            <a:schemeClr val="bg1"/>
                          </a:solidFill>
                        </a:rPr>
                        <a:t>상계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 err="1">
                          <a:solidFill>
                            <a:schemeClr val="bg1"/>
                          </a:solidFill>
                        </a:rPr>
                        <a:t>Compress</a:t>
                      </a:r>
                      <a:r>
                        <a:rPr sz="1800" b="1" baseline="-25000" dirty="0" err="1">
                          <a:solidFill>
                            <a:schemeClr val="bg1"/>
                          </a:solidFill>
                        </a:rPr>
                        <a:t>q</a:t>
                      </a:r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en-US" sz="1800" b="1" dirty="0" err="1">
                          <a:solidFill>
                            <a:schemeClr val="bg1"/>
                          </a:solidFill>
                        </a:rPr>
                        <a:t>x</a:t>
                      </a:r>
                      <a:r>
                        <a:rPr sz="1800" b="1" dirty="0" err="1">
                          <a:solidFill>
                            <a:schemeClr val="bg1"/>
                          </a:solidFill>
                        </a:rPr>
                        <a:t>,d</a:t>
                      </a:r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)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 err="1">
                          <a:solidFill>
                            <a:schemeClr val="bg1"/>
                          </a:solidFill>
                        </a:rPr>
                        <a:t>Decompress</a:t>
                      </a:r>
                      <a:r>
                        <a:rPr sz="1800" b="1" baseline="-25000" dirty="0" err="1">
                          <a:solidFill>
                            <a:schemeClr val="bg1"/>
                          </a:solidFill>
                        </a:rPr>
                        <a:t>q</a:t>
                      </a:r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(⋯,d)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 err="1">
                          <a:solidFill>
                            <a:schemeClr val="bg1"/>
                          </a:solidFill>
                        </a:rPr>
                        <a:t>오차</a:t>
                      </a:r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x</a:t>
                      </a:r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-</a:t>
                      </a: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x</a:t>
                      </a:r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′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404040"/>
                          </a:solidFill>
                        </a:rPr>
                        <a:t>10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404040"/>
                          </a:solidFill>
                          <a:latin typeface="Segoe UI Symbol"/>
                        </a:rPr>
                        <a:t>⌈3329/2¹¹⌋=2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69+442x+1009x²+245x³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404040"/>
                          </a:solidFill>
                        </a:rPr>
                        <a:t>224+1437x+3280x²+796x³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-1+x-2x³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4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  <a:latin typeface="Segoe UI Symbol"/>
                        </a:rPr>
                        <a:t>⌈3329/2⁵⌋=104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404040"/>
                          </a:solidFill>
                        </a:rPr>
                        <a:t>1+7x+4x³ (x² </a:t>
                      </a:r>
                      <a:r>
                        <a:rPr sz="1800" dirty="0" err="1">
                          <a:solidFill>
                            <a:srgbClr val="404040"/>
                          </a:solidFill>
                        </a:rPr>
                        <a:t>계수</a:t>
                      </a:r>
                      <a:r>
                        <a:rPr sz="1800" dirty="0">
                          <a:solidFill>
                            <a:srgbClr val="404040"/>
                          </a:solidFill>
                        </a:rPr>
                        <a:t> 0)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208+1456x+832x³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404040"/>
                          </a:solidFill>
                        </a:rPr>
                        <a:t>15-18x-49x²-34x³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38070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C569D-F7C2-55FD-9FC3-938DAC79A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B3EC93-951D-22CF-80C6-5624D64CA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압축 파라미터와 정확도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7FBAE57-4134-70BF-50B7-5C80B56E8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ML-KEM-768</a:t>
            </a:r>
            <a:r>
              <a:rPr lang="ko-KR" altLang="en-US" dirty="0"/>
              <a:t>의 선택</a:t>
            </a:r>
          </a:p>
          <a:p>
            <a:pPr lvl="1"/>
            <a:r>
              <a:rPr lang="en-US" altLang="ko-KR" dirty="0"/>
              <a:t>u</a:t>
            </a:r>
            <a:r>
              <a:rPr lang="ko-KR" altLang="en-US" dirty="0"/>
              <a:t>에는 </a:t>
            </a:r>
            <a:r>
              <a:rPr lang="en-US" altLang="ko-KR" dirty="0"/>
              <a:t>d</a:t>
            </a:r>
            <a:r>
              <a:rPr lang="en-US" altLang="ko-KR" baseline="-25000" dirty="0"/>
              <a:t>u</a:t>
            </a:r>
            <a:r>
              <a:rPr lang="en-US" altLang="ko-KR" dirty="0"/>
              <a:t> = 10 </a:t>
            </a:r>
            <a:r>
              <a:rPr lang="ko-KR" altLang="en-US" dirty="0"/>
              <a:t>사용 </a:t>
            </a:r>
            <a:r>
              <a:rPr lang="en-US" altLang="ko-KR" dirty="0"/>
              <a:t>— </a:t>
            </a:r>
            <a:r>
              <a:rPr lang="ko-KR" altLang="en-US" dirty="0"/>
              <a:t>오차가 복호화 정확성에 더 큰 영향을 주므로</a:t>
            </a:r>
            <a:r>
              <a:rPr lang="en-US" altLang="ko-KR" dirty="0"/>
              <a:t>.</a:t>
            </a:r>
            <a:endParaRPr lang="ko-KR" altLang="en-US" dirty="0"/>
          </a:p>
          <a:p>
            <a:pPr lvl="1"/>
            <a:r>
              <a:rPr lang="en-US" altLang="ko-KR" dirty="0"/>
              <a:t>v</a:t>
            </a:r>
            <a:r>
              <a:rPr lang="ko-KR" altLang="en-US" dirty="0"/>
              <a:t>에는 </a:t>
            </a:r>
            <a:r>
              <a:rPr lang="en-US" altLang="ko-KR" dirty="0"/>
              <a:t>d</a:t>
            </a:r>
            <a:r>
              <a:rPr lang="en-US" altLang="ko-KR" baseline="-25000" dirty="0"/>
              <a:t>v</a:t>
            </a:r>
            <a:r>
              <a:rPr lang="en-US" altLang="ko-KR" dirty="0"/>
              <a:t> = 4 </a:t>
            </a:r>
            <a:r>
              <a:rPr lang="ko-KR" altLang="en-US" dirty="0"/>
              <a:t>사용 </a:t>
            </a:r>
            <a:r>
              <a:rPr lang="en-US" altLang="ko-KR" dirty="0"/>
              <a:t>— </a:t>
            </a:r>
            <a:r>
              <a:rPr lang="ko-KR" altLang="en-US" dirty="0"/>
              <a:t>허용 오차가 상대적으로 큼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906E80-D30B-C45B-5CCB-C011C9C52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26</a:t>
            </a:fld>
            <a:endParaRPr lang="ko-KR" altLang="en-US"/>
          </a:p>
        </p:txBody>
      </p:sp>
      <p:graphicFrame>
        <p:nvGraphicFramePr>
          <p:cNvPr id="5" name="Table 6">
            <a:extLst>
              <a:ext uri="{FF2B5EF4-FFF2-40B4-BE49-F238E27FC236}">
                <a16:creationId xmlns:a16="http://schemas.microsoft.com/office/drawing/2014/main" id="{B7F418E6-E66C-281B-6051-E3300485F9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3251215"/>
              </p:ext>
            </p:extLst>
          </p:nvPr>
        </p:nvGraphicFramePr>
        <p:xfrm>
          <a:off x="838200" y="1295322"/>
          <a:ext cx="10515600" cy="13716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d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 err="1">
                          <a:solidFill>
                            <a:schemeClr val="bg1"/>
                          </a:solidFill>
                        </a:rPr>
                        <a:t>저장</a:t>
                      </a:r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1800" b="1" dirty="0" err="1">
                          <a:solidFill>
                            <a:schemeClr val="bg1"/>
                          </a:solidFill>
                        </a:rPr>
                        <a:t>비트</a:t>
                      </a:r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 수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 err="1">
                          <a:solidFill>
                            <a:schemeClr val="bg1"/>
                          </a:solidFill>
                        </a:rPr>
                        <a:t>오차</a:t>
                      </a:r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1800" b="1" dirty="0" err="1">
                          <a:solidFill>
                            <a:schemeClr val="bg1"/>
                          </a:solidFill>
                        </a:rPr>
                        <a:t>상계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 err="1">
                          <a:solidFill>
                            <a:srgbClr val="404040"/>
                          </a:solidFill>
                        </a:rPr>
                        <a:t>크다</a:t>
                      </a:r>
                      <a:r>
                        <a:rPr sz="1800" dirty="0">
                          <a:solidFill>
                            <a:srgbClr val="404040"/>
                          </a:solidFill>
                        </a:rPr>
                        <a:t> (d=10)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크다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작다 (≤2)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작다 (d=4)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작다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 err="1">
                          <a:solidFill>
                            <a:srgbClr val="404040"/>
                          </a:solidFill>
                        </a:rPr>
                        <a:t>크다</a:t>
                      </a:r>
                      <a:r>
                        <a:rPr sz="1800" dirty="0">
                          <a:solidFill>
                            <a:srgbClr val="404040"/>
                          </a:solidFill>
                        </a:rPr>
                        <a:t> (≤104)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654775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67ECDA-0101-C84D-31E3-05F9F82D6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B1D15C-579B-DFBB-21EC-3EA90BE3C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압축된 암호문의 크기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9D5260C-D84E-8695-97E1-F87DBD9AD5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256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256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7680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1024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8704</m:t>
                    </m:r>
                    <m:r>
                      <m:rPr>
                        <m:nor/>
                      </m:rPr>
                      <a:rPr lang="en-US" altLang="ko-KR" i="1"/>
                      <m:t> </m:t>
                    </m:r>
                    <m:r>
                      <m:rPr>
                        <m:nor/>
                      </m:rPr>
                      <a:rPr lang="en-US" altLang="ko-KR" i="1"/>
                      <m:t>bit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1088</m:t>
                    </m:r>
                    <m:r>
                      <m:rPr>
                        <m:nor/>
                      </m:rPr>
                      <a:rPr lang="en-US" altLang="ko-KR" i="1"/>
                      <m:t> </m:t>
                    </m:r>
                    <m:r>
                      <m:rPr>
                        <m:nor/>
                      </m:rPr>
                      <a:rPr lang="en-US" altLang="ko-KR" i="1"/>
                      <m:t>bytes</m:t>
                    </m:r>
                  </m:oMath>
                </a14:m>
                <a:endParaRPr lang="en-US" altLang="ko-KR" dirty="0"/>
              </a:p>
              <a:p>
                <a:pPr lvl="1"/>
                <a:r>
                  <a:rPr lang="ko-KR" altLang="en-US" dirty="0">
                    <a:solidFill>
                      <a:srgbClr val="404040"/>
                    </a:solidFill>
                  </a:rPr>
                  <a:t>압축 전 </a:t>
                </a:r>
                <a:r>
                  <a:rPr lang="en-US" altLang="ko-KR" dirty="0">
                    <a:solidFill>
                      <a:srgbClr val="404040"/>
                    </a:solidFill>
                  </a:rPr>
                  <a:t>1,536 </a:t>
                </a:r>
                <a:r>
                  <a:rPr lang="ko-KR" altLang="en-US" dirty="0">
                    <a:solidFill>
                      <a:srgbClr val="404040"/>
                    </a:solidFill>
                  </a:rPr>
                  <a:t>바이트  →  압축 후 </a:t>
                </a:r>
                <a:r>
                  <a:rPr lang="en-US" altLang="ko-KR" dirty="0">
                    <a:solidFill>
                      <a:srgbClr val="404040"/>
                    </a:solidFill>
                  </a:rPr>
                  <a:t>1,088 </a:t>
                </a:r>
                <a:r>
                  <a:rPr lang="ko-KR" altLang="en-US" dirty="0">
                    <a:solidFill>
                      <a:srgbClr val="404040"/>
                    </a:solidFill>
                  </a:rPr>
                  <a:t>바이트</a:t>
                </a:r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9D5260C-D84E-8695-97E1-F87DBD9AD5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9C80AA-0709-A3B6-119A-AF12DC366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27</a:t>
            </a:fld>
            <a:endParaRPr lang="ko-KR" altLang="en-US"/>
          </a:p>
        </p:txBody>
      </p:sp>
      <p:graphicFrame>
        <p:nvGraphicFramePr>
          <p:cNvPr id="5" name="Table 8">
            <a:extLst>
              <a:ext uri="{FF2B5EF4-FFF2-40B4-BE49-F238E27FC236}">
                <a16:creationId xmlns:a16="http://schemas.microsoft.com/office/drawing/2014/main" id="{BF1BA55A-829D-5281-B334-DDAEB02EAD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3000901"/>
              </p:ext>
            </p:extLst>
          </p:nvPr>
        </p:nvGraphicFramePr>
        <p:xfrm>
          <a:off x="838199" y="2514600"/>
          <a:ext cx="10515600" cy="9144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endParaRPr sz="1800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ML-KEM-512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ML-KEM-768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ML-KEM-1024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 err="1">
                          <a:solidFill>
                            <a:srgbClr val="404040"/>
                          </a:solidFill>
                        </a:rPr>
                        <a:t>압축</a:t>
                      </a:r>
                      <a:r>
                        <a:rPr sz="1800" dirty="0">
                          <a:solidFill>
                            <a:srgbClr val="404040"/>
                          </a:solidFill>
                        </a:rPr>
                        <a:t> 전 → 후 (</a:t>
                      </a:r>
                      <a:r>
                        <a:rPr sz="1800" dirty="0" err="1">
                          <a:solidFill>
                            <a:srgbClr val="404040"/>
                          </a:solidFill>
                        </a:rPr>
                        <a:t>바이트</a:t>
                      </a:r>
                      <a:r>
                        <a:rPr sz="1800" dirty="0">
                          <a:solidFill>
                            <a:srgbClr val="404040"/>
                          </a:solidFill>
                        </a:rPr>
                        <a:t>)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1152 → 768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1536 → 1088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404040"/>
                          </a:solidFill>
                        </a:rPr>
                        <a:t>1920 → 1568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85117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7DD89-C178-01CB-C686-415808EB6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5C74BE-C833-09B7-B104-E0A50ADB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왜 균등분포가 아닌가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B44C1C-9332-73D1-39AD-F58D8F52E3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00000"/>
              </a:lnSpc>
              <a:spcAft>
                <a:spcPts val="800"/>
              </a:spcAft>
            </a:pPr>
            <a:r>
              <a:rPr lang="en-US" altLang="ko-KR" dirty="0" err="1">
                <a:solidFill>
                  <a:srgbClr val="404040"/>
                </a:solidFill>
              </a:rPr>
              <a:t>S</a:t>
            </a:r>
            <a:r>
              <a:rPr lang="en-US" altLang="ko-KR" baseline="-25000" dirty="0" err="1">
                <a:solidFill>
                  <a:srgbClr val="404040"/>
                </a:solidFill>
              </a:rPr>
              <a:t>η</a:t>
            </a:r>
            <a:r>
              <a:rPr lang="ko-KR" altLang="en-US" dirty="0">
                <a:solidFill>
                  <a:srgbClr val="404040"/>
                </a:solidFill>
              </a:rPr>
              <a:t>에서 다항식을 균등 무작위로 뽑으려면 각 계수를 구간 </a:t>
            </a:r>
            <a:r>
              <a:rPr lang="en-US" altLang="ko-KR" dirty="0">
                <a:solidFill>
                  <a:srgbClr val="404040"/>
                </a:solidFill>
              </a:rPr>
              <a:t>[-η, η]</a:t>
            </a:r>
            <a:r>
              <a:rPr lang="ko-KR" altLang="en-US" dirty="0">
                <a:solidFill>
                  <a:srgbClr val="404040"/>
                </a:solidFill>
              </a:rPr>
              <a:t>에서 균등 무작위로 뽑아야 한다</a:t>
            </a:r>
            <a:r>
              <a:rPr lang="en-US" altLang="ko-KR" dirty="0">
                <a:solidFill>
                  <a:srgbClr val="404040"/>
                </a:solidFill>
              </a:rPr>
              <a:t>.</a:t>
            </a:r>
          </a:p>
          <a:p>
            <a:pPr>
              <a:lnSpc>
                <a:spcPct val="200000"/>
              </a:lnSpc>
              <a:spcAft>
                <a:spcPts val="800"/>
              </a:spcAft>
            </a:pPr>
            <a:r>
              <a:rPr lang="ko-KR" altLang="en-US" dirty="0">
                <a:solidFill>
                  <a:srgbClr val="404040"/>
                </a:solidFill>
              </a:rPr>
              <a:t>그런데 이 구간의 정수 개수 </a:t>
            </a:r>
            <a:r>
              <a:rPr lang="en-US" altLang="ko-KR" dirty="0">
                <a:solidFill>
                  <a:srgbClr val="404040"/>
                </a:solidFill>
              </a:rPr>
              <a:t>2η+1</a:t>
            </a:r>
            <a:r>
              <a:rPr lang="ko-KR" altLang="en-US" dirty="0">
                <a:solidFill>
                  <a:srgbClr val="404040"/>
                </a:solidFill>
              </a:rPr>
              <a:t>은 </a:t>
            </a:r>
            <a:r>
              <a:rPr lang="en-US" altLang="ko-KR" dirty="0">
                <a:solidFill>
                  <a:srgbClr val="404040"/>
                </a:solidFill>
              </a:rPr>
              <a:t>2</a:t>
            </a:r>
            <a:r>
              <a:rPr lang="ko-KR" altLang="en-US" dirty="0">
                <a:solidFill>
                  <a:srgbClr val="404040"/>
                </a:solidFill>
              </a:rPr>
              <a:t>의 거듭제곱이 아니다 </a:t>
            </a:r>
            <a:r>
              <a:rPr lang="en-US" altLang="ko-KR" dirty="0">
                <a:solidFill>
                  <a:srgbClr val="404040"/>
                </a:solidFill>
              </a:rPr>
              <a:t>(</a:t>
            </a:r>
            <a:r>
              <a:rPr lang="ko-KR" altLang="en-US" dirty="0">
                <a:solidFill>
                  <a:srgbClr val="404040"/>
                </a:solidFill>
              </a:rPr>
              <a:t>예</a:t>
            </a:r>
            <a:r>
              <a:rPr lang="en-US" altLang="ko-KR" dirty="0">
                <a:solidFill>
                  <a:srgbClr val="404040"/>
                </a:solidFill>
              </a:rPr>
              <a:t>: η=2 </a:t>
            </a:r>
            <a:r>
              <a:rPr lang="ko-KR" altLang="en-US" dirty="0">
                <a:solidFill>
                  <a:srgbClr val="404040"/>
                </a:solidFill>
              </a:rPr>
              <a:t>이면 </a:t>
            </a:r>
            <a:r>
              <a:rPr lang="en-US" altLang="ko-KR" dirty="0">
                <a:solidFill>
                  <a:srgbClr val="404040"/>
                </a:solidFill>
              </a:rPr>
              <a:t>5</a:t>
            </a:r>
            <a:r>
              <a:rPr lang="ko-KR" altLang="en-US" dirty="0">
                <a:solidFill>
                  <a:srgbClr val="404040"/>
                </a:solidFill>
              </a:rPr>
              <a:t>개</a:t>
            </a:r>
            <a:r>
              <a:rPr lang="en-US" altLang="ko-KR" dirty="0">
                <a:solidFill>
                  <a:srgbClr val="404040"/>
                </a:solidFill>
              </a:rPr>
              <a:t>).</a:t>
            </a:r>
            <a:endParaRPr lang="ko-KR" altLang="en-US" dirty="0"/>
          </a:p>
          <a:p>
            <a:pPr marL="0" indent="0">
              <a:lnSpc>
                <a:spcPct val="200000"/>
              </a:lnSpc>
              <a:buNone/>
            </a:pPr>
            <a:r>
              <a:rPr lang="ko-KR" altLang="en-US" dirty="0"/>
              <a:t>∴ 균등 샘플링을 하려면 거부 샘플링이 필요하다</a:t>
            </a:r>
            <a:r>
              <a:rPr lang="en-US" altLang="ko-KR" dirty="0"/>
              <a:t> — </a:t>
            </a:r>
            <a:r>
              <a:rPr lang="ko-KR" altLang="en-US" dirty="0"/>
              <a:t>난수 비트열을 뽑아 범위 밖이면 버리고 </a:t>
            </a:r>
            <a:br>
              <a:rPr lang="en-US" altLang="ko-KR" dirty="0"/>
            </a:br>
            <a:r>
              <a:rPr lang="ko-KR" altLang="en-US" dirty="0"/>
              <a:t>다시 뽑는다</a:t>
            </a:r>
            <a:r>
              <a:rPr lang="en-US" altLang="ko-KR" dirty="0"/>
              <a:t>.</a:t>
            </a:r>
          </a:p>
          <a:p>
            <a:pPr marL="457200" lvl="1" indent="0">
              <a:lnSpc>
                <a:spcPct val="200000"/>
              </a:lnSpc>
              <a:buNone/>
            </a:pPr>
            <a:r>
              <a:rPr lang="en-US" altLang="ko-KR" dirty="0"/>
              <a:t>⟹ </a:t>
            </a:r>
            <a:r>
              <a:rPr lang="ko-KR" altLang="en-US" dirty="0"/>
              <a:t>상수 시간</a:t>
            </a:r>
            <a:r>
              <a:rPr lang="en-US" altLang="ko-KR" dirty="0"/>
              <a:t> </a:t>
            </a:r>
            <a:r>
              <a:rPr lang="ko-KR" altLang="en-US" dirty="0"/>
              <a:t>구현이 어려워지고 </a:t>
            </a:r>
            <a:r>
              <a:rPr lang="ko-KR" altLang="en-US" dirty="0" err="1"/>
              <a:t>부채널</a:t>
            </a:r>
            <a:r>
              <a:rPr lang="ko-KR" altLang="en-US" dirty="0"/>
              <a:t> 공격에 취약해질 수 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DB0911-D4B3-D581-323A-262808EBB2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13821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72F93-B318-9C05-E413-C46AD56CA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E156C9-D10B-A2B9-D7DF-ADBD840B7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Central binomial distribution (CBD)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3BF6E1FD-53CC-D32A-85BB-0E770370DD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ko-KR" dirty="0"/>
                  <a:t>η</a:t>
                </a:r>
                <a:r>
                  <a:rPr lang="ko-KR" altLang="en-US" dirty="0"/>
                  <a:t>개의 비트 쌍 </a:t>
                </a:r>
                <a:r>
                  <a:rPr lang="en-US" altLang="ko-KR" dirty="0"/>
                  <a:t>(aᵢ, bᵢ) (1 ≤ </a:t>
                </a:r>
                <a:r>
                  <a:rPr lang="en-US" altLang="ko-KR" dirty="0" err="1"/>
                  <a:t>i</a:t>
                </a:r>
                <a:r>
                  <a:rPr lang="en-US" altLang="ko-KR" dirty="0"/>
                  <a:t> ≤ η)</a:t>
                </a:r>
                <a:r>
                  <a:rPr lang="ko-KR" altLang="en-US" dirty="0"/>
                  <a:t>를 균등 무작위로 뽑는다</a:t>
                </a:r>
                <a:r>
                  <a:rPr lang="en-US" altLang="ko-KR" dirty="0"/>
                  <a:t>.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ko-KR" altLang="ar-AE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ar-AE" altLang="ko-KR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ar-AE" altLang="ko-KR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ko-KR" alt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 altLang="ko-KR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 altLang="ko-K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ko-KR" altLang="ar-AE" i="1">
                            <a:latin typeface="Cambria Math" panose="02040503050406030204" pitchFamily="18" charset="0"/>
                          </a:rPr>
                          <m:t>𝜂</m:t>
                        </m:r>
                      </m:sup>
                      <m:e/>
                    </m:nary>
                    <m:r>
                      <a:rPr lang="ar-AE" altLang="ko-KR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ko-KR" alt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 altLang="ko-KR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ko-KR" alt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 altLang="ko-K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dirty="0"/>
                  <a:t>, </a:t>
                </a:r>
                <a:r>
                  <a:rPr lang="en-US" altLang="ko-KR" dirty="0">
                    <a:solidFill>
                      <a:srgbClr val="404040"/>
                    </a:solidFill>
                  </a:rPr>
                  <a:t>c ∈ [-</a:t>
                </a:r>
                <a:r>
                  <a:rPr lang="el-GR" altLang="ko-KR" dirty="0">
                    <a:solidFill>
                      <a:srgbClr val="404040"/>
                    </a:solidFill>
                  </a:rPr>
                  <a:t>η, η]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ar-AE" i="1">
                          <a:latin typeface="Cambria Math" panose="02040503050406030204" pitchFamily="18" charset="0"/>
                        </a:rPr>
                        <m:t>𝑃𝑟</m:t>
                      </m:r>
                      <m:r>
                        <a:rPr lang="ar-AE" altLang="ko-K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ar-AE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ar-AE" altLang="ko-K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ar-AE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ar-AE" altLang="ko-KR" i="1">
                          <a:latin typeface="Cambria Math" panose="02040503050406030204" pitchFamily="18" charset="0"/>
                        </a:rPr>
                        <m:t>)=(</m:t>
                      </m:r>
                      <m:f>
                        <m:fPr>
                          <m:type m:val="noBar"/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altLang="ko-KR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𝜂</m:t>
                          </m:r>
                        </m:num>
                        <m:den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𝜂</m:t>
                          </m:r>
                          <m:r>
                            <a:rPr lang="ar-AE" altLang="ko-KR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𝑗</m:t>
                          </m:r>
                        </m:den>
                      </m:f>
                      <m:r>
                        <a:rPr lang="ar-AE" altLang="ko-KR" i="1">
                          <a:latin typeface="Cambria Math" panose="02040503050406030204" pitchFamily="18" charset="0"/>
                        </a:rPr>
                        <m:t>)/</m:t>
                      </m:r>
                      <m:sSup>
                        <m:sSup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altLang="ko-KR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ar-AE" altLang="ko-KR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ko-KR" altLang="ar-AE" i="1">
                              <a:latin typeface="Cambria Math" panose="02040503050406030204" pitchFamily="18" charset="0"/>
                            </a:rPr>
                            <m:t>𝜂</m:t>
                          </m:r>
                        </m:sup>
                      </m:sSup>
                    </m:oMath>
                  </m:oMathPara>
                </a14:m>
                <a:endParaRPr lang="ar-AE" altLang="ko-KR" dirty="0"/>
              </a:p>
              <a:p>
                <a:r>
                  <a:rPr lang="ko-KR" altLang="en-US" dirty="0"/>
                  <a:t>유리한 이유</a:t>
                </a:r>
                <a:r>
                  <a:rPr lang="en-US" altLang="ko-KR" dirty="0"/>
                  <a:t>: </a:t>
                </a:r>
                <a:r>
                  <a:rPr lang="ko-KR" altLang="en-US" dirty="0"/>
                  <a:t>균등 무작위 비트 </a:t>
                </a:r>
                <a:r>
                  <a:rPr lang="en-US" altLang="ko-KR" dirty="0"/>
                  <a:t>2η</a:t>
                </a:r>
                <a:r>
                  <a:rPr lang="ko-KR" altLang="en-US" dirty="0"/>
                  <a:t>개와 덧셈</a:t>
                </a:r>
                <a:r>
                  <a:rPr lang="en-US" altLang="ko-KR" dirty="0"/>
                  <a:t>/</a:t>
                </a:r>
                <a:r>
                  <a:rPr lang="ko-KR" altLang="en-US" dirty="0"/>
                  <a:t>뺄셈만으로 이루어지므로 거부 샘플링이 필요 없고</a:t>
                </a:r>
                <a:r>
                  <a:rPr lang="en-US" altLang="ko-KR" dirty="0"/>
                  <a:t>, </a:t>
                </a:r>
                <a:r>
                  <a:rPr lang="ko-KR" altLang="en-US" dirty="0"/>
                  <a:t>상수 시간 구현이 쉽다</a:t>
                </a:r>
                <a:r>
                  <a:rPr lang="en-US" altLang="ko-KR" dirty="0"/>
                  <a:t>.</a:t>
                </a:r>
                <a:r>
                  <a:rPr lang="ko-KR" altLang="en-US" dirty="0"/>
                  <a:t> </a:t>
                </a:r>
                <a:r>
                  <a:rPr lang="en-US" altLang="ko-KR" dirty="0"/>
                  <a:t>— </a:t>
                </a:r>
                <a:r>
                  <a:rPr lang="ko-KR" altLang="en-US" dirty="0"/>
                  <a:t>앞 슬라이드의 문제를 근본적으로 회피한다</a:t>
                </a:r>
                <a:r>
                  <a:rPr lang="en-US" altLang="ko-KR" dirty="0"/>
                  <a:t>.</a:t>
                </a:r>
              </a:p>
              <a:p>
                <a:r>
                  <a:rPr lang="ko-KR" altLang="en-US" dirty="0"/>
                  <a:t>예</a:t>
                </a:r>
                <a:r>
                  <a:rPr lang="en-US" altLang="ko-KR" dirty="0"/>
                  <a:t>) </a:t>
                </a:r>
                <a:r>
                  <a:rPr lang="el-GR" altLang="ko-KR" dirty="0"/>
                  <a:t>η = 2</a:t>
                </a:r>
                <a:endParaRPr lang="ar-AE" altLang="ko-KR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3BF6E1FD-53CC-D32A-85BB-0E770370DD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8927AE-C055-2319-1B46-DED172351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29</a:t>
            </a:fld>
            <a:endParaRPr lang="ko-KR" altLang="en-US"/>
          </a:p>
        </p:txBody>
      </p:sp>
      <p:graphicFrame>
        <p:nvGraphicFramePr>
          <p:cNvPr id="5" name="Table 6">
            <a:extLst>
              <a:ext uri="{FF2B5EF4-FFF2-40B4-BE49-F238E27FC236}">
                <a16:creationId xmlns:a16="http://schemas.microsoft.com/office/drawing/2014/main" id="{E0EDF79D-DBB7-55AC-63D1-6454BB9C2C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5680223"/>
              </p:ext>
            </p:extLst>
          </p:nvPr>
        </p:nvGraphicFramePr>
        <p:xfrm>
          <a:off x="838200" y="4872711"/>
          <a:ext cx="10515600" cy="100584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j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-2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-1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sz="18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Pr(c=j)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1/16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4/16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6/16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404040"/>
                          </a:solidFill>
                        </a:rPr>
                        <a:t>4/16</a:t>
                      </a:r>
                      <a:endParaRPr sz="180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404040"/>
                          </a:solidFill>
                        </a:rPr>
                        <a:t>1/16</a:t>
                      </a:r>
                      <a:endParaRPr sz="18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23014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46939-CAAB-E59C-FE56-6AB07C888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7ADC48-B401-C79D-EFDA-E2A0DC2A1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CBD</a:t>
            </a:r>
            <a:r>
              <a:rPr lang="ko-KR" altLang="en-US" dirty="0"/>
              <a:t>를 쓰는 이유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ACC471-5474-E6D4-2C4E-70D6D68F6F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ko-KR" altLang="en-US" dirty="0"/>
              <a:t>상수 시간 구현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부동소수점 연산</a:t>
            </a:r>
            <a:r>
              <a:rPr lang="en-US" altLang="ko-KR" dirty="0"/>
              <a:t>(</a:t>
            </a:r>
            <a:r>
              <a:rPr lang="ko-KR" altLang="en-US" dirty="0"/>
              <a:t>가우스 샘플링에 필요</a:t>
            </a:r>
            <a:r>
              <a:rPr lang="en-US" altLang="ko-KR" dirty="0"/>
              <a:t>)</a:t>
            </a:r>
            <a:r>
              <a:rPr lang="ko-KR" altLang="en-US" dirty="0"/>
              <a:t>과 거부 샘플링</a:t>
            </a:r>
            <a:r>
              <a:rPr lang="en-US" altLang="ko-KR" dirty="0"/>
              <a:t>(</a:t>
            </a:r>
            <a:r>
              <a:rPr lang="ko-KR" altLang="en-US" dirty="0"/>
              <a:t>균등 샘플링에 필요</a:t>
            </a:r>
            <a:r>
              <a:rPr lang="en-US" altLang="ko-KR" dirty="0"/>
              <a:t>) </a:t>
            </a:r>
            <a:r>
              <a:rPr lang="ko-KR" altLang="en-US" dirty="0"/>
              <a:t>둘 다 피할 수 있다</a:t>
            </a:r>
            <a:r>
              <a:rPr lang="en-US" altLang="ko-KR" dirty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dirty="0"/>
              <a:t>0 </a:t>
            </a:r>
            <a:r>
              <a:rPr lang="ko-KR" altLang="en-US" dirty="0"/>
              <a:t>근방에 확률이 몰려 있어 복호화 오류 확률을 낮추는 데 유리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앞 예제 표에서 </a:t>
            </a:r>
            <a:r>
              <a:rPr lang="en-US" altLang="ko-KR" dirty="0" err="1"/>
              <a:t>Pr</a:t>
            </a:r>
            <a:r>
              <a:rPr lang="en-US" altLang="ko-KR" dirty="0"/>
              <a:t>(c=0)=6/16</a:t>
            </a:r>
            <a:r>
              <a:rPr lang="ko-KR" altLang="en-US" dirty="0"/>
              <a:t>으로 가장 크다</a:t>
            </a:r>
            <a:r>
              <a:rPr lang="en-US" altLang="ko-KR" dirty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ko-KR" altLang="en-US" dirty="0"/>
              <a:t>이산 가우스 분포</a:t>
            </a:r>
            <a:r>
              <a:rPr lang="en-US" altLang="ko-KR" dirty="0"/>
              <a:t>(</a:t>
            </a:r>
            <a:r>
              <a:rPr lang="ko-KR" altLang="en-US" dirty="0"/>
              <a:t>격자 기반 암호의 이론적 표준 선택</a:t>
            </a:r>
            <a:r>
              <a:rPr lang="en-US" altLang="ko-KR" dirty="0"/>
              <a:t>)</a:t>
            </a:r>
            <a:r>
              <a:rPr lang="ko-KR" altLang="en-US" dirty="0"/>
              <a:t>에 대한 좋은 근사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754C7D-033F-D4EF-E153-B3B59A45C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47989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B57DA-57ED-A8DF-0AFF-E15DD80FB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5DF82F-B3B6-575B-E15A-4ED43D32E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빠른 곱셈 다항식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F878C9F0-3B6A-2891-4642-586E51F336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ar-AE" i="1">
                              <a:latin typeface="Cambria Math"/>
                            </a:rPr>
                            <m:t>𝑅</m:t>
                          </m:r>
                        </m:e>
                        <m:sub>
                          <m:r>
                            <a:rPr lang="ko-KR" altLang="ar-AE" i="1">
                              <a:latin typeface="Cambria Math"/>
                            </a:rPr>
                            <m:t>𝑞</m:t>
                          </m:r>
                        </m:sub>
                      </m:sSub>
                      <m:r>
                        <a:rPr lang="ar-AE" altLang="ko-KR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altLang="ko-KR" i="1">
                              <a:latin typeface="Cambria Math"/>
                            </a:rPr>
                            <m:t>ℤ</m:t>
                          </m:r>
                        </m:e>
                        <m:sub>
                          <m:r>
                            <a:rPr lang="ar-AE" altLang="ko-KR" i="1">
                              <a:latin typeface="Cambria Math"/>
                            </a:rPr>
                            <m:t>3329</m:t>
                          </m:r>
                        </m:sub>
                      </m:sSub>
                      <m:r>
                        <a:rPr lang="ar-AE" altLang="ko-KR" i="1">
                          <a:latin typeface="Cambria Math"/>
                        </a:rPr>
                        <m:t>[</m:t>
                      </m:r>
                      <m:r>
                        <a:rPr lang="ko-KR" altLang="ar-AE" i="1">
                          <a:latin typeface="Cambria Math"/>
                        </a:rPr>
                        <m:t>𝑥</m:t>
                      </m:r>
                      <m:r>
                        <a:rPr lang="ar-AE" altLang="ko-KR" i="1">
                          <a:latin typeface="Cambria Math"/>
                        </a:rPr>
                        <m:t>]/(</m:t>
                      </m:r>
                      <m:sSup>
                        <m:sSup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ar-AE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ar-AE" altLang="ko-KR" i="1">
                              <a:latin typeface="Cambria Math"/>
                            </a:rPr>
                            <m:t>256</m:t>
                          </m:r>
                        </m:sup>
                      </m:sSup>
                      <m:r>
                        <a:rPr lang="ar-AE" altLang="ko-KR" i="1">
                          <a:latin typeface="Cambria Math"/>
                        </a:rPr>
                        <m:t>+</m:t>
                      </m:r>
                      <m:r>
                        <a:rPr lang="ar-AE" altLang="ko-KR" i="1">
                          <a:latin typeface="Cambria Math"/>
                        </a:rPr>
                        <m:t>1</m:t>
                      </m:r>
                      <m:r>
                        <a:rPr lang="ar-AE" altLang="ko-KR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ar-AE" altLang="ko-KR" dirty="0"/>
              </a:p>
              <a:p>
                <a:pPr>
                  <a:lnSpc>
                    <a:spcPct val="115000"/>
                  </a:lnSpc>
                  <a:spcAft>
                    <a:spcPts val="800"/>
                  </a:spcAft>
                </a:pP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Kyber </a:t>
                </a: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암호화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·</a:t>
                </a: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복호화 연산 시간의 대부분은 </a:t>
                </a:r>
                <a:r>
                  <a:rPr lang="en-US" altLang="ko-KR" dirty="0" err="1">
                    <a:solidFill>
                      <a:srgbClr val="404040"/>
                    </a:solidFill>
                    <a:latin typeface="Segoe UI Symbol"/>
                  </a:rPr>
                  <a:t>R</a:t>
                </a:r>
                <a:r>
                  <a:rPr lang="en-US" altLang="ko-KR" baseline="-25000" dirty="0" err="1">
                    <a:solidFill>
                      <a:srgbClr val="404040"/>
                    </a:solidFill>
                    <a:latin typeface="Segoe UI Symbol"/>
                  </a:rPr>
                  <a:t>q</a:t>
                </a: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에서의 다항식 곱셈이 차지한다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.</a:t>
                </a:r>
              </a:p>
              <a:p>
                <a:pPr>
                  <a:lnSpc>
                    <a:spcPct val="115000"/>
                  </a:lnSpc>
                  <a:spcAft>
                    <a:spcPts val="800"/>
                  </a:spcAft>
                </a:pP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이 곱셈은 </a:t>
                </a:r>
                <a:r>
                  <a:rPr lang="ko-KR" altLang="en-US" dirty="0" err="1">
                    <a:solidFill>
                      <a:srgbClr val="404040"/>
                    </a:solidFill>
                    <a:latin typeface="Segoe UI Symbol"/>
                  </a:rPr>
                  <a:t>수론적</a:t>
                </a: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 변환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(NTT, Number-Theoretic Transform)</a:t>
                </a: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으로 크게 가속할 수 있다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.</a:t>
                </a:r>
              </a:p>
              <a:p>
                <a:pPr>
                  <a:lnSpc>
                    <a:spcPct val="115000"/>
                  </a:lnSpc>
                  <a:spcAft>
                    <a:spcPts val="800"/>
                  </a:spcAft>
                </a:pP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NTT</a:t>
                </a: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는 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FIPS 203 </a:t>
                </a:r>
                <a:r>
                  <a:rPr lang="ko-KR" altLang="en-US" dirty="0">
                    <a:solidFill>
                      <a:srgbClr val="404040"/>
                    </a:solidFill>
                    <a:latin typeface="Segoe UI Symbol"/>
                  </a:rPr>
                  <a:t>표준 구현에서 필수적인 부분이다</a:t>
                </a:r>
                <a:r>
                  <a:rPr lang="en-US" altLang="ko-KR" dirty="0">
                    <a:solidFill>
                      <a:srgbClr val="404040"/>
                    </a:solidFill>
                    <a:latin typeface="Segoe UI Symbol"/>
                  </a:rPr>
                  <a:t>.</a:t>
                </a: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F878C9F0-3B6A-2891-4642-586E51F336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E79445-262E-2D1F-42A8-BF02D3A82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048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6"/>
        </a:fillRef>
        <a:effectRef idx="1">
          <a:schemeClr val="accent6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4213</TotalTime>
  <Words>2611</Words>
  <Application>Microsoft Office PowerPoint</Application>
  <PresentationFormat>와이드스크린</PresentationFormat>
  <Paragraphs>461</Paragraphs>
  <Slides>31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36" baseType="lpstr">
      <vt:lpstr>맑은 고딕</vt:lpstr>
      <vt:lpstr>Arial</vt:lpstr>
      <vt:lpstr>Cambria Math</vt:lpstr>
      <vt:lpstr>Segoe UI Symbol</vt:lpstr>
      <vt:lpstr>Office 테마</vt:lpstr>
      <vt:lpstr>Post-Quantum Cryptography</vt:lpstr>
      <vt:lpstr>Plan</vt:lpstr>
      <vt:lpstr>표기법</vt:lpstr>
      <vt:lpstr>평문 공간과 인코딩</vt:lpstr>
      <vt:lpstr>Floor, Ceiling</vt:lpstr>
      <vt:lpstr>Roundq</vt:lpstr>
      <vt:lpstr>Roundq 원형 다이어그램</vt:lpstr>
      <vt:lpstr>Roundq의 다항식 확장</vt:lpstr>
      <vt:lpstr>도메인 파라미터</vt:lpstr>
      <vt:lpstr>키 생성</vt:lpstr>
      <vt:lpstr>암호화, 복호화</vt:lpstr>
      <vt:lpstr>예제1: 키 생성</vt:lpstr>
      <vt:lpstr>예제1: 암호화</vt:lpstr>
      <vt:lpstr>예제1: 복호화</vt:lpstr>
      <vt:lpstr>안전성</vt:lpstr>
      <vt:lpstr>복호화가 항상 성공하는가?</vt:lpstr>
      <vt:lpstr>오차 다항식의 크기 상계</vt:lpstr>
      <vt:lpstr>ML-KEM-768</vt:lpstr>
      <vt:lpstr>암호화 키∙암호문 크기</vt:lpstr>
      <vt:lpstr>공개키 크기 감소</vt:lpstr>
      <vt:lpstr>Compressq, Decompressq</vt:lpstr>
      <vt:lpstr>압축 오차 상계</vt:lpstr>
      <vt:lpstr>예제2: q = 19, d = 2</vt:lpstr>
      <vt:lpstr>예제3: q = 3329, d = 10</vt:lpstr>
      <vt:lpstr>압축 파라미터 비교</vt:lpstr>
      <vt:lpstr>압축 파라미터와 정확도</vt:lpstr>
      <vt:lpstr>압축된 암호문의 크기</vt:lpstr>
      <vt:lpstr>왜 균등분포가 아닌가</vt:lpstr>
      <vt:lpstr>Central binomial distribution (CBD)</vt:lpstr>
      <vt:lpstr>CBD를 쓰는 이유</vt:lpstr>
      <vt:lpstr>빠른 곱셈 다항식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규빈 박</dc:creator>
  <cp:lastModifiedBy>규빈 박</cp:lastModifiedBy>
  <cp:revision>1454</cp:revision>
  <dcterms:created xsi:type="dcterms:W3CDTF">2026-03-17T05:07:50Z</dcterms:created>
  <dcterms:modified xsi:type="dcterms:W3CDTF">2026-08-04T13:02:08Z</dcterms:modified>
</cp:coreProperties>
</file>