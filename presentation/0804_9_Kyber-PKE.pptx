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3" r:id="rId13"/>
    <p:sldId id="345" r:id="rId14"/>
    <p:sldId id="346" r:id="rId15"/>
    <p:sldId id="347" r:id="rId16"/>
    <p:sldId id="349" r:id="rId17"/>
    <p:sldId id="350" r:id="rId18"/>
    <p:sldId id="351" r:id="rId19"/>
    <p:sldId id="352" r:id="rId20"/>
    <p:sldId id="353" r:id="rId21"/>
    <p:sldId id="355" r:id="rId22"/>
    <p:sldId id="356" r:id="rId23"/>
    <p:sldId id="357" r:id="rId24"/>
    <p:sldId id="359" r:id="rId25"/>
    <p:sldId id="360" r:id="rId26"/>
    <p:sldId id="361" r:id="rId27"/>
    <p:sldId id="362" r:id="rId28"/>
    <p:sldId id="363" r:id="rId29"/>
    <p:sldId id="364" r:id="rId30"/>
    <p:sldId id="366" r:id="rId31"/>
    <p:sldId id="367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altLang="ko-KR" dirty="0"/>
          </a:p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637E-82D6-4563-BCF0-C9101F2B5148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D677-7AD2-4A27-94BD-C65458D22428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B8A52-06C2-8583-0C1B-A817C4737BF0}"/>
              </a:ext>
            </a:extLst>
          </p:cNvPr>
          <p:cNvSpPr/>
          <p:nvPr userDrawn="1"/>
        </p:nvSpPr>
        <p:spPr>
          <a:xfrm flipV="1">
            <a:off x="405063" y="889665"/>
            <a:ext cx="1138187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5C70B-7871-D2F3-E49B-85D4BEBAD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Post-Quantum Cryptography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A4BB57-D4CA-4972-9722-922AA1C02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ko-KR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9. </a:t>
            </a:r>
            <a:r>
              <a:rPr lang="en-US" altLang="ko-KR" dirty="0"/>
              <a:t>Kyber-PKE</a:t>
            </a:r>
            <a:endParaRPr lang="en-US" altLang="ko-KR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27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DB61-F834-D9E7-299E-9100B8F3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2A060-71A6-5EA2-F906-1524933F5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962"/>
            <a:ext cx="10515600" cy="5037388"/>
          </a:xfrm>
        </p:spPr>
        <p:txBody>
          <a:bodyPr anchor="t">
            <a:norm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/>
              <a:t>표기법과 </a:t>
            </a:r>
            <a:r>
              <a:rPr lang="ko-KR" altLang="en-US" dirty="0" err="1"/>
              <a:t>라운딩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/>
              <a:t>Kyber-PKE </a:t>
            </a:r>
            <a:r>
              <a:rPr lang="ko-KR" altLang="en-US" dirty="0"/>
              <a:t>정의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/>
              <a:t>안전성과 정확성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/>
              <a:t>작은 공개키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/>
              <a:t>암호문 압축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/>
              <a:t>CBD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AA46B-FCCE-8A34-657F-EEC8E88D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6756302-4A72-F2DD-A7FF-B2186F87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/>
          <a:p>
            <a:r>
              <a:rPr lang="en-US" altLang="ko-KR" dirty="0"/>
              <a:t>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571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C949E7-753B-D6EE-304C-8ABB0CFE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표기법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E138661-CEC1-D4EB-00A7-E688103DA9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200000"/>
                  </a:lnSpc>
                </a:pPr>
                <a:r>
                  <a:rPr lang="en-US" altLang="ko-KR" dirty="0"/>
                  <a:t>Recall:</a:t>
                </a:r>
              </a:p>
              <a:p>
                <a:pPr lvl="1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i="1"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[</m:t>
                    </m:r>
                    <m:r>
                      <a:rPr lang="ko-KR" altLang="ar-AE" i="1">
                        <a:latin typeface="Cambria Math"/>
                      </a:rPr>
                      <m:t>𝑥</m:t>
                    </m:r>
                    <m:r>
                      <a:rPr lang="ar-AE" altLang="ko-KR" i="1">
                        <a:latin typeface="Cambria Math"/>
                      </a:rPr>
                      <m:t>]/(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ko-KR" altLang="ar-AE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ar-AE" altLang="ko-KR" i="1">
                        <a:latin typeface="Cambria Math"/>
                      </a:rPr>
                      <m:t>+</m:t>
                    </m:r>
                    <m:r>
                      <a:rPr lang="ar-AE" altLang="ko-KR" i="1">
                        <a:latin typeface="Cambria Math"/>
                      </a:rPr>
                      <m:t>1</m:t>
                    </m:r>
                    <m:r>
                      <a:rPr lang="ar-AE" altLang="ko-KR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계수가 </a:t>
                </a:r>
                <a:r>
                  <a:rPr lang="en-US" altLang="ko-KR" dirty="0" err="1"/>
                  <a:t>Z</a:t>
                </a:r>
                <a:r>
                  <a:rPr lang="en-US" altLang="ko-KR" baseline="-25000" dirty="0" err="1"/>
                  <a:t>q</a:t>
                </a:r>
                <a:r>
                  <a:rPr lang="ko-KR" altLang="en-US" dirty="0"/>
                  <a:t>인 차수 </a:t>
                </a:r>
                <a:r>
                  <a:rPr lang="en-US" altLang="ko-KR" dirty="0"/>
                  <a:t>&lt; n</a:t>
                </a:r>
                <a:r>
                  <a:rPr lang="ko-KR" altLang="en-US" dirty="0"/>
                  <a:t>인 다항식 환</a:t>
                </a:r>
                <a:endParaRPr lang="ar-AE" altLang="ko-KR" dirty="0"/>
              </a:p>
              <a:p>
                <a:pPr lvl="1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𝜂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={</m:t>
                    </m:r>
                    <m:r>
                      <a:rPr lang="ko-KR" altLang="ar-AE" i="1">
                        <a:latin typeface="Cambria Math"/>
                      </a:rPr>
                      <m:t>𝑓</m:t>
                    </m:r>
                    <m:r>
                      <a:rPr lang="ko-KR" altLang="ar-AE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:</m:t>
                    </m:r>
                    <m:d>
                      <m:dPr>
                        <m:begChr m:val="‖"/>
                        <m:endChr m:val="}"/>
                        <m:ctrlPr>
                          <a:rPr lang="ar-AE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i="1">
                            <a:latin typeface="Cambria Math"/>
                          </a:rPr>
                          <m:t>𝑓</m:t>
                        </m:r>
                        <m:sSub>
                          <m:sSub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‖</m:t>
                            </m:r>
                          </m:e>
                          <m:sub>
                            <m:r>
                              <a:rPr lang="ar-AE" altLang="ko-KR" i="1">
                                <a:latin typeface="Cambria Math"/>
                              </a:rPr>
                              <m:t>∞</m:t>
                            </m:r>
                          </m:sub>
                        </m:sSub>
                        <m:r>
                          <a:rPr lang="ar-AE" altLang="ko-KR" i="1">
                            <a:latin typeface="Cambria Math"/>
                          </a:rPr>
                          <m:t>≤</m:t>
                        </m:r>
                        <m:r>
                          <a:rPr lang="ko-KR" altLang="ar-AE" i="1">
                            <a:latin typeface="Cambria Math"/>
                          </a:rPr>
                          <m:t>𝜂</m:t>
                        </m:r>
                      </m:e>
                    </m:d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계수 크기가 </a:t>
                </a:r>
                <a:r>
                  <a:rPr lang="el-GR" altLang="ko-KR" dirty="0">
                    <a:solidFill>
                      <a:srgbClr val="404040"/>
                    </a:solidFill>
                    <a:latin typeface="Segoe UI Symbol"/>
                  </a:rPr>
                  <a:t>η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이하인 작은 다항식</a:t>
                </a:r>
                <a:endParaRPr lang="ar-AE" altLang="ko-KR" dirty="0"/>
              </a:p>
              <a:p>
                <a:pPr lvl="1">
                  <a:lnSpc>
                    <a:spcPct val="20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ko-KR" altLang="ar-AE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ko-KR" i="1" dirty="0">
                    <a:latin typeface="Cambria Math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𝜂</m:t>
                        </m:r>
                      </m:sub>
                      <m:sup>
                        <m:r>
                          <a:rPr lang="ko-KR" altLang="ar-AE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성분이 각각 </a:t>
                </a:r>
                <a:r>
                  <a:rPr lang="en-US" altLang="ko-KR" dirty="0" err="1"/>
                  <a:t>R</a:t>
                </a:r>
                <a:r>
                  <a:rPr lang="en-US" altLang="ko-KR" baseline="-25000" dirty="0" err="1"/>
                  <a:t>q</a:t>
                </a:r>
                <a:r>
                  <a:rPr lang="en-US" altLang="ko-KR" dirty="0"/>
                  <a:t>, S</a:t>
                </a:r>
                <a:r>
                  <a:rPr lang="el-GR" altLang="ko-KR" baseline="-25000" dirty="0">
                    <a:solidFill>
                      <a:srgbClr val="404040"/>
                    </a:solidFill>
                    <a:latin typeface="Segoe UI Symbol"/>
                  </a:rPr>
                  <a:t>η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인 길이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k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벡터</a:t>
                </a:r>
                <a:endParaRPr lang="ar-AE" altLang="ko-KR" dirty="0"/>
              </a:p>
              <a:p>
                <a:pPr lvl="1">
                  <a:lnSpc>
                    <a:spcPct val="200000"/>
                  </a:lnSpc>
                </a:pPr>
                <a:r>
                  <a:rPr lang="en-US" altLang="ko-KR" dirty="0"/>
                  <a:t>MLWE (Module-LWE):</a:t>
                </a:r>
              </a:p>
              <a:p>
                <a:pPr lvl="2">
                  <a:lnSpc>
                    <a:spcPct val="200000"/>
                  </a:lnSpc>
                </a:pPr>
                <a:r>
                  <a:rPr lang="en-US" altLang="ko-KR" dirty="0"/>
                  <a:t>(A, t=</a:t>
                </a:r>
                <a:r>
                  <a:rPr lang="en-US" altLang="ko-KR" dirty="0" err="1"/>
                  <a:t>As+e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로부터 비밀 </a:t>
                </a:r>
                <a:r>
                  <a:rPr lang="en-US" altLang="ko-KR" dirty="0"/>
                  <a:t>s</a:t>
                </a:r>
                <a:r>
                  <a:rPr lang="ko-KR" altLang="en-US" dirty="0"/>
                  <a:t>를 찾는 문제가 계산적으로 어렵다는 가정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E138661-CEC1-D4EB-00A7-E688103DA9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00B445-03C5-6840-133D-042020140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238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D5767-F184-8692-045D-CBC66203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012A05-1E25-D77B-CAC0-86A276BA8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평문</a:t>
            </a:r>
            <a:r>
              <a:rPr lang="ko-KR" altLang="en-US" dirty="0"/>
              <a:t> 공간과 인코딩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FAAB0FD-E909-9BB7-26DC-154139F23F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200000"/>
                  </a:lnSpc>
                  <a:spcAft>
                    <a:spcPts val="800"/>
                  </a:spcAft>
                </a:pPr>
                <a:r>
                  <a:rPr lang="ko-KR" altLang="en-US" dirty="0" err="1">
                    <a:solidFill>
                      <a:srgbClr val="404040"/>
                    </a:solidFill>
                    <a:latin typeface="Segoe UI Symbol"/>
                  </a:rPr>
                  <a:t>평문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 공간은 길이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n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의 </a:t>
                </a:r>
                <a:r>
                  <a:rPr lang="ko-KR" altLang="en-US" dirty="0" err="1">
                    <a:solidFill>
                      <a:srgbClr val="404040"/>
                    </a:solidFill>
                    <a:latin typeface="Segoe UI Symbol"/>
                  </a:rPr>
                  <a:t>비트열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{0,1}ⁿ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이다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.</a:t>
                </a:r>
              </a:p>
              <a:p>
                <a:pPr>
                  <a:lnSpc>
                    <a:spcPct val="200000"/>
                  </a:lnSpc>
                  <a:spcAft>
                    <a:spcPts val="800"/>
                  </a:spcAft>
                </a:pPr>
                <a:r>
                  <a:rPr lang="ko-KR" altLang="en-US" dirty="0" err="1">
                    <a:solidFill>
                      <a:srgbClr val="404040"/>
                    </a:solidFill>
                    <a:latin typeface="Segoe UI Symbol"/>
                  </a:rPr>
                  <a:t>평문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m = (m₀, m₁, …, m_{n-1}) ∈ {0,1}ⁿ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은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0-1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계수를 갖는 다항식과 자연스럽게 대응시킨다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.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𝑚</m:t>
                      </m:r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𝑥</m:t>
                      </m:r>
                      <m:r>
                        <a:rPr lang="ar-AE" altLang="ko-KR" i="1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ko-KR" altLang="ar-AE" i="1">
                          <a:latin typeface="Cambria Math"/>
                        </a:rPr>
                        <m:t>𝑥</m:t>
                      </m:r>
                      <m:r>
                        <a:rPr lang="ar-AE" altLang="ko-KR" i="1">
                          <a:latin typeface="Cambria Math"/>
                        </a:rPr>
                        <m:t>+⋯+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  <m:r>
                            <a:rPr lang="ko-KR" altLang="ar-AE" i="1">
                              <a:latin typeface="Cambria Math"/>
                            </a:rPr>
                            <m:t>−</m:t>
                          </m:r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  <m:r>
                            <a:rPr lang="ko-KR" altLang="ar-AE" i="1">
                              <a:latin typeface="Cambria Math"/>
                            </a:rPr>
                            <m:t>−</m:t>
                          </m:r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ar-AE" altLang="ko-KR" i="1" dirty="0"/>
              </a:p>
              <a:p>
                <a:pPr>
                  <a:lnSpc>
                    <a:spcPct val="200000"/>
                  </a:lnSpc>
                </a:pPr>
                <a:r>
                  <a:rPr lang="ko-KR" altLang="en-US" dirty="0"/>
                  <a:t>예제</a:t>
                </a:r>
                <a:r>
                  <a:rPr lang="en-US" altLang="ko-KR" dirty="0"/>
                  <a:t>:</a:t>
                </a:r>
                <a:endParaRPr lang="ko-KR" altLang="en-US" dirty="0"/>
              </a:p>
              <a:p>
                <a:pPr lvl="1">
                  <a:lnSpc>
                    <a:spcPct val="200000"/>
                  </a:lnSpc>
                </a:pPr>
                <a:r>
                  <a:rPr lang="en-US" altLang="ko-KR" dirty="0"/>
                  <a:t>n = 5, m = 10110  ⟶  m(x) = 1 + x² + x³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FAAB0FD-E909-9BB7-26DC-154139F23F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BFCFBF-34A3-065D-F153-77E1DFE7E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69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393D9-B72A-02B9-69B9-4E0E742A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4EF1-E38C-AE45-7583-251B847C4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Floor, Ceiling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4841BE-AA61-095A-45ED-AF8997794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47721"/>
            <a:ext cx="5257800" cy="4701089"/>
          </a:xfrm>
        </p:spPr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ko-KR" altLang="en-US" dirty="0">
                <a:latin typeface="Segoe UI Symbol"/>
              </a:rPr>
              <a:t>가장 가까운 정수 ⌈</a:t>
            </a:r>
            <a:r>
              <a:rPr lang="en-US" altLang="ko-KR" dirty="0">
                <a:latin typeface="Segoe UI Symbol"/>
              </a:rPr>
              <a:t>x⌋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x</a:t>
            </a:r>
            <a:r>
              <a:rPr lang="ko-KR" altLang="en-US" dirty="0"/>
              <a:t>에 가장 가까운 정수</a:t>
            </a:r>
            <a:r>
              <a:rPr lang="en-US" altLang="ko-KR" dirty="0"/>
              <a:t> 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동점</a:t>
            </a:r>
            <a:r>
              <a:rPr lang="en-US" altLang="ko-KR" dirty="0"/>
              <a:t>(tie)</a:t>
            </a:r>
            <a:r>
              <a:rPr lang="ko-KR" altLang="en-US" dirty="0"/>
              <a:t>인 경우 위로 반올림한다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예</a:t>
            </a:r>
            <a:r>
              <a:rPr lang="en-US" altLang="ko-KR" dirty="0">
                <a:latin typeface="Segoe UI Symbol"/>
              </a:rPr>
              <a:t>) ⌈13.3⌋=13, ⌈13.5⌋=14, ⌈13.7⌋=14, </a:t>
            </a:r>
            <a:br>
              <a:rPr lang="en-US" altLang="ko-KR" dirty="0"/>
            </a:br>
            <a:r>
              <a:rPr lang="en-US" altLang="ko-KR" dirty="0">
                <a:latin typeface="Segoe UI Symbol"/>
              </a:rPr>
              <a:t>⌈-13.5⌋=-13, ⌈-13.7⌋=-14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2EA28E-7FB1-FD72-0D30-190BCF55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BD68DDF-B9C9-AAA5-0A6E-267E949AE123}"/>
              </a:ext>
            </a:extLst>
          </p:cNvPr>
          <p:cNvSpPr txBox="1">
            <a:spLocks/>
          </p:cNvSpPr>
          <p:nvPr/>
        </p:nvSpPr>
        <p:spPr>
          <a:xfrm>
            <a:off x="990600" y="1447722"/>
            <a:ext cx="5257800" cy="47010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en-US" altLang="ko-KR" dirty="0"/>
              <a:t>Floor / Ceiling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Segoe UI Symbol"/>
              </a:rPr>
              <a:t>⌊x⌋ : x </a:t>
            </a:r>
            <a:r>
              <a:rPr lang="ko-KR" altLang="en-US" dirty="0"/>
              <a:t>이하의 가장 큰 정수</a:t>
            </a:r>
          </a:p>
          <a:p>
            <a:pPr>
              <a:lnSpc>
                <a:spcPct val="200000"/>
              </a:lnSpc>
            </a:pPr>
            <a:r>
              <a:rPr lang="ko-KR" altLang="en-US" dirty="0">
                <a:latin typeface="Segoe UI Symbol"/>
              </a:rPr>
              <a:t>⌈</a:t>
            </a:r>
            <a:r>
              <a:rPr lang="en-US" altLang="ko-KR" dirty="0">
                <a:latin typeface="Segoe UI Symbol"/>
              </a:rPr>
              <a:t>x⌉ : x </a:t>
            </a:r>
            <a:r>
              <a:rPr lang="ko-KR" altLang="en-US" dirty="0"/>
              <a:t>이상의 가장 작은 정수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예</a:t>
            </a:r>
            <a:r>
              <a:rPr lang="en-US" altLang="ko-KR" dirty="0">
                <a:latin typeface="Segoe UI Symbol"/>
              </a:rPr>
              <a:t>) ⌊5.25⌋=5, ⌊-5.25⌋=-6, ⌈5.25⌉=6, </a:t>
            </a:r>
            <a:br>
              <a:rPr lang="en-US" altLang="ko-KR" dirty="0">
                <a:latin typeface="Segoe UI Symbol"/>
              </a:rPr>
            </a:br>
            <a:r>
              <a:rPr lang="en-US" altLang="ko-KR" dirty="0">
                <a:latin typeface="Segoe UI Symbol"/>
              </a:rPr>
              <a:t>⌈-5.25⌉=-5</a:t>
            </a:r>
          </a:p>
        </p:txBody>
      </p:sp>
    </p:spTree>
    <p:extLst>
      <p:ext uri="{BB962C8B-B14F-4D97-AF65-F5344CB8AC3E}">
        <p14:creationId xmlns:p14="http://schemas.microsoft.com/office/powerpoint/2010/main" val="361656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F162A-9E13-BD47-CD9C-0101E483B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B9CF65-2C84-9CCB-E28F-B33645A8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Round</a:t>
            </a:r>
            <a:r>
              <a:rPr lang="en-US" altLang="ko-KR" baseline="-25000" dirty="0" err="1"/>
              <a:t>q</a:t>
            </a:r>
            <a:endParaRPr lang="ko-KR" alt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650F605-A233-6185-6127-0B7E268DBE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200000"/>
                  </a:lnSpc>
                </a:pPr>
                <a:r>
                  <a:rPr lang="en-US" altLang="ko-KR" dirty="0">
                    <a:solidFill>
                      <a:srgbClr val="404040"/>
                    </a:solidFill>
                  </a:rPr>
                  <a:t>q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는 홀수 소수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, x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는 </a:t>
                </a:r>
                <a:r>
                  <a:rPr lang="en-US" altLang="ko-KR" dirty="0" err="1">
                    <a:solidFill>
                      <a:srgbClr val="404040"/>
                    </a:solidFill>
                  </a:rPr>
                  <a:t>Z</a:t>
                </a:r>
                <a:r>
                  <a:rPr lang="en-US" altLang="ko-KR" baseline="-25000" dirty="0" err="1">
                    <a:solidFill>
                      <a:srgbClr val="404040"/>
                    </a:solidFill>
                  </a:rPr>
                  <a:t>q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의 원소 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(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대칭 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mod q 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표현 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x′ = x mods q 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사용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)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𝑅𝑜𝑢𝑛𝑑</m:t>
                          </m:r>
                        </m:e>
                        <m:sub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)={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ar-AE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p>
                              <m:sSupPr>
                                <m:ctrlPr>
                                  <a:rPr lang="ar-AE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ar-A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altLang="ko-KR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ko-KR" altLang="ar-AE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altLang="ko-KR" i="1"/>
                              <m:t>otherwise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</m:m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</m:e>
                        <m:sub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ar-AE" altLang="ko-KR" i="1" dirty="0"/>
              </a:p>
              <a:p>
                <a:pPr>
                  <a:lnSpc>
                    <a:spcPct val="200000"/>
                  </a:lnSpc>
                </a:pPr>
                <a:r>
                  <a:rPr lang="ko-KR" altLang="en-US" dirty="0"/>
                  <a:t>예제 </a:t>
                </a:r>
                <a:r>
                  <a:rPr lang="en-US" altLang="ko-KR" dirty="0"/>
                  <a:t>(q = 3329)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US" altLang="ko-KR" dirty="0"/>
                  <a:t>-q/4 ≈ -832.25, q/4 ≈ 832.25  ⟹  Round₃₃₂₉(x) = 0 ⟺ x′ ∈ [-832, 832], </a:t>
                </a:r>
                <a:r>
                  <a:rPr lang="ko-KR" altLang="en-US" dirty="0"/>
                  <a:t>그 외에는 </a:t>
                </a:r>
                <a:r>
                  <a:rPr lang="en-US" altLang="ko-KR" dirty="0"/>
                  <a:t>1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650F605-A233-6185-6127-0B7E268DBE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D40F53-E6C9-BE0F-CDB5-1BE4DD64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298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91E5-1F3F-A489-CFA9-B9BEB9CE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3224E-2B08-9E28-E1F5-586706A1E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Round</a:t>
            </a:r>
            <a:r>
              <a:rPr lang="en-US" altLang="ko-KR" baseline="-25000" dirty="0" err="1"/>
              <a:t>q</a:t>
            </a:r>
            <a:r>
              <a:rPr lang="en-US" altLang="ko-KR" dirty="0"/>
              <a:t> </a:t>
            </a:r>
            <a:r>
              <a:rPr lang="ko-KR" altLang="en-US" dirty="0"/>
              <a:t>원형 다이어그램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95CB54-26BA-732D-CDDE-F57D1A944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lang="en-US" altLang="ko-KR" dirty="0" err="1">
                <a:solidFill>
                  <a:srgbClr val="404040"/>
                </a:solidFill>
                <a:latin typeface="Segoe UI Symbol"/>
              </a:rPr>
              <a:t>Z</a:t>
            </a:r>
            <a:r>
              <a:rPr lang="en-US" altLang="ko-KR" baseline="-25000" dirty="0" err="1">
                <a:solidFill>
                  <a:srgbClr val="404040"/>
                </a:solidFill>
                <a:latin typeface="Segoe UI Symbol"/>
              </a:rPr>
              <a:t>q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 위의 정수를 원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 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위에 배치한 그림</a:t>
            </a:r>
          </a:p>
          <a:p>
            <a:pPr>
              <a:spcAft>
                <a:spcPts val="800"/>
              </a:spcAft>
            </a:pP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0 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근방의 파란 호 → </a:t>
            </a:r>
            <a:r>
              <a:rPr lang="en-US" altLang="ko-KR" dirty="0" err="1">
                <a:solidFill>
                  <a:srgbClr val="404040"/>
                </a:solidFill>
                <a:latin typeface="Segoe UI Symbol"/>
              </a:rPr>
              <a:t>Round</a:t>
            </a:r>
            <a:r>
              <a:rPr lang="en-US" altLang="ko-KR" baseline="-25000" dirty="0" err="1">
                <a:solidFill>
                  <a:srgbClr val="404040"/>
                </a:solidFill>
                <a:latin typeface="Segoe UI Symbol"/>
              </a:rPr>
              <a:t>q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 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= 0</a:t>
            </a:r>
          </a:p>
          <a:p>
            <a:pPr>
              <a:spcAft>
                <a:spcPts val="800"/>
              </a:spcAft>
            </a:pP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±q/2 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근방의 빨간 호 → </a:t>
            </a:r>
            <a:r>
              <a:rPr lang="en-US" altLang="ko-KR" dirty="0" err="1">
                <a:solidFill>
                  <a:srgbClr val="404040"/>
                </a:solidFill>
                <a:latin typeface="Segoe UI Symbol"/>
              </a:rPr>
              <a:t>Round</a:t>
            </a:r>
            <a:r>
              <a:rPr lang="en-US" altLang="ko-KR" baseline="-25000" dirty="0" err="1">
                <a:solidFill>
                  <a:srgbClr val="404040"/>
                </a:solidFill>
                <a:latin typeface="Segoe UI Symbol"/>
              </a:rPr>
              <a:t>q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 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= 1</a:t>
            </a:r>
          </a:p>
          <a:p>
            <a:pPr>
              <a:spcAft>
                <a:spcPts val="800"/>
              </a:spcAft>
            </a:pP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경계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: </a:t>
            </a:r>
          </a:p>
          <a:p>
            <a:pPr lvl="1">
              <a:spcAft>
                <a:spcPts val="800"/>
              </a:spcAft>
            </a:pP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⌈-q/4⌉, ⌊q/4⌋ (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파란 호 끝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)</a:t>
            </a:r>
          </a:p>
          <a:p>
            <a:pPr lvl="1">
              <a:spcAft>
                <a:spcPts val="800"/>
              </a:spcAft>
            </a:pP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⌊-q/4⌋, ⌈q/4⌉ (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빨간 호 시작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882AC7-0D04-A021-76D2-B200001F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Picture 4" descr="rounding_fina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702" y="1249605"/>
            <a:ext cx="4741098" cy="470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63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BAA3-5829-FB59-754D-7801BE32F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19DA3-F33F-AEBC-1F7B-B489E2AC3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Round</a:t>
            </a:r>
            <a:r>
              <a:rPr lang="en-US" altLang="ko-KR" baseline="-25000" dirty="0" err="1"/>
              <a:t>q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다항식 확장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F96D5D-6553-AB0C-441F-ED7EF9596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각 계수에 개별적으로 </a:t>
            </a:r>
            <a:r>
              <a:rPr lang="en-US" altLang="ko-KR" dirty="0" err="1"/>
              <a:t>Round</a:t>
            </a:r>
            <a:r>
              <a:rPr lang="en-US" altLang="ko-KR" baseline="-25000" dirty="0" err="1"/>
              <a:t>q</a:t>
            </a:r>
            <a:r>
              <a:rPr lang="ko-KR" altLang="en-US" dirty="0"/>
              <a:t>를 적용해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ko-KR" altLang="en-US" dirty="0"/>
              <a:t>의 다항식으로 확장한다</a:t>
            </a:r>
            <a:endParaRPr lang="en-US" altLang="ko-KR" dirty="0"/>
          </a:p>
          <a:p>
            <a:r>
              <a:rPr lang="ko-KR" altLang="en-US" dirty="0"/>
              <a:t>예제 </a:t>
            </a:r>
            <a:r>
              <a:rPr lang="en-US" altLang="ko-KR" dirty="0"/>
              <a:t>(q = 3329): Round₃₃₂₉(3000 + 1500x + 2010x² + 37x³) </a:t>
            </a:r>
            <a:r>
              <a:rPr lang="ko-KR" altLang="en-US" dirty="0"/>
              <a:t>계산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olidFill>
                  <a:srgbClr val="404040"/>
                </a:solidFill>
              </a:rPr>
              <a:t>결과</a:t>
            </a:r>
            <a:r>
              <a:rPr lang="en-US" altLang="ko-KR" dirty="0">
                <a:solidFill>
                  <a:srgbClr val="404040"/>
                </a:solidFill>
              </a:rPr>
              <a:t>: Round₃₃₂₉(3000+1500x+2010x²+37x³) = x + x²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864D2-39A3-FF02-7318-AD937A179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6D6738D9-D6A7-BA02-6B26-F9BC66862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079560"/>
              </p:ext>
            </p:extLst>
          </p:nvPr>
        </p:nvGraphicFramePr>
        <p:xfrm>
          <a:off x="838200" y="25146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계수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mods 3329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절댓값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|·| vs 832.25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Round</a:t>
                      </a:r>
                      <a:r>
                        <a:rPr sz="1800" b="1" baseline="-25000" dirty="0" err="1">
                          <a:solidFill>
                            <a:schemeClr val="bg1"/>
                          </a:solidFill>
                        </a:rPr>
                        <a:t>q</a:t>
                      </a:r>
                      <a:endParaRPr sz="1800" b="1" baseline="-25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상수항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3000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-329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329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&lt; 832.25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x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1500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1500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1500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&gt; 832.25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x²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2010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-1319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1319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&gt; 832.25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x³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37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37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37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&lt; 832.25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4895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9D39C-A51B-7C9F-A32A-920B0637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03731-7D0E-8047-E265-E16281332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도메인 파라미터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DD6023-74AE-0B6E-6AE8-5E898D027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latin typeface="Segoe UI Symbol"/>
              </a:rPr>
              <a:t>별도 언급이 없으면 </a:t>
            </a:r>
            <a:r>
              <a:rPr lang="en-US" altLang="ko-KR" dirty="0">
                <a:latin typeface="Segoe UI Symbol"/>
              </a:rPr>
              <a:t>ML-KEM-768 (q=3329, n=256, k=3, η₁=2, η₂=2)</a:t>
            </a:r>
            <a:r>
              <a:rPr lang="ko-KR" altLang="en-US" dirty="0">
                <a:latin typeface="Segoe UI Symbol"/>
              </a:rPr>
              <a:t>을 기준으로 한다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38CD51-449A-ECA0-72D7-C761B0D75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4DF290FD-35FD-4CAD-FA9D-EA0F5B537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650490"/>
              </p:ext>
            </p:extLst>
          </p:nvPr>
        </p:nvGraphicFramePr>
        <p:xfrm>
          <a:off x="838200" y="1295322"/>
          <a:ext cx="10515600" cy="30175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487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8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파라미터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의미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ML-KEM-512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ML-KEM-768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ML-KEM-1024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q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소수 modulus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3329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3329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3329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n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R</a:t>
                      </a:r>
                      <a:r>
                        <a:rPr sz="1800" baseline="-25000" dirty="0" err="1">
                          <a:solidFill>
                            <a:srgbClr val="404040"/>
                          </a:solidFill>
                        </a:rPr>
                        <a:t>q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=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Z</a:t>
                      </a:r>
                      <a:r>
                        <a:rPr sz="1800" baseline="-25000" dirty="0" err="1">
                          <a:solidFill>
                            <a:srgbClr val="404040"/>
                          </a:solidFill>
                        </a:rPr>
                        <a:t>q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[x]/(xⁿ+1)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256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256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256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k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A의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차원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3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4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η₁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s, e,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r의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계수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상한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3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η₂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e₁,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e₂의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계수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상한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(d</a:t>
                      </a:r>
                      <a:r>
                        <a:rPr sz="1800" baseline="-25000" dirty="0">
                          <a:solidFill>
                            <a:srgbClr val="404040"/>
                          </a:solidFill>
                        </a:rPr>
                        <a:t>u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, d</a:t>
                      </a:r>
                      <a:r>
                        <a:rPr sz="1800" baseline="-25000" dirty="0">
                          <a:solidFill>
                            <a:srgbClr val="404040"/>
                          </a:solidFill>
                        </a:rPr>
                        <a:t>v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)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압축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파라미터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(10, 4)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(10, 4)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(11, 5)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λ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목표 보안 수준(비트)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≈128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≈192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≈256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461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DB1AD-7C1F-A7CE-F914-516468469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8BEF2-199A-4E3F-C563-3477BE8DE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9721CD9-5C2F-947B-D704-B8934FD862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/>
              <a:lstStyle/>
              <a:p>
                <a:r>
                  <a:rPr lang="en-US" altLang="ko-KR" dirty="0"/>
                  <a:t>Kyber-PKE(s) </a:t>
                </a:r>
                <a:r>
                  <a:rPr lang="ko-KR" altLang="en-US" dirty="0" err="1"/>
                  <a:t>키생성</a:t>
                </a:r>
                <a:r>
                  <a:rPr lang="en-US" altLang="ko-KR" dirty="0"/>
                  <a:t>: Alice</a:t>
                </a:r>
                <a:r>
                  <a:rPr lang="ko-KR" altLang="en-US" dirty="0"/>
                  <a:t>가</a:t>
                </a:r>
                <a:endParaRPr lang="en-US" altLang="ko-KR"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ko-KR" altLang="ar-AE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ko-KR" altLang="ar-AE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ko-KR" altLang="ar-AE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ko-KR" altLang="ar-AE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ko-KR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ko-KR" altLang="ar-AE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ar-AE" altLang="ko-KR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ar-AE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ko-KR" altLang="ar-AE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ar-AE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ko-KR" altLang="ar-AE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ar-AE" altLang="ko-KR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ar-AE" i="1" smtClean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ko-KR" altLang="ar-AE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ar-AE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ko-KR" altLang="ar-AE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ar-AE" altLang="ko-KR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ar-AE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altLang="ko-KR" i="1" smtClean="0">
                        <a:latin typeface="Cambria Math" panose="02040503050406030204" pitchFamily="18" charset="0"/>
                      </a:rPr>
                      <m:t>:=</m:t>
                    </m:r>
                    <m:r>
                      <a:rPr lang="ko-KR" altLang="ar-AE" i="1" smtClean="0">
                        <a:latin typeface="Cambria Math" panose="02040503050406030204" pitchFamily="18" charset="0"/>
                      </a:rPr>
                      <m:t>𝐴𝑠</m:t>
                    </m:r>
                    <m:r>
                      <a:rPr lang="ar-AE" altLang="ko-KR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ar-AE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ko-KR" altLang="en-US" dirty="0"/>
                  <a:t>선택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A: </a:t>
                </a:r>
                <a:r>
                  <a:rPr lang="en-US" altLang="ko-KR" dirty="0" err="1"/>
                  <a:t>k×k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크기 무작위 다항식 행렬 선택</a:t>
                </a:r>
              </a:p>
              <a:p>
                <a:pPr lvl="2"/>
                <a:r>
                  <a:rPr lang="en-US" altLang="ko-KR" dirty="0"/>
                  <a:t>s: </a:t>
                </a:r>
                <a:r>
                  <a:rPr lang="ko-KR" altLang="en-US" dirty="0"/>
                  <a:t>작은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계수 ≤ </a:t>
                </a:r>
                <a:r>
                  <a:rPr lang="en-US" altLang="ko-KR" dirty="0"/>
                  <a:t>η₁) </a:t>
                </a:r>
                <a:r>
                  <a:rPr lang="ko-KR" altLang="en-US" dirty="0"/>
                  <a:t>무작위 다항식 벡터 선택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비밀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e: </a:t>
                </a:r>
                <a:r>
                  <a:rPr lang="ko-KR" altLang="en-US" dirty="0"/>
                  <a:t>작은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계수 ≤ </a:t>
                </a:r>
                <a:r>
                  <a:rPr lang="en-US" altLang="ko-KR" dirty="0"/>
                  <a:t>η₁) </a:t>
                </a:r>
                <a:r>
                  <a:rPr lang="ko-KR" altLang="en-US" dirty="0"/>
                  <a:t>무작위 다항식 벡터 선택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오차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t = As + e  </a:t>
                </a:r>
                <a:r>
                  <a:rPr lang="ko-KR" altLang="en-US" dirty="0"/>
                  <a:t>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ko-KR" altLang="en-US" dirty="0"/>
                  <a:t>공개키</a:t>
                </a:r>
                <a:r>
                  <a:rPr lang="en-US" altLang="ko-KR" dirty="0"/>
                  <a:t>: (A, t)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ko-KR" altLang="en-US" dirty="0"/>
                  <a:t>개인키</a:t>
                </a:r>
                <a:r>
                  <a:rPr lang="en-US" altLang="ko-KR" dirty="0"/>
                  <a:t>: s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9721CD9-5C2F-947B-D704-B8934FD862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B5BBC-05E4-A8C8-C706-FFFF057D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90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C526-C9DF-C42B-ED5D-336CA433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A9AFF-90BB-BE42-4CFA-57D29406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암호화</a:t>
            </a:r>
            <a:r>
              <a:rPr lang="en-US" altLang="ko-KR" dirty="0"/>
              <a:t>, </a:t>
            </a:r>
            <a:r>
              <a:rPr lang="ko-KR" altLang="en-US" dirty="0"/>
              <a:t>복호화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E25D3-D347-5EC6-58F4-769D99ADC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6220326" cy="4701089"/>
          </a:xfrm>
        </p:spPr>
        <p:txBody>
          <a:bodyPr>
            <a:noAutofit/>
          </a:bodyPr>
          <a:lstStyle/>
          <a:p>
            <a:r>
              <a:rPr lang="en-US" altLang="ko-KR" dirty="0"/>
              <a:t>Kyber-PKE(s) </a:t>
            </a:r>
            <a:r>
              <a:rPr lang="ko-KR" altLang="en-US" dirty="0"/>
              <a:t>암호화</a:t>
            </a:r>
            <a:r>
              <a:rPr lang="en-US" altLang="ko-KR" dirty="0"/>
              <a:t>: </a:t>
            </a:r>
            <a:r>
              <a:rPr lang="ko-KR" altLang="en-US" dirty="0" err="1"/>
              <a:t>평문</a:t>
            </a:r>
            <a:r>
              <a:rPr lang="ko-KR" altLang="en-US" dirty="0"/>
              <a:t> </a:t>
            </a:r>
            <a:r>
              <a:rPr lang="en-US" altLang="ko-KR" dirty="0"/>
              <a:t>m∈{0,1}ⁿ</a:t>
            </a:r>
            <a:r>
              <a:rPr lang="ko-KR" altLang="en-US" dirty="0"/>
              <a:t>을 </a:t>
            </a:r>
            <a:r>
              <a:rPr lang="en-US" altLang="ko-KR" dirty="0"/>
              <a:t>Alice</a:t>
            </a:r>
            <a:r>
              <a:rPr lang="ko-KR" altLang="en-US" dirty="0"/>
              <a:t>에게</a:t>
            </a:r>
            <a:r>
              <a:rPr lang="en-US" altLang="ko-KR" dirty="0"/>
              <a:t>, Bob</a:t>
            </a:r>
            <a:r>
              <a:rPr lang="ko-KR" altLang="en-US" dirty="0"/>
              <a:t>이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Alice</a:t>
            </a:r>
            <a:r>
              <a:rPr lang="ko-KR" altLang="en-US" dirty="0"/>
              <a:t>의 인증된 공개키 </a:t>
            </a:r>
            <a:r>
              <a:rPr lang="en-US" altLang="ko-KR" dirty="0"/>
              <a:t>(A, t) </a:t>
            </a:r>
            <a:r>
              <a:rPr lang="ko-KR" altLang="en-US" dirty="0"/>
              <a:t>확보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r, e</a:t>
            </a:r>
            <a:r>
              <a:rPr lang="en-US" altLang="ko-KR" baseline="-25000" dirty="0"/>
              <a:t>1</a:t>
            </a:r>
            <a:r>
              <a:rPr lang="en-US" altLang="ko-KR" dirty="0"/>
              <a:t>, e</a:t>
            </a:r>
            <a:r>
              <a:rPr lang="en-US" altLang="ko-KR" baseline="-25000" dirty="0"/>
              <a:t>2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endParaRPr lang="en-US" altLang="ko-KR" dirty="0"/>
          </a:p>
          <a:p>
            <a:pPr lvl="2"/>
            <a:r>
              <a:rPr lang="en-US" altLang="ko-KR" dirty="0"/>
              <a:t>r: </a:t>
            </a:r>
            <a:r>
              <a:rPr lang="ko-KR" altLang="en-US" dirty="0"/>
              <a:t>작은</a:t>
            </a:r>
            <a:r>
              <a:rPr lang="en-US" altLang="ko-KR" dirty="0"/>
              <a:t>(</a:t>
            </a:r>
            <a:r>
              <a:rPr lang="ko-KR" altLang="en-US" dirty="0"/>
              <a:t>계수 ≤ </a:t>
            </a:r>
            <a:r>
              <a:rPr lang="en-US" altLang="ko-KR" dirty="0"/>
              <a:t>η₁) </a:t>
            </a:r>
            <a:r>
              <a:rPr lang="ko-KR" altLang="en-US" dirty="0"/>
              <a:t>무작위 다항식 벡터 선택</a:t>
            </a:r>
          </a:p>
          <a:p>
            <a:pPr lvl="2"/>
            <a:r>
              <a:rPr lang="en-US" altLang="ko-KR" dirty="0"/>
              <a:t>e₁: </a:t>
            </a:r>
            <a:r>
              <a:rPr lang="ko-KR" altLang="en-US" dirty="0"/>
              <a:t>작은</a:t>
            </a:r>
            <a:r>
              <a:rPr lang="en-US" altLang="ko-KR" dirty="0"/>
              <a:t>(</a:t>
            </a:r>
            <a:r>
              <a:rPr lang="ko-KR" altLang="en-US" dirty="0"/>
              <a:t>계수 ≤ </a:t>
            </a:r>
            <a:r>
              <a:rPr lang="en-US" altLang="ko-KR" dirty="0"/>
              <a:t>η₂) </a:t>
            </a:r>
            <a:r>
              <a:rPr lang="ko-KR" altLang="en-US" dirty="0"/>
              <a:t>무작위 다항식 벡터 선택</a:t>
            </a:r>
          </a:p>
          <a:p>
            <a:pPr lvl="2"/>
            <a:r>
              <a:rPr lang="en-US" altLang="ko-KR" dirty="0"/>
              <a:t>e₂: </a:t>
            </a:r>
            <a:r>
              <a:rPr lang="ko-KR" altLang="en-US" dirty="0"/>
              <a:t>작은</a:t>
            </a:r>
            <a:r>
              <a:rPr lang="en-US" altLang="ko-KR" dirty="0"/>
              <a:t>(</a:t>
            </a:r>
            <a:r>
              <a:rPr lang="ko-KR" altLang="en-US" dirty="0"/>
              <a:t>계수 ≤ </a:t>
            </a:r>
            <a:r>
              <a:rPr lang="en-US" altLang="ko-KR" dirty="0"/>
              <a:t>η₂) </a:t>
            </a:r>
            <a:r>
              <a:rPr lang="ko-KR" altLang="en-US" dirty="0"/>
              <a:t>무작위 다항식 선택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u = </a:t>
            </a:r>
            <a:r>
              <a:rPr lang="en-US" altLang="ko-KR" dirty="0" err="1"/>
              <a:t>Aᵀr</a:t>
            </a:r>
            <a:r>
              <a:rPr lang="en-US" altLang="ko-KR" dirty="0"/>
              <a:t> + e₁ </a:t>
            </a:r>
            <a:r>
              <a:rPr lang="ko-KR" altLang="en-US" dirty="0"/>
              <a:t>계산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v = </a:t>
            </a:r>
            <a:r>
              <a:rPr lang="en-US" altLang="ko-KR" dirty="0" err="1"/>
              <a:t>tᵀr</a:t>
            </a:r>
            <a:r>
              <a:rPr lang="en-US" altLang="ko-KR" dirty="0">
                <a:latin typeface="Segoe UI Symbol"/>
              </a:rPr>
              <a:t> + e₂ + ⌈q/2⌋m </a:t>
            </a:r>
            <a:r>
              <a:rPr lang="ko-KR" altLang="en-US" dirty="0"/>
              <a:t>계산</a:t>
            </a:r>
          </a:p>
          <a:p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출력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: 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암호문 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c = (u, v)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769A19-874C-012E-BFAE-CDBD3074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9562FF33-F2E5-2995-2B09-446C38C92B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58526" y="1295322"/>
                <a:ext cx="4295274" cy="470108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dirty="0"/>
                  <a:t>Kyber-PKE(s) </a:t>
                </a:r>
                <a:r>
                  <a:rPr lang="ko-KR" altLang="en-US" dirty="0"/>
                  <a:t>복호화</a:t>
                </a:r>
                <a:r>
                  <a:rPr lang="en-US" altLang="ko-KR" dirty="0"/>
                  <a:t>: </a:t>
                </a:r>
                <a:br>
                  <a:rPr lang="en-US" altLang="ko-KR" dirty="0"/>
                </a:br>
                <a:r>
                  <a:rPr lang="ko-KR" altLang="en-US" dirty="0"/>
                  <a:t>암호문 </a:t>
                </a:r>
                <a:r>
                  <a:rPr lang="en-US" altLang="ko-KR" dirty="0"/>
                  <a:t>c = (u, v)</a:t>
                </a:r>
                <a:r>
                  <a:rPr lang="ko-KR" altLang="en-US" dirty="0"/>
                  <a:t>를</a:t>
                </a:r>
                <a:r>
                  <a:rPr lang="en-US" altLang="ko-KR" dirty="0"/>
                  <a:t>, Alice(</a:t>
                </a:r>
                <a:r>
                  <a:rPr lang="ko-KR" altLang="en-US" dirty="0"/>
                  <a:t>개인키 </a:t>
                </a:r>
                <a:r>
                  <a:rPr lang="en-US" altLang="ko-KR" dirty="0"/>
                  <a:t>s)</a:t>
                </a:r>
                <a:r>
                  <a:rPr lang="ko-KR" altLang="en-US" dirty="0"/>
                  <a:t>가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ko-KR" altLang="ar-AE" i="1">
                        <a:latin typeface="Cambria Math"/>
                      </a:rPr>
                      <m:t>𝑚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Round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(</m:t>
                    </m:r>
                    <m:r>
                      <a:rPr lang="ko-KR" altLang="ar-AE" i="1">
                        <a:latin typeface="Cambria Math"/>
                      </a:rPr>
                      <m:t>𝑣</m:t>
                    </m:r>
                    <m:r>
                      <a:rPr lang="ko-KR" altLang="ar-AE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ko-KR" altLang="ar-AE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ko-KR" altLang="ar-AE" i="1">
                        <a:latin typeface="Cambria Math"/>
                      </a:rPr>
                      <m:t>𝑢</m:t>
                    </m:r>
                    <m:r>
                      <a:rPr lang="ar-AE" altLang="ko-KR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계산</a:t>
                </a:r>
                <a:endParaRPr lang="ar-AE" altLang="ko-KR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9562FF33-F2E5-2995-2B09-446C38C92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526" y="1295322"/>
                <a:ext cx="4295274" cy="4701089"/>
              </a:xfrm>
              <a:prstGeom prst="rect">
                <a:avLst/>
              </a:prstGeom>
              <a:blipFill>
                <a:blip r:embed="rId2"/>
                <a:stretch>
                  <a:fillRect l="-9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26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6A314-7433-866E-E6E7-3F4D34DE0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38B92-0CC2-AD20-FF46-D5063C95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1: </a:t>
            </a:r>
            <a:r>
              <a:rPr lang="ko-KR" altLang="en-US" dirty="0"/>
              <a:t>키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29C32AD-EE13-B045-4700-EBB05D2E2E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>
                    <a:solidFill>
                      <a:schemeClr val="tx1"/>
                    </a:solidFill>
                  </a:rPr>
                  <a:t>파라미터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q = 137,  n = 4,  k = 2,  η₁ = η₂ = 2</a:t>
                </a:r>
              </a:p>
              <a:p>
                <a:r>
                  <a:rPr lang="ko-KR" altLang="en-US" dirty="0">
                    <a:solidFill>
                      <a:schemeClr val="tx1"/>
                    </a:solidFill>
                  </a:rPr>
                  <a:t>키 생성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57</m:t>
                          </m:r>
                          <m:r>
                            <a:rPr lang="ko-KR" alt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78</m:t>
                          </m:r>
                          <m:sSup>
                            <m:sSupPr>
                              <m:ctrlPr>
                                <a:rPr lang="ar-AE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43</m:t>
                          </m:r>
                          <m:sSup>
                            <m:sSupPr>
                              <m:ctrlPr>
                                <a:rPr lang="ar-AE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126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122</m:t>
                          </m:r>
                          <m:r>
                            <a:rPr lang="ko-KR" alt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19</m:t>
                          </m:r>
                          <m:sSup>
                            <m:sSupPr>
                              <m:ctrlPr>
                                <a:rPr lang="ar-AE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125</m:t>
                          </m:r>
                          <m:sSup>
                            <m:sSupPr>
                              <m:ctrlPr>
                                <a:rPr lang="ar-AE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mr>
                      <m:mr>
                        <m:e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111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ko-KR" alt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63</m:t>
                          </m:r>
                          <m:sSup>
                            <m:sSupPr>
                              <m:ctrlPr>
                                <a:rPr lang="ar-AE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  <m:sSup>
                            <m:sSupPr>
                              <m:ctrlPr>
                                <a:rPr lang="ar-AE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105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61</m:t>
                          </m:r>
                          <m:r>
                            <a:rPr lang="ko-KR" altLang="ar-A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71</m:t>
                          </m:r>
                          <m:sSup>
                            <m:sSupPr>
                              <m:ctrlPr>
                                <a:rPr lang="ar-AE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  <m:sSup>
                            <m:sSupPr>
                              <m:ctrlPr>
                                <a:rPr lang="ar-AE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mr>
                    </m:m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altLang="ko-KR" i="1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ar-AE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ar-AE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ar-AE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ar-AE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ar-AE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ar-AE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r>
                  <a:rPr lang="en-US" altLang="ko-KR" i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eqArr>
                      <m:eqArr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  <m:e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eqAr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i="1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𝐴𝑠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eqArr>
                      <m:eqArr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123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  <m:e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127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eqAr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altLang="ko-KR" i="1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ko-KR" dirty="0">
                    <a:solidFill>
                      <a:schemeClr val="tx1"/>
                    </a:solidFill>
                  </a:rPr>
                  <a:t>Alice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의 공개키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(A, t),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개인키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s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29C32AD-EE13-B045-4700-EBB05D2E2E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4B0B0-2860-7132-41EF-950FA9D54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6AD095-0C17-B370-A52E-468632F89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438" y="3775212"/>
            <a:ext cx="4369362" cy="178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66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1E6B5-A70C-84F4-FAA6-9264A3F12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0C699-418E-4838-B109-3B690D49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1: </a:t>
            </a:r>
            <a:r>
              <a:rPr lang="ko-KR" altLang="en-US" dirty="0"/>
              <a:t>암호화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BCA2E5B-501F-7EC4-0CBE-BB78533B5C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200000"/>
                  </a:lnSpc>
                </a:pPr>
                <a:r>
                  <a:rPr lang="ko-KR" altLang="en-US" dirty="0" err="1"/>
                  <a:t>평문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m = 0111 ↔ x + x² + x³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eqArr>
                      <m:eqArr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  <m:e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eqAr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i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eqArr>
                      <m:eqArr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  <m:e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eqAr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i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ar-AE" altLang="ko-KR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eqArr>
                      <m:eqArr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  <m:e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127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eqAr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altLang="ko-KR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ko-KR" altLang="ar-AE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123</m:t>
                    </m:r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ar-AE" altLang="ko-KR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dirty="0">
                    <a:solidFill>
                      <a:schemeClr val="tx1"/>
                    </a:solidFill>
                    <a:latin typeface="Segoe UI Symbol"/>
                  </a:rPr>
                  <a:t>⌈</a:t>
                </a:r>
                <a:r>
                  <a:rPr lang="en-US" altLang="ko-KR" dirty="0">
                    <a:solidFill>
                      <a:schemeClr val="tx1"/>
                    </a:solidFill>
                    <a:latin typeface="Segoe UI Symbol"/>
                  </a:rPr>
                  <a:t>137/2⌋ = 69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이므로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69m = 69x + 69x² + 69x³. 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암호문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c = (u, v)</a:t>
                </a:r>
                <a:endParaRPr lang="ar-AE" altLang="ko-K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BCA2E5B-501F-7EC4-0CBE-BB78533B5C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304786-D749-F400-65B2-59C7E1AF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49AE6F-D72E-010B-3B48-C30F024F3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311696"/>
            <a:ext cx="4038600" cy="164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87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2C36D-421D-B5C8-12B7-685EF6000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57964-AEE6-9651-A70C-346E6AA0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1: </a:t>
            </a:r>
            <a:r>
              <a:rPr lang="ko-KR" altLang="en-US" dirty="0"/>
              <a:t>복호화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38D6EC7-1217-551E-F1D8-EDFFE46374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ko-KR" altLang="ar-AE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ko-KR" altLang="ar-A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60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79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66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ar-AE" altLang="ko-KR" i="1" dirty="0"/>
              </a:p>
              <a:p>
                <a:r>
                  <a:rPr lang="ko-KR" altLang="en-US" dirty="0"/>
                  <a:t>계수별 </a:t>
                </a:r>
                <a:r>
                  <a:rPr lang="en-US" altLang="ko-KR" dirty="0"/>
                  <a:t>Round₁₃₇ </a:t>
                </a:r>
                <a:r>
                  <a:rPr lang="ko-KR" altLang="en-US" dirty="0"/>
                  <a:t>적용 </a:t>
                </a:r>
                <a:r>
                  <a:rPr lang="en-US" altLang="ko-KR" dirty="0"/>
                  <a:t>(137/4 = 34.25):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결과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: x + x² + x³ =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원래 </a:t>
                </a:r>
                <a:r>
                  <a:rPr lang="ko-KR" altLang="en-US" dirty="0" err="1">
                    <a:solidFill>
                      <a:srgbClr val="404040"/>
                    </a:solidFill>
                    <a:latin typeface="Segoe UI Symbol"/>
                  </a:rPr>
                  <a:t>평문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m = 0111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38D6EC7-1217-551E-F1D8-EDFFE46374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D3301E-F746-0AFC-F50A-B06EC7CF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AE510AFC-B6DE-F0F8-53D1-FB951EF00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125216"/>
              </p:ext>
            </p:extLst>
          </p:nvPr>
        </p:nvGraphicFramePr>
        <p:xfrm>
          <a:off x="838200" y="2560320"/>
          <a:ext cx="10515600" cy="17373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계수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값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mod</a:t>
                      </a:r>
                      <a:r>
                        <a:rPr sz="1800" b="1" baseline="-25000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 137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절댓값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 vs 34.25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Round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</a:rPr>
                        <a:t>137</a:t>
                      </a:r>
                      <a:endParaRPr sz="1800" b="1" baseline="-25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상수항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4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4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&lt; 34.25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x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60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-77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&gt; 34.25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x²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79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-58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&gt; 34.25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x³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66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-71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&gt; 34.25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1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342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1914-B36E-6197-0D47-C892C67A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17A77-5D02-9F63-8D05-E6ADC7DE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5054603-4F99-7B3B-A281-FB633B090B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/>
                  <a:t>주장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단순화된 </a:t>
                </a:r>
                <a:r>
                  <a:rPr lang="en-US" altLang="ko-KR" dirty="0"/>
                  <a:t>Kyber-PKE(s)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D-MLWE</a:t>
                </a:r>
                <a:r>
                  <a:rPr lang="ko-KR" altLang="en-US" dirty="0"/>
                  <a:t>가 어렵다는 가정 아래 선택</a:t>
                </a:r>
                <a:r>
                  <a:rPr lang="en-US" altLang="ko-KR" dirty="0"/>
                  <a:t>-</a:t>
                </a:r>
                <a:r>
                  <a:rPr lang="ko-KR" altLang="en-US" dirty="0" err="1"/>
                  <a:t>평문</a:t>
                </a:r>
                <a:r>
                  <a:rPr lang="ko-KR" altLang="en-US" dirty="0"/>
                  <a:t> 공격 하 구별 불가능</a:t>
                </a:r>
                <a:r>
                  <a:rPr lang="en-US" altLang="ko-KR" dirty="0"/>
                  <a:t>(IND-CPA)</a:t>
                </a:r>
                <a:r>
                  <a:rPr lang="ko-KR" altLang="en-US" dirty="0"/>
                  <a:t>하다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증명</a:t>
                </a:r>
                <a:r>
                  <a:rPr lang="en-US" altLang="ko-KR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ar-AE" altLang="ko-KR" i="1">
                        <a:latin typeface="Cambria Math"/>
                      </a:rPr>
                      <m:t>[</m:t>
                    </m:r>
                    <m:eqArr>
                      <m:eqArr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ko-KR" altLang="ar-AE" i="1">
                            <a:latin typeface="Cambria Math"/>
                          </a:rPr>
                          <m:t>𝑢</m:t>
                        </m:r>
                      </m:e>
                      <m:e>
                        <m:r>
                          <a:rPr lang="ko-KR" altLang="ar-AE" i="1">
                            <a:latin typeface="Cambria Math"/>
                          </a:rPr>
                          <m:t>𝑣</m:t>
                        </m:r>
                      </m:e>
                    </m:eqArr>
                    <m:r>
                      <a:rPr lang="ar-AE" altLang="ko-KR" i="1">
                        <a:latin typeface="Cambria Math"/>
                      </a:rPr>
                      <m:t>]=[</m:t>
                    </m:r>
                    <m:eqArr>
                      <m:eqArr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ko-KR" altLang="ar-AE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𝑡</m:t>
                            </m:r>
                          </m:e>
                          <m:sup>
                            <m:r>
                              <a:rPr lang="ko-KR" altLang="ar-AE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</m:e>
                    </m:eqArr>
                    <m:r>
                      <a:rPr lang="ar-AE" altLang="ko-KR" i="1">
                        <a:latin typeface="Cambria Math"/>
                      </a:rPr>
                      <m:t>]</m:t>
                    </m:r>
                    <m:r>
                      <a:rPr lang="ko-KR" altLang="ar-AE" i="1">
                        <a:latin typeface="Cambria Math"/>
                      </a:rPr>
                      <m:t>𝑟</m:t>
                    </m:r>
                    <m:r>
                      <a:rPr lang="ar-AE" altLang="ko-KR" i="1">
                        <a:latin typeface="Cambria Math"/>
                      </a:rPr>
                      <m:t>+[</m:t>
                    </m:r>
                    <m:eqArr>
                      <m:eqArr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ar-AE" altLang="ko-KR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eqArr>
                    <m:r>
                      <a:rPr lang="ar-AE" altLang="ko-KR" i="1">
                        <a:latin typeface="Cambria Math"/>
                      </a:rPr>
                      <m:t>]+[</m:t>
                    </m:r>
                    <m:eqArr>
                      <m:eqArr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ar-AE" altLang="ko-KR" i="1">
                            <a:latin typeface="Cambria Math"/>
                          </a:rPr>
                          <m:t>0</m:t>
                        </m:r>
                      </m:e>
                      <m:e>
                        <m:d>
                          <m:dPr>
                            <m:begChr m:val="⌈"/>
                            <m:endChr m:val="⌋"/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𝑞</m:t>
                            </m:r>
                            <m:r>
                              <a:rPr lang="ar-AE" altLang="ko-KR" i="1">
                                <a:latin typeface="Cambria Math"/>
                              </a:rPr>
                              <m:t>/</m:t>
                            </m:r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e>
                        </m:d>
                        <m:r>
                          <a:rPr lang="ko-KR" altLang="ar-AE" i="1">
                            <a:latin typeface="Cambria Math"/>
                          </a:rPr>
                          <m:t>𝑚</m:t>
                        </m:r>
                      </m:e>
                    </m:eqArr>
                    <m:r>
                      <a:rPr lang="ar-AE" altLang="ko-KR" i="1">
                        <a:latin typeface="Cambria Math"/>
                      </a:rPr>
                      <m:t>]</m:t>
                    </m:r>
                  </m:oMath>
                </a14:m>
                <a:endParaRPr lang="ar-AE" altLang="ko-KR" dirty="0"/>
              </a:p>
              <a:p>
                <a:pPr lvl="1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D-MLWE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가정에 의해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[A; t] (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즉 공개키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(A, t)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자체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, t = As + e)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는 균등 랜덤 행렬과 구별 불가능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.</a:t>
                </a:r>
              </a:p>
              <a:p>
                <a:pPr lvl="1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다시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D-MLWE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가정을 적용하면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[A; t]r + [e₁; e₂] = [</a:t>
                </a:r>
                <a:r>
                  <a:rPr lang="en-US" altLang="ko-KR" dirty="0" err="1">
                    <a:solidFill>
                      <a:srgbClr val="404040"/>
                    </a:solidFill>
                    <a:latin typeface="Segoe UI Symbol"/>
                  </a:rPr>
                  <a:t>Aᵀr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 + e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₁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; </a:t>
                </a:r>
                <a:r>
                  <a:rPr lang="en-US" altLang="ko-KR" dirty="0" err="1">
                    <a:solidFill>
                      <a:srgbClr val="404040"/>
                    </a:solidFill>
                    <a:latin typeface="Segoe UI Symbol"/>
                  </a:rPr>
                  <a:t>tᵀr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 + e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₂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]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역시 균등 랜덤 벡터와 구별 불가능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.</a:t>
                </a:r>
              </a:p>
              <a:p>
                <a:pPr lvl="1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따라서 공격자 관점에서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v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는 균등 랜덤 원소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(</a:t>
                </a:r>
                <a:r>
                  <a:rPr lang="en-US" altLang="ko-KR" dirty="0" err="1">
                    <a:solidFill>
                      <a:srgbClr val="404040"/>
                    </a:solidFill>
                    <a:latin typeface="Segoe UI Symbol"/>
                  </a:rPr>
                  <a:t>tᵀr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 + e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₂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)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와 메시지 다항식 ⌈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q/2⌋m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의 합처럼 보인다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.</a:t>
                </a:r>
              </a:p>
              <a:p>
                <a:pPr lvl="1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공격자는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m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에 대해 아무것도 알아낼 수 없다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. 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5054603-4F99-7B3B-A281-FB633B090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059EDC-AA92-C73C-F3CD-07A4D1D8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906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8F942-19A7-4CB2-7EC3-AE9F66223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4C215-F839-17C0-D13D-BF103E72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복호화가 항상 성공하는가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3A5F225-FA0A-AA86-7F84-A8DFABB4DF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m = </a:t>
                </a:r>
                <a:r>
                  <a:rPr lang="en-US" altLang="ko-KR" dirty="0" err="1"/>
                  <a:t>Round_q</a:t>
                </a:r>
                <a:r>
                  <a:rPr lang="en-US" altLang="ko-KR" dirty="0"/>
                  <a:t>(v - </a:t>
                </a:r>
                <a:r>
                  <a:rPr lang="en-US" altLang="ko-KR" dirty="0" err="1"/>
                  <a:t>sᵀu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가 항상 성립하는가</a:t>
                </a:r>
                <a:r>
                  <a:rPr lang="en-US" altLang="ko-KR" dirty="0"/>
                  <a:t>?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⌋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)−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ar-AE" altLang="ko-K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i="1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altLang="ko-KR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⌋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altLang="ko-KR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altLang="ko-K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⌋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⌋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ar-AE" altLang="ko-KR" dirty="0"/>
              </a:p>
              <a:p>
                <a:r>
                  <a:rPr lang="ko-KR" altLang="en-US" dirty="0"/>
                  <a:t>오차 다항식</a:t>
                </a:r>
              </a:p>
              <a:p>
                <a:pPr lvl="1"/>
                <a:r>
                  <a:rPr lang="en-US" altLang="ko-KR" dirty="0"/>
                  <a:t>E(x) = </a:t>
                </a:r>
                <a:r>
                  <a:rPr lang="en-US" altLang="ko-KR" dirty="0" err="1"/>
                  <a:t>eᵀr</a:t>
                </a:r>
                <a:r>
                  <a:rPr lang="en-US" altLang="ko-KR" dirty="0"/>
                  <a:t> + e₂ - </a:t>
                </a:r>
                <a:r>
                  <a:rPr lang="en-US" altLang="ko-KR" dirty="0" err="1"/>
                  <a:t>sᵀe</a:t>
                </a:r>
                <a:r>
                  <a:rPr lang="en-US" altLang="ko-KR" dirty="0"/>
                  <a:t>₁</a:t>
                </a:r>
              </a:p>
              <a:p>
                <a:pPr lvl="1"/>
                <a:r>
                  <a:rPr lang="en-US" altLang="ko-KR" dirty="0" err="1"/>
                  <a:t>Round</a:t>
                </a:r>
                <a:r>
                  <a:rPr lang="en-US" altLang="ko-KR" baseline="-25000" dirty="0" err="1"/>
                  <a:t>q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v-sᵀu</a:t>
                </a:r>
                <a:r>
                  <a:rPr lang="en-US" altLang="ko-KR" dirty="0"/>
                  <a:t>) = m  ⟺  </a:t>
                </a:r>
                <a:r>
                  <a:rPr lang="ko-KR" altLang="en-US" dirty="0"/>
                  <a:t>각 계수 </a:t>
                </a:r>
                <a:r>
                  <a:rPr lang="en-US" altLang="ko-KR" dirty="0"/>
                  <a:t>Eᵢ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-q/4 &lt; Eᵢ mods q &lt; q/4, </a:t>
                </a:r>
                <a:r>
                  <a:rPr lang="ko-KR" altLang="en-US" dirty="0"/>
                  <a:t>즉 </a:t>
                </a:r>
                <a:r>
                  <a:rPr lang="en-US" altLang="ko-KR" dirty="0"/>
                  <a:t>‖E‖</a:t>
                </a:r>
                <a:r>
                  <a:rPr lang="en-US" altLang="ko-KR" baseline="-25000" dirty="0"/>
                  <a:t>∞</a:t>
                </a:r>
                <a:r>
                  <a:rPr lang="en-US" altLang="ko-KR" dirty="0"/>
                  <a:t> &lt; q/4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3A5F225-FA0A-AA86-7F84-A8DFABB4D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E9EA2-C031-196C-CC98-EF0AA555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81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CF46-9047-E6C6-C9CB-E3EE050FD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41528-B016-1293-255A-693DD2B81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오차 다항식의 크기 상계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6E58601-02E7-9911-ECCD-6180C0597E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삼각부등식으로 계수별 상계를 구하면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i="1">
                          <a:latin typeface="Cambria Math" panose="02040503050406030204" pitchFamily="18" charset="0"/>
                        </a:rPr>
                        <m:t>‖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‖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𝑘𝑛</m:t>
                      </m:r>
                      <m:sSubSup>
                        <m:sSub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𝑘𝑛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6E58601-02E7-9911-ECCD-6180C0597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87EAA-AA3D-5E03-5573-C1383230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A5292466-3061-2684-40CD-136E17CAB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527295"/>
              </p:ext>
            </p:extLst>
          </p:nvPr>
        </p:nvGraphicFramePr>
        <p:xfrm>
          <a:off x="838200" y="2560320"/>
          <a:ext cx="10515599" cy="17373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438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0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6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출처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상계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knη₁²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eᵀr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= Σᵢ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eᵢr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ᵢ (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k개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곱의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합,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곱마다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계수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크기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nη₁²)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eᵀr 계수 상계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η₂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e₂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자체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e₂ 상계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knη₁η₂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sᵀe₁ (k개 곱의 합)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sᵀe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₁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계수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상계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270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E6A9C-AEAB-64B2-ECE4-CC83E61F2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A1BA3-36F7-DF91-26B4-1E15A3C4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ML-KEM-768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FF21898-09E8-3A61-CC9F-58421F234A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i="1">
                          <a:latin typeface="Cambria Math" panose="02040503050406030204" pitchFamily="18" charset="0"/>
                        </a:rPr>
                        <m:t>‖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‖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256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256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3072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3072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6146</m:t>
                      </m:r>
                    </m:oMath>
                  </m:oMathPara>
                </a14:m>
                <a:endParaRPr lang="ar-AE" altLang="ko-KR" dirty="0"/>
              </a:p>
              <a:p>
                <a:r>
                  <a:rPr lang="en-US" altLang="ko-KR" dirty="0"/>
                  <a:t>q/4 = 832.25 </a:t>
                </a:r>
                <a:r>
                  <a:rPr lang="ko-KR" altLang="en-US" dirty="0"/>
                  <a:t>인데 </a:t>
                </a:r>
                <a:r>
                  <a:rPr lang="en-US" altLang="ko-KR" dirty="0"/>
                  <a:t>6146 ≮ 832.25  ⟹  </a:t>
                </a:r>
                <a:r>
                  <a:rPr lang="ko-KR" altLang="en-US" dirty="0"/>
                  <a:t>복호화가 항상 성공한다는 보장은 없다</a:t>
                </a:r>
                <a:r>
                  <a:rPr lang="en-US" altLang="ko-KR" dirty="0"/>
                  <a:t>.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404040"/>
                    </a:solidFill>
                  </a:rPr>
                  <a:t>6146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은 세 항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(</a:t>
                </a:r>
                <a:r>
                  <a:rPr lang="en-US" altLang="ko-KR" dirty="0" err="1">
                    <a:solidFill>
                      <a:srgbClr val="404040"/>
                    </a:solidFill>
                  </a:rPr>
                  <a:t>eᵀr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, e₂, -</a:t>
                </a:r>
                <a:r>
                  <a:rPr lang="en-US" altLang="ko-KR" dirty="0" err="1">
                    <a:solidFill>
                      <a:srgbClr val="404040"/>
                    </a:solidFill>
                  </a:rPr>
                  <a:t>sᵀe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₁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)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이 최악의 경우 모두 같은 부호로 정렬될 때의 극단적 상계일 뿐이다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.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404040"/>
                    </a:solidFill>
                  </a:rPr>
                  <a:t>실제로는 각 항이 무작위 부호를 갖는 여러 항의 합이므로 상당한 상쇄가 기대되고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,</a:t>
                </a:r>
                <a:br>
                  <a:rPr lang="en-US" altLang="ko-KR" dirty="0">
                    <a:solidFill>
                      <a:srgbClr val="404040"/>
                    </a:solidFill>
                  </a:rPr>
                </a:br>
                <a:r>
                  <a:rPr lang="en-US" altLang="ko-KR" dirty="0">
                    <a:solidFill>
                      <a:srgbClr val="404040"/>
                    </a:solidFill>
                  </a:rPr>
                  <a:t>‖E‖</a:t>
                </a:r>
                <a:r>
                  <a:rPr lang="en-US" altLang="ko-KR" baseline="-25000" dirty="0">
                    <a:solidFill>
                      <a:srgbClr val="404040"/>
                    </a:solidFill>
                  </a:rPr>
                  <a:t>∞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 &lt; q/4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가 압도적인 확률로 성립함을 보일 수 있다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.</a:t>
                </a:r>
              </a:p>
              <a:p>
                <a:r>
                  <a:rPr lang="ko-KR" altLang="en-US" dirty="0">
                    <a:solidFill>
                      <a:srgbClr val="404040"/>
                    </a:solidFill>
                  </a:rPr>
                  <a:t>결론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: 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복호화는 거의 항상 성공한다</a:t>
                </a:r>
                <a:endParaRPr lang="en-US" altLang="ko-KR" dirty="0">
                  <a:solidFill>
                    <a:srgbClr val="404040"/>
                  </a:solidFill>
                </a:endParaRPr>
              </a:p>
              <a:p>
                <a:pPr lvl="1"/>
                <a:r>
                  <a:rPr lang="en-US" altLang="ko-KR" dirty="0">
                    <a:solidFill>
                      <a:srgbClr val="404040"/>
                    </a:solidFill>
                  </a:rPr>
                  <a:t>Kyber 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파라미터는 복호화 오류 확률 최소화하도록 신중히 선택됨</a:t>
                </a:r>
                <a:endParaRPr lang="en-US" altLang="ko-KR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FF21898-09E8-3A61-CC9F-58421F234A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014984-65B3-BC2A-4C2B-7793453D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329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9E7D-C75D-A92A-34A2-3988F5E3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112B2-A063-CEA3-6CE7-22C8BC030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암호화 </a:t>
            </a:r>
            <a:r>
              <a:rPr lang="ko-KR" altLang="en-US" dirty="0" err="1"/>
              <a:t>키∙암호문</a:t>
            </a:r>
            <a:r>
              <a:rPr lang="ko-KR" altLang="en-US" dirty="0"/>
              <a:t> 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1DCA2E-AE19-0FCC-8953-D2B526E64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RSA·</a:t>
            </a:r>
            <a:r>
              <a:rPr lang="ko-KR" altLang="en-US" dirty="0"/>
              <a:t>타원곡선 암호의 공개키</a:t>
            </a:r>
            <a:r>
              <a:rPr lang="en-US" altLang="ko-KR" dirty="0"/>
              <a:t>·</a:t>
            </a:r>
            <a:r>
              <a:rPr lang="ko-KR" altLang="en-US" dirty="0"/>
              <a:t>암호문 크기</a:t>
            </a:r>
            <a:r>
              <a:rPr lang="en-US" altLang="ko-KR" dirty="0"/>
              <a:t>(</a:t>
            </a:r>
            <a:r>
              <a:rPr lang="ko-KR" altLang="en-US" dirty="0"/>
              <a:t>수백 바이트 수준</a:t>
            </a:r>
            <a:r>
              <a:rPr lang="en-US" altLang="ko-KR" dirty="0"/>
              <a:t>)</a:t>
            </a:r>
            <a:r>
              <a:rPr lang="ko-KR" altLang="en-US" dirty="0"/>
              <a:t>에 비해 훨씬 크다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이를 줄이는 것이 목표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FFE008-9E39-B1D4-9E85-3ACB2C67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F60A35DF-ECF7-69C4-0102-A853EE166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510593"/>
              </p:ext>
            </p:extLst>
          </p:nvPr>
        </p:nvGraphicFramePr>
        <p:xfrm>
          <a:off x="838200" y="1295322"/>
          <a:ext cx="10515600" cy="14630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297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7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0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04040"/>
                          </a:solidFill>
                        </a:rPr>
                        <a:t>구성 요소</a:t>
                      </a:r>
                      <a:endParaRPr sz="1800" b="1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404040"/>
                          </a:solidFill>
                        </a:rPr>
                        <a:t>계산</a:t>
                      </a:r>
                      <a:endParaRPr sz="1800" b="1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04040"/>
                          </a:solidFill>
                        </a:rPr>
                        <a:t>크기</a:t>
                      </a:r>
                      <a:endParaRPr sz="1800" b="1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공개키 (A, t)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(9×256×12) + (3×256×12) bit = 36,864 bit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4,608 바이트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암호문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c</a:t>
                      </a:r>
                      <a:r>
                        <a:rPr lang="en-US"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=</a:t>
                      </a:r>
                      <a:r>
                        <a:rPr lang="en-US" sz="18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(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u,v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)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(3×256×12) + (256×12) bit = 12,288 bit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1,536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바이트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443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C3E70-842B-8729-7C6C-8CCF38B47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22F45-A2C7-E6EC-F52F-FDB1E298A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공개키 크기 감소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96A44F5-587E-2A8D-11CA-8FD63E1BED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200000"/>
                  </a:lnSpc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아이디어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</a:t>
                </a:r>
                <a:endParaRPr lang="ko-KR" altLang="en-US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200000"/>
                  </a:lnSpc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무작위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공개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 256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비트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시드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ρ ∈</a:t>
                </a:r>
                <a:r>
                  <a:rPr lang="en-US" altLang="ko-KR" baseline="-250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{0,1}</a:t>
                </a:r>
                <a:r>
                  <a:rPr lang="en-US" altLang="ko-KR" baseline="30000" dirty="0">
                    <a:solidFill>
                      <a:schemeClr val="tx1"/>
                    </a:solidFill>
                  </a:rPr>
                  <a:t>256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먼저 고른다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ρ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카운터와 함께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해싱해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A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의 다항식 계수들을 생성한다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ρ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아는 사람은 누구나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A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재생성할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수 있으므로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공개키를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(A, t)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대신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(ρ, t)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로 저장한다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sv-SE" altLang="ko-KR" i="1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sv-SE" altLang="ko-KR" i="1">
                        <a:solidFill>
                          <a:schemeClr val="tx1"/>
                        </a:solidFill>
                      </a:rPr>
                      <m:t>bit</m:t>
                    </m:r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9472</m:t>
                    </m:r>
                    <m:r>
                      <m:rPr>
                        <m:nor/>
                      </m:rPr>
                      <a:rPr lang="sv-SE" altLang="ko-KR" i="1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sv-SE" altLang="ko-KR" i="1">
                        <a:solidFill>
                          <a:schemeClr val="tx1"/>
                        </a:solidFill>
                      </a:rPr>
                      <m:t>bit</m:t>
                    </m:r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1184</m:t>
                    </m:r>
                    <m:r>
                      <m:rPr>
                        <m:nor/>
                      </m:rPr>
                      <a:rPr lang="sv-SE" altLang="ko-KR" i="1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sv-SE" altLang="ko-KR" i="1">
                        <a:solidFill>
                          <a:schemeClr val="tx1"/>
                        </a:solidFill>
                      </a:rPr>
                      <m:t>bytes</m:t>
                    </m:r>
                  </m:oMath>
                </a14:m>
                <a:endParaRPr lang="sv-SE" altLang="ko-KR" dirty="0">
                  <a:solidFill>
                    <a:schemeClr val="tx1"/>
                  </a:solidFill>
                </a:endParaRPr>
              </a:p>
              <a:p>
                <a:pPr lvl="2">
                  <a:lnSpc>
                    <a:spcPct val="200000"/>
                  </a:lnSpc>
                </a:pPr>
                <a:r>
                  <a:rPr lang="en-US" altLang="ko-KR" dirty="0"/>
                  <a:t>ρ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32</a:t>
                </a:r>
                <a:r>
                  <a:rPr lang="ko-KR" altLang="en-US" dirty="0"/>
                  <a:t>바이트</a:t>
                </a:r>
                <a:r>
                  <a:rPr lang="en-US" altLang="ko-KR" dirty="0"/>
                  <a:t>, t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3×256×12</a:t>
                </a:r>
                <a:r>
                  <a:rPr lang="ko-KR" altLang="en-US" dirty="0"/>
                  <a:t>비트</a:t>
                </a:r>
                <a:r>
                  <a:rPr lang="en-US" altLang="ko-KR" dirty="0"/>
                  <a:t>(=1,152</a:t>
                </a:r>
                <a:r>
                  <a:rPr lang="ko-KR" altLang="en-US" dirty="0"/>
                  <a:t>바이트</a:t>
                </a:r>
                <a:r>
                  <a:rPr lang="en-US" altLang="ko-KR" dirty="0"/>
                  <a:t>)</a:t>
                </a:r>
                <a:endParaRPr lang="sv-SE" altLang="ko-KR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200000"/>
                  </a:lnSpc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4,608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바이트 →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1,184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바이트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약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74%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감소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96A44F5-587E-2A8D-11CA-8FD63E1BE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7D3612-9C17-E382-B5F6-B7BB9C65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903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CE163-FF76-43E9-1444-7062CC23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43677-C8D6-B95A-A4D9-64A71048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Compress</a:t>
            </a:r>
            <a:r>
              <a:rPr lang="en-US" altLang="ko-KR" baseline="-25000" dirty="0" err="1"/>
              <a:t>q</a:t>
            </a:r>
            <a:r>
              <a:rPr lang="en-US" altLang="ko-KR" dirty="0"/>
              <a:t>, </a:t>
            </a:r>
            <a:r>
              <a:rPr lang="en-US" altLang="ko-KR" dirty="0" err="1"/>
              <a:t>Decompress</a:t>
            </a:r>
            <a:r>
              <a:rPr lang="en-US" altLang="ko-KR" baseline="-25000" dirty="0" err="1"/>
              <a:t>q</a:t>
            </a:r>
            <a:endParaRPr lang="ko-KR" alt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6965929-4504-A4FE-6CB3-ABFB4BDBC0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>
                    <a:solidFill>
                      <a:schemeClr val="tx1"/>
                    </a:solidFill>
                  </a:rPr>
                  <a:t>아이디어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</a:t>
                </a:r>
                <a:endParaRPr lang="ko-KR" alt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ko-KR" altLang="en-US" dirty="0">
                    <a:solidFill>
                      <a:schemeClr val="tx1"/>
                    </a:solidFill>
                  </a:rPr>
                  <a:t>암호문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c = (u, v)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이루는 모든 다항식의 계수에서 하위 비트를 버린다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2"/>
                <a:r>
                  <a:rPr lang="ko-KR" altLang="en-US" dirty="0">
                    <a:solidFill>
                      <a:schemeClr val="tx1"/>
                    </a:solidFill>
                  </a:rPr>
                  <a:t>정보 손실이 생기지만 복호화에 미치는 영향은 작다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Compress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ar-AE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ar-AE" altLang="ko-KR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⌋"/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ar-AE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ko-KR" alt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</m:num>
                          <m:den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ar-AE" i="1">
                        <a:latin typeface="Cambria Math" panose="02040503050406030204" pitchFamily="18" charset="0"/>
                      </a:rPr>
                      <m:t>𝑚𝑜𝑑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Decompress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ar-AE" altLang="ko-K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⌋"/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sSup>
                              <m:sSupPr>
                                <m:ctrlPr>
                                  <a:rPr lang="ar-AE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ko-KR" alt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</m:den>
                        </m:f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ko-KR" altLang="ar-AE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ar-AE" altLang="ko-KR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altLang="ko-KR" dirty="0"/>
                  <a:t>x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∈ [0, q-1],  y ∈ [0, 2ᵈ-1], 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압축 파라미터 </a:t>
                </a:r>
                <a:r>
                  <a:rPr lang="en-US" altLang="ko-KR" dirty="0">
                    <a:solidFill>
                      <a:schemeClr val="tx1"/>
                    </a:solidFill>
                    <a:latin typeface="Segoe UI Symbol"/>
                  </a:rPr>
                  <a:t>d ∈ [1, ⌊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log₂q</a:t>
                </a:r>
                <a:r>
                  <a:rPr lang="ko-KR" altLang="en-US" dirty="0">
                    <a:solidFill>
                      <a:schemeClr val="tx1"/>
                    </a:solidFill>
                    <a:latin typeface="Segoe UI Symbol"/>
                  </a:rPr>
                  <a:t>⌋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]</a:t>
                </a:r>
              </a:p>
              <a:p>
                <a:r>
                  <a:rPr lang="ko-KR" altLang="en-US" dirty="0">
                    <a:solidFill>
                      <a:schemeClr val="tx1"/>
                    </a:solidFill>
                  </a:rPr>
                  <a:t>암호문 압축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/>
                <a:r>
                  <a:rPr lang="en-US" altLang="ko-KR" dirty="0">
                    <a:solidFill>
                      <a:schemeClr val="tx1"/>
                    </a:solidFill>
                  </a:rPr>
                  <a:t>c₁ =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Compress</a:t>
                </a:r>
                <a:r>
                  <a:rPr lang="en-US" altLang="ko-KR" baseline="-25000" dirty="0" err="1">
                    <a:solidFill>
                      <a:schemeClr val="tx1"/>
                    </a:solidFill>
                  </a:rPr>
                  <a:t>q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(u, d</a:t>
                </a:r>
                <a:r>
                  <a:rPr lang="en-US" altLang="ko-KR" baseline="-25000" dirty="0">
                    <a:solidFill>
                      <a:schemeClr val="tx1"/>
                    </a:solidFill>
                  </a:rPr>
                  <a:t>u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), c₂ =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Compress</a:t>
                </a:r>
                <a:r>
                  <a:rPr lang="en-US" altLang="ko-KR" baseline="-25000" dirty="0" err="1">
                    <a:solidFill>
                      <a:schemeClr val="tx1"/>
                    </a:solidFill>
                  </a:rPr>
                  <a:t>q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(v, d</a:t>
                </a:r>
                <a:r>
                  <a:rPr lang="en-US" altLang="ko-KR" baseline="-25000" dirty="0">
                    <a:solidFill>
                      <a:schemeClr val="tx1"/>
                    </a:solidFill>
                  </a:rPr>
                  <a:t>v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</a:p>
              <a:p>
                <a:pPr lvl="1"/>
                <a:r>
                  <a:rPr lang="en-US" altLang="ko-KR" dirty="0">
                    <a:solidFill>
                      <a:schemeClr val="tx1"/>
                    </a:solidFill>
                  </a:rPr>
                  <a:t>Compress/Decompress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는 각 계수에 적용해 다항식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·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벡터로 자연스럽게 확장한다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r>
                  <a:rPr lang="en-US" altLang="ko-KR" dirty="0">
                    <a:solidFill>
                      <a:schemeClr val="tx1"/>
                    </a:solidFill>
                  </a:rPr>
                  <a:t>ML-KEM-768: d</a:t>
                </a:r>
                <a:r>
                  <a:rPr lang="en-US" altLang="ko-KR" baseline="-25000" dirty="0">
                    <a:solidFill>
                      <a:schemeClr val="tx1"/>
                    </a:solidFill>
                  </a:rPr>
                  <a:t>u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= 10, d</a:t>
                </a:r>
                <a:r>
                  <a:rPr lang="en-US" altLang="ko-KR" baseline="-25000" dirty="0">
                    <a:solidFill>
                      <a:schemeClr val="tx1"/>
                    </a:solidFill>
                  </a:rPr>
                  <a:t>v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= 4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6965929-4504-A4FE-6CB3-ABFB4BDBC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81790-0247-0BDD-DF79-3A6C6374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509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F0A0-20BA-0EA0-8850-C1914FF4C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CCB4A-2FC5-EEC2-24FB-851F73A16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압축 오차 상계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9D0F5CD-2FEF-B375-7D3E-16C5CD1CE4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200000"/>
                  </a:lnSpc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Fact: </a:t>
                </a:r>
                <a:r>
                  <a:rPr lang="en-US" altLang="ko-KR" dirty="0"/>
                  <a:t>x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∈ [0,q-1], x′ =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Decompress</a:t>
                </a:r>
                <a:r>
                  <a:rPr lang="en-US" altLang="ko-KR" baseline="-25000" dirty="0" err="1">
                    <a:solidFill>
                      <a:schemeClr val="tx1"/>
                    </a:solidFill>
                  </a:rPr>
                  <a:t>q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Compress</a:t>
                </a:r>
                <a:r>
                  <a:rPr lang="en-US" altLang="ko-KR" baseline="-25000" dirty="0" err="1">
                    <a:solidFill>
                      <a:schemeClr val="tx1"/>
                    </a:solidFill>
                  </a:rPr>
                  <a:t>q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x,d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), d)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라 하면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 xmlns:m="http://schemas.openxmlformats.org/officeDocument/2006/math">
                    <m:r>
                      <a:rPr lang="ar-A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‖</m:t>
                    </m:r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  <m:sub>
                        <m: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ar-AE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⌈"/>
                        <m:endChr m:val="⌋"/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ko-KR" alt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  <a:endParaRPr lang="ar-AE" altLang="ko-KR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200000"/>
                  </a:lnSpc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d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가 클수록 하위 비트를 덜 버리므로 오차 상계가 작다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lnSpc>
                    <a:spcPct val="200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이 오차는 복호화 오차 다항식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E(x)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에 새 오차 항으로 추가되는 정도다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9D0F5CD-2FEF-B375-7D3E-16C5CD1CE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C507AB-E0D8-2AFF-1EDD-52B5584E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192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CE55A-0EE9-F823-D741-A79E2209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C074D-702C-FBF1-EC62-A27AA14B0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2: q = 19, d = 2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8D16F3F-CD2E-590F-5B18-A8793C7898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" altLang="ko-KR" dirty="0"/>
                  <a:t>y = Compress₁₉(x, 2), x′ = Decompress₁₉(y, 2)</a:t>
                </a:r>
              </a:p>
              <a:p>
                <a:endParaRPr lang="es-ES" altLang="ko-KR" dirty="0"/>
              </a:p>
              <a:p>
                <a:endParaRPr lang="es-ES" altLang="ko-KR" dirty="0"/>
              </a:p>
              <a:p>
                <a:endParaRPr lang="es-ES" altLang="ko-KR" dirty="0"/>
              </a:p>
              <a:p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‖x′-x‖</a:t>
                </a:r>
                <a:r>
                  <a:rPr lang="en-US" altLang="ko-KR" baseline="-25000" dirty="0">
                    <a:solidFill>
                      <a:srgbClr val="404040"/>
                    </a:solidFill>
                    <a:latin typeface="Segoe UI Symbol"/>
                  </a:rPr>
                  <a:t>∞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는 최대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2 (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예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: x=7→x′=5,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차이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2 / x=8→x′=10,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차이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2)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⌈"/>
                        <m:endChr m:val="⌋"/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i="1">
                            <a:latin typeface="Cambria Math"/>
                          </a:rPr>
                          <m:t>19</m:t>
                        </m:r>
                        <m:r>
                          <a:rPr lang="ar-AE" altLang="ko-KR" i="1">
                            <a:latin typeface="Cambria Math"/>
                          </a:rPr>
                          <m:t>/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ar-AE" altLang="ko-KR" i="1">
                        <a:latin typeface="Cambria Math"/>
                      </a:rPr>
                      <m:t>=</m:t>
                    </m:r>
                    <m:d>
                      <m:dPr>
                        <m:begChr m:val="⌈"/>
                        <m:endChr m:val="⌋"/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r>
                          <a:rPr lang="ar-AE" altLang="ko-KR" i="1">
                            <a:latin typeface="Cambria Math"/>
                          </a:rPr>
                          <m:t>.</m:t>
                        </m:r>
                        <m:r>
                          <a:rPr lang="ar-AE" altLang="ko-KR" i="1">
                            <a:latin typeface="Cambria Math"/>
                          </a:rPr>
                          <m:t>375</m:t>
                        </m:r>
                      </m:e>
                    </m:d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ar-AE" altLang="ko-KR" i="1">
                        <a:latin typeface="Cambria Math"/>
                      </a:rPr>
                      <m:t>2</m:t>
                    </m:r>
                  </m:oMath>
                </a14:m>
                <a:endParaRPr lang="ar-AE" altLang="ko-KR" dirty="0"/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Z₁₉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의 원소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0~18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을 원 위에 배치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각 점 옆에 파란 숫자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= y (</a:t>
                </a:r>
                <a:r>
                  <a:rPr lang="ko-KR" altLang="en-US" dirty="0" err="1">
                    <a:solidFill>
                      <a:srgbClr val="404040"/>
                    </a:solidFill>
                    <a:latin typeface="Segoe UI Symbol"/>
                  </a:rPr>
                  <a:t>압축값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)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각 점 옆에 빨간 숫자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= x′ (</a:t>
                </a:r>
                <a:r>
                  <a:rPr lang="ko-KR" altLang="en-US" dirty="0" err="1">
                    <a:solidFill>
                      <a:srgbClr val="404040"/>
                    </a:solidFill>
                    <a:latin typeface="Segoe UI Symbol"/>
                  </a:rPr>
                  <a:t>복원값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)</a:t>
                </a:r>
              </a:p>
              <a:p>
                <a:endParaRPr lang="es-E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8D16F3F-CD2E-590F-5B18-A8793C7898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E55DD-D02A-FA28-2E58-93C05567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1BC97CFE-0A10-C075-29C9-9585C4FFC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345215"/>
              </p:ext>
            </p:extLst>
          </p:nvPr>
        </p:nvGraphicFramePr>
        <p:xfrm>
          <a:off x="328422" y="1877728"/>
          <a:ext cx="11535156" cy="13716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58064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y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3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3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3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3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3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x′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5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14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14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14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14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14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0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74F860EA-A419-C865-02E5-FE938664F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329" y="3429000"/>
            <a:ext cx="3086471" cy="304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98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C6083-3B4A-55BD-32BD-5532A173D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2DCF2-296B-46B6-DE30-03CD2FAA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3: q = 3329, d = 10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D2C09FD-F5F8-8E56-2807-F49F1F45B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⌋"/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3329</m:t>
                        </m:r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d>
                    <m:r>
                      <a:rPr lang="ar-AE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r>
                      <a:rPr lang="ko-KR" altLang="ar-AE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2426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1198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2055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2409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Compress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ar-AE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746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369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632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741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Decompress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ar-AE" altLang="ko-KR" i="1">
                        <a:latin typeface="Cambria Math" panose="02040503050406030204" pitchFamily="18" charset="0"/>
                      </a:rPr>
                      <m:t>(⋯,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2425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1200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2055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2409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ar-AE" altLang="ko-KR" dirty="0"/>
              </a:p>
              <a:p>
                <a:r>
                  <a:rPr lang="ko-KR" altLang="en-US" dirty="0">
                    <a:solidFill>
                      <a:srgbClr val="404040"/>
                    </a:solidFill>
                  </a:rPr>
                  <a:t>오차 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U - U′ = 1 - 2x (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계수별 절댓값 모두 ≤ 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2, 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이론적 상계와 일치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D2C09FD-F5F8-8E56-2807-F49F1F45B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5E8431-48C8-F4E2-4E36-3BAA3325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242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214F0-45AC-02EE-D67E-E0C23365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89001-9B1D-7014-3C18-1C1CD4D2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압축 파라미터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52989-DA62-59F3-FD01-7A2E4BBF0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 경우 모두 계수 절댓값이 이론적 상계 이내</a:t>
            </a:r>
            <a:r>
              <a:rPr lang="en-US" altLang="ko-KR" dirty="0"/>
              <a:t>(d=10: ≤2, d=4: ≤104)</a:t>
            </a:r>
          </a:p>
          <a:p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d=10 (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오차 작음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, 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상계 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2) vs d=4 (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오차 큼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, </a:t>
            </a:r>
            <a:r>
              <a:rPr lang="ko-KR" altLang="en-US" dirty="0">
                <a:solidFill>
                  <a:srgbClr val="404040"/>
                </a:solidFill>
                <a:latin typeface="Segoe UI Symbol"/>
              </a:rPr>
              <a:t>상계 </a:t>
            </a:r>
            <a:r>
              <a:rPr lang="en-US" altLang="ko-KR" dirty="0">
                <a:solidFill>
                  <a:srgbClr val="404040"/>
                </a:solidFill>
                <a:latin typeface="Segoe UI Symbol"/>
              </a:rPr>
              <a:t>104)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5FEFBC-711B-604F-7C21-A3A25F69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88D3E8C7-6984-762B-25E3-D6E93A59F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124652"/>
              </p:ext>
            </p:extLst>
          </p:nvPr>
        </p:nvGraphicFramePr>
        <p:xfrm>
          <a:off x="838200" y="1295322"/>
          <a:ext cx="10515601" cy="15544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88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1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4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3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이론적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상계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Compress</a:t>
                      </a:r>
                      <a:r>
                        <a:rPr sz="1800" b="1" baseline="-25000" dirty="0" err="1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,d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Decompress</a:t>
                      </a:r>
                      <a:r>
                        <a:rPr sz="1800" b="1" baseline="-25000" dirty="0" err="1">
                          <a:solidFill>
                            <a:schemeClr val="bg1"/>
                          </a:solidFill>
                        </a:rPr>
                        <a:t>q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(⋯,d)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오차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′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10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  <a:latin typeface="Segoe UI Symbol"/>
                        </a:rPr>
                        <a:t>⌈3329/2¹¹⌋=2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69+442x+1009x²+245x³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224+1437x+3280x²+796x³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-1+x-2x³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4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  <a:latin typeface="Segoe UI Symbol"/>
                        </a:rPr>
                        <a:t>⌈3329/2⁵⌋=104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1+7x+4x³ (x² 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계수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0)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208+1456x+832x³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15-18x-49x²-34x³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807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C569D-F7C2-55FD-9FC3-938DAC79A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3EC93-951D-22CF-80C6-5624D64CA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압축 파라미터와 정확도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FBAE57-4134-70BF-50B7-5C80B56E8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ML-KEM-768</a:t>
            </a:r>
            <a:r>
              <a:rPr lang="ko-KR" altLang="en-US" dirty="0"/>
              <a:t>의 선택</a:t>
            </a:r>
          </a:p>
          <a:p>
            <a:pPr lvl="1"/>
            <a:r>
              <a:rPr lang="en-US" altLang="ko-KR" dirty="0"/>
              <a:t>u</a:t>
            </a:r>
            <a:r>
              <a:rPr lang="ko-KR" altLang="en-US" dirty="0"/>
              <a:t>에는 </a:t>
            </a:r>
            <a:r>
              <a:rPr lang="en-US" altLang="ko-KR" dirty="0"/>
              <a:t>d</a:t>
            </a:r>
            <a:r>
              <a:rPr lang="en-US" altLang="ko-KR" baseline="-25000" dirty="0"/>
              <a:t>u</a:t>
            </a:r>
            <a:r>
              <a:rPr lang="en-US" altLang="ko-KR" dirty="0"/>
              <a:t> = 10 </a:t>
            </a:r>
            <a:r>
              <a:rPr lang="ko-KR" altLang="en-US" dirty="0"/>
              <a:t>사용 </a:t>
            </a:r>
            <a:r>
              <a:rPr lang="en-US" altLang="ko-KR" dirty="0"/>
              <a:t>— </a:t>
            </a:r>
            <a:r>
              <a:rPr lang="ko-KR" altLang="en-US" dirty="0"/>
              <a:t>오차가 복호화 정확성에 더 큰 영향을 주므로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en-US" altLang="ko-KR" dirty="0"/>
              <a:t>v</a:t>
            </a:r>
            <a:r>
              <a:rPr lang="ko-KR" altLang="en-US" dirty="0"/>
              <a:t>에는 </a:t>
            </a:r>
            <a:r>
              <a:rPr lang="en-US" altLang="ko-KR" dirty="0"/>
              <a:t>d</a:t>
            </a:r>
            <a:r>
              <a:rPr lang="en-US" altLang="ko-KR" baseline="-25000" dirty="0"/>
              <a:t>v</a:t>
            </a:r>
            <a:r>
              <a:rPr lang="en-US" altLang="ko-KR" dirty="0"/>
              <a:t> = 4 </a:t>
            </a:r>
            <a:r>
              <a:rPr lang="ko-KR" altLang="en-US" dirty="0"/>
              <a:t>사용 </a:t>
            </a:r>
            <a:r>
              <a:rPr lang="en-US" altLang="ko-KR" dirty="0"/>
              <a:t>— </a:t>
            </a:r>
            <a:r>
              <a:rPr lang="ko-KR" altLang="en-US" dirty="0"/>
              <a:t>허용 오차가 상대적으로 큼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906E80-D30B-C45B-5CCB-C011C9C5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B7F418E6-E66C-281B-6051-E3300485F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251215"/>
              </p:ext>
            </p:extLst>
          </p:nvPr>
        </p:nvGraphicFramePr>
        <p:xfrm>
          <a:off x="838200" y="1295322"/>
          <a:ext cx="10515600" cy="13716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저장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비트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 수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오차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상계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크다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(d=10)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크다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작다 (≤2)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작다 (d=4)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작다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크다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(≤104)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477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ECDA-0101-C84D-31E3-05F9F82D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1D15C-579B-DFBB-21EC-3EA90BE3C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압축된 암호문의 크기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D5260C-D84E-8695-97E1-F87DBD9AD5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256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256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7680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1024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8704</m:t>
                    </m:r>
                    <m:r>
                      <m:rPr>
                        <m:nor/>
                      </m:rPr>
                      <a:rPr lang="en-US" altLang="ko-KR" i="1"/>
                      <m:t> </m:t>
                    </m:r>
                    <m:r>
                      <m:rPr>
                        <m:nor/>
                      </m:rPr>
                      <a:rPr lang="en-US" altLang="ko-KR" i="1"/>
                      <m:t>bit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1088</m:t>
                    </m:r>
                    <m:r>
                      <m:rPr>
                        <m:nor/>
                      </m:rPr>
                      <a:rPr lang="en-US" altLang="ko-KR" i="1"/>
                      <m:t> </m:t>
                    </m:r>
                    <m:r>
                      <m:rPr>
                        <m:nor/>
                      </m:rPr>
                      <a:rPr lang="en-US" altLang="ko-KR" i="1"/>
                      <m:t>bytes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ko-KR" altLang="en-US" dirty="0">
                    <a:solidFill>
                      <a:srgbClr val="404040"/>
                    </a:solidFill>
                  </a:rPr>
                  <a:t>압축 전 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1,536 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바이트  →  압축 후 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1,088 </a:t>
                </a:r>
                <a:r>
                  <a:rPr lang="ko-KR" altLang="en-US" dirty="0">
                    <a:solidFill>
                      <a:srgbClr val="404040"/>
                    </a:solidFill>
                  </a:rPr>
                  <a:t>바이트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D5260C-D84E-8695-97E1-F87DBD9AD5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9C80AA-0709-A3B6-119A-AF12DC366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27</a:t>
            </a:fld>
            <a:endParaRPr lang="ko-KR" altLang="en-US"/>
          </a:p>
        </p:txBody>
      </p: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BF1BA55A-829D-5281-B334-DDAEB02EA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000901"/>
              </p:ext>
            </p:extLst>
          </p:nvPr>
        </p:nvGraphicFramePr>
        <p:xfrm>
          <a:off x="838199" y="2514600"/>
          <a:ext cx="10515600" cy="9144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sz="1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ML-KEM-512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ML-KEM-768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ML-KEM-1024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압축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 전 → 후 (</a:t>
                      </a:r>
                      <a:r>
                        <a:rPr sz="1800" dirty="0" err="1">
                          <a:solidFill>
                            <a:srgbClr val="404040"/>
                          </a:solidFill>
                        </a:rPr>
                        <a:t>바이트</a:t>
                      </a:r>
                      <a:r>
                        <a:rPr sz="1800" dirty="0">
                          <a:solidFill>
                            <a:srgbClr val="404040"/>
                          </a:solidFill>
                        </a:rPr>
                        <a:t>)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1152 → 768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1536 → 1088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1920 → 1568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8511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DD89-C178-01CB-C686-415808EB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5C74BE-C833-09B7-B104-E0A50ADB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균등분포가 아닌가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B44C1C-9332-73D1-39AD-F58D8F52E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US" altLang="ko-KR" dirty="0" err="1">
                <a:solidFill>
                  <a:srgbClr val="404040"/>
                </a:solidFill>
              </a:rPr>
              <a:t>S</a:t>
            </a:r>
            <a:r>
              <a:rPr lang="en-US" altLang="ko-KR" baseline="-25000" dirty="0" err="1">
                <a:solidFill>
                  <a:srgbClr val="404040"/>
                </a:solidFill>
              </a:rPr>
              <a:t>η</a:t>
            </a:r>
            <a:r>
              <a:rPr lang="ko-KR" altLang="en-US" dirty="0">
                <a:solidFill>
                  <a:srgbClr val="404040"/>
                </a:solidFill>
              </a:rPr>
              <a:t>에서 다항식을 균등 무작위로 뽑으려면 각 계수를 구간 </a:t>
            </a:r>
            <a:r>
              <a:rPr lang="en-US" altLang="ko-KR" dirty="0">
                <a:solidFill>
                  <a:srgbClr val="404040"/>
                </a:solidFill>
              </a:rPr>
              <a:t>[-η, η]</a:t>
            </a:r>
            <a:r>
              <a:rPr lang="ko-KR" altLang="en-US" dirty="0">
                <a:solidFill>
                  <a:srgbClr val="404040"/>
                </a:solidFill>
              </a:rPr>
              <a:t>에서 균등 무작위로 뽑아야 한다</a:t>
            </a:r>
            <a:r>
              <a:rPr lang="en-US" altLang="ko-KR" dirty="0">
                <a:solidFill>
                  <a:srgbClr val="404040"/>
                </a:solidFill>
              </a:rPr>
              <a:t>.</a:t>
            </a: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ko-KR" altLang="en-US" dirty="0">
                <a:solidFill>
                  <a:srgbClr val="404040"/>
                </a:solidFill>
              </a:rPr>
              <a:t>그런데 이 구간의 정수 개수 </a:t>
            </a:r>
            <a:r>
              <a:rPr lang="en-US" altLang="ko-KR" dirty="0">
                <a:solidFill>
                  <a:srgbClr val="404040"/>
                </a:solidFill>
              </a:rPr>
              <a:t>2η+1</a:t>
            </a:r>
            <a:r>
              <a:rPr lang="ko-KR" altLang="en-US" dirty="0">
                <a:solidFill>
                  <a:srgbClr val="404040"/>
                </a:solidFill>
              </a:rPr>
              <a:t>은 </a:t>
            </a:r>
            <a:r>
              <a:rPr lang="en-US" altLang="ko-KR" dirty="0">
                <a:solidFill>
                  <a:srgbClr val="404040"/>
                </a:solidFill>
              </a:rPr>
              <a:t>2</a:t>
            </a:r>
            <a:r>
              <a:rPr lang="ko-KR" altLang="en-US" dirty="0">
                <a:solidFill>
                  <a:srgbClr val="404040"/>
                </a:solidFill>
              </a:rPr>
              <a:t>의 거듭제곱이 아니다 </a:t>
            </a:r>
            <a:r>
              <a:rPr lang="en-US" altLang="ko-KR" dirty="0">
                <a:solidFill>
                  <a:srgbClr val="404040"/>
                </a:solidFill>
              </a:rPr>
              <a:t>(</a:t>
            </a:r>
            <a:r>
              <a:rPr lang="ko-KR" altLang="en-US" dirty="0">
                <a:solidFill>
                  <a:srgbClr val="404040"/>
                </a:solidFill>
              </a:rPr>
              <a:t>예</a:t>
            </a:r>
            <a:r>
              <a:rPr lang="en-US" altLang="ko-KR" dirty="0">
                <a:solidFill>
                  <a:srgbClr val="404040"/>
                </a:solidFill>
              </a:rPr>
              <a:t>: η=2 </a:t>
            </a:r>
            <a:r>
              <a:rPr lang="ko-KR" altLang="en-US" dirty="0">
                <a:solidFill>
                  <a:srgbClr val="404040"/>
                </a:solidFill>
              </a:rPr>
              <a:t>이면 </a:t>
            </a:r>
            <a:r>
              <a:rPr lang="en-US" altLang="ko-KR" dirty="0">
                <a:solidFill>
                  <a:srgbClr val="404040"/>
                </a:solidFill>
              </a:rPr>
              <a:t>5</a:t>
            </a:r>
            <a:r>
              <a:rPr lang="ko-KR" altLang="en-US" dirty="0">
                <a:solidFill>
                  <a:srgbClr val="404040"/>
                </a:solidFill>
              </a:rPr>
              <a:t>개</a:t>
            </a:r>
            <a:r>
              <a:rPr lang="en-US" altLang="ko-KR" dirty="0">
                <a:solidFill>
                  <a:srgbClr val="404040"/>
                </a:solidFill>
              </a:rPr>
              <a:t>).</a:t>
            </a:r>
            <a:endParaRPr lang="ko-KR" altLang="en-US" dirty="0"/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dirty="0"/>
              <a:t>∴ 균등 샘플링을 하려면 거부 샘플링이 필요하다</a:t>
            </a:r>
            <a:r>
              <a:rPr lang="en-US" altLang="ko-KR" dirty="0"/>
              <a:t> — </a:t>
            </a:r>
            <a:r>
              <a:rPr lang="ko-KR" altLang="en-US" dirty="0"/>
              <a:t>난수 비트열을 뽑아 범위 밖이면 버리고 </a:t>
            </a:r>
            <a:br>
              <a:rPr lang="en-US" altLang="ko-KR" dirty="0"/>
            </a:br>
            <a:r>
              <a:rPr lang="ko-KR" altLang="en-US" dirty="0"/>
              <a:t>다시 뽑는다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ko-KR" dirty="0"/>
              <a:t>⟹ </a:t>
            </a:r>
            <a:r>
              <a:rPr lang="ko-KR" altLang="en-US" dirty="0"/>
              <a:t>상수 시간</a:t>
            </a:r>
            <a:r>
              <a:rPr lang="en-US" altLang="ko-KR" dirty="0"/>
              <a:t> </a:t>
            </a:r>
            <a:r>
              <a:rPr lang="ko-KR" altLang="en-US" dirty="0"/>
              <a:t>구현이 어려워지고 </a:t>
            </a:r>
            <a:r>
              <a:rPr lang="ko-KR" altLang="en-US" dirty="0" err="1"/>
              <a:t>부채널</a:t>
            </a:r>
            <a:r>
              <a:rPr lang="ko-KR" altLang="en-US" dirty="0"/>
              <a:t> 공격에 취약해질 수 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DB0911-D4B3-D581-323A-262808EB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382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72F93-B318-9C05-E413-C46AD56CA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156C9-D10B-A2B9-D7DF-ADBD840B7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Central binomial distribution (CBD)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BF6E1FD-53CC-D32A-85BB-0E770370DD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η</a:t>
                </a:r>
                <a:r>
                  <a:rPr lang="ko-KR" altLang="en-US" dirty="0"/>
                  <a:t>개의 비트 쌍 </a:t>
                </a:r>
                <a:r>
                  <a:rPr lang="en-US" altLang="ko-KR" dirty="0"/>
                  <a:t>(aᵢ, bᵢ) (1 ≤ 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 ≤ η)</a:t>
                </a:r>
                <a:r>
                  <a:rPr lang="ko-KR" altLang="en-US" dirty="0"/>
                  <a:t>를 균등 무작위로 뽑는다</a:t>
                </a:r>
                <a:r>
                  <a:rPr lang="en-US" altLang="ko-KR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ko-KR" altLang="ar-AE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ar-AE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  <m:e/>
                    </m:nary>
                    <m:r>
                      <a:rPr lang="ar-AE" altLang="ko-KR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ko-K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, </a:t>
                </a:r>
                <a:r>
                  <a:rPr lang="en-US" altLang="ko-KR" dirty="0">
                    <a:solidFill>
                      <a:srgbClr val="404040"/>
                    </a:solidFill>
                  </a:rPr>
                  <a:t>c ∈ [-</a:t>
                </a:r>
                <a:r>
                  <a:rPr lang="el-GR" altLang="ko-KR" dirty="0">
                    <a:solidFill>
                      <a:srgbClr val="404040"/>
                    </a:solidFill>
                  </a:rPr>
                  <a:t>η, η]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𝑃𝑟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)=(</m:t>
                      </m:r>
                      <m:f>
                        <m:fPr>
                          <m:type m:val="noBar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den>
                      </m:f>
                      <m:r>
                        <a:rPr lang="ar-AE" altLang="ko-KR" i="1">
                          <a:latin typeface="Cambria Math" panose="02040503050406030204" pitchFamily="18" charset="0"/>
                        </a:rPr>
                        <m:t>)/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</m:sup>
                      </m:sSup>
                    </m:oMath>
                  </m:oMathPara>
                </a14:m>
                <a:endParaRPr lang="ar-AE" altLang="ko-KR" dirty="0"/>
              </a:p>
              <a:p>
                <a:r>
                  <a:rPr lang="ko-KR" altLang="en-US" dirty="0"/>
                  <a:t>유리한 이유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균등 무작위 비트 </a:t>
                </a:r>
                <a:r>
                  <a:rPr lang="en-US" altLang="ko-KR" dirty="0"/>
                  <a:t>2η</a:t>
                </a:r>
                <a:r>
                  <a:rPr lang="ko-KR" altLang="en-US" dirty="0"/>
                  <a:t>개와 덧셈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뺄셈만으로 이루어지므로 거부 샘플링이 필요 없고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상수 시간 구현이 쉽다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— </a:t>
                </a:r>
                <a:r>
                  <a:rPr lang="ko-KR" altLang="en-US" dirty="0"/>
                  <a:t>앞 슬라이드의 문제를 근본적으로 회피한다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예</a:t>
                </a:r>
                <a:r>
                  <a:rPr lang="en-US" altLang="ko-KR" dirty="0"/>
                  <a:t>) </a:t>
                </a:r>
                <a:r>
                  <a:rPr lang="el-GR" altLang="ko-KR" dirty="0"/>
                  <a:t>η = 2</a:t>
                </a:r>
                <a:endParaRPr lang="ar-AE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BF6E1FD-53CC-D32A-85BB-0E770370D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927AE-C055-2319-1B46-DED17235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29</a:t>
            </a:fld>
            <a:endParaRPr lang="ko-KR" alt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E0EDF79D-DBB7-55AC-63D1-6454BB9C2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680223"/>
              </p:ext>
            </p:extLst>
          </p:nvPr>
        </p:nvGraphicFramePr>
        <p:xfrm>
          <a:off x="838200" y="4872711"/>
          <a:ext cx="10515600" cy="10058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-2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-1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sz="1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Pr(c=j)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1/16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4/16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6/16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404040"/>
                          </a:solidFill>
                        </a:rPr>
                        <a:t>4/16</a:t>
                      </a:r>
                      <a:endParaRPr sz="180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404040"/>
                          </a:solidFill>
                        </a:rPr>
                        <a:t>1/16</a:t>
                      </a:r>
                      <a:endParaRPr sz="1800" dirty="0">
                        <a:solidFill>
                          <a:srgbClr val="404040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301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46939-CAAB-E59C-FE56-6AB07C88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ADC48-B401-C79D-EFDA-E2A0DC2A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CBD</a:t>
            </a:r>
            <a:r>
              <a:rPr lang="ko-KR" altLang="en-US" dirty="0"/>
              <a:t>를 쓰는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ACC471-5474-E6D4-2C4E-70D6D68F6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상수 시간 구현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부동소수점 연산</a:t>
            </a:r>
            <a:r>
              <a:rPr lang="en-US" altLang="ko-KR" dirty="0"/>
              <a:t>(</a:t>
            </a:r>
            <a:r>
              <a:rPr lang="ko-KR" altLang="en-US" dirty="0"/>
              <a:t>가우스 샘플링에 필요</a:t>
            </a:r>
            <a:r>
              <a:rPr lang="en-US" altLang="ko-KR" dirty="0"/>
              <a:t>)</a:t>
            </a:r>
            <a:r>
              <a:rPr lang="ko-KR" altLang="en-US" dirty="0"/>
              <a:t>과 거부 샘플링</a:t>
            </a:r>
            <a:r>
              <a:rPr lang="en-US" altLang="ko-KR" dirty="0"/>
              <a:t>(</a:t>
            </a:r>
            <a:r>
              <a:rPr lang="ko-KR" altLang="en-US" dirty="0"/>
              <a:t>균등 샘플링에 필요</a:t>
            </a:r>
            <a:r>
              <a:rPr lang="en-US" altLang="ko-KR" dirty="0"/>
              <a:t>) </a:t>
            </a:r>
            <a:r>
              <a:rPr lang="ko-KR" altLang="en-US" dirty="0"/>
              <a:t>둘 다 피할 수 있다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0 </a:t>
            </a:r>
            <a:r>
              <a:rPr lang="ko-KR" altLang="en-US" dirty="0"/>
              <a:t>근방에 확률이 몰려 있어 복호화 오류 확률을 낮추는 데 유리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앞 예제 표에서 </a:t>
            </a:r>
            <a:r>
              <a:rPr lang="en-US" altLang="ko-KR" dirty="0" err="1"/>
              <a:t>Pr</a:t>
            </a:r>
            <a:r>
              <a:rPr lang="en-US" altLang="ko-KR" dirty="0"/>
              <a:t>(c=0)=6/16</a:t>
            </a:r>
            <a:r>
              <a:rPr lang="ko-KR" altLang="en-US" dirty="0"/>
              <a:t>으로 가장 크다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이산 가우스 분포</a:t>
            </a:r>
            <a:r>
              <a:rPr lang="en-US" altLang="ko-KR" dirty="0"/>
              <a:t>(</a:t>
            </a:r>
            <a:r>
              <a:rPr lang="ko-KR" altLang="en-US" dirty="0"/>
              <a:t>격자 기반 암호의 이론적 표준 선택</a:t>
            </a:r>
            <a:r>
              <a:rPr lang="en-US" altLang="ko-KR" dirty="0"/>
              <a:t>)</a:t>
            </a:r>
            <a:r>
              <a:rPr lang="ko-KR" altLang="en-US" dirty="0"/>
              <a:t>에 대한 좋은 근사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754C7D-033F-D4EF-E153-B3B59A45C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798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B57DA-57ED-A8DF-0AFF-E15DD80F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DF82F-B3B6-575B-E15A-4ED43D32E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빠른 곱셈 다항식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878C9F0-3B6A-2891-4642-586E51F336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𝑞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/>
                            </a:rPr>
                            <m:t>ℤ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3329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[</m:t>
                      </m:r>
                      <m:r>
                        <a:rPr lang="ko-KR" altLang="ar-AE" i="1">
                          <a:latin typeface="Cambria Math"/>
                        </a:rPr>
                        <m:t>𝑥</m:t>
                      </m:r>
                      <m:r>
                        <a:rPr lang="ar-AE" altLang="ko-KR" i="1">
                          <a:latin typeface="Cambria Math"/>
                        </a:rPr>
                        <m:t>]/(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256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+</m:t>
                      </m:r>
                      <m:r>
                        <a:rPr lang="ar-AE" altLang="ko-KR" i="1">
                          <a:latin typeface="Cambria Math"/>
                        </a:rPr>
                        <m:t>1</m:t>
                      </m:r>
                      <m:r>
                        <a:rPr lang="ar-AE" altLang="ko-K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altLang="ko-KR" dirty="0"/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Kyber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암호화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·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복호화 연산 시간의 대부분은 </a:t>
                </a:r>
                <a:r>
                  <a:rPr lang="en-US" altLang="ko-KR" dirty="0" err="1">
                    <a:solidFill>
                      <a:srgbClr val="404040"/>
                    </a:solidFill>
                    <a:latin typeface="Segoe UI Symbol"/>
                  </a:rPr>
                  <a:t>R</a:t>
                </a:r>
                <a:r>
                  <a:rPr lang="en-US" altLang="ko-KR" baseline="-25000" dirty="0" err="1">
                    <a:solidFill>
                      <a:srgbClr val="404040"/>
                    </a:solidFill>
                    <a:latin typeface="Segoe UI Symbol"/>
                  </a:rPr>
                  <a:t>q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에서의 다항식 곱셈이 차지한다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.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이 곱셈은 </a:t>
                </a:r>
                <a:r>
                  <a:rPr lang="ko-KR" altLang="en-US" dirty="0" err="1">
                    <a:solidFill>
                      <a:srgbClr val="404040"/>
                    </a:solidFill>
                    <a:latin typeface="Segoe UI Symbol"/>
                  </a:rPr>
                  <a:t>수론적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 변환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(NTT, Number-Theoretic Transform)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으로 크게 가속할 수 있다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.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NTT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는 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FIPS 203 </a:t>
                </a:r>
                <a:r>
                  <a:rPr lang="ko-KR" altLang="en-US" dirty="0">
                    <a:solidFill>
                      <a:srgbClr val="404040"/>
                    </a:solidFill>
                    <a:latin typeface="Segoe UI Symbol"/>
                  </a:rPr>
                  <a:t>표준 구현에서 필수적인 부분이다</a:t>
                </a:r>
                <a:r>
                  <a:rPr lang="en-US" altLang="ko-KR" dirty="0">
                    <a:solidFill>
                      <a:srgbClr val="404040"/>
                    </a:solidFill>
                    <a:latin typeface="Segoe UI Symbol"/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878C9F0-3B6A-2891-4642-586E51F336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E79445-262E-2D1F-42A8-BF02D3A8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48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4212</TotalTime>
  <Words>2613</Words>
  <Application>Microsoft Office PowerPoint</Application>
  <PresentationFormat>와이드스크린</PresentationFormat>
  <Paragraphs>461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맑은 고딕</vt:lpstr>
      <vt:lpstr>Arial</vt:lpstr>
      <vt:lpstr>Cambria Math</vt:lpstr>
      <vt:lpstr>Segoe UI Symbol</vt:lpstr>
      <vt:lpstr>Office 테마</vt:lpstr>
      <vt:lpstr>Post-Quantum Cryptography</vt:lpstr>
      <vt:lpstr>Plan</vt:lpstr>
      <vt:lpstr>표기법</vt:lpstr>
      <vt:lpstr>평문 공간과 인코딩</vt:lpstr>
      <vt:lpstr>Floor, Ceiling</vt:lpstr>
      <vt:lpstr>Roundq</vt:lpstr>
      <vt:lpstr>Roundq 원형 다이어그램</vt:lpstr>
      <vt:lpstr>Roundq의 다항식 확장</vt:lpstr>
      <vt:lpstr>도메인 파라미터</vt:lpstr>
      <vt:lpstr>키 생성</vt:lpstr>
      <vt:lpstr>암호화, 복호화</vt:lpstr>
      <vt:lpstr>예제1: 키 생성</vt:lpstr>
      <vt:lpstr>예제1: 암호화</vt:lpstr>
      <vt:lpstr>예제1: 복호화</vt:lpstr>
      <vt:lpstr>안전성</vt:lpstr>
      <vt:lpstr>복호화가 항상 성공하는가?</vt:lpstr>
      <vt:lpstr>오차 다항식의 크기 상계</vt:lpstr>
      <vt:lpstr>ML-KEM-768</vt:lpstr>
      <vt:lpstr>암호화 키∙암호문 크기</vt:lpstr>
      <vt:lpstr>공개키 크기 감소</vt:lpstr>
      <vt:lpstr>Compressq, Decompressq</vt:lpstr>
      <vt:lpstr>압축 오차 상계</vt:lpstr>
      <vt:lpstr>예제2: q = 19, d = 2</vt:lpstr>
      <vt:lpstr>예제3: q = 3329, d = 10</vt:lpstr>
      <vt:lpstr>압축 파라미터 비교</vt:lpstr>
      <vt:lpstr>압축 파라미터와 정확도</vt:lpstr>
      <vt:lpstr>압축된 암호문의 크기</vt:lpstr>
      <vt:lpstr>왜 균등분포가 아닌가</vt:lpstr>
      <vt:lpstr>Central binomial distribution (CBD)</vt:lpstr>
      <vt:lpstr>CBD를 쓰는 이유</vt:lpstr>
      <vt:lpstr>빠른 곱셈 다항식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1453</cp:revision>
  <dcterms:created xsi:type="dcterms:W3CDTF">2026-03-17T05:07:50Z</dcterms:created>
  <dcterms:modified xsi:type="dcterms:W3CDTF">2026-08-04T11:10:27Z</dcterms:modified>
</cp:coreProperties>
</file>