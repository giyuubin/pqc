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12. Dilithium (t Compression and Full Scheme)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pPr marL="342900" indent="-342900">
              <a:buFont typeface="+mj-lt"/>
              <a:buAutoNum type="arabicPeriod"/>
            </a:pPr>
            <a:r>
              <a:rPr dirty="0"/>
              <a:t>Power2Round와 t 압축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힌트 비트 (Hint bits)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수정된 Decompose, MakeHint, UseHint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완성형 Dilithium 알고리즘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파라미터 세트와 키·서명 크기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기대 반복 횟수와 안전성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왜 t를 압축해야 하는가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공개키 (A,t)와 개인키 (s</a:t>
            </a:r>
            <a:r>
              <a:rPr baseline="-25000" dirty="0"/>
              <a:t>1</a:t>
            </a:r>
            <a:r>
              <a:rPr dirty="0"/>
              <a:t>,s</a:t>
            </a:r>
            <a:r>
              <a:rPr baseline="-25000" dirty="0"/>
              <a:t>2</a:t>
            </a:r>
            <a:r>
              <a:rPr dirty="0"/>
              <a:t>)를 그대로 저장하면 ML-DSA-87 기준 다음과 같이 크다</a:t>
            </a:r>
          </a:p>
          <a:p>
            <a:r>
              <a:rPr dirty="0"/>
              <a:t>t는 시드로 대체할 수 없다</a:t>
            </a:r>
            <a:endParaRPr lang="en-US" dirty="0"/>
          </a:p>
          <a:p>
            <a:pPr lvl="1"/>
            <a:r>
              <a:rPr dirty="0"/>
              <a:t>t는 s</a:t>
            </a:r>
            <a:r>
              <a:rPr baseline="-25000" dirty="0"/>
              <a:t>1</a:t>
            </a:r>
            <a:r>
              <a:rPr dirty="0"/>
              <a:t>, s</a:t>
            </a:r>
            <a:r>
              <a:rPr baseline="-25000" dirty="0"/>
              <a:t>2</a:t>
            </a:r>
            <a:r>
              <a:rPr dirty="0"/>
              <a:t>에 종속된 값이라 시드만으로는 재현할 수 없기 때문이다</a:t>
            </a:r>
          </a:p>
          <a:p>
            <a:r>
              <a:rPr dirty="0"/>
              <a:t>대신 t의 각 계수에서 하위 비트를 버리는 방식으로 압축한다 </a:t>
            </a:r>
            <a:endParaRPr lang="en-US" dirty="0"/>
          </a:p>
          <a:p>
            <a:pPr lvl="1"/>
            <a:r>
              <a:rPr dirty="0"/>
              <a:t>이 도구가 Power2Round다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84896"/>
              </p:ext>
            </p:extLst>
          </p:nvPr>
        </p:nvGraphicFramePr>
        <p:xfrm>
          <a:off x="838200" y="4099638"/>
          <a:ext cx="10515600" cy="1463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구성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원래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해결책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남은 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A ∈ R</a:t>
                      </a:r>
                      <a:r>
                        <a:rPr sz="1800" baseline="-25000" dirty="0"/>
                        <a:t>q</a:t>
                      </a:r>
                      <a:r>
                        <a:rPr sz="1800" baseline="30000" dirty="0"/>
                        <a:t>k×ℓ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41,216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 시드 ρ로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해결됨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(s</a:t>
                      </a:r>
                      <a:r>
                        <a:rPr lang="en-US" altLang="ko-KR" sz="1800" baseline="-25000" dirty="0"/>
                        <a:t>1</a:t>
                      </a:r>
                      <a:r>
                        <a:rPr sz="1800" dirty="0"/>
                        <a:t>,s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) ∈ S</a:t>
                      </a:r>
                      <a:r>
                        <a:rPr sz="1800" baseline="-25000" dirty="0"/>
                        <a:t>η</a:t>
                      </a:r>
                      <a:r>
                        <a:rPr sz="1800" baseline="30000" dirty="0"/>
                        <a:t>ℓ</a:t>
                      </a:r>
                      <a:r>
                        <a:rPr sz="1800" dirty="0"/>
                        <a:t>×S</a:t>
                      </a:r>
                      <a:r>
                        <a:rPr lang="el-GR" sz="1800" baseline="-25000" dirty="0"/>
                        <a:t>η</a:t>
                      </a:r>
                      <a:r>
                        <a:rPr sz="1800" baseline="30000" dirty="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1,440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비밀 시드 ρ'로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해결됨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∈ R</a:t>
                      </a:r>
                      <a:r>
                        <a:rPr sz="1800" baseline="-25000" dirty="0"/>
                        <a:t>q</a:t>
                      </a:r>
                      <a:r>
                        <a:rPr sz="1800" baseline="30000" dirty="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5,888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아직 크다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Power2Round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입력: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∈[0,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−1]</m:t>
                    </m:r>
                  </m:oMath>
                </a14:m>
                <a:r>
                  <a:rPr dirty="0"/>
                  <a:t>, 정수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∈[1,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endParaRPr dirty="0"/>
              </a:p>
              <a:p>
                <a:r>
                  <a:rPr dirty="0"/>
                  <a:t>출력: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로,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𝑟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·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,0≤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</m:t>
                      </m:r>
                      <m:d>
                        <m:dPr>
                          <m:begChr m:val="⌈"/>
                          <m:endChr m:val="⌋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  <m:r>
                            <a:rPr lang="en-US" i="1">
                              <a:latin typeface="Cambria Math"/>
                            </a:rPr>
                            <m:t>−1)/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)/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return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은 r의 하위 d비트,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은 나머지 상위 비트다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Power2Round 예제 (q=23, d=3)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lang="en-US" dirty="0"/>
              <a:t>q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23, d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3일 때 모든 r</a:t>
            </a:r>
            <a:r>
              <a:rPr lang="en-US" dirty="0"/>
              <a:t> </a:t>
            </a:r>
            <a:r>
              <a:rPr dirty="0"/>
              <a:t>∈</a:t>
            </a:r>
            <a:r>
              <a:rPr lang="en-US" dirty="0"/>
              <a:t> </a:t>
            </a:r>
            <a:r>
              <a:rPr dirty="0"/>
              <a:t>[0,</a:t>
            </a:r>
            <a:r>
              <a:rPr lang="en-US" dirty="0"/>
              <a:t> </a:t>
            </a:r>
            <a:r>
              <a:rPr dirty="0"/>
              <a:t>22]에 대한 (r</a:t>
            </a:r>
            <a:r>
              <a:rPr baseline="-25000" dirty="0"/>
              <a:t>1</a:t>
            </a:r>
            <a:r>
              <a:rPr dirty="0"/>
              <a:t>,</a:t>
            </a:r>
            <a:r>
              <a:rPr lang="en-US" dirty="0"/>
              <a:t> </a:t>
            </a:r>
            <a:r>
              <a:rPr dirty="0"/>
              <a:t>r</a:t>
            </a:r>
            <a:r>
              <a:rPr baseline="-25000" dirty="0"/>
              <a:t>0</a:t>
            </a:r>
            <a:r>
              <a:rPr dirty="0"/>
              <a:t>):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559824"/>
              </p:ext>
            </p:extLst>
          </p:nvPr>
        </p:nvGraphicFramePr>
        <p:xfrm>
          <a:off x="838199" y="1950000"/>
          <a:ext cx="10515598" cy="47548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98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(r</a:t>
                      </a:r>
                      <a:r>
                        <a:rPr sz="1800" b="1" baseline="-25000" dirty="0"/>
                        <a:t>1</a:t>
                      </a:r>
                      <a:r>
                        <a:rPr sz="1800" b="1" dirty="0"/>
                        <a:t>,</a:t>
                      </a:r>
                      <a:r>
                        <a:rPr lang="en-US" sz="1800" b="1" dirty="0"/>
                        <a:t> </a:t>
                      </a:r>
                      <a:r>
                        <a:rPr sz="1800" b="1" dirty="0"/>
                        <a:t>r</a:t>
                      </a:r>
                      <a:r>
                        <a:rPr sz="1800" b="1" baseline="-25000" dirty="0"/>
                        <a:t>0</a:t>
                      </a:r>
                      <a:r>
                        <a:rPr sz="18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(r</a:t>
                      </a:r>
                      <a:r>
                        <a:rPr sz="1800" b="1" baseline="-25000" dirty="0"/>
                        <a:t>1</a:t>
                      </a:r>
                      <a:r>
                        <a:rPr sz="1800" b="1" dirty="0"/>
                        <a:t>,</a:t>
                      </a:r>
                      <a:r>
                        <a:rPr lang="en-US" sz="1800" b="1" dirty="0"/>
                        <a:t> </a:t>
                      </a:r>
                      <a:r>
                        <a:rPr sz="1800" b="1" dirty="0"/>
                        <a:t>r</a:t>
                      </a:r>
                      <a:r>
                        <a:rPr sz="1800" b="1" baseline="-25000" dirty="0"/>
                        <a:t>0</a:t>
                      </a:r>
                      <a:r>
                        <a:rPr sz="18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(0,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(0,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(0,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(0,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(0,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(2,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(3,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769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(3,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-2)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77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다항식으로의 확장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Power2Round는 다항식의 각 계수에 적용해 확장한다 (벡터에는 각 다항식에 적용)</a:t>
                </a:r>
              </a:p>
              <a:p>
                <a:r>
                  <a:rPr dirty="0"/>
                  <a:t>예: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+1)</m:t>
                    </m:r>
                  </m:oMath>
                </a14:m>
                <a:r>
                  <a:rPr dirty="0"/>
                  <a:t>, d=3,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=2+11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+5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+19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Power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Round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)=(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=2+3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r>
                  <a:rPr dirty="0"/>
                  <a:t>검산: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t 압축의 효과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Power2Round로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로 쓴 뒤,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만 검증키에 넣고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는 서명키에 남긴다 </a:t>
                </a:r>
                <a:br>
                  <a:rPr lang="en-US" dirty="0"/>
                </a:br>
                <a:r>
                  <a:rPr dirty="0"/>
                  <a:t>(ML-DSA-87: k=8, d=13)</a:t>
                </a:r>
              </a:p>
              <a:p>
                <a:r>
                  <a:rPr dirty="0"/>
                  <a:t>다만 t</a:t>
                </a:r>
                <a:r>
                  <a:rPr baseline="-25000" dirty="0"/>
                  <a:t>0</a:t>
                </a:r>
                <a:r>
                  <a:rPr dirty="0"/>
                  <a:t>를 감춘 대가로 서명 생성·검증에 복잡한 절차가 추가된다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73185"/>
              </p:ext>
            </p:extLst>
          </p:nvPr>
        </p:nvGraphicFramePr>
        <p:xfrm>
          <a:off x="838200" y="2914346"/>
          <a:ext cx="10515600" cy="1463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구성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계수 비트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전체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(압축 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23 </a:t>
                      </a:r>
                      <a:r>
                        <a:rPr lang="en-US" sz="1800" dirty="0"/>
                        <a:t>bits</a:t>
                      </a:r>
                      <a:endParaRPr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5,888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t1 (검증키에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2,560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t0 (서명키에 보관)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3,328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압축 전 검증 방식 재확인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t를 압축하지 않는 스킴에서 검증키는 (ρ,</a:t>
                </a:r>
                <a:r>
                  <a:rPr lang="en-US" dirty="0"/>
                  <a:t> </a:t>
                </a:r>
                <a:r>
                  <a:rPr dirty="0"/>
                  <a:t>t)이고, 서명자는 커밋먼트의 상위 비트로 챌린지를 만든다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𝐴𝑦</m:t>
                      </m:r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</m:t>
                      </m:r>
                      <m:limUpp>
                        <m:limUp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lim>
                          <m:r>
                            <a:rPr lang="en-US" i="1">
                              <a:latin typeface="Cambria Math"/>
                            </a:rPr>
                            <m:t>~</m:t>
                          </m:r>
                        </m:lim>
                      </m:limUp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𝐻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𝜇</m:t>
                      </m:r>
                      <m:r>
                        <a:rPr lang="en-US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,2</m:t>
                      </m:r>
                      <m:r>
                        <a:rPr lang="en-US" i="1">
                          <a:latin typeface="Cambria Math"/>
                        </a:rPr>
                        <m:t>𝜆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검증자는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</m:oMath>
                </a14:m>
                <a:r>
                  <a:rPr dirty="0"/>
                  <a:t>만으로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을 계산하고,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임을 이용해 챌린지를 재현한다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압축이 만드는 검증자의 딜레마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이제 검증자는 t</a:t>
                </a:r>
                <a:r>
                  <a:rPr baseline="-25000" dirty="0"/>
                  <a:t>1</a:t>
                </a:r>
                <a:r>
                  <a:rPr dirty="0"/>
                  <a:t>만 알고 t</a:t>
                </a:r>
                <a:r>
                  <a:rPr baseline="-25000" dirty="0"/>
                  <a:t>0</a:t>
                </a:r>
                <a:r>
                  <a:rPr dirty="0"/>
                  <a:t>는 모른다.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</m:oMath>
                </a14:m>
                <a:r>
                  <a:rPr dirty="0"/>
                  <a:t> 대신 계산할 수 있는 것은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·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)+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즉 검증자가 얻는 값은 원하는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에 알 수 없는 항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이 더해진 값이다</a:t>
                </a:r>
              </a:p>
              <a:p>
                <a:r>
                  <a:rPr dirty="0"/>
                  <a:t>다행히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의 계수는 상대적으로 작을 것으로 기대된다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−ct</a:t>
            </a:r>
            <a:r>
              <a:rPr baseline="-25000" dirty="0"/>
              <a:t>0</a:t>
            </a:r>
            <a:r>
              <a:rPr dirty="0"/>
              <a:t> </a:t>
            </a:r>
            <a:r>
              <a:rPr lang="ko-KR" altLang="en-US" dirty="0"/>
              <a:t>크기 추정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ML-DSA-87: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=13,</m:t>
                    </m:r>
                    <m:r>
                      <a:rPr lang="en-US" i="1">
                        <a:latin typeface="Cambria Math"/>
                      </a:rPr>
                      <m:t>𝜏</m:t>
                    </m:r>
                    <m:r>
                      <a:rPr lang="en-US" i="1">
                        <a:latin typeface="Cambria Math"/>
                      </a:rPr>
                      <m:t>=60,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=261,888</m:t>
                    </m:r>
                  </m:oMath>
                </a14:m>
                <a:endParaRPr dirty="0"/>
              </a:p>
              <a:p>
                <a:r>
                  <a:rPr dirty="0"/>
                  <a:t>c ∈ Bτ이므로 256개 계수 중 정확히 60개만 ±1이고 나머지는 0</a:t>
                </a:r>
              </a:p>
              <a:p>
                <a:r>
                  <a:rPr dirty="0"/>
                  <a:t>t0의 계수는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]=(−4096,4096]</m:t>
                    </m:r>
                  </m:oMath>
                </a14:m>
                <a:r>
                  <a:rPr dirty="0"/>
                  <a:t> 범위, 즉 최대 절댓값 4096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‖−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·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≤60×4096=245,760&lt;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=261,888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따라서 ML-DSA-87에서는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가 항상 보장된다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힌트 비트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‖−ct</a:t>
                </a:r>
                <a:r>
                  <a:rPr baseline="-25000" dirty="0"/>
                  <a:t>0</a:t>
                </a:r>
                <a:r>
                  <a:rPr dirty="0"/>
                  <a:t>‖∞ ≤ γ2일 때,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에 더하면 HighBits는 −1, 0, +1 중 하나만큼만 바뀐다 (자리올림, carry digit)</a:t>
                </a:r>
              </a:p>
              <a:p>
                <a:r>
                  <a:rPr dirty="0"/>
                  <a:t>이 carry digit을 힌트 비트 h로 서명에 실어 보내면, 검증자가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를 몰라도 HighBits를 복원할 수 있다</a:t>
                </a:r>
              </a:p>
              <a:p>
                <a:r>
                  <a:rPr dirty="0"/>
                  <a:t>문제: carry digit은 {−1,0,+1} 세 가지 값인데, 힌트 비트 h는 {0,1} 두 가지뿐이다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경계 케이스 문</a:t>
            </a:r>
            <a:r>
              <a:rPr lang="ko-KR" altLang="en-US" dirty="0"/>
              <a:t>제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lang="el-GR" dirty="0"/>
              <a:t>α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4, γ</a:t>
            </a:r>
            <a:r>
              <a:rPr baseline="-25000" dirty="0"/>
              <a:t>2</a:t>
            </a:r>
            <a:r>
              <a:rPr lang="en-US" baseline="-25000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2일 때, r에 z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+2 또는 z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−2를 더했을 때 HighBits가 바뀌는지 살펴보면</a:t>
            </a:r>
          </a:p>
          <a:p>
            <a:r>
              <a:rPr dirty="0"/>
              <a:t>원인: 최댓값 근처의 배수 mα와 0α가 서로 붙어 있어(20과 0이 이웃) 경계가 애매해진다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211743"/>
              </p:ext>
            </p:extLst>
          </p:nvPr>
        </p:nvGraphicFramePr>
        <p:xfrm>
          <a:off x="838200" y="2729000"/>
          <a:ext cx="10515600" cy="14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HighBits(r)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r+2의 HighBits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r−2의 HighBits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 → 2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 → 1 (안 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정상: 하나만 바뀜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22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≡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1 → 0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18 → 4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문제: 둘 다 바뀜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수정된 Decompose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경계 문제를 없애기 위해 최댓값 근처 두 값의 HighBits를 재배정한다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𝑟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mods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만약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−1</m:t>
                    </m:r>
                  </m:oMath>
                </a14:m>
                <a:r>
                  <a:rPr dirty="0"/>
                  <a:t>이면: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−1</m:t>
                    </m:r>
                  </m:oMath>
                </a14:m>
                <a:r>
                  <a:rPr dirty="0"/>
                  <a:t> (그렇지 않으면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)/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</m:oMath>
                </a14:m>
                <a:r>
                  <a:rPr dirty="0"/>
                  <a:t>)</a:t>
                </a:r>
              </a:p>
              <a:p>
                <a:r>
                  <a:rPr dirty="0"/>
                  <a:t>결과: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𝑚</m:t>
                    </m:r>
                  </m:oMath>
                </a14:m>
                <a:r>
                  <a:rPr dirty="0"/>
                  <a:t>이고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— 표기: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AA5ED4-8F28-7DEF-D5D1-4D9013EF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10" y="3387256"/>
            <a:ext cx="3658111" cy="33342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0BE041-661C-CEB8-F749-91D5E630B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681" y="3387256"/>
            <a:ext cx="3639058" cy="3334215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F98FC4F-BFF6-6050-7FFE-0FC7F6325C3F}"/>
              </a:ext>
            </a:extLst>
          </p:cNvPr>
          <p:cNvSpPr/>
          <p:nvPr/>
        </p:nvSpPr>
        <p:spPr>
          <a:xfrm>
            <a:off x="5369848" y="4588042"/>
            <a:ext cx="1452304" cy="75397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MakeHint와 UseHint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MakeHint(z,r,α): 입력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∈[0,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−1],−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/2≤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/2</m:t>
                    </m:r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h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/>
                                  </a:rPr>
                                  <m:t>HighBits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)≠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/>
                                  </a:rPr>
                                  <m:t>HighBits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UseHint(h,r,α):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Decompose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를 구한 뒤 아래 표에 따라 반환</a:t>
                </a:r>
              </a:p>
              <a:p>
                <a:r>
                  <a:rPr dirty="0"/>
                  <a:t>성질: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UseHint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MakeHint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705631"/>
              </p:ext>
            </p:extLst>
          </p:nvPr>
        </p:nvGraphicFramePr>
        <p:xfrm>
          <a:off x="838200" y="4100000"/>
          <a:ext cx="10515600" cy="15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r0 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반환값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r0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r1 + 1 mod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r0 ≤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r1 − 1 mod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표기 확장: d와 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d: t에서 버리는 비트 수, ω: 힌트 벡터 h에서 허용하는 1의 최대 개수</a:t>
            </a:r>
          </a:p>
          <a:p>
            <a:r>
              <a:rPr lang="en-US" dirty="0"/>
              <a:t>q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2²³</a:t>
            </a:r>
            <a:r>
              <a:rPr lang="en-US" dirty="0"/>
              <a:t> </a:t>
            </a:r>
            <a:r>
              <a:rPr dirty="0"/>
              <a:t>−</a:t>
            </a:r>
            <a:r>
              <a:rPr lang="en-US" dirty="0"/>
              <a:t> </a:t>
            </a:r>
            <a:r>
              <a:rPr dirty="0"/>
              <a:t>2¹³</a:t>
            </a:r>
            <a:r>
              <a:rPr lang="en-US" dirty="0"/>
              <a:t>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1, n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256은 모든 파라미터셋이 공유한다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63316"/>
              </p:ext>
            </p:extLst>
          </p:nvPr>
        </p:nvGraphicFramePr>
        <p:xfrm>
          <a:off x="838200" y="2979000"/>
          <a:ext cx="10515600" cy="9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65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(k,</a:t>
                      </a:r>
                      <a:r>
                        <a:rPr lang="en-US" sz="1800" b="1" dirty="0"/>
                        <a:t> </a:t>
                      </a:r>
                      <a:r>
                        <a:rPr sz="1800" b="1" dirty="0"/>
                        <a:t>ℓ)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(8,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(q−1)/32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완성형 Dilithium: 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Alice가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{0,1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dirty="0"/>
                  <a:t> 선택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𝜉</m:t>
                    </m:r>
                    <m:r>
                      <a:rPr lang="en-US" i="1">
                        <a:latin typeface="Cambria Math"/>
                      </a:rPr>
                      <m:t>,1024)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ExpandA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×ℓ</m:t>
                        </m:r>
                      </m:sup>
                    </m:sSubSup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Power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Round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endParaRPr dirty="0"/>
              </a:p>
              <a:p>
                <a:r>
                  <a:rPr dirty="0"/>
                  <a:t>검증키: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PK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;</a:t>
                </a:r>
                <a:r>
                  <a:rPr dirty="0"/>
                  <a:t> 서명키: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SK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완성형 Dilithium: 서명 생성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메시지 M으로 Alice가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ExpandA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″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rnd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r>
                  <a:rPr dirty="0"/>
                  <a:t> (rnd=0이면 결정적, 랜덤이면 hedged)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κ←0, Found←false로 초기화</a:t>
                </a:r>
              </a:p>
              <a:p>
                <a:r>
                  <a:rPr dirty="0"/>
                  <a:t>이어서 루프를 돌며 z, r0, h를 계산하고 네 가지 조건을 모두 만족할 때까지 반복한다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완성형 Dilithium: 서명 생성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Found = false인 동안 다음을 반복: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ExpandMask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″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𝜅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SampleInBall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네 조건을 모두 만족하면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MakeHint</m:t>
                    </m:r>
                    <m:r>
                      <a:rPr lang="en-US" i="1">
                        <a:latin typeface="Cambria Math"/>
                      </a:rPr>
                      <m:t>(−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 후 Found←true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κ←κ+ℓ</a:t>
                </a:r>
              </a:p>
              <a:p>
                <a:r>
                  <a:rPr dirty="0"/>
                  <a:t>출력: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서명 생성의 네 가지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위 루프에서 Found←true가 되려면 다음 네 조건을 모두 만족해야 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330815"/>
              </p:ext>
            </p:extLst>
          </p:nvPr>
        </p:nvGraphicFramePr>
        <p:xfrm>
          <a:off x="838200" y="2429000"/>
          <a:ext cx="10515600" cy="20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‖z‖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&lt; γ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−β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z가 s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의 정보를 누출하지 않도록 (안전성)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‖r</a:t>
                      </a:r>
                      <a:r>
                        <a:rPr sz="1800" baseline="-25000" dirty="0"/>
                        <a:t>0</a:t>
                      </a:r>
                      <a:r>
                        <a:rPr sz="1800" dirty="0"/>
                        <a:t>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&lt; γ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−β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검증자가 HighBits로 w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을 복원할 수 있도록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‖−ct</a:t>
                      </a:r>
                      <a:r>
                        <a:rPr sz="1800" baseline="-25000" dirty="0"/>
                        <a:t>0</a:t>
                      </a:r>
                      <a:r>
                        <a:rPr sz="1800" dirty="0"/>
                        <a:t>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&lt; γ</a:t>
                      </a:r>
                      <a:r>
                        <a:rPr sz="1800" baseline="-25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압축 후에도 t</a:t>
                      </a:r>
                      <a:r>
                        <a:rPr sz="1800" baseline="-25000" dirty="0"/>
                        <a:t>0</a:t>
                      </a:r>
                      <a:r>
                        <a:rPr sz="1800" dirty="0"/>
                        <a:t> 없이 검증이 가능하도록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h의 1의 개수 ≤ 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서명에 실리는 힌트 벡터 크기를 최소화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완성형 Dilithium: 서명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공개키 PK=(ρ,t1), 메시지 M, 서명 σ=(c̃,z,h)로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‖z‖∞ ≥ γ1−β 이거나 h의 1의 개수 &gt; ω 이면 reject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ExpandA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,512),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SampleInBall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UseHint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,2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이면 accept, 아니면 reject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정확성 증명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검증자가 계산하는 값을 전개하면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·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𝐴𝑦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즉 검증자가 얻는 값은 원하는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에 서명 생성 때 계산해둔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가 그대로 더해진 값이다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정확성 증명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서명 생성 조건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에 의해 UseHint의 성질을 그대로 적용할 수 있다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UseHint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h</m:t>
                      </m:r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·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·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그리고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이므로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dirty="0"/>
              </a:p>
              <a:p>
                <a:r>
                  <a:rPr dirty="0"/>
                  <a:t>따라서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이고 서명은 항상 accept된다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FIPS 204 세 파라미터 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세 파라미터셋 모두 q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2²³</a:t>
            </a:r>
            <a:r>
              <a:rPr lang="en-US" dirty="0"/>
              <a:t> </a:t>
            </a:r>
            <a:r>
              <a:rPr dirty="0"/>
              <a:t>−</a:t>
            </a:r>
            <a:r>
              <a:rPr lang="en-US" dirty="0"/>
              <a:t> </a:t>
            </a:r>
            <a:r>
              <a:rPr dirty="0"/>
              <a:t>2¹³</a:t>
            </a:r>
            <a:r>
              <a:rPr lang="en-US" dirty="0"/>
              <a:t>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1, n</a:t>
            </a:r>
            <a:r>
              <a:rPr lang="en-US" dirty="0"/>
              <a:t>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256을 공유한다</a:t>
            </a:r>
            <a:endParaRPr lang="en-US" dirty="0"/>
          </a:p>
          <a:p>
            <a:pPr lvl="1"/>
            <a:r>
              <a:rPr dirty="0"/>
              <a:t>보안 강도는 행렬 A의 크기 (k,</a:t>
            </a:r>
            <a:r>
              <a:rPr lang="en-US" dirty="0"/>
              <a:t> </a:t>
            </a:r>
            <a:r>
              <a:rPr dirty="0"/>
              <a:t>ℓ)로 조절된다</a:t>
            </a:r>
          </a:p>
          <a:p>
            <a:r>
              <a:rPr dirty="0"/>
              <a:t>카테고리 2/3/5는 각각 256비트 해시, 192비트·256비트 블록암호 전수조사와 동등한 안전성을 뜻한다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43688"/>
              </p:ext>
            </p:extLst>
          </p:nvPr>
        </p:nvGraphicFramePr>
        <p:xfrm>
          <a:off x="838200" y="3429000"/>
          <a:ext cx="10515599" cy="165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644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25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8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5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0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25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(k,</a:t>
                      </a:r>
                      <a:r>
                        <a:rPr lang="en-US" sz="1800" b="1" dirty="0"/>
                        <a:t> </a:t>
                      </a:r>
                      <a:r>
                        <a:rPr sz="1800" b="1" dirty="0"/>
                        <a:t>ℓ)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b="1" dirty="0"/>
                        <a:t>Γ</a:t>
                      </a:r>
                      <a:r>
                        <a:rPr sz="1800" b="1" baseline="-25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(4,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17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(q−1)/88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5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(6,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(q−1)/32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5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(8,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(q−1)/32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ML-DSA-87 키·서명 크기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검증키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: </a:t>
                </a:r>
                <a:r>
                  <a:rPr lang="el-GR" dirty="0"/>
                  <a:t>ρ</a:t>
                </a:r>
                <a:r>
                  <a:rPr lang="en-US" dirty="0"/>
                  <a:t>:</a:t>
                </a:r>
                <a:r>
                  <a:rPr dirty="0"/>
                  <a:t> 256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t</a:t>
                </a:r>
                <a:r>
                  <a:rPr baseline="-25000" dirty="0"/>
                  <a:t>1</a:t>
                </a:r>
                <a:r>
                  <a:rPr lang="en-US" altLang="ko-KR" dirty="0"/>
                  <a:t>: </a:t>
                </a:r>
                <a:r>
                  <a:rPr dirty="0"/>
                  <a:t>8</a:t>
                </a:r>
                <a:r>
                  <a:rPr lang="en-US" dirty="0"/>
                  <a:t> </a:t>
                </a:r>
                <a:r>
                  <a:rPr dirty="0"/>
                  <a:t>×</a:t>
                </a:r>
                <a:r>
                  <a:rPr lang="en-US" dirty="0"/>
                  <a:t> </a:t>
                </a:r>
                <a:r>
                  <a:rPr dirty="0"/>
                  <a:t>256</a:t>
                </a:r>
                <a:r>
                  <a:rPr lang="en-US" dirty="0"/>
                  <a:t> </a:t>
                </a:r>
                <a:r>
                  <a:rPr dirty="0"/>
                  <a:t>×</a:t>
                </a:r>
                <a:r>
                  <a:rPr lang="en-US" dirty="0"/>
                  <a:t> </a:t>
                </a:r>
                <a:r>
                  <a:rPr dirty="0"/>
                  <a:t>10</a:t>
                </a:r>
                <a:r>
                  <a:rPr lang="en-US" dirty="0"/>
                  <a:t> </a:t>
                </a:r>
                <a:r>
                  <a:rPr dirty="0"/>
                  <a:t>비트</a:t>
                </a:r>
              </a:p>
              <a:p>
                <a:r>
                  <a:rPr dirty="0"/>
                  <a:t>서명키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: </a:t>
                </a:r>
                <a:endParaRPr lang="en-US" dirty="0"/>
              </a:p>
              <a:p>
                <a:pPr lvl="1"/>
                <a:r>
                  <a:rPr lang="el-GR" dirty="0"/>
                  <a:t>ρ</a:t>
                </a:r>
                <a:r>
                  <a:rPr lang="en-US" dirty="0"/>
                  <a:t>:</a:t>
                </a:r>
                <a:r>
                  <a:rPr dirty="0"/>
                  <a:t> 256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tr</a:t>
                </a:r>
                <a:r>
                  <a:rPr lang="en-US" dirty="0"/>
                  <a:t>:</a:t>
                </a:r>
                <a:r>
                  <a:rPr dirty="0"/>
                  <a:t> 512 </a:t>
                </a:r>
                <a:r>
                  <a:rPr lang="ko-KR" altLang="en-US" dirty="0"/>
                  <a:t>비트</a:t>
                </a:r>
                <a:r>
                  <a:rPr dirty="0"/>
                  <a:t> s</a:t>
                </a:r>
                <a:r>
                  <a:rPr baseline="-25000" dirty="0"/>
                  <a:t>1</a:t>
                </a:r>
                <a:r>
                  <a:rPr lang="en-US" dirty="0"/>
                  <a:t>: </a:t>
                </a:r>
                <a:r>
                  <a:rPr dirty="0"/>
                  <a:t>7×256×3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s</a:t>
                </a:r>
                <a:r>
                  <a:rPr baseline="-25000" dirty="0"/>
                  <a:t>2</a:t>
                </a:r>
                <a:r>
                  <a:rPr lang="en-US" dirty="0"/>
                  <a:t>: </a:t>
                </a:r>
                <a:r>
                  <a:rPr dirty="0"/>
                  <a:t>8</a:t>
                </a:r>
                <a:r>
                  <a:rPr lang="en-US" altLang="ko-KR" dirty="0"/>
                  <a:t>×</a:t>
                </a:r>
                <a:r>
                  <a:rPr dirty="0"/>
                  <a:t>256×3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</a:t>
                </a:r>
                <a:br>
                  <a:rPr lang="en-US" dirty="0"/>
                </a:br>
                <a:r>
                  <a:rPr dirty="0"/>
                  <a:t>K</a:t>
                </a:r>
                <a:r>
                  <a:rPr lang="en-US" dirty="0"/>
                  <a:t>:</a:t>
                </a:r>
                <a:r>
                  <a:rPr dirty="0"/>
                  <a:t> 256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t</a:t>
                </a:r>
                <a:r>
                  <a:rPr baseline="-25000" dirty="0"/>
                  <a:t>0</a:t>
                </a:r>
                <a:r>
                  <a:rPr lang="en-US" dirty="0"/>
                  <a:t>: </a:t>
                </a:r>
                <a:r>
                  <a:rPr dirty="0"/>
                  <a:t>8×256</a:t>
                </a:r>
                <a:r>
                  <a:rPr lang="en-US" dirty="0"/>
                  <a:t> </a:t>
                </a:r>
                <a:r>
                  <a:rPr dirty="0"/>
                  <a:t>×13 비트</a:t>
                </a:r>
              </a:p>
              <a:p>
                <a:r>
                  <a:rPr dirty="0"/>
                  <a:t>서명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: c̃ </a:t>
                </a:r>
                <a:r>
                  <a:rPr lang="en-US" dirty="0"/>
                  <a:t>: </a:t>
                </a:r>
                <a:r>
                  <a:rPr dirty="0"/>
                  <a:t>512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z</a:t>
                </a:r>
                <a:r>
                  <a:rPr lang="en-US" dirty="0"/>
                  <a:t>:</a:t>
                </a:r>
                <a:r>
                  <a:rPr dirty="0"/>
                  <a:t> 7×256×20 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,</a:t>
                </a:r>
                <a:r>
                  <a:rPr dirty="0"/>
                  <a:t> h</a:t>
                </a:r>
                <a:r>
                  <a:rPr lang="en-US" dirty="0"/>
                  <a:t>:</a:t>
                </a:r>
                <a:r>
                  <a:rPr dirty="0"/>
                  <a:t> 75+8</a:t>
                </a:r>
                <a:r>
                  <a:rPr lang="en-US" dirty="0"/>
                  <a:t> </a:t>
                </a:r>
                <a:r>
                  <a:rPr dirty="0"/>
                  <a:t>바이트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43673"/>
              </p:ext>
            </p:extLst>
          </p:nvPr>
        </p:nvGraphicFramePr>
        <p:xfrm>
          <a:off x="838200" y="4273920"/>
          <a:ext cx="10515600" cy="10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검증키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서명키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2,592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4,896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4,627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힌트 벡터의 압축 인코딩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h는 k개의 256비트 벡터 h</a:t>
            </a:r>
            <a:r>
              <a:rPr baseline="-25000" dirty="0"/>
              <a:t>1</a:t>
            </a:r>
            <a:r>
              <a:rPr dirty="0"/>
              <a:t>,</a:t>
            </a:r>
            <a:r>
              <a:rPr lang="en-US" dirty="0"/>
              <a:t> </a:t>
            </a:r>
            <a:r>
              <a:rPr dirty="0"/>
              <a:t>…,</a:t>
            </a:r>
            <a:r>
              <a:rPr lang="en-US" dirty="0"/>
              <a:t> </a:t>
            </a:r>
            <a:r>
              <a:rPr dirty="0"/>
              <a:t>h</a:t>
            </a:r>
            <a:r>
              <a:rPr baseline="-25000" dirty="0"/>
              <a:t>k</a:t>
            </a:r>
            <a:r>
              <a:rPr dirty="0"/>
              <a:t>로 구성되며, 그대로 저장하면 256×k비트</a:t>
            </a:r>
            <a:r>
              <a:rPr lang="en-US" dirty="0"/>
              <a:t> </a:t>
            </a:r>
            <a:r>
              <a:rPr dirty="0"/>
              <a:t>(k=8이면 256바이트)</a:t>
            </a:r>
          </a:p>
          <a:p>
            <a:r>
              <a:rPr dirty="0"/>
              <a:t>1의 개수가 최대 ω(=75)개뿐이므로, 값이 아니라 1의 위치만 기록하는 편이 더 효율적이다 </a:t>
            </a:r>
            <a:endParaRPr lang="en-US" dirty="0"/>
          </a:p>
          <a:p>
            <a:pPr lvl="1"/>
            <a:r>
              <a:rPr dirty="0"/>
              <a:t>길이 ω+k 바이트의 배열 y로 인코딩한다</a:t>
            </a:r>
          </a:p>
          <a:p>
            <a:r>
              <a:rPr dirty="0"/>
              <a:t>ML-DSA-87(ω=75, k=8): 배열 길이 83바이트</a:t>
            </a:r>
            <a:endParaRPr lang="en-US" dirty="0"/>
          </a:p>
          <a:p>
            <a:pPr lvl="1"/>
            <a:r>
              <a:rPr dirty="0"/>
              <a:t>256바이트보다 훨씬 작다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429223"/>
              </p:ext>
            </p:extLst>
          </p:nvPr>
        </p:nvGraphicFramePr>
        <p:xfrm>
          <a:off x="838200" y="3976381"/>
          <a:ext cx="10515600" cy="22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666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바이트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기록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y[1] … y[u]  (u≤ω)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h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…,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h</a:t>
                      </a:r>
                      <a:r>
                        <a:rPr lang="en-US" sz="1800" baseline="-25000" dirty="0"/>
                        <a:t>k</a:t>
                      </a:r>
                      <a:r>
                        <a:rPr sz="1800" dirty="0"/>
                        <a:t>에서 1인 비트의 위치 (순서대로)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y[ω+1]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h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의 1의 개수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y[ω+2]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h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h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까지의 1의 개수 누적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  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7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y[ω+k]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h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…,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h</a:t>
                      </a:r>
                      <a:r>
                        <a:rPr sz="1800" baseline="-25000" dirty="0"/>
                        <a:t>k</a:t>
                      </a:r>
                      <a:r>
                        <a:rPr sz="1800" dirty="0"/>
                        <a:t>의 1의 개수 누적 (=u)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세 파라미터 셋의 키·서명 크기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RSA·타원곡선 서명 스킴에 비해 키·서명 크기가 훨씬 크다</a:t>
            </a:r>
            <a:endParaRPr lang="en-US" dirty="0"/>
          </a:p>
          <a:p>
            <a:pPr lvl="1"/>
            <a:r>
              <a:rPr dirty="0"/>
              <a:t>PQC 전환에서 실무적으로 고려해야 할 제약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355463"/>
              </p:ext>
            </p:extLst>
          </p:nvPr>
        </p:nvGraphicFramePr>
        <p:xfrm>
          <a:off x="838200" y="2914346"/>
          <a:ext cx="10515600" cy="1463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서명키(바이트)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검증키(바이트)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서명(바이트)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2,560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1,312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2,420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4,032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1,952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3,309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4,896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2,592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4,627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서명 생성 기대 반복 횟수: p</a:t>
            </a:r>
            <a:r>
              <a:rPr baseline="-25000" dirty="0"/>
              <a:t>1</a:t>
            </a:r>
            <a:r>
              <a:rPr dirty="0"/>
              <a:t>, p</a:t>
            </a:r>
            <a:r>
              <a:rPr baseline="-25000" dirty="0"/>
              <a:t>2</a:t>
            </a:r>
            <a:r>
              <a:rPr dirty="0"/>
              <a:t>, p</a:t>
            </a:r>
            <a:r>
              <a:rPr baseline="-250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네 조건 중 뒤 두 조건(‖−ct</a:t>
                </a:r>
                <a:r>
                  <a:rPr baseline="-25000" dirty="0"/>
                  <a:t>0</a:t>
                </a:r>
                <a:r>
                  <a:rPr dirty="0"/>
                  <a:t>‖</a:t>
                </a:r>
                <a:r>
                  <a:rPr baseline="-25000" dirty="0"/>
                  <a:t>∞</a:t>
                </a:r>
                <a:r>
                  <a:rPr dirty="0"/>
                  <a:t>&lt;γ</a:t>
                </a:r>
                <a:r>
                  <a:rPr baseline="-25000" dirty="0"/>
                  <a:t>2</a:t>
                </a:r>
                <a:r>
                  <a:rPr dirty="0"/>
                  <a:t>, h의 1의 개수 ≤ ω)을 하나로 묶어, 세 확률 p</a:t>
                </a:r>
                <a:r>
                  <a:rPr baseline="-25000" dirty="0"/>
                  <a:t>1</a:t>
                </a:r>
                <a:r>
                  <a:rPr dirty="0"/>
                  <a:t>, p</a:t>
                </a:r>
                <a:r>
                  <a:rPr lang="en-US" altLang="ko-KR" baseline="-25000" dirty="0"/>
                  <a:t>2</a:t>
                </a:r>
                <a:r>
                  <a:rPr dirty="0"/>
                  <a:t>, p</a:t>
                </a:r>
                <a:r>
                  <a:rPr baseline="-25000" dirty="0"/>
                  <a:t>3</a:t>
                </a:r>
                <a:r>
                  <a:rPr dirty="0"/>
                  <a:t>로 나눠본다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Prob</m:t>
                      </m:r>
                      <m:r>
                        <a:rPr lang="en-US" i="1">
                          <a:latin typeface="Cambria Math"/>
                        </a:rPr>
                        <m:t>(‖</m:t>
                      </m:r>
                      <m:r>
                        <a:rPr lang="en-US" i="1"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)≈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(1−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𝛽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+1/2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256ℓ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−256ℓ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  <m:r>
                            <a:rPr lang="en-US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Prob</m:t>
                      </m:r>
                      <m:r>
                        <a:rPr lang="en-US" i="1">
                          <a:latin typeface="Cambria Math"/>
                        </a:rPr>
                        <m:t>(‖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)≈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(1−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𝛽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+1/2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256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−256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  <m:r>
                            <a:rPr lang="en-US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  <a:p>
                <a:r>
                  <a:rPr dirty="0"/>
                  <a:t>p</a:t>
                </a:r>
                <a:r>
                  <a:rPr baseline="-25000" dirty="0"/>
                  <a:t>3</a:t>
                </a:r>
                <a:r>
                  <a:rPr dirty="0"/>
                  <a:t> = Prob(‖−ct</a:t>
                </a:r>
                <a:r>
                  <a:rPr baseline="-25000" dirty="0"/>
                  <a:t>0</a:t>
                </a:r>
                <a:r>
                  <a:rPr dirty="0"/>
                  <a:t>‖</a:t>
                </a:r>
                <a:r>
                  <a:rPr baseline="-25000" dirty="0"/>
                  <a:t>∞</a:t>
                </a:r>
                <a:r>
                  <a:rPr dirty="0"/>
                  <a:t>&lt;γ</a:t>
                </a:r>
                <a:r>
                  <a:rPr baseline="-25000" dirty="0"/>
                  <a:t>2</a:t>
                </a:r>
                <a:r>
                  <a:rPr dirty="0"/>
                  <a:t> 이고 h의 1의 개수 ≤ ω)</a:t>
                </a:r>
                <a:endParaRPr lang="en-US" dirty="0"/>
              </a:p>
              <a:p>
                <a:pPr lvl="1"/>
                <a:r>
                  <a:rPr dirty="0"/>
                  <a:t>경험적으로 p</a:t>
                </a:r>
                <a:r>
                  <a:rPr baseline="-25000" dirty="0"/>
                  <a:t>3</a:t>
                </a:r>
                <a:r>
                  <a:rPr dirty="0"/>
                  <a:t> &gt; 0.98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기대 반복 횟수 계산 결과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네 조건이 모두 성립할 확률은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dirty="0"/>
                  <a:t>이므로 기대 반복 횟수는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256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  <m:r>
                            <a:rPr lang="en-US" i="1">
                              <a:latin typeface="Cambria Math"/>
                            </a:rPr>
                            <m:t>(ℓ/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r>
                  <a:rPr dirty="0"/>
                  <a:t>γ</a:t>
                </a:r>
                <a:r>
                  <a:rPr baseline="-25000" dirty="0"/>
                  <a:t>1</a:t>
                </a:r>
                <a:r>
                  <a:rPr dirty="0"/>
                  <a:t>·γ</a:t>
                </a:r>
                <a:r>
                  <a:rPr baseline="-25000" dirty="0"/>
                  <a:t>2</a:t>
                </a:r>
                <a:r>
                  <a:rPr dirty="0"/>
                  <a:t>를 늘리면 반복은 줄지만 안전성이 약해지고, k·ℓ은 안전성 대 크기, η는 안전성 대 효율의 트레이드오프다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76921"/>
              </p:ext>
            </p:extLst>
          </p:nvPr>
        </p:nvGraphicFramePr>
        <p:xfrm>
          <a:off x="838200" y="4056443"/>
          <a:ext cx="10515600" cy="10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ML-DSA-44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ML-DSA-65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ML-DSA-87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기대 반복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t 압축이 안전성에 미치는 영향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t 압축(t</a:t>
            </a:r>
            <a:r>
              <a:rPr baseline="-25000" dirty="0"/>
              <a:t>1</a:t>
            </a:r>
            <a:r>
              <a:rPr dirty="0"/>
              <a:t>만 공개, t</a:t>
            </a:r>
            <a:r>
              <a:rPr baseline="-25000" dirty="0"/>
              <a:t>0</a:t>
            </a:r>
            <a:r>
              <a:rPr dirty="0"/>
              <a:t>는 서명키에 보관)은 공격자가 볼 수 있는 정보를 오히려 줄인다</a:t>
            </a:r>
            <a:endParaRPr lang="en-US" dirty="0"/>
          </a:p>
          <a:p>
            <a:pPr lvl="1"/>
            <a:r>
              <a:rPr dirty="0"/>
              <a:t>안전성 증명은 그대로 유지된다</a:t>
            </a:r>
          </a:p>
          <a:p>
            <a:r>
              <a:rPr dirty="0"/>
              <a:t>정리(EUF-CMA): D-MLWE와 MSIS가 어렵고 H가 랜덤 오라클로 모델링된다는 가정 아래,</a:t>
            </a:r>
            <a:br>
              <a:rPr lang="en-US" dirty="0"/>
            </a:br>
            <a:r>
              <a:rPr dirty="0"/>
              <a:t>완성형 Dilithium(t 압축 포함)은 선택 메시지 공격 하 존재적 위조 불가능(EUF-CMA)이다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5155</TotalTime>
  <Words>2682</Words>
  <Application>Microsoft Office PowerPoint</Application>
  <PresentationFormat>와이드스크린</PresentationFormat>
  <Paragraphs>403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Cambria Math</vt:lpstr>
      <vt:lpstr>Office 테마</vt:lpstr>
      <vt:lpstr>Post-Quantum Cryptography</vt:lpstr>
      <vt:lpstr>Plan</vt:lpstr>
      <vt:lpstr>왜 t를 압축해야 하는가</vt:lpstr>
      <vt:lpstr>Power2Round 정의</vt:lpstr>
      <vt:lpstr>Power2Round 예제 (q=23, d=3)</vt:lpstr>
      <vt:lpstr>다항식으로의 확장</vt:lpstr>
      <vt:lpstr>t 압축의 효과</vt:lpstr>
      <vt:lpstr>압축 전 검증 방식 재확인</vt:lpstr>
      <vt:lpstr>압축이 만드는 검증자의 딜레마</vt:lpstr>
      <vt:lpstr>−ct0 크기 추정</vt:lpstr>
      <vt:lpstr>힌트 비트</vt:lpstr>
      <vt:lpstr>경계 케이스 문제</vt:lpstr>
      <vt:lpstr>수정된 Decompose 정의</vt:lpstr>
      <vt:lpstr>MakeHint와 UseHint</vt:lpstr>
      <vt:lpstr>표기 확장: d와 ω</vt:lpstr>
      <vt:lpstr>완성형 Dilithium: 키 생성</vt:lpstr>
      <vt:lpstr>완성형 Dilithium: 서명 생성 (1)</vt:lpstr>
      <vt:lpstr>완성형 Dilithium: 서명 생성 (2)</vt:lpstr>
      <vt:lpstr>서명 생성의 네 가지 조건</vt:lpstr>
      <vt:lpstr>완성형 Dilithium: 서명 검증</vt:lpstr>
      <vt:lpstr>정확성 증명 (1)</vt:lpstr>
      <vt:lpstr>정확성 증명 (2)</vt:lpstr>
      <vt:lpstr>FIPS 204 세 파라미터 셋</vt:lpstr>
      <vt:lpstr>ML-DSA-87 키·서명 크기 계산</vt:lpstr>
      <vt:lpstr>힌트 벡터의 압축 인코딩</vt:lpstr>
      <vt:lpstr>세 파라미터 셋의 키·서명 크기 비교</vt:lpstr>
      <vt:lpstr>서명 생성 기대 반복 횟수: p1, p2, p3</vt:lpstr>
      <vt:lpstr>기대 반복 횟수 계산 결과</vt:lpstr>
      <vt:lpstr>t 압축이 안전성에 미치는 영향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1708</cp:revision>
  <dcterms:created xsi:type="dcterms:W3CDTF">2026-03-17T05:07:50Z</dcterms:created>
  <dcterms:modified xsi:type="dcterms:W3CDTF">2026-08-20T15:07:51Z</dcterms:modified>
</cp:coreProperties>
</file>