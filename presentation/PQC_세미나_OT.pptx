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2"/>
  </p:notesMasterIdLst>
  <p:sldIdLst>
    <p:sldId id="256" r:id="rId2"/>
    <p:sldId id="332" r:id="rId3"/>
    <p:sldId id="333" r:id="rId4"/>
    <p:sldId id="335" r:id="rId5"/>
    <p:sldId id="334" r:id="rId6"/>
    <p:sldId id="336" r:id="rId7"/>
    <p:sldId id="337" r:id="rId8"/>
    <p:sldId id="338" r:id="rId9"/>
    <p:sldId id="339" r:id="rId10"/>
    <p:sldId id="340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규빈 박" initials="규박" lastIdx="12" clrIdx="0">
    <p:extLst>
      <p:ext uri="{19B8F6BF-5375-455C-9EA6-DF929625EA0E}">
        <p15:presenceInfo xmlns:p15="http://schemas.microsoft.com/office/powerpoint/2012/main" userId="b405f47f44f6c53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4" d="100"/>
          <a:sy n="64" d="100"/>
        </p:scale>
        <p:origin x="3192" y="8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2B40C2-3351-40A2-B46D-4B4F877A79B2}" type="datetimeFigureOut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3BC5EA-D886-4875-B891-B25A6CC490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55287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38C119-E53F-2DA2-3F3A-62BF807009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0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4BB6797-A87E-4BFE-C9F3-8C995A6744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80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2FD1BD7-7E65-3772-3007-1F34DBA0F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2ADF637E-82D6-4563-BCF0-C9101F2B5148}" type="datetime1">
              <a:rPr lang="ko-KR" altLang="en-US" smtClean="0"/>
              <a:pPr/>
              <a:t>2026-07-09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CF5ED1-6997-CD09-21BF-44F1DD239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040E17D-D377-3A02-4E70-6AAE5C12D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438A2D4-3867-488E-A04E-7BFFCAED45A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7735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31FD09-61A8-64FE-609A-5BC9FD80E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>
            <a:normAutofit/>
          </a:bodyPr>
          <a:lstStyle>
            <a:lvl1pPr algn="ctr">
              <a:defRPr sz="32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7A10CA-AA0F-BD51-5B8E-5AE0726F06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5322"/>
            <a:ext cx="10515600" cy="4701089"/>
          </a:xfrm>
        </p:spPr>
        <p:txBody>
          <a:bodyPr anchor="t">
            <a:normAutofit/>
          </a:bodyPr>
          <a:lstStyle>
            <a:lvl1pPr>
              <a:lnSpc>
                <a:spcPct val="150000"/>
              </a:lnSpc>
              <a:defRPr sz="20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lnSpc>
                <a:spcPct val="150000"/>
              </a:lnSpc>
              <a:defRPr sz="1800"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lnSpc>
                <a:spcPct val="150000"/>
              </a:lnSpc>
              <a:defRPr sz="1600"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lnSpc>
                <a:spcPct val="150000"/>
              </a:lnSpc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lnSpc>
                <a:spcPct val="150000"/>
              </a:lnSpc>
              <a:defRPr sz="1400"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44F1B2-7ED6-C36F-405B-74D10A466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58CD677-7AD2-4A27-94BD-C65458D22428}" type="datetime1">
              <a:rPr lang="ko-KR" altLang="en-US" smtClean="0"/>
              <a:pPr/>
              <a:t>2026-07-09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B54CE5-BA49-9B1F-44F6-BB6803967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438A2D4-3867-488E-A04E-7BFFCAED45A6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D5B8A52-06C2-8583-0C1B-A817C4737BF0}"/>
              </a:ext>
            </a:extLst>
          </p:cNvPr>
          <p:cNvSpPr/>
          <p:nvPr userDrawn="1"/>
        </p:nvSpPr>
        <p:spPr>
          <a:xfrm flipV="1">
            <a:off x="405063" y="889665"/>
            <a:ext cx="11381873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34974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1E2741-8F1E-BB08-8064-ABB3B5172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FE217DB-F68B-0B02-0EE9-FC6D375A39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F4ECD6-4F10-FAB4-9EC7-0A9BDDBBF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F52EC-B397-4D0A-AE91-E0D6840C85A1}" type="datetime1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B089ED4-E191-9BE2-6362-00E940AF7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F322432-D7EA-093F-001B-BC7E0D49E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4730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62A7E8-82BA-7B6E-F6E9-A98D3ECFF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AEFAB5-2BD5-B266-2B90-5DF6C6BE75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DC97A80-9CA9-6C9D-98D1-D8A829894B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03A760F-4119-02E0-9047-FD4EFB030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D6007-6A42-4C9B-B218-6A32B3A38C67}" type="datetime1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99B3A7E-6DE5-9DF0-CCF3-4E1506216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6664016-7B2A-6313-FDC2-8FA33EAC9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7087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D54C69-8E55-E9AE-CBD6-A0F2276D9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0B86DB8-CC8D-914E-CEFA-5DF480196E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B176446-C17B-7FD5-8DB2-B982801142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95D4D2A-9477-8669-492E-C33F3E9CD4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1BF0716-4A26-4EAB-6A93-C6203A8072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0F37FBA-7D77-22F4-B534-1653B07AD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658DF-8B5F-4351-A42C-BF3495DE7ABE}" type="datetime1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8DA361B-5E51-3A84-F540-036EB166C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AD90B8D-AC97-0E06-ED03-C9645D4A4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7877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F5235F-156B-75D6-B91A-2D25D5F31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0398CE0-1B1D-EF93-936A-A286EA577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59C48-8150-4FAB-8BEF-6AD61CFC9BBE}" type="datetime1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F4DC0FF-921E-80C0-450A-7B405750E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8CF709D-D3DC-4D1F-45FC-9F2F2C180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2988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E4D47D0-9EAC-3C67-62F1-6CC1BEC6F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1DBCF-1091-470D-AC72-5CF3D00280AC}" type="datetime1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A75CACA-850A-EA99-2A04-D33838FCC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504249E-807B-C0AC-5C11-E3AD439D7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90958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EF82BF-B27F-0EAB-B809-971BA3CE8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C4868F8-4EB2-B804-3AD6-7256AF1C68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C3E5F92-B2C2-8AB1-01C1-ED72DF18A6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243173C-11BF-A2F6-F013-59378849A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4AE7C-57FB-4DBB-B90C-59145D637BF6}" type="datetime1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3D47E49-717B-A5BA-FB22-E4F74A03B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C7ED0F3-0EAE-43B7-F5D2-9F776B23F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2319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3DE7BB-65A1-98A0-61B2-9BA86EB8B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393FC40-79A0-A826-1CA9-EE7B1B8BF9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EB9879E-8AC3-D682-707C-4CCA3AC04C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C97A2B9-9192-6241-C6C5-2D7D678EE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92253-43A0-46E3-918E-3929407A8C01}" type="datetime1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B7311CB-F5C2-2F43-5CDB-47B621DB1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B7E252D-5421-B82E-B9DC-97D8A4F11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4345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A5921C-217D-706E-B4C1-8C4B415A8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FA49194-22FD-90CC-72D7-93BB89EBF3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3072F4-8B76-D6AF-7D51-73F346613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78607-39E6-4CB2-B3CB-AB428B3B6195}" type="datetime1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03EEA5-CFF1-3A25-3757-289E51F27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CA5D0D-C1A0-3A92-3E15-E7442EE12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9845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44A25BF-197E-B63E-7A73-089055E7BC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1D6C20F-2716-6230-FC15-8E28D820B1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2C15CE-BE12-96E8-58E3-B89CE71B7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8A2F2-325F-46A6-8956-F2A49A35BAF8}" type="datetime1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3C669E-1E2D-2737-7F44-4EF88AEE2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1D9548-61EF-5EA9-3163-3C25E9287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9790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3AFC0F6-4140-2489-D0A3-0A632697E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6866"/>
            <a:ext cx="10515600" cy="662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5E886E5-5DD8-BA48-583F-AAA217E8DD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23922"/>
            <a:ext cx="10515600" cy="47530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9862E1-2ECD-F622-0F74-FDC2E7199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D61A29-800E-482A-B0FD-5A04401ECD92}" type="datetime1">
              <a:rPr lang="ko-KR" altLang="en-US" smtClean="0"/>
              <a:t>2026-07-09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2E1796-7D1E-1254-446E-8BAA61680C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B692A8-3D04-14CA-0956-516C70492A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38A2D4-3867-488E-A04E-7BFFCAED45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613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F5C70B-7871-D2F3-E49B-85D4BEBAD7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b="1" dirty="0"/>
              <a:t>Post-Quantum Cryptography</a:t>
            </a:r>
            <a:endParaRPr lang="ko-KR" altLang="en-US" sz="4000" b="1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EA4BB57-D4CA-4972-9722-922AA1C025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ctr">
            <a:normAutofit/>
          </a:bodyPr>
          <a:lstStyle/>
          <a:p>
            <a:r>
              <a:rPr lang="ko-KR" altLang="en-US" sz="2400" dirty="0"/>
              <a:t>학습 및 발표 계획 </a:t>
            </a:r>
            <a:r>
              <a:rPr lang="en-US" altLang="ko-KR" sz="2400" dirty="0"/>
              <a:t>+ Lattice-Based Cryptography Introduction</a:t>
            </a:r>
          </a:p>
        </p:txBody>
      </p:sp>
    </p:spTree>
    <p:extLst>
      <p:ext uri="{BB962C8B-B14F-4D97-AF65-F5344CB8AC3E}">
        <p14:creationId xmlns:p14="http://schemas.microsoft.com/office/powerpoint/2010/main" val="1841275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0DB61-F834-D9E7-299E-9100B8F34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962A060-71A6-5EA2-F906-1524933F5B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8962"/>
            <a:ext cx="10515600" cy="5037388"/>
          </a:xfrm>
        </p:spPr>
        <p:txBody>
          <a:bodyPr anchor="t">
            <a:normAutofit/>
          </a:bodyPr>
          <a:lstStyle/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400" b="1" dirty="0"/>
              <a:t>학습 계획 발표</a:t>
            </a:r>
            <a:endParaRPr lang="en-US" altLang="ko-KR" sz="2400" b="1" dirty="0"/>
          </a:p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r>
              <a:rPr lang="en-US" altLang="ko-KR" sz="2400" b="1" dirty="0"/>
              <a:t>Introduction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9BAA46B-FCCE-8A34-657F-EEC8E88D0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56756302-4A72-F2DD-A7FF-B2186F876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>
            <a:normAutofit/>
          </a:bodyPr>
          <a:lstStyle/>
          <a:p>
            <a:r>
              <a:rPr lang="en-US" altLang="ko-KR" sz="3200" b="1" dirty="0"/>
              <a:t>Plan</a:t>
            </a:r>
            <a:endParaRPr lang="ko-KR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2257168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439CE8-DDF7-8E28-3B0B-A5A255799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b="1" dirty="0"/>
              <a:t>전체 </a:t>
            </a:r>
            <a:r>
              <a:rPr lang="ko-KR" altLang="en-US" sz="3200" b="1" dirty="0" err="1"/>
              <a:t>커리귤럼</a:t>
            </a:r>
            <a:r>
              <a:rPr lang="ko-KR" altLang="en-US" sz="3200" b="1" dirty="0"/>
              <a:t> 구성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7A2F99C-B973-24F8-3BB7-0FF403B30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3</a:t>
            </a:fld>
            <a:endParaRPr lang="ko-KR" alt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7EAFEC7-AC88-E93C-9D39-135F85572A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0593700"/>
              </p:ext>
            </p:extLst>
          </p:nvPr>
        </p:nvGraphicFramePr>
        <p:xfrm>
          <a:off x="777240" y="1600200"/>
          <a:ext cx="1060704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순서</a:t>
                      </a:r>
                    </a:p>
                  </a:txBody>
                  <a:tcPr anchor="ctr">
                    <a:solidFill>
                      <a:srgbClr val="3B6E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코스</a:t>
                      </a:r>
                      <a:endParaRPr sz="1500" b="1" dirty="0">
                        <a:solidFill>
                          <a:srgbClr val="FFFFFF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>
                    <a:solidFill>
                      <a:srgbClr val="3B6E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dirty="0" err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강의</a:t>
                      </a:r>
                      <a:r>
                        <a:rPr sz="1500" b="1" dirty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 수</a:t>
                      </a:r>
                    </a:p>
                  </a:txBody>
                  <a:tcPr anchor="ctr">
                    <a:solidFill>
                      <a:srgbClr val="3B6E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dirty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Lattice-Based Cryptography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dirty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7강 </a:t>
                      </a:r>
                      <a:r>
                        <a:rPr lang="en-US" altLang="ko-KR" sz="1500" b="0" dirty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— </a:t>
                      </a:r>
                      <a:r>
                        <a:rPr sz="1500" b="0" dirty="0" err="1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격자</a:t>
                      </a:r>
                      <a:r>
                        <a:rPr sz="1500" b="0" dirty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기반</a:t>
                      </a:r>
                      <a:r>
                        <a:rPr sz="1500" b="0" dirty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암호의</a:t>
                      </a:r>
                      <a:r>
                        <a:rPr sz="1500" b="0" dirty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수학적</a:t>
                      </a:r>
                      <a:r>
                        <a:rPr sz="1500" b="0" dirty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기초</a:t>
                      </a:r>
                      <a:endParaRPr sz="1500" b="0" dirty="0">
                        <a:solidFill>
                          <a:srgbClr val="2B2B2B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dirty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Kyber and </a:t>
                      </a:r>
                      <a:r>
                        <a:rPr sz="1500" b="0" dirty="0" err="1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Dilithium</a:t>
                      </a:r>
                      <a:endParaRPr sz="1500" b="0" dirty="0">
                        <a:solidFill>
                          <a:srgbClr val="2B2B2B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dirty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4강 — ML-KEM, ML-</a:t>
                      </a:r>
                      <a:r>
                        <a:rPr sz="1500" b="0" dirty="0" err="1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DSA의</a:t>
                      </a:r>
                      <a:r>
                        <a:rPr sz="1500" b="0" dirty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구체적</a:t>
                      </a:r>
                      <a:r>
                        <a:rPr sz="1500" b="0" dirty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구성과</a:t>
                      </a:r>
                      <a:r>
                        <a:rPr sz="1500" b="0" dirty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최적화</a:t>
                      </a:r>
                      <a:endParaRPr sz="1500" b="0" dirty="0">
                        <a:solidFill>
                          <a:srgbClr val="2B2B2B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dirty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Hash-Based Signature Schemes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dirty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6강 — LMS, XMSS, SPHINCS+(SLH-DSA)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7112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CC229C-24BF-67CF-5B6B-BCB631385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b="1" dirty="0"/>
              <a:t>일정 구성 원칙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20BD12C-11B9-9B91-3EE2-0947FE37A3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ko-KR" altLang="en-US" sz="2000" b="1" dirty="0"/>
              <a:t>화요일</a:t>
            </a:r>
            <a:r>
              <a:rPr lang="en-US" altLang="ko-KR" sz="2000" b="1" dirty="0"/>
              <a:t>: </a:t>
            </a:r>
            <a:r>
              <a:rPr lang="ko-KR" altLang="en-US" sz="2000" b="1" dirty="0"/>
              <a:t>목요일 세미나 이후 나흘</a:t>
            </a:r>
            <a:r>
              <a:rPr lang="en-US" altLang="ko-KR" sz="2000" b="1" dirty="0"/>
              <a:t>(</a:t>
            </a:r>
            <a:r>
              <a:rPr lang="ko-KR" altLang="en-US" sz="2000" b="1" dirty="0"/>
              <a:t>금</a:t>
            </a:r>
            <a:r>
              <a:rPr lang="en-US" altLang="ko-KR" sz="2000" b="1" dirty="0"/>
              <a:t>~</a:t>
            </a:r>
            <a:r>
              <a:rPr lang="ko-KR" altLang="en-US" sz="2000" b="1" dirty="0"/>
              <a:t>월</a:t>
            </a:r>
            <a:r>
              <a:rPr lang="en-US" altLang="ko-KR" sz="2000" b="1" dirty="0"/>
              <a:t>)</a:t>
            </a:r>
            <a:r>
              <a:rPr lang="ko-KR" altLang="en-US" sz="2000" b="1" dirty="0"/>
              <a:t>의 준비 기간 → 상대적으로 많은 분량</a:t>
            </a:r>
            <a:endParaRPr lang="en-US" altLang="ko-KR" sz="2000" b="1" dirty="0"/>
          </a:p>
          <a:p>
            <a:pPr>
              <a:buFont typeface="Wingdings" panose="05000000000000000000" pitchFamily="2" charset="2"/>
              <a:buChar char="§"/>
            </a:pPr>
            <a:r>
              <a:rPr lang="ko-KR" altLang="en-US" sz="2000" b="1" dirty="0"/>
              <a:t>목요일</a:t>
            </a:r>
            <a:r>
              <a:rPr lang="en-US" altLang="ko-KR" sz="2000" b="1" dirty="0"/>
              <a:t>: </a:t>
            </a:r>
            <a:r>
              <a:rPr lang="ko-KR" altLang="en-US" sz="2000" b="1" dirty="0"/>
              <a:t>준비 기간 수요일 하루뿐 → 가볍게 유지</a:t>
            </a:r>
            <a:endParaRPr lang="en-US" altLang="ko-KR" sz="2000" b="1" dirty="0"/>
          </a:p>
          <a:p>
            <a:pPr>
              <a:buFont typeface="Wingdings" panose="05000000000000000000" pitchFamily="2" charset="2"/>
              <a:buChar char="§"/>
            </a:pPr>
            <a:r>
              <a:rPr lang="ko-KR" altLang="en-US" sz="2000" b="1" dirty="0"/>
              <a:t>분량이 많거나 어려운 </a:t>
            </a:r>
            <a:r>
              <a:rPr lang="ko-KR" altLang="en-US" sz="2000" b="1" dirty="0" err="1"/>
              <a:t>회차는</a:t>
            </a:r>
            <a:r>
              <a:rPr lang="ko-KR" altLang="en-US" sz="2000" b="1" dirty="0"/>
              <a:t> 화요일 시작 → 목요일 종료로 </a:t>
            </a:r>
            <a:r>
              <a:rPr lang="en-US" altLang="ko-KR" sz="2000" b="1" dirty="0"/>
              <a:t>2</a:t>
            </a:r>
            <a:r>
              <a:rPr lang="ko-KR" altLang="en-US" sz="2000" b="1" dirty="0" err="1"/>
              <a:t>회차</a:t>
            </a:r>
            <a:r>
              <a:rPr lang="ko-KR" altLang="en-US" sz="2000" b="1" dirty="0"/>
              <a:t> 배치</a:t>
            </a:r>
            <a:endParaRPr lang="en-US" altLang="ko-KR" sz="2000" b="1" dirty="0"/>
          </a:p>
          <a:p>
            <a:pPr marL="457200" lvl="1" indent="0">
              <a:buNone/>
            </a:pPr>
            <a:r>
              <a:rPr lang="en-US" altLang="ko-KR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- Ring-SIS/Ring-LWE, Kyber (V2), </a:t>
            </a:r>
            <a:r>
              <a:rPr lang="en-US" altLang="ko-KR" sz="2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Dilithium</a:t>
            </a:r>
            <a:r>
              <a:rPr lang="en-US" altLang="ko-KR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(V3)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sz="2000" b="1" dirty="0"/>
              <a:t>Introduction </a:t>
            </a:r>
            <a:r>
              <a:rPr lang="ko-KR" altLang="en-US" sz="2000" b="1" dirty="0"/>
              <a:t>강의는 화요일 세미나가 있는 주의 목요일에 배치</a:t>
            </a:r>
            <a:endParaRPr lang="en-US" altLang="ko-KR" sz="2000" b="1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sz="2000" b="1" dirty="0"/>
              <a:t>8/27</a:t>
            </a:r>
            <a:r>
              <a:rPr lang="ko-KR" altLang="en-US" sz="2000" b="1" dirty="0"/>
              <a:t> 이후는 세션 간 공백이 길수록 분량을 늘림</a:t>
            </a:r>
            <a:endParaRPr lang="en-US" altLang="ko-KR" sz="20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DAA6057-3CCF-B983-8C32-3E79C9778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1946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006D7C-EFF9-4DB4-3AF9-1ED1D0C11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200" b="1" dirty="0"/>
              <a:t>학습 일정표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06BA68-9605-18E6-4F26-64FF4CF04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5</a:t>
            </a:fld>
            <a:endParaRPr lang="ko-KR" alt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692BD28-1A5D-D968-C71D-5B71B993A4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3798303"/>
              </p:ext>
            </p:extLst>
          </p:nvPr>
        </p:nvGraphicFramePr>
        <p:xfrm>
          <a:off x="411480" y="1463040"/>
          <a:ext cx="11338560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17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432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날짜</a:t>
                      </a:r>
                    </a:p>
                  </a:txBody>
                  <a:tcPr anchor="ctr">
                    <a:solidFill>
                      <a:srgbClr val="3B6E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요일</a:t>
                      </a:r>
                    </a:p>
                  </a:txBody>
                  <a:tcPr anchor="ctr">
                    <a:solidFill>
                      <a:srgbClr val="3B6E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코스</a:t>
                      </a:r>
                    </a:p>
                  </a:txBody>
                  <a:tcPr anchor="ctr">
                    <a:solidFill>
                      <a:srgbClr val="3B6E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회차</a:t>
                      </a:r>
                    </a:p>
                  </a:txBody>
                  <a:tcPr anchor="ctr">
                    <a:solidFill>
                      <a:srgbClr val="3B6E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주제</a:t>
                      </a:r>
                    </a:p>
                  </a:txBody>
                  <a:tcPr anchor="ctr">
                    <a:solidFill>
                      <a:srgbClr val="3B6E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432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07-09</a:t>
                      </a:r>
                    </a:p>
                  </a:txBody>
                  <a:tcPr anchor="ctr">
                    <a:solidFill>
                      <a:srgbClr val="FFE8C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</a:p>
                  </a:txBody>
                  <a:tcPr anchor="ctr">
                    <a:solidFill>
                      <a:srgbClr val="FFE8C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발표+Lattice</a:t>
                      </a:r>
                    </a:p>
                  </a:txBody>
                  <a:tcPr anchor="ctr">
                    <a:solidFill>
                      <a:srgbClr val="FFE8C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계획+1강</a:t>
                      </a:r>
                    </a:p>
                  </a:txBody>
                  <a:tcPr anchor="ctr">
                    <a:solidFill>
                      <a:srgbClr val="FFE8C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B2A4A"/>
                          </a:solidFill>
                          <a:latin typeface="맑은 고딕"/>
                          <a:ea typeface="맑은 고딕"/>
                        </a:rPr>
                        <a:t>학습 로드맵/일정표 발표 및 1강 Introduction</a:t>
                      </a:r>
                    </a:p>
                  </a:txBody>
                  <a:tcPr anchor="ctr">
                    <a:solidFill>
                      <a:srgbClr val="FFE8C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432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07-14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Lattice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2~4강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SIS + LWE + Lattices (세 회차 결합)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432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07-16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Lattice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5강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SIS/LWE and Lattices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432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07-21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Lattice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6강(1/2)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Ring-SIS and Ring-LWE — 전반부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432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07-23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Lattice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6강(2/2)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Ring-SIS and Ring-LWE — 후반부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432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07-28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Lattice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7강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Module-SIS and Module-LWE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432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07-30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Kyber&amp;Dilithium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V1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Introduction 전체 (PQC 개요+수학적 사전지식)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432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08-04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Kyber&amp;Dilithium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V2(1/2)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Kyber PKE(simplified) + 최적화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432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08-06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Kyber&amp;Dilithium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V2(2/2)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Kyber PKE(full) + KEM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432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08-11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Kyber&amp;Dilithium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V3(1/2)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Dilithium 토이 버전 + t 비압축 버전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432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08-13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Kyber&amp;Dilithium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V3(2/2)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Dilithium t 압축 + 전체 스킴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432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08-27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Kyber&amp;Dilithium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V4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NTT — Dilithium NTT + Kyber NTT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432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09-03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Hash-Based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V1~V3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Intro + Hash functions + Lamport 서명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432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09-17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Hash-Based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V4+V5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Lamport 문제점/해결책 + LMS</a:t>
                      </a:r>
                    </a:p>
                  </a:txBody>
                  <a:tcPr anchor="ctr">
                    <a:solidFill>
                      <a:srgbClr val="E8F0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433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10-01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Hash-Based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V6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SPHINCS+ / SLH-DSA (</a:t>
                      </a:r>
                      <a:r>
                        <a:rPr sz="1100" b="0" dirty="0" err="1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마지막</a:t>
                      </a:r>
                      <a:r>
                        <a:rPr sz="1100" b="0" dirty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회차</a:t>
                      </a:r>
                      <a:r>
                        <a:rPr sz="1100" b="0" dirty="0">
                          <a:solidFill>
                            <a:srgbClr val="2B2B2B"/>
                          </a:solidFill>
                          <a:latin typeface="맑은 고딕"/>
                          <a:ea typeface="맑은 고딕"/>
                        </a:rPr>
                        <a:t>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84640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1271D9-7E3E-96FA-E7A3-727421ADCF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 anchor="ctr"/>
          <a:lstStyle/>
          <a:p>
            <a:r>
              <a:rPr lang="en-US" altLang="ko-KR" b="1" dirty="0"/>
              <a:t>Introduction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4098094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57B5DF-86FF-B51F-A8B7-C2075FE44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/>
              <a:t>PQC </a:t>
            </a:r>
            <a:r>
              <a:rPr lang="ko-KR" altLang="en-US" sz="3200" dirty="0"/>
              <a:t>배경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F235565-9CF6-37C4-F2A8-908D9A605C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ko-KR" sz="2000" dirty="0"/>
              <a:t>2024</a:t>
            </a:r>
            <a:r>
              <a:rPr lang="ko-KR" altLang="en-US" sz="2000" dirty="0"/>
              <a:t>년 </a:t>
            </a:r>
            <a:r>
              <a:rPr lang="en-US" altLang="ko-KR" sz="2000" dirty="0"/>
              <a:t>8</a:t>
            </a:r>
            <a:r>
              <a:rPr lang="ko-KR" altLang="en-US" sz="2000" dirty="0"/>
              <a:t>월</a:t>
            </a:r>
            <a:r>
              <a:rPr lang="en-US" altLang="ko-KR" sz="2000" dirty="0"/>
              <a:t>, NIST</a:t>
            </a:r>
            <a:r>
              <a:rPr lang="ko-KR" altLang="en-US" sz="2000" dirty="0"/>
              <a:t>가 </a:t>
            </a:r>
            <a:r>
              <a:rPr lang="ko-KR" altLang="en-US" sz="2000" dirty="0" err="1"/>
              <a:t>양자내성</a:t>
            </a:r>
            <a:r>
              <a:rPr lang="en-US" altLang="ko-KR" sz="2000" dirty="0"/>
              <a:t>(post-quantum) </a:t>
            </a:r>
            <a:r>
              <a:rPr lang="ko-KR" altLang="en-US" sz="2000" dirty="0"/>
              <a:t>암호 표준을 발표</a:t>
            </a:r>
            <a:endParaRPr lang="en-US" altLang="ko-KR" sz="2000" dirty="0"/>
          </a:p>
          <a:p>
            <a:pPr lvl="1">
              <a:buFontTx/>
              <a:buChar char="-"/>
            </a:pPr>
            <a:r>
              <a:rPr lang="ko-KR" altLang="en-US" sz="1800" dirty="0"/>
              <a:t>키</a:t>
            </a:r>
            <a:r>
              <a:rPr lang="en-US" altLang="ko-KR" sz="1800" dirty="0"/>
              <a:t> </a:t>
            </a:r>
            <a:r>
              <a:rPr lang="ko-KR" altLang="en-US" sz="1800" dirty="0"/>
              <a:t>캡슐화</a:t>
            </a:r>
            <a:r>
              <a:rPr lang="en-US" altLang="ko-KR" sz="1800" dirty="0"/>
              <a:t>(KEM) </a:t>
            </a:r>
            <a:r>
              <a:rPr lang="ko-KR" altLang="en-US" sz="1800" dirty="0"/>
              <a:t>표준</a:t>
            </a:r>
            <a:r>
              <a:rPr lang="en-US" altLang="ko-KR" sz="1800" dirty="0"/>
              <a:t>: FIPS 203 (ML-KEM, </a:t>
            </a:r>
            <a:r>
              <a:rPr lang="ko-KR" altLang="en-US" sz="1800" dirty="0"/>
              <a:t>옛 </a:t>
            </a:r>
            <a:r>
              <a:rPr lang="en-US" altLang="ko-KR" sz="1800" dirty="0"/>
              <a:t>Kyber)</a:t>
            </a:r>
          </a:p>
          <a:p>
            <a:pPr lvl="1">
              <a:buFontTx/>
              <a:buChar char="-"/>
            </a:pPr>
            <a:r>
              <a:rPr lang="ko-KR" altLang="en-US" sz="1800" dirty="0"/>
              <a:t>전자서명 표준</a:t>
            </a:r>
            <a:r>
              <a:rPr lang="en-US" altLang="ko-KR" sz="1800" dirty="0"/>
              <a:t>: FIPS 204 (ML-DSA, </a:t>
            </a:r>
            <a:r>
              <a:rPr lang="ko-KR" altLang="en-US" sz="1800" dirty="0"/>
              <a:t>옛 </a:t>
            </a:r>
            <a:r>
              <a:rPr lang="en-US" altLang="ko-KR" sz="1800" dirty="0" err="1"/>
              <a:t>Dilithium</a:t>
            </a:r>
            <a:r>
              <a:rPr lang="en-US" altLang="ko-KR" sz="1800" dirty="0"/>
              <a:t>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sz="2000" dirty="0"/>
              <a:t>RSA</a:t>
            </a:r>
            <a:r>
              <a:rPr lang="ko-KR" altLang="ko-KR" sz="2000" dirty="0"/>
              <a:t>∙</a:t>
            </a:r>
            <a:r>
              <a:rPr lang="en-US" altLang="ko-KR" sz="2000" dirty="0"/>
              <a:t>ECC</a:t>
            </a:r>
            <a:r>
              <a:rPr lang="ko-KR" altLang="en-US" sz="2000" dirty="0"/>
              <a:t>는 양자 컴퓨터로 완전히 해독 가능하다는 사실이 이미 알려져 있음</a:t>
            </a:r>
            <a:endParaRPr lang="en-US" altLang="ko-KR" sz="2000" dirty="0"/>
          </a:p>
          <a:p>
            <a:pPr marL="457200" lvl="1" indent="0">
              <a:buNone/>
            </a:pPr>
            <a:r>
              <a:rPr lang="en-US" altLang="ko-KR" sz="1800" dirty="0"/>
              <a:t>- </a:t>
            </a:r>
            <a:r>
              <a:rPr lang="ko-KR" altLang="en-US" sz="1800" dirty="0" err="1"/>
              <a:t>양자내성</a:t>
            </a:r>
            <a:r>
              <a:rPr lang="ko-KR" altLang="en-US" sz="1800" dirty="0"/>
              <a:t> </a:t>
            </a:r>
            <a:r>
              <a:rPr lang="ko-KR" altLang="en-US" sz="1800" dirty="0" err="1"/>
              <a:t>스킴은</a:t>
            </a:r>
            <a:r>
              <a:rPr lang="ko-KR" altLang="en-US" sz="1800" dirty="0"/>
              <a:t> 이를 대체하기 위해 설계됨</a:t>
            </a:r>
            <a:endParaRPr lang="en-US" altLang="ko-KR" sz="1800" dirty="0"/>
          </a:p>
          <a:p>
            <a:pPr>
              <a:buFont typeface="Wingdings" panose="05000000000000000000" pitchFamily="2" charset="2"/>
              <a:buChar char="§"/>
            </a:pPr>
            <a:r>
              <a:rPr lang="ko-KR" altLang="en-US" sz="2000" dirty="0"/>
              <a:t>양자 컴퓨터 실현 시점은 불확실하지만</a:t>
            </a:r>
            <a:r>
              <a:rPr lang="en-US" altLang="ko-KR" sz="2000" dirty="0"/>
              <a:t>, </a:t>
            </a:r>
            <a:r>
              <a:rPr lang="ko-KR" altLang="en-US" sz="2000" dirty="0"/>
              <a:t>전환 작업은 이미 가속화되는 중</a:t>
            </a:r>
            <a:endParaRPr lang="en-US" altLang="ko-KR" sz="2000" dirty="0"/>
          </a:p>
          <a:p>
            <a:pPr lvl="1"/>
            <a:endParaRPr lang="ko-KR" altLang="en-US" sz="18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CDF7416-988D-E82D-65AB-C253CAA84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49085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7C867-3C32-5E86-0682-961DF3360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70202E-7AEC-D0F9-8055-CB238B1AA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/>
              <a:t>Kyber</a:t>
            </a:r>
            <a:r>
              <a:rPr lang="ko-KR" altLang="en-US" sz="3200" dirty="0"/>
              <a:t> </a:t>
            </a:r>
            <a:r>
              <a:rPr lang="en-US" altLang="ko-KR" sz="3200" dirty="0"/>
              <a:t>/</a:t>
            </a:r>
            <a:r>
              <a:rPr lang="ko-KR" altLang="en-US" sz="3200" dirty="0"/>
              <a:t> </a:t>
            </a:r>
            <a:r>
              <a:rPr lang="en-US" altLang="ko-KR" sz="3200" dirty="0" err="1"/>
              <a:t>Dilithium</a:t>
            </a:r>
            <a:r>
              <a:rPr lang="ko-KR" altLang="en-US" sz="3200" dirty="0"/>
              <a:t>의 안전성 근거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480D82-4F99-3B74-3BAC-6501544671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5322"/>
            <a:ext cx="10515600" cy="470108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ko-KR" altLang="en-US" dirty="0"/>
              <a:t>향후 가장 널리 배포될 것으로 예상되는 </a:t>
            </a:r>
            <a:r>
              <a:rPr lang="en-US" altLang="ko-KR" dirty="0"/>
              <a:t>PQC </a:t>
            </a:r>
            <a:r>
              <a:rPr lang="ko-KR" altLang="en-US" dirty="0" err="1"/>
              <a:t>스킴</a:t>
            </a:r>
            <a:r>
              <a:rPr lang="en-US" altLang="ko-KR" dirty="0"/>
              <a:t>: Kyber, </a:t>
            </a:r>
            <a:r>
              <a:rPr lang="en-US" altLang="ko-KR" dirty="0" err="1"/>
              <a:t>Dilithium</a:t>
            </a:r>
            <a:endParaRPr lang="en-US" altLang="ko-KR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dirty="0"/>
              <a:t>Kyber (ML-KEM) </a:t>
            </a:r>
          </a:p>
          <a:p>
            <a:pPr marL="457200" lvl="1" indent="0">
              <a:buNone/>
            </a:pPr>
            <a:r>
              <a:rPr lang="en-US" altLang="ko-KR" sz="2000" dirty="0"/>
              <a:t>→ D-MLWE (Decisional Module-Learning</a:t>
            </a:r>
            <a:r>
              <a:rPr lang="ko-KR" altLang="en-US" sz="2000" dirty="0"/>
              <a:t> </a:t>
            </a:r>
            <a:r>
              <a:rPr lang="en-US" altLang="ko-KR" sz="2000" dirty="0"/>
              <a:t>With Errors) </a:t>
            </a:r>
            <a:r>
              <a:rPr lang="ko-KR" altLang="en-US" sz="2000" dirty="0"/>
              <a:t>문제의 어려움에 근거</a:t>
            </a:r>
            <a:endParaRPr lang="en-US" altLang="ko-KR" sz="20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dirty="0" err="1"/>
              <a:t>Dilithium</a:t>
            </a:r>
            <a:r>
              <a:rPr lang="en-US" altLang="ko-KR" dirty="0"/>
              <a:t> (ML-DSA) </a:t>
            </a:r>
          </a:p>
          <a:p>
            <a:pPr marL="457200" lvl="1" indent="0">
              <a:buNone/>
            </a:pPr>
            <a:r>
              <a:rPr lang="ko-KR" altLang="en-US" sz="2000" dirty="0">
                <a:solidFill>
                  <a:srgbClr val="2B2B2B"/>
                </a:solidFill>
                <a:latin typeface="맑은 고딕"/>
                <a:ea typeface="맑은 고딕"/>
              </a:rPr>
              <a:t>→ </a:t>
            </a:r>
            <a:r>
              <a:rPr lang="en-US" altLang="ko-KR" sz="2000" dirty="0">
                <a:solidFill>
                  <a:srgbClr val="2B2B2B"/>
                </a:solidFill>
                <a:latin typeface="맑은 고딕"/>
                <a:ea typeface="맑은 고딕"/>
              </a:rPr>
              <a:t>D-MLWE + MSIS (Module-Short Integer Solution) </a:t>
            </a:r>
            <a:r>
              <a:rPr lang="ko-KR" altLang="en-US" sz="2000" dirty="0">
                <a:solidFill>
                  <a:srgbClr val="2B2B2B"/>
                </a:solidFill>
                <a:latin typeface="맑은 고딕"/>
                <a:ea typeface="맑은 고딕"/>
              </a:rPr>
              <a:t>문제의 어려움에 근거</a:t>
            </a:r>
            <a:endParaRPr lang="en-US" altLang="ko-KR" sz="2000" dirty="0">
              <a:solidFill>
                <a:srgbClr val="2B2B2B"/>
              </a:solidFill>
              <a:latin typeface="맑은 고딕"/>
              <a:ea typeface="맑은 고딕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ko-KR" altLang="en-US" dirty="0">
                <a:solidFill>
                  <a:srgbClr val="2B2B2B"/>
                </a:solidFill>
                <a:latin typeface="맑은 고딕"/>
                <a:ea typeface="맑은 고딕"/>
              </a:rPr>
              <a:t>기존 </a:t>
            </a:r>
            <a:r>
              <a:rPr lang="en-US" altLang="ko-KR" dirty="0">
                <a:solidFill>
                  <a:srgbClr val="2B2B2B"/>
                </a:solidFill>
                <a:latin typeface="맑은 고딕"/>
                <a:ea typeface="맑은 고딕"/>
              </a:rPr>
              <a:t>Kyber and </a:t>
            </a:r>
            <a:r>
              <a:rPr lang="en-US" altLang="ko-KR" dirty="0" err="1">
                <a:solidFill>
                  <a:srgbClr val="2B2B2B"/>
                </a:solidFill>
                <a:latin typeface="맑은 고딕"/>
                <a:ea typeface="맑은 고딕"/>
              </a:rPr>
              <a:t>Dilithium</a:t>
            </a:r>
            <a:r>
              <a:rPr lang="en-US" altLang="ko-KR" dirty="0">
                <a:solidFill>
                  <a:srgbClr val="2B2B2B"/>
                </a:solidFill>
                <a:latin typeface="맑은 고딕"/>
                <a:ea typeface="맑은 고딕"/>
              </a:rPr>
              <a:t> </a:t>
            </a:r>
            <a:r>
              <a:rPr lang="ko-KR" altLang="en-US" dirty="0">
                <a:solidFill>
                  <a:srgbClr val="2B2B2B"/>
                </a:solidFill>
                <a:latin typeface="맑은 고딕"/>
                <a:ea typeface="맑은 고딕"/>
              </a:rPr>
              <a:t>코스는 </a:t>
            </a:r>
            <a:r>
              <a:rPr lang="en-US" altLang="ko-KR" dirty="0">
                <a:solidFill>
                  <a:srgbClr val="2B2B2B"/>
                </a:solidFill>
                <a:latin typeface="맑은 고딕"/>
                <a:ea typeface="맑은 고딕"/>
              </a:rPr>
              <a:t>FIPS 203/204</a:t>
            </a:r>
            <a:r>
              <a:rPr lang="ko-KR" altLang="en-US" dirty="0">
                <a:solidFill>
                  <a:srgbClr val="2B2B2B"/>
                </a:solidFill>
                <a:latin typeface="맑은 고딕"/>
                <a:ea typeface="맑은 고딕"/>
              </a:rPr>
              <a:t>에 따른 두 </a:t>
            </a:r>
            <a:r>
              <a:rPr lang="ko-KR" altLang="en-US" dirty="0" err="1">
                <a:solidFill>
                  <a:srgbClr val="2B2B2B"/>
                </a:solidFill>
                <a:latin typeface="맑은 고딕"/>
                <a:ea typeface="맑은 고딕"/>
              </a:rPr>
              <a:t>스킴의</a:t>
            </a:r>
            <a:r>
              <a:rPr lang="ko-KR" altLang="en-US" dirty="0">
                <a:solidFill>
                  <a:srgbClr val="2B2B2B"/>
                </a:solidFill>
                <a:latin typeface="맑은 고딕"/>
                <a:ea typeface="맑은 고딕"/>
              </a:rPr>
              <a:t> 구체적 구성은 다뤘지만</a:t>
            </a:r>
            <a:r>
              <a:rPr lang="en-US" altLang="ko-KR" dirty="0">
                <a:solidFill>
                  <a:srgbClr val="2B2B2B"/>
                </a:solidFill>
                <a:latin typeface="맑은 고딕"/>
                <a:ea typeface="맑은 고딕"/>
              </a:rPr>
              <a:t>, </a:t>
            </a:r>
            <a:r>
              <a:rPr lang="ko-KR" altLang="en-US" dirty="0">
                <a:solidFill>
                  <a:srgbClr val="2B2B2B"/>
                </a:solidFill>
                <a:latin typeface="맑은 고딕"/>
                <a:ea typeface="맑은 고딕"/>
              </a:rPr>
              <a:t>격자와의 연결은 설명하지 않음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2DC7FFA-089C-5605-FE0B-193F49BF1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58273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90C0F-DAAD-C574-C2CA-A1D4D2539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5FF023-1692-0735-9330-CE2990414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/>
              <a:t>Lattice-Based Cryptography</a:t>
            </a:r>
            <a:r>
              <a:rPr lang="ko-KR" altLang="en-US" sz="3200" dirty="0"/>
              <a:t>의 목적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F5C406-3736-3A13-06C5-81D1145630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5322"/>
            <a:ext cx="10515600" cy="470108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ko-KR" altLang="en-US" dirty="0"/>
              <a:t>목적</a:t>
            </a:r>
            <a:r>
              <a:rPr lang="en-US" altLang="ko-KR" dirty="0"/>
              <a:t>: “MLWE</a:t>
            </a:r>
            <a:r>
              <a:rPr lang="ko-KR" altLang="en-US" dirty="0"/>
              <a:t>와 </a:t>
            </a:r>
            <a:r>
              <a:rPr lang="en-US" altLang="ko-KR" dirty="0"/>
              <a:t>MSIS</a:t>
            </a:r>
            <a:r>
              <a:rPr lang="ko-KR" altLang="en-US" dirty="0"/>
              <a:t>가 왜 격자 문제로 볼 수 있는가</a:t>
            </a:r>
            <a:r>
              <a:rPr lang="en-US" altLang="ko-KR" dirty="0"/>
              <a:t>?”</a:t>
            </a:r>
            <a:r>
              <a:rPr lang="ko-KR" altLang="en-US" dirty="0"/>
              <a:t>를 규명</a:t>
            </a:r>
            <a:endParaRPr lang="en-US" altLang="ko-KR" dirty="0"/>
          </a:p>
          <a:p>
            <a:pPr>
              <a:buFont typeface="Wingdings" panose="05000000000000000000" pitchFamily="2" charset="2"/>
              <a:buChar char="§"/>
            </a:pPr>
            <a:r>
              <a:rPr lang="ko-KR" altLang="en-US" dirty="0"/>
              <a:t>결과적으로 </a:t>
            </a:r>
            <a:r>
              <a:rPr lang="en-US" altLang="ko-KR" dirty="0"/>
              <a:t>Kyber</a:t>
            </a:r>
            <a:r>
              <a:rPr lang="ko-KR" altLang="en-US" dirty="0"/>
              <a:t>와 </a:t>
            </a:r>
            <a:r>
              <a:rPr lang="en-US" altLang="ko-KR" dirty="0" err="1"/>
              <a:t>Dilithium</a:t>
            </a:r>
            <a:r>
              <a:rPr lang="ko-KR" altLang="en-US" dirty="0"/>
              <a:t>을 </a:t>
            </a:r>
            <a:r>
              <a:rPr lang="en-US" altLang="ko-KR" dirty="0"/>
              <a:t>“lattice-based cryptography”</a:t>
            </a:r>
            <a:r>
              <a:rPr lang="ko-KR" altLang="en-US" dirty="0"/>
              <a:t>라 부를 수 있는 수학적 근거를 확보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489C5F7-C001-0A84-8A5C-D0D04F6D6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11965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C7D65-A56B-DA3E-668A-86397F304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A7E7C9-0C84-A1C3-0043-30CF61F35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/>
              <a:t>Lattice-Based Cryptography</a:t>
            </a:r>
            <a:r>
              <a:rPr lang="ko-KR" altLang="en-US" sz="3200" dirty="0"/>
              <a:t>의 흐름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16FE704-43F9-CDFC-48D4-0D9627AB2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429000"/>
            <a:ext cx="10515600" cy="256741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altLang="ko-KR" sz="1800" dirty="0"/>
              <a:t>SIS-LWE</a:t>
            </a:r>
            <a:r>
              <a:rPr lang="ko-KR" altLang="en-US" sz="1800" dirty="0"/>
              <a:t>를 각각 배운 뒤</a:t>
            </a:r>
            <a:r>
              <a:rPr lang="en-US" altLang="ko-KR" sz="1800" dirty="0"/>
              <a:t>(2~3</a:t>
            </a:r>
            <a:r>
              <a:rPr lang="ko-KR" altLang="en-US" sz="1800" dirty="0"/>
              <a:t>강</a:t>
            </a:r>
            <a:r>
              <a:rPr lang="en-US" altLang="ko-KR" sz="1800" dirty="0"/>
              <a:t>) </a:t>
            </a:r>
            <a:r>
              <a:rPr lang="ko-KR" altLang="en-US" sz="1800" dirty="0"/>
              <a:t>격자와 연결하고</a:t>
            </a:r>
            <a:r>
              <a:rPr lang="en-US" altLang="ko-KR" sz="1800" dirty="0"/>
              <a:t>(4~5</a:t>
            </a:r>
            <a:r>
              <a:rPr lang="ko-KR" altLang="en-US" sz="1800" dirty="0"/>
              <a:t>강</a:t>
            </a:r>
            <a:r>
              <a:rPr lang="en-US" altLang="ko-KR" sz="1800" dirty="0"/>
              <a:t>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sz="1800" dirty="0"/>
              <a:t>Ring-Module </a:t>
            </a:r>
            <a:r>
              <a:rPr lang="ko-KR" altLang="en-US" sz="1800" dirty="0"/>
              <a:t>구조로 일반화하여</a:t>
            </a:r>
            <a:r>
              <a:rPr lang="en-US" altLang="ko-KR" sz="1800" dirty="0"/>
              <a:t>(6~7</a:t>
            </a:r>
            <a:r>
              <a:rPr lang="ko-KR" altLang="en-US" sz="1800" dirty="0"/>
              <a:t>강</a:t>
            </a:r>
            <a:r>
              <a:rPr lang="en-US" altLang="ko-KR" sz="1800" dirty="0"/>
              <a:t>) Kyber/</a:t>
            </a:r>
            <a:r>
              <a:rPr lang="en-US" altLang="ko-KR" sz="1800" dirty="0" err="1"/>
              <a:t>Dilithium</a:t>
            </a:r>
            <a:r>
              <a:rPr lang="ko-KR" altLang="en-US" sz="1800" dirty="0"/>
              <a:t>이 사용하는 </a:t>
            </a:r>
            <a:r>
              <a:rPr lang="en-US" altLang="ko-KR" sz="1800" dirty="0"/>
              <a:t>MSIS-MLWE</a:t>
            </a:r>
            <a:r>
              <a:rPr lang="ko-KR" altLang="en-US" sz="1800" dirty="0"/>
              <a:t>에 최종 도달</a:t>
            </a:r>
            <a:endParaRPr lang="en-US" altLang="ko-KR" sz="18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1F258E6-0742-AE72-0350-BF159C29A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25DA4AB-44AD-081A-2EFB-8C4BE05FC7B1}"/>
              </a:ext>
            </a:extLst>
          </p:cNvPr>
          <p:cNvSpPr/>
          <p:nvPr/>
        </p:nvSpPr>
        <p:spPr>
          <a:xfrm>
            <a:off x="641451" y="1783080"/>
            <a:ext cx="1417320" cy="1051560"/>
          </a:xfrm>
          <a:prstGeom prst="roundRect">
            <a:avLst/>
          </a:prstGeom>
          <a:solidFill>
            <a:srgbClr val="3B6EA5"/>
          </a:solidFill>
          <a:ln w="12700">
            <a:solidFill>
              <a:srgbClr val="3B6E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맑은 고딕"/>
                <a:ea typeface="맑은 고딕"/>
              </a:rPr>
              <a:t>1. Introduction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8238C0-738F-E8ED-D9BE-3E0003277D95}"/>
              </a:ext>
            </a:extLst>
          </p:cNvPr>
          <p:cNvSpPr txBox="1"/>
          <p:nvPr/>
        </p:nvSpPr>
        <p:spPr>
          <a:xfrm>
            <a:off x="2013468" y="2139583"/>
            <a:ext cx="255198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3B6EA5"/>
                </a:solidFill>
                <a:latin typeface="맑은 고딕"/>
                <a:ea typeface="맑은 고딕"/>
              </a:rPr>
              <a:t>›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9CF83BE-9E5F-AA14-811B-4E7D8B5D167D}"/>
              </a:ext>
            </a:extLst>
          </p:cNvPr>
          <p:cNvSpPr/>
          <p:nvPr/>
        </p:nvSpPr>
        <p:spPr>
          <a:xfrm>
            <a:off x="2223363" y="1783080"/>
            <a:ext cx="2999232" cy="1051560"/>
          </a:xfrm>
          <a:prstGeom prst="roundRect">
            <a:avLst/>
          </a:prstGeom>
          <a:solidFill>
            <a:srgbClr val="E8F0F7"/>
          </a:solidFill>
          <a:ln w="12700">
            <a:solidFill>
              <a:srgbClr val="3B6E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1B2A4A"/>
                </a:solidFill>
                <a:latin typeface="맑은 고딕"/>
                <a:ea typeface="맑은 고딕"/>
              </a:rPr>
              <a:t>2. SIS  ·  3. LWE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938E2F-5A40-54E4-4599-57D4AC07764C}"/>
              </a:ext>
            </a:extLst>
          </p:cNvPr>
          <p:cNvSpPr txBox="1"/>
          <p:nvPr/>
        </p:nvSpPr>
        <p:spPr>
          <a:xfrm>
            <a:off x="5177292" y="2139583"/>
            <a:ext cx="255198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3B6EA5"/>
                </a:solidFill>
                <a:latin typeface="맑은 고딕"/>
                <a:ea typeface="맑은 고딕"/>
              </a:rPr>
              <a:t>›</a:t>
            </a:r>
          </a:p>
        </p:txBody>
      </p:sp>
      <p:sp>
        <p:nvSpPr>
          <p:cNvPr id="9" name="Rounded Rectangle 10">
            <a:extLst>
              <a:ext uri="{FF2B5EF4-FFF2-40B4-BE49-F238E27FC236}">
                <a16:creationId xmlns:a16="http://schemas.microsoft.com/office/drawing/2014/main" id="{084A08F1-C786-AE25-9543-729B1DCA9206}"/>
              </a:ext>
            </a:extLst>
          </p:cNvPr>
          <p:cNvSpPr/>
          <p:nvPr/>
        </p:nvSpPr>
        <p:spPr>
          <a:xfrm>
            <a:off x="5387187" y="1783080"/>
            <a:ext cx="1417320" cy="1051560"/>
          </a:xfrm>
          <a:prstGeom prst="roundRect">
            <a:avLst/>
          </a:prstGeom>
          <a:solidFill>
            <a:srgbClr val="E8F0F7"/>
          </a:solidFill>
          <a:ln w="12700">
            <a:solidFill>
              <a:srgbClr val="3B6E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1B2A4A"/>
                </a:solidFill>
                <a:latin typeface="맑은 고딕"/>
                <a:ea typeface="맑은 고딕"/>
              </a:rPr>
              <a:t>4. Lattices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B4D425-67C2-B4D8-E49F-E4F8977470A9}"/>
              </a:ext>
            </a:extLst>
          </p:cNvPr>
          <p:cNvSpPr txBox="1"/>
          <p:nvPr/>
        </p:nvSpPr>
        <p:spPr>
          <a:xfrm>
            <a:off x="6759204" y="2139583"/>
            <a:ext cx="255198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3B6EA5"/>
                </a:solidFill>
                <a:latin typeface="맑은 고딕"/>
                <a:ea typeface="맑은 고딕"/>
              </a:rPr>
              <a:t>›</a:t>
            </a:r>
          </a:p>
        </p:txBody>
      </p:sp>
      <p:sp>
        <p:nvSpPr>
          <p:cNvPr id="11" name="Rounded Rectangle 12">
            <a:extLst>
              <a:ext uri="{FF2B5EF4-FFF2-40B4-BE49-F238E27FC236}">
                <a16:creationId xmlns:a16="http://schemas.microsoft.com/office/drawing/2014/main" id="{9F6CC274-4EBA-CB91-2782-1F5BCEE24D05}"/>
              </a:ext>
            </a:extLst>
          </p:cNvPr>
          <p:cNvSpPr/>
          <p:nvPr/>
        </p:nvSpPr>
        <p:spPr>
          <a:xfrm>
            <a:off x="6969099" y="1783080"/>
            <a:ext cx="1417320" cy="1051560"/>
          </a:xfrm>
          <a:prstGeom prst="roundRect">
            <a:avLst/>
          </a:prstGeom>
          <a:solidFill>
            <a:srgbClr val="E8F0F7"/>
          </a:solidFill>
          <a:ln w="12700">
            <a:solidFill>
              <a:srgbClr val="3B6E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1B2A4A"/>
                </a:solidFill>
                <a:latin typeface="맑은 고딕"/>
                <a:ea typeface="맑은 고딕"/>
              </a:rPr>
              <a:t>5. SIS/LWE and Lattices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951B74-7C71-49EE-F317-D741B3F7CD91}"/>
              </a:ext>
            </a:extLst>
          </p:cNvPr>
          <p:cNvSpPr txBox="1"/>
          <p:nvPr/>
        </p:nvSpPr>
        <p:spPr>
          <a:xfrm>
            <a:off x="8341116" y="2139583"/>
            <a:ext cx="255198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3B6EA5"/>
                </a:solidFill>
                <a:latin typeface="맑은 고딕"/>
                <a:ea typeface="맑은 고딕"/>
              </a:rPr>
              <a:t>›</a:t>
            </a:r>
          </a:p>
        </p:txBody>
      </p:sp>
      <p:sp>
        <p:nvSpPr>
          <p:cNvPr id="13" name="Rounded Rectangle 14">
            <a:extLst>
              <a:ext uri="{FF2B5EF4-FFF2-40B4-BE49-F238E27FC236}">
                <a16:creationId xmlns:a16="http://schemas.microsoft.com/office/drawing/2014/main" id="{221325A6-7421-FB68-56F2-167344D3C938}"/>
              </a:ext>
            </a:extLst>
          </p:cNvPr>
          <p:cNvSpPr/>
          <p:nvPr/>
        </p:nvSpPr>
        <p:spPr>
          <a:xfrm>
            <a:off x="8551011" y="1783080"/>
            <a:ext cx="1417320" cy="1051560"/>
          </a:xfrm>
          <a:prstGeom prst="roundRect">
            <a:avLst/>
          </a:prstGeom>
          <a:solidFill>
            <a:srgbClr val="E8F0F7"/>
          </a:solidFill>
          <a:ln w="12700">
            <a:solidFill>
              <a:srgbClr val="3B6E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1B2A4A"/>
                </a:solidFill>
                <a:latin typeface="맑은 고딕"/>
                <a:ea typeface="맑은 고딕"/>
              </a:rPr>
              <a:t>6. Ring-SIS and Ring-LWE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56175C6-2702-46BF-CE7D-41C751163AFE}"/>
              </a:ext>
            </a:extLst>
          </p:cNvPr>
          <p:cNvSpPr txBox="1"/>
          <p:nvPr/>
        </p:nvSpPr>
        <p:spPr>
          <a:xfrm>
            <a:off x="9923028" y="2139583"/>
            <a:ext cx="255198" cy="33855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00" b="1">
                <a:solidFill>
                  <a:srgbClr val="3B6EA5"/>
                </a:solidFill>
                <a:latin typeface="맑은 고딕"/>
                <a:ea typeface="맑은 고딕"/>
              </a:rPr>
              <a:t>›</a:t>
            </a:r>
          </a:p>
        </p:txBody>
      </p:sp>
      <p:sp>
        <p:nvSpPr>
          <p:cNvPr id="15" name="Rounded Rectangle 16">
            <a:extLst>
              <a:ext uri="{FF2B5EF4-FFF2-40B4-BE49-F238E27FC236}">
                <a16:creationId xmlns:a16="http://schemas.microsoft.com/office/drawing/2014/main" id="{7B97B0E4-BA42-EF0D-0022-5575F626E37C}"/>
              </a:ext>
            </a:extLst>
          </p:cNvPr>
          <p:cNvSpPr/>
          <p:nvPr/>
        </p:nvSpPr>
        <p:spPr>
          <a:xfrm>
            <a:off x="10132923" y="1783080"/>
            <a:ext cx="1417320" cy="1051560"/>
          </a:xfrm>
          <a:prstGeom prst="roundRect">
            <a:avLst/>
          </a:prstGeom>
          <a:solidFill>
            <a:srgbClr val="E8F0F7"/>
          </a:solidFill>
          <a:ln w="12700">
            <a:solidFill>
              <a:srgbClr val="3B6E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1B2A4A"/>
                </a:solidFill>
                <a:latin typeface="맑은 고딕"/>
                <a:ea typeface="맑은 고딕"/>
              </a:rPr>
              <a:t>7. Module-SIS and Module-LWE</a:t>
            </a:r>
          </a:p>
        </p:txBody>
      </p:sp>
    </p:spTree>
    <p:extLst>
      <p:ext uri="{BB962C8B-B14F-4D97-AF65-F5344CB8AC3E}">
        <p14:creationId xmlns:p14="http://schemas.microsoft.com/office/powerpoint/2010/main" val="41546314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3">
          <a:schemeClr val="lt1"/>
        </a:lnRef>
        <a:fillRef idx="1">
          <a:schemeClr val="accent6"/>
        </a:fillRef>
        <a:effectRef idx="1">
          <a:schemeClr val="accent6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3307</TotalTime>
  <Words>593</Words>
  <Application>Microsoft Office PowerPoint</Application>
  <PresentationFormat>와이드스크린</PresentationFormat>
  <Paragraphs>146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맑은 고딕</vt:lpstr>
      <vt:lpstr>Arial</vt:lpstr>
      <vt:lpstr>Wingdings</vt:lpstr>
      <vt:lpstr>Office 테마</vt:lpstr>
      <vt:lpstr>Post-Quantum Cryptography</vt:lpstr>
      <vt:lpstr>Plan</vt:lpstr>
      <vt:lpstr>전체 커리귤럼 구성</vt:lpstr>
      <vt:lpstr>일정 구성 원칙</vt:lpstr>
      <vt:lpstr>학습 일정표</vt:lpstr>
      <vt:lpstr>Introduction</vt:lpstr>
      <vt:lpstr>PQC 배경</vt:lpstr>
      <vt:lpstr>Kyber / Dilithium의 안전성 근거</vt:lpstr>
      <vt:lpstr>Lattice-Based Cryptography의 목적</vt:lpstr>
      <vt:lpstr>Lattice-Based Cryptography의 흐름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규빈 박</dc:creator>
  <cp:lastModifiedBy>규빈 박</cp:lastModifiedBy>
  <cp:revision>686</cp:revision>
  <dcterms:created xsi:type="dcterms:W3CDTF">2026-03-17T05:07:50Z</dcterms:created>
  <dcterms:modified xsi:type="dcterms:W3CDTF">2026-07-09T04:52:00Z</dcterms:modified>
</cp:coreProperties>
</file>