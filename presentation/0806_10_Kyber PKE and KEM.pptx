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규빈 박" initials="규박" lastIdx="12" clrIdx="0">
    <p:extLst>
      <p:ext uri="{19B8F6BF-5375-455C-9EA6-DF929625EA0E}">
        <p15:presenceInfo xmlns:p15="http://schemas.microsoft.com/office/powerpoint/2012/main" userId="b405f47f44f6c53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92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B40C2-3351-40A2-B46D-4B4F877A79B2}" type="datetimeFigureOut">
              <a:rPr lang="ko-KR" altLang="en-US" smtClean="0"/>
              <a:t>2026-08-06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BC5EA-D886-4875-B891-B25A6CC4908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552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38C119-E53F-2DA2-3F3A-62BF80700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BB6797-A87E-4BFE-C9F3-8C995A674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altLang="ko-KR" dirty="0"/>
          </a:p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FD1BD7-7E65-3772-3007-1F34DBA0F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637E-82D6-4563-BCF0-C9101F2B5148}" type="datetime1">
              <a:rPr lang="ko-KR" altLang="en-US" smtClean="0"/>
              <a:t>2026-08-06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CF5ED1-6997-CD09-21BF-44F1DD239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40E17D-D377-3A02-4E70-6AAE5C12D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773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1FD09-61A8-64FE-609A-5BC9FD80E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>
            <a:normAutofit/>
          </a:bodyPr>
          <a:lstStyle>
            <a:lvl1pPr algn="ctr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A10CA-AA0F-BD51-5B8E-5AE0726F0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8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800"/>
            </a:lvl4pPr>
            <a:lvl5pPr>
              <a:lnSpc>
                <a:spcPct val="150000"/>
              </a:lnSpc>
              <a:defRPr sz="18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44F1B2-7ED6-C36F-405B-74D10A46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CD677-7AD2-4A27-94BD-C65458D22428}" type="datetime1">
              <a:rPr lang="ko-KR" altLang="en-US" smtClean="0"/>
              <a:t>2026-08-06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B54CE5-BA49-9B1F-44F6-BB680396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5B8A52-06C2-8583-0C1B-A817C4737BF0}"/>
              </a:ext>
            </a:extLst>
          </p:cNvPr>
          <p:cNvSpPr/>
          <p:nvPr userDrawn="1"/>
        </p:nvSpPr>
        <p:spPr>
          <a:xfrm flipV="1">
            <a:off x="405063" y="889665"/>
            <a:ext cx="1138187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497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1E2741-8F1E-BB08-8064-ABB3B517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E217DB-F68B-0B02-0EE9-FC6D375A3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F4ECD6-4F10-FAB4-9EC7-0A9BDDBB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52EC-B397-4D0A-AE91-E0D6840C85A1}" type="datetime1">
              <a:rPr lang="ko-KR" altLang="en-US" smtClean="0"/>
              <a:t>2026-08-06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089ED4-E191-9BE2-6362-00E940AF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322432-D7EA-093F-001B-BC7E0D49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473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2A7E8-82BA-7B6E-F6E9-A98D3ECF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AEFAB5-2BD5-B266-2B90-5DF6C6BE7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C97A80-9CA9-6C9D-98D1-D8A82989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3A760F-4119-02E0-9047-FD4EFB030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6007-6A42-4C9B-B218-6A32B3A38C67}" type="datetime1">
              <a:rPr lang="ko-KR" altLang="en-US" smtClean="0"/>
              <a:t>2026-08-06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9B3A7E-6DE5-9DF0-CCF3-4E150621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664016-7B2A-6313-FDC2-8FA33EAC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7087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54C69-8E55-E9AE-CBD6-A0F2276D9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B86DB8-CC8D-914E-CEFA-5DF480196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176446-C17B-7FD5-8DB2-B98280114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5D4D2A-9477-8669-492E-C33F3E9CD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BF0716-4A26-4EAB-6A93-C6203A807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F37FBA-7D77-22F4-B534-1653B07A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58DF-8B5F-4351-A42C-BF3495DE7ABE}" type="datetime1">
              <a:rPr lang="ko-KR" altLang="en-US" smtClean="0"/>
              <a:t>2026-08-06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DA361B-5E51-3A84-F540-036EB166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D90B8D-AC97-0E06-ED03-C9645D4A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7877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5235F-156B-75D6-B91A-2D25D5F3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398CE0-1B1D-EF93-936A-A286EA57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9C48-8150-4FAB-8BEF-6AD61CFC9BBE}" type="datetime1">
              <a:rPr lang="ko-KR" altLang="en-US" smtClean="0"/>
              <a:t>2026-08-06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4DC0FF-921E-80C0-450A-7B405750E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CF709D-D3DC-4D1F-45FC-9F2F2C18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2988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4D47D0-9EAC-3C67-62F1-6CC1BEC6F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1DBCF-1091-470D-AC72-5CF3D00280AC}" type="datetime1">
              <a:rPr lang="ko-KR" altLang="en-US" smtClean="0"/>
              <a:t>2026-08-06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75CACA-850A-EA99-2A04-D33838FCC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04249E-807B-C0AC-5C11-E3AD439D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9095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F82BF-B27F-0EAB-B809-971BA3CE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4868F8-4EB2-B804-3AD6-7256AF1C6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3E5F92-B2C2-8AB1-01C1-ED72DF18A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43173C-11BF-A2F6-F013-59378849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AE7C-57FB-4DBB-B90C-59145D637BF6}" type="datetime1">
              <a:rPr lang="ko-KR" altLang="en-US" smtClean="0"/>
              <a:t>2026-08-06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D47E49-717B-A5BA-FB22-E4F74A03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7ED0F3-0EAE-43B7-F5D2-9F776B23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231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DE7BB-65A1-98A0-61B2-9BA86EB8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93FC40-79A0-A826-1CA9-EE7B1B8BF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B9879E-8AC3-D682-707C-4CCA3AC04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97A2B9-9192-6241-C6C5-2D7D678E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92253-43A0-46E3-918E-3929407A8C01}" type="datetime1">
              <a:rPr lang="ko-KR" altLang="en-US" smtClean="0"/>
              <a:t>2026-08-06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7311CB-F5C2-2F43-5CDB-47B621DB1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7E252D-5421-B82E-B9DC-97D8A4F1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4345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5921C-217D-706E-B4C1-8C4B415A8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A49194-22FD-90CC-72D7-93BB89EBF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3072F4-8B76-D6AF-7D51-73F34661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78607-39E6-4CB2-B3CB-AB428B3B6195}" type="datetime1">
              <a:rPr lang="ko-KR" altLang="en-US" smtClean="0"/>
              <a:t>2026-08-06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3EEA5-CFF1-3A25-3757-289E51F27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CA5D0D-C1A0-3A92-3E15-E7442EE1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984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4A25BF-197E-B63E-7A73-089055E7B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D6C20F-2716-6230-FC15-8E28D820B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C15CE-BE12-96E8-58E3-B89CE71B7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8A2F2-325F-46A6-8956-F2A49A35BAF8}" type="datetime1">
              <a:rPr lang="ko-KR" altLang="en-US" smtClean="0"/>
              <a:t>2026-08-06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C669E-1E2D-2737-7F44-4EF88AEE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1D9548-61EF-5EA9-3163-3C25E9287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979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3AFC0F6-4140-2489-D0A3-0A632697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66"/>
            <a:ext cx="10515600" cy="662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E886E5-5DD8-BA48-583F-AAA217E8D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3922"/>
            <a:ext cx="10515600" cy="4753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862E1-2ECD-F622-0F74-FDC2E7199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61A29-800E-482A-B0FD-5A04401ECD92}" type="datetime1">
              <a:rPr lang="ko-KR" altLang="en-US" smtClean="0"/>
              <a:t>2026-08-06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2E1796-7D1E-1254-446E-8BAA61680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B692A8-3D04-14CA-0956-516C70492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8A2D4-3867-488E-A04E-7BFFCAED45A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61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Post-Quantum Cryptography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10. Kyber</a:t>
            </a:r>
            <a:r>
              <a:rPr lang="en-US" dirty="0"/>
              <a:t> </a:t>
            </a:r>
            <a:r>
              <a:rPr dirty="0"/>
              <a:t>PKE and KEM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pPr marL="342900" indent="-342900">
              <a:buFont typeface="+mj-lt"/>
              <a:buAutoNum type="arabicPeriod"/>
            </a:pPr>
            <a:r>
              <a:rPr dirty="0"/>
              <a:t>Kyber-PKE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복호화 정확성</a:t>
            </a:r>
            <a:endParaRPr dirty="0"/>
          </a:p>
          <a:p>
            <a:pPr marL="342900" indent="-342900">
              <a:buFont typeface="+mj-lt"/>
              <a:buAutoNum type="arabicPeriod"/>
            </a:pPr>
            <a:r>
              <a:rPr dirty="0"/>
              <a:t>안전성</a:t>
            </a:r>
            <a:r>
              <a:rPr lang="en-US" altLang="ko-KR" dirty="0"/>
              <a:t>:</a:t>
            </a:r>
            <a:r>
              <a:rPr lang="ko-KR" altLang="en-US" dirty="0"/>
              <a:t> 암호문 압축과 </a:t>
            </a:r>
            <a:r>
              <a:rPr lang="en-US" dirty="0"/>
              <a:t>IND</a:t>
            </a:r>
            <a:r>
              <a:rPr lang="en-US" altLang="ko-KR" dirty="0"/>
              <a:t>-</a:t>
            </a:r>
            <a:r>
              <a:rPr lang="en-US" dirty="0"/>
              <a:t>CPA</a:t>
            </a:r>
            <a:endParaRPr dirty="0"/>
          </a:p>
          <a:p>
            <a:pPr marL="342900" indent="-342900">
              <a:buFont typeface="+mj-lt"/>
              <a:buAutoNum type="arabicPeriod"/>
            </a:pPr>
            <a:r>
              <a:rPr dirty="0"/>
              <a:t>키 캡슐화 메커니즘과 Fujisaki-Okamoto 변환</a:t>
            </a:r>
          </a:p>
          <a:p>
            <a:pPr marL="342900" indent="-342900">
              <a:buFont typeface="+mj-lt"/>
              <a:buAutoNum type="arabicPeriod"/>
            </a:pPr>
            <a:r>
              <a:rPr dirty="0"/>
              <a:t>Kyber-KEM 알고리즘과 안전성</a:t>
            </a:r>
          </a:p>
          <a:p>
            <a:pPr marL="342900" indent="-342900">
              <a:buFont typeface="+mj-lt"/>
              <a:buAutoNum type="arabicPeriod"/>
            </a:pPr>
            <a:r>
              <a:rPr dirty="0"/>
              <a:t>파라미터 셋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</a:t>
            </a:fld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Kyber-PKE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시드</a:t>
                </a:r>
                <a:r>
                  <a:rPr lang="en-US" dirty="0"/>
                  <a:t> </a:t>
                </a:r>
                <a:r>
                  <a:rPr dirty="0"/>
                  <a:t>기반 A 생성: 공개 시드 ρ에서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Expand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를 계산 — 공개키에는 A 대신 ρ만 담겨 크기가 크게 </a:t>
                </a:r>
                <a:r>
                  <a:rPr lang="ko-KR" altLang="en-US" dirty="0"/>
                  <a:t>줄어든다</a:t>
                </a:r>
                <a:r>
                  <a:rPr lang="en-US" altLang="ko-KR" dirty="0"/>
                  <a:t>.</a:t>
                </a:r>
                <a:endParaRPr dirty="0"/>
              </a:p>
              <a:p>
                <a:r>
                  <a:rPr dirty="0"/>
                  <a:t>암호문 압축: 암호문 u, v를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Compress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dirty="0"/>
                  <a:t> 로 압축해 c1, c2로 전송 — 암호문 크기가 줄어든다</a:t>
                </a:r>
                <a:r>
                  <a:rPr lang="en-US" dirty="0"/>
                  <a:t>.</a:t>
                </a:r>
                <a:endParaRPr dirty="0"/>
              </a:p>
              <a:p>
                <a:r>
                  <a:rPr lang="en-US" dirty="0"/>
                  <a:t>CBD</a:t>
                </a:r>
                <a:r>
                  <a:rPr dirty="0"/>
                  <a:t> 샘플링: s, e, r, e1, e2를 균등분포 대신 CBD에서 샘플링 — 상수시간 구현에 유리하다</a:t>
                </a:r>
                <a:r>
                  <a:rPr lang="en-US" dirty="0"/>
                  <a:t>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 r="-1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</a:t>
            </a:fld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도메인 파라미터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r>
              <a:rPr dirty="0"/>
              <a:t>ML-KEM-768 </a:t>
            </a:r>
            <a:r>
              <a:rPr lang="ko-KR" altLang="en-US" dirty="0"/>
              <a:t>도메인</a:t>
            </a:r>
            <a:r>
              <a:rPr dirty="0"/>
              <a:t> </a:t>
            </a:r>
            <a:r>
              <a:rPr lang="ko-KR" altLang="en-US" dirty="0"/>
              <a:t>파라미터를</a:t>
            </a:r>
            <a:r>
              <a:rPr dirty="0"/>
              <a:t> </a:t>
            </a:r>
            <a:r>
              <a:rPr lang="ko-KR" altLang="en-US" dirty="0"/>
              <a:t>기준으로 한다</a:t>
            </a:r>
            <a:r>
              <a:rPr lang="en-US" altLang="ko-KR" dirty="0"/>
              <a:t>.</a:t>
            </a:r>
            <a:endParaRPr dirty="0"/>
          </a:p>
          <a:p>
            <a:pPr lvl="1"/>
            <a:r>
              <a:rPr dirty="0"/>
              <a:t>q = 3329</a:t>
            </a:r>
          </a:p>
          <a:p>
            <a:pPr lvl="1"/>
            <a:r>
              <a:rPr dirty="0"/>
              <a:t>n = 256</a:t>
            </a:r>
          </a:p>
          <a:p>
            <a:pPr lvl="1"/>
            <a:r>
              <a:rPr dirty="0"/>
              <a:t>k = 3</a:t>
            </a:r>
          </a:p>
          <a:p>
            <a:pPr lvl="1"/>
            <a:r>
              <a:rPr dirty="0"/>
              <a:t>η₁ = η₂ = 2</a:t>
            </a:r>
          </a:p>
          <a:p>
            <a:pPr lvl="1"/>
            <a:r>
              <a:rPr dirty="0"/>
              <a:t>d</a:t>
            </a:r>
            <a:r>
              <a:rPr baseline="-25000" dirty="0"/>
              <a:t>u</a:t>
            </a:r>
            <a:r>
              <a:rPr dirty="0"/>
              <a:t> = 10</a:t>
            </a:r>
          </a:p>
          <a:p>
            <a:pPr lvl="1"/>
            <a:r>
              <a:rPr dirty="0"/>
              <a:t>d</a:t>
            </a:r>
            <a:r>
              <a:rPr baseline="-25000" dirty="0"/>
              <a:t>v</a:t>
            </a:r>
            <a:r>
              <a:rPr dirty="0"/>
              <a:t> = 4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</a:t>
            </a:fld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키</a:t>
            </a:r>
            <a:r>
              <a:rPr lang="en-US" dirty="0"/>
              <a:t> </a:t>
            </a:r>
            <a:r>
              <a:rPr dirty="0"/>
              <a:t>생성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lang="en-US" dirty="0"/>
                  <a:t>Kyber-PKE </a:t>
                </a:r>
                <a:r>
                  <a:rPr lang="ko-KR" altLang="en-US" dirty="0"/>
                  <a:t>키생성</a:t>
                </a:r>
                <a:r>
                  <a:rPr lang="en-US" altLang="ko-KR" dirty="0"/>
                  <a:t>: </a:t>
                </a:r>
                <a:r>
                  <a:rPr lang="en-US" dirty="0"/>
                  <a:t>Alice</a:t>
                </a:r>
                <a:r>
                  <a:rPr lang="ko-KR" altLang="en-US" dirty="0"/>
                  <a:t>가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ko-KR" altLang="en-US" i="1">
                        <a:latin typeface="Cambria Math"/>
                      </a:rPr>
                      <m:t>𝜌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/>
                          </a:rPr>
                          <m:t>∈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𝑅</m:t>
                        </m:r>
                      </m:sub>
                    </m:sSub>
                    <m:r>
                      <a:rPr lang="ar-AE" i="1">
                        <a:latin typeface="Cambria Math"/>
                      </a:rPr>
                      <m:t>{</m:t>
                    </m:r>
                    <m:r>
                      <a:rPr lang="ar-AE" i="1">
                        <a:latin typeface="Cambria Math"/>
                      </a:rPr>
                      <m:t>0</m:t>
                    </m:r>
                    <m:r>
                      <a:rPr lang="ar-AE" i="1">
                        <a:latin typeface="Cambria Math"/>
                      </a:rPr>
                      <m:t>,</m:t>
                    </m:r>
                    <m:r>
                      <a:rPr lang="ar-AE" i="1">
                        <a:latin typeface="Cambria Math"/>
                      </a:rPr>
                      <m:t>1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/>
                          </a:rPr>
                          <m:t>}</m:t>
                        </m:r>
                      </m:e>
                      <m:sup>
                        <m:r>
                          <a:rPr lang="ar-AE" i="1">
                            <a:latin typeface="Cambria Math"/>
                          </a:rPr>
                          <m:t>256</m:t>
                        </m:r>
                      </m:sup>
                    </m:sSup>
                  </m:oMath>
                </a14:m>
                <a:r>
                  <a:rPr lang="ar-AE" dirty="0"/>
                  <a:t> </a:t>
                </a:r>
                <a:r>
                  <a:rPr lang="ko-KR" altLang="en-US" dirty="0"/>
                  <a:t>선택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/>
                      </a:rPr>
                      <m:t>𝐴</m:t>
                    </m:r>
                    <m:r>
                      <a:rPr lang="en-US" altLang="ko-KR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Expand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𝜌</m:t>
                    </m:r>
                    <m:r>
                      <a:rPr lang="en-US" i="1">
                        <a:latin typeface="Cambria Math"/>
                      </a:rPr>
                      <m:t>)∈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𝑞</m:t>
                        </m:r>
                      </m:sub>
                      <m:sup>
                        <m:r>
                          <a:rPr lang="ar-AE" i="1">
                            <a:latin typeface="Cambria Math"/>
                          </a:rPr>
                          <m:t>𝑘</m:t>
                        </m:r>
                        <m:r>
                          <a:rPr lang="ar-AE" i="1">
                            <a:latin typeface="Cambria Math"/>
                          </a:rPr>
                          <m:t>×</m:t>
                        </m:r>
                        <m:r>
                          <a:rPr lang="ar-AE" i="1">
                            <a:latin typeface="Cambria Math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ar-AE" dirty="0"/>
                  <a:t> </a:t>
                </a:r>
                <a:r>
                  <a:rPr lang="ko-KR" altLang="en-US" dirty="0"/>
                  <a:t>계산</a:t>
                </a:r>
                <a:r>
                  <a:rPr lang="en-US" altLang="ko-KR" dirty="0"/>
                  <a:t>.</a:t>
                </a:r>
                <a:endParaRPr lang="ko-KR" altLang="en-US" dirty="0"/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ko-KR" altLang="en-US" i="1">
                        <a:latin typeface="Cambria Math"/>
                      </a:rPr>
                      <m:t>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/>
                          </a:rPr>
                          <m:t>∈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𝐶𝐵𝐷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/>
                              </a:rPr>
                              <m:t>𝜂</m:t>
                            </m:r>
                          </m:e>
                          <m:sub>
                            <m:r>
                              <a:rPr lang="ar-AE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ar-AE" i="1">
                            <a:latin typeface="Cambria Math"/>
                          </a:rPr>
                          <m:t>𝑘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ar-AE" i="1">
                        <a:latin typeface="Cambria Math"/>
                      </a:rPr>
                      <m:t>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/>
                          </a:rPr>
                          <m:t>∈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𝐶𝐵𝐷</m:t>
                        </m:r>
                      </m:sub>
                    </m:sSub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/>
                              </a:rPr>
                              <m:t>𝜂</m:t>
                            </m:r>
                          </m:e>
                          <m:sub>
                            <m:r>
                              <a:rPr lang="ar-AE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ar-AE" i="1">
                            <a:latin typeface="Cambria Math"/>
                          </a:rPr>
                          <m:t>𝑘</m:t>
                        </m:r>
                      </m:sup>
                    </m:sSubSup>
                  </m:oMath>
                </a14:m>
                <a:r>
                  <a:rPr lang="ar-AE" dirty="0"/>
                  <a:t> </a:t>
                </a:r>
                <a:r>
                  <a:rPr lang="ko-KR" altLang="en-US" dirty="0"/>
                  <a:t>선택</a:t>
                </a:r>
                <a:r>
                  <a:rPr lang="en-US" altLang="ko-KR" dirty="0"/>
                  <a:t>.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(</a:t>
                </a:r>
                <a:r>
                  <a:rPr lang="en-US" dirty="0"/>
                  <a:t>s: </a:t>
                </a:r>
                <a:r>
                  <a:rPr lang="ko-KR" altLang="en-US" dirty="0"/>
                  <a:t>비밀</a:t>
                </a:r>
                <a:r>
                  <a:rPr lang="en-US" altLang="ko-KR" dirty="0"/>
                  <a:t>, </a:t>
                </a:r>
                <a:r>
                  <a:rPr lang="en-US" dirty="0"/>
                  <a:t>e: </a:t>
                </a:r>
                <a:r>
                  <a:rPr lang="ko-KR" altLang="en-US" dirty="0"/>
                  <a:t>오차</a:t>
                </a:r>
                <a:r>
                  <a:rPr lang="en-US" altLang="ko-KR" dirty="0"/>
                  <a:t>)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ko-KR" altLang="en-US" i="1">
                        <a:latin typeface="Cambria Math"/>
                      </a:rPr>
                      <m:t>𝑡</m:t>
                    </m:r>
                    <m:r>
                      <a:rPr lang="en-US" altLang="ko-KR" i="1">
                        <a:latin typeface="Cambria Math"/>
                      </a:rPr>
                      <m:t>=</m:t>
                    </m:r>
                    <m:r>
                      <a:rPr lang="ko-KR" altLang="en-US" i="1">
                        <a:latin typeface="Cambria Math"/>
                      </a:rPr>
                      <m:t>𝐴𝑠</m:t>
                    </m:r>
                    <m:r>
                      <a:rPr lang="en-US" altLang="ko-KR" i="1">
                        <a:latin typeface="Cambria Math"/>
                      </a:rPr>
                      <m:t>+</m:t>
                    </m:r>
                    <m:r>
                      <a:rPr lang="ko-KR" altLang="en-US" i="1">
                        <a:latin typeface="Cambria Math"/>
                      </a:rPr>
                      <m:t>𝑒</m:t>
                    </m:r>
                  </m:oMath>
                </a14:m>
                <a:r>
                  <a:rPr lang="ko-KR" altLang="en-US" dirty="0"/>
                  <a:t> 계산</a:t>
                </a:r>
                <a:r>
                  <a:rPr lang="en-US" altLang="ko-KR" dirty="0"/>
                  <a:t>.</a:t>
                </a:r>
                <a:endParaRPr lang="ko-KR" altLang="en-US"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ko-KR" altLang="en-US" dirty="0"/>
                  <a:t>공개키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암호화 키</a:t>
                </a:r>
                <a:r>
                  <a:rPr lang="en-US" altLang="ko-KR" dirty="0"/>
                  <a:t>):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/>
                      </a:rPr>
                      <m:t>(</m:t>
                    </m:r>
                    <m:r>
                      <a:rPr lang="ko-KR" altLang="en-US" i="1">
                        <a:latin typeface="Cambria Math"/>
                      </a:rPr>
                      <m:t>𝜌</m:t>
                    </m:r>
                    <m:r>
                      <a:rPr lang="en-US" altLang="ko-KR" i="1">
                        <a:latin typeface="Cambria Math"/>
                      </a:rPr>
                      <m:t>,</m:t>
                    </m:r>
                    <m:r>
                      <a:rPr lang="ko-KR" altLang="en-US" i="1">
                        <a:latin typeface="Cambria Math"/>
                      </a:rPr>
                      <m:t>𝑡</m:t>
                    </m:r>
                    <m:r>
                      <a:rPr lang="en-US" altLang="ko-KR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ko-KR" dirty="0"/>
                  <a:t>;</a:t>
                </a:r>
                <a:br>
                  <a:rPr lang="en-US" altLang="ko-KR" dirty="0"/>
                </a:br>
                <a:r>
                  <a:rPr lang="ko-KR" altLang="en-US" dirty="0"/>
                  <a:t>개인키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복호화 키</a:t>
                </a:r>
                <a:r>
                  <a:rPr lang="en-US" altLang="ko-KR" dirty="0"/>
                  <a:t>):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.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5</a:t>
            </a:fld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암호화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Kyber-PKE 암호화: 평문 m을 Alice에게, Bob이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dirty="0"/>
                  <a:t>Alice의 인증된 공개키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𝜌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𝑡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 확보,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𝐴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i="1">
                        <a:latin typeface="Cambria Math"/>
                      </a:rPr>
                      <m:t>Expand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𝜌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 계산</a:t>
                </a:r>
                <a:r>
                  <a:rPr lang="en-US" dirty="0"/>
                  <a:t>.</a:t>
                </a:r>
                <a:endParaRPr dirty="0"/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𝑟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𝐶𝐵𝐷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𝜂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sub>
                      <m:sup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sup>
                    </m:sSubSup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𝐶𝐵𝐷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𝜂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b>
                      <m:sup>
                        <m:r>
                          <a:rPr lang="en-US" i="1">
                            <a:latin typeface="Cambria Math"/>
                          </a:rPr>
                          <m:t>𝑘</m:t>
                        </m:r>
                      </m:sup>
                    </m:sSubSup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𝐶𝐵𝐷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𝜂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dirty="0"/>
                  <a:t> 선택</a:t>
                </a:r>
                <a:r>
                  <a:rPr lang="en-US" dirty="0"/>
                  <a:t>.</a:t>
                </a:r>
                <a:endParaRPr dirty="0"/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𝑢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𝑟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𝑣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𝑟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+</m:t>
                    </m:r>
                    <m:d>
                      <m:dPr>
                        <m:begChr m:val="⌈"/>
                        <m:endChr m:val="⌋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𝑞</m:t>
                            </m:r>
                          </m:num>
                          <m:den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/>
                      </a:rPr>
                      <m:t>𝑚</m:t>
                    </m:r>
                  </m:oMath>
                </a14:m>
                <a:r>
                  <a:rPr dirty="0"/>
                  <a:t> 계산</a:t>
                </a:r>
                <a:r>
                  <a:rPr lang="en-US" dirty="0"/>
                  <a:t>.</a:t>
                </a:r>
                <a:endParaRPr dirty="0"/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/>
                          </a:rPr>
                          <m:t>Compress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𝑢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𝑢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/>
                          </a:rPr>
                          <m:t>Compress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𝑣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 계산</a:t>
                </a:r>
                <a:r>
                  <a:rPr lang="en-US" dirty="0"/>
                  <a:t>.</a:t>
                </a:r>
                <a:endParaRPr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dirty="0"/>
                  <a:t>출력: 암호문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=(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6</a:t>
            </a:fld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복호화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Kyber-PKE 복호화: 암호문 c = (c1, c2)에서 Alice가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𝑢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/>
                          </a:rPr>
                          <m:t>Decompress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𝑢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/>
                          </a:rPr>
                          <m:t>Decompress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 계산</a:t>
                </a:r>
                <a:r>
                  <a:rPr lang="en-US" dirty="0"/>
                  <a:t>.</a:t>
                </a:r>
                <a:endParaRPr dirty="0"/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𝑚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/>
                          </a:rPr>
                          <m:t>Round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𝑢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 계산</a:t>
                </a:r>
                <a:r>
                  <a:rPr lang="en-US" dirty="0"/>
                  <a:t>.</a:t>
                </a:r>
                <a:endParaRPr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dirty="0"/>
                  <a:t>출력: 평문 m</a:t>
                </a:r>
                <a:r>
                  <a:rPr lang="en-US" dirty="0"/>
                  <a:t>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7</a:t>
            </a:fld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예제</a:t>
            </a:r>
            <a:r>
              <a:rPr lang="en-US" dirty="0"/>
              <a:t>1</a:t>
            </a:r>
            <a:r>
              <a:rPr dirty="0"/>
              <a:t>: </a:t>
            </a:r>
            <a:r>
              <a:rPr lang="ko-KR" altLang="en-US" dirty="0"/>
              <a:t>키 생성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lang="ko-KR" altLang="en-US" dirty="0"/>
                  <a:t>파라미터</a:t>
                </a:r>
                <a:r>
                  <a:rPr lang="en-US" altLang="ko-KR" dirty="0"/>
                  <a:t>: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/>
                      </a:rPr>
                      <m:t>𝑞</m:t>
                    </m:r>
                    <m:r>
                      <a:rPr lang="en-US" altLang="ko-KR" i="1">
                        <a:latin typeface="Cambria Math"/>
                      </a:rPr>
                      <m:t>=</m:t>
                    </m:r>
                    <m:r>
                      <a:rPr lang="en-US" altLang="ko-KR" i="1">
                        <a:latin typeface="Cambria Math"/>
                      </a:rPr>
                      <m:t>137</m:t>
                    </m:r>
                    <m:r>
                      <a:rPr lang="en-US" altLang="ko-KR" i="1"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ko-KR" altLang="en-US" i="1">
                        <a:latin typeface="Cambria Math"/>
                      </a:rPr>
                      <m:t> </m:t>
                    </m:r>
                    <m:r>
                      <a:rPr lang="ko-KR" altLang="en-US" i="1">
                        <a:latin typeface="Cambria Math"/>
                      </a:rPr>
                      <m:t>𝑛</m:t>
                    </m:r>
                    <m:r>
                      <a:rPr lang="en-US" altLang="ko-KR" i="1">
                        <a:latin typeface="Cambria Math"/>
                      </a:rPr>
                      <m:t>=</m:t>
                    </m:r>
                    <m:r>
                      <a:rPr lang="en-US" altLang="ko-KR" i="1">
                        <a:latin typeface="Cambria Math"/>
                      </a:rPr>
                      <m:t>4</m:t>
                    </m:r>
                    <m:r>
                      <a:rPr lang="en-US" altLang="ko-KR" i="1"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ko-KR" altLang="en-US" i="1">
                        <a:latin typeface="Cambria Math"/>
                      </a:rPr>
                      <m:t> </m:t>
                    </m:r>
                    <m:r>
                      <a:rPr lang="ko-KR" altLang="en-US" i="1">
                        <a:latin typeface="Cambria Math"/>
                      </a:rPr>
                      <m:t>𝑘</m:t>
                    </m:r>
                    <m:r>
                      <a:rPr lang="en-US" altLang="ko-KR" i="1">
                        <a:latin typeface="Cambria Math"/>
                      </a:rPr>
                      <m:t>=</m:t>
                    </m:r>
                    <m:r>
                      <a:rPr lang="en-US" altLang="ko-KR" i="1">
                        <a:latin typeface="Cambria Math"/>
                      </a:rPr>
                      <m:t>2</m:t>
                    </m:r>
                    <m:r>
                      <a:rPr lang="en-US" altLang="ko-KR" i="1"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ko-KR" altLang="en-US" i="1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ar-AE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/>
                          </a:rPr>
                          <m:t>𝜂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ar-AE" i="1">
                        <a:latin typeface="Cambria Math"/>
                      </a:rPr>
                      <m:t>=</m:t>
                    </m:r>
                    <m:r>
                      <a:rPr lang="ar-AE" i="1">
                        <a:latin typeface="Cambria Math"/>
                      </a:rPr>
                      <m:t>2</m:t>
                    </m:r>
                  </m:oMath>
                </a14:m>
                <a:endParaRPr lang="ar-AE"/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/>
                      </a:rPr>
                      <m:t>𝐴</m:t>
                    </m:r>
                    <m:r>
                      <a:rPr lang="ar-AE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 i="1">
                                  <a:latin typeface="Cambria Math"/>
                                </a:rPr>
                                <m:t>21</m:t>
                              </m:r>
                              <m:r>
                                <a:rPr lang="ar-AE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ar-AE" i="1">
                                  <a:latin typeface="Cambria Math"/>
                                </a:rPr>
                                <m:t>57</m:t>
                              </m:r>
                              <m:r>
                                <a:rPr lang="ar-AE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ar-AE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ar-AE" i="1">
                                  <a:latin typeface="Cambria Math"/>
                                </a:rPr>
                                <m:t>78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ar-AE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ar-AE" i="1">
                                  <a:latin typeface="Cambria Math"/>
                                </a:rPr>
                                <m:t>43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ar-AE" i="1">
                                      <a:latin typeface="Cambria Math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ar-AE" i="1">
                                  <a:latin typeface="Cambria Math"/>
                                </a:rPr>
                                <m:t>126</m:t>
                              </m:r>
                              <m:r>
                                <a:rPr lang="ar-AE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ar-AE" i="1">
                                  <a:latin typeface="Cambria Math"/>
                                </a:rPr>
                                <m:t>122</m:t>
                              </m:r>
                              <m:r>
                                <a:rPr lang="ar-AE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ar-AE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ar-AE" i="1">
                                  <a:latin typeface="Cambria Math"/>
                                </a:rPr>
                                <m:t>19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ar-AE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ar-AE" i="1">
                                  <a:latin typeface="Cambria Math"/>
                                </a:rPr>
                                <m:t>125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ar-AE" i="1">
                                      <a:latin typeface="Cambria Math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ar-AE" i="1">
                                  <a:latin typeface="Cambria Math"/>
                                </a:rPr>
                                <m:t>111</m:t>
                              </m:r>
                              <m:r>
                                <a:rPr lang="ar-AE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ar-AE" i="1">
                                  <a:latin typeface="Cambria Math"/>
                                </a:rPr>
                                <m:t>9</m:t>
                              </m:r>
                              <m:r>
                                <a:rPr lang="ar-AE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ar-AE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ar-AE" i="1">
                                  <a:latin typeface="Cambria Math"/>
                                </a:rPr>
                                <m:t>63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ar-AE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ar-AE" i="1">
                                  <a:latin typeface="Cambria Math"/>
                                </a:rPr>
                                <m:t>33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ar-AE" i="1">
                                      <a:latin typeface="Cambria Math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  <m:e>
                              <m:r>
                                <a:rPr lang="ar-AE" i="1">
                                  <a:latin typeface="Cambria Math"/>
                                </a:rPr>
                                <m:t>105</m:t>
                              </m:r>
                              <m:r>
                                <a:rPr lang="ar-AE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ar-AE" i="1">
                                  <a:latin typeface="Cambria Math"/>
                                </a:rPr>
                                <m:t>61</m:t>
                              </m:r>
                              <m:r>
                                <a:rPr lang="ar-AE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ar-AE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ar-AE" i="1">
                                  <a:latin typeface="Cambria Math"/>
                                </a:rPr>
                                <m:t>71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ar-AE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ar-AE" i="1">
                                  <a:latin typeface="Cambria Math"/>
                                </a:rPr>
                                <m:t>64</m:t>
                              </m:r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ar-AE" i="1">
                                      <a:latin typeface="Cambria Math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ar-AE"/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/>
                      </a:rPr>
                      <m:t>𝑠</m:t>
                    </m:r>
                    <m:r>
                      <a:rPr lang="ar-AE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ar-AE" i="1">
                                <a:latin typeface="Cambria Math"/>
                              </a:rPr>
                              <m:t>1</m:t>
                            </m:r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r>
                              <a:rPr lang="ar-AE" i="1">
                                <a:latin typeface="Cambria Math"/>
                              </a:rPr>
                              <m:t>2</m:t>
                            </m:r>
                            <m:r>
                              <a:rPr lang="ar-AE" i="1">
                                <a:latin typeface="Cambria Math"/>
                              </a:rPr>
                              <m:t>𝑥</m:t>
                            </m:r>
                            <m:r>
                              <a:rPr lang="ar-AE" i="1">
                                <a:latin typeface="Cambria Math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r>
                              <a:rPr lang="ar-AE" i="1">
                                <a:latin typeface="Cambria Math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3</m:t>
                                </m:r>
                              </m:sup>
                            </m:sSup>
                          </m:e>
                          <m:e>
                            <m:r>
                              <a:rPr lang="ar-AE" i="1">
                                <a:latin typeface="Cambria Math"/>
                              </a:rPr>
                              <m:t>−</m:t>
                            </m:r>
                            <m:r>
                              <a:rPr lang="ar-AE" i="1">
                                <a:latin typeface="Cambria Math"/>
                              </a:rPr>
                              <m:t>𝑥</m:t>
                            </m:r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r>
                              <a:rPr lang="ar-AE" i="1">
                                <a:latin typeface="Cambria Math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3</m:t>
                                </m:r>
                              </m:sup>
                            </m:sSup>
                          </m:e>
                        </m:eqArr>
                      </m:e>
                    </m:d>
                    <m:r>
                      <a:rPr lang="ar-AE" i="1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ar-AE" i="1">
                        <a:latin typeface="Cambria Math"/>
                      </a:rPr>
                      <m:t>𝑒</m:t>
                    </m:r>
                    <m:r>
                      <a:rPr lang="ar-AE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ar-AE" i="1">
                                <a:latin typeface="Cambria Math"/>
                              </a:rPr>
                              <m:t>1</m:t>
                            </m:r>
                            <m:r>
                              <a:rPr lang="ar-AE" i="1">
                                <a:latin typeface="Cambria Math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3</m:t>
                                </m:r>
                              </m:sup>
                            </m:sSup>
                          </m:e>
                          <m:e>
                            <m:r>
                              <a:rPr lang="ar-AE" i="1">
                                <a:latin typeface="Cambria Math"/>
                              </a:rPr>
                              <m:t>−</m:t>
                            </m:r>
                            <m:r>
                              <a:rPr lang="ar-AE" i="1">
                                <a:latin typeface="Cambria Math"/>
                              </a:rPr>
                              <m:t>𝑥</m:t>
                            </m:r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eqArr>
                      </m:e>
                    </m:d>
                  </m:oMath>
                </a14:m>
                <a:endParaRPr lang="ar-AE"/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/>
                      </a:rPr>
                      <m:t>𝑡</m:t>
                    </m:r>
                    <m:r>
                      <a:rPr lang="ar-AE" i="1">
                        <a:latin typeface="Cambria Math"/>
                      </a:rPr>
                      <m:t>=</m:t>
                    </m:r>
                    <m:r>
                      <a:rPr lang="ar-AE" i="1">
                        <a:latin typeface="Cambria Math"/>
                      </a:rPr>
                      <m:t>𝐴𝑠</m:t>
                    </m:r>
                    <m:r>
                      <a:rPr lang="ar-AE" i="1">
                        <a:latin typeface="Cambria Math"/>
                      </a:rPr>
                      <m:t>+</m:t>
                    </m:r>
                    <m:r>
                      <a:rPr lang="ar-AE" i="1">
                        <a:latin typeface="Cambria Math"/>
                      </a:rPr>
                      <m:t>𝑒</m:t>
                    </m:r>
                    <m:r>
                      <a:rPr lang="ar-AE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ar-AE" i="1">
                                <a:latin typeface="Cambria Math"/>
                              </a:rPr>
                              <m:t>55</m:t>
                            </m:r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r>
                              <a:rPr lang="ar-AE" i="1">
                                <a:latin typeface="Cambria Math"/>
                              </a:rPr>
                              <m:t>96</m:t>
                            </m:r>
                            <m:r>
                              <a:rPr lang="ar-AE" i="1">
                                <a:latin typeface="Cambria Math"/>
                              </a:rPr>
                              <m:t>𝑥</m:t>
                            </m:r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r>
                              <a:rPr lang="ar-AE" i="1">
                                <a:latin typeface="Cambria Math"/>
                              </a:rPr>
                              <m:t>123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r>
                              <a:rPr lang="ar-AE" i="1">
                                <a:latin typeface="Cambria Math"/>
                              </a:rPr>
                              <m:t>7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3</m:t>
                                </m:r>
                              </m:sup>
                            </m:sSup>
                          </m:e>
                          <m:e>
                            <m:r>
                              <a:rPr lang="ar-AE" i="1">
                                <a:latin typeface="Cambria Math"/>
                              </a:rPr>
                              <m:t>32</m:t>
                            </m:r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r>
                              <a:rPr lang="ar-AE" i="1">
                                <a:latin typeface="Cambria Math"/>
                              </a:rPr>
                              <m:t>27</m:t>
                            </m:r>
                            <m:r>
                              <a:rPr lang="ar-AE" i="1">
                                <a:latin typeface="Cambria Math"/>
                              </a:rPr>
                              <m:t>𝑥</m:t>
                            </m:r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r>
                              <a:rPr lang="ar-AE" i="1">
                                <a:latin typeface="Cambria Math"/>
                              </a:rPr>
                              <m:t>127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r>
                              <a:rPr lang="ar-AE" i="1">
                                <a:latin typeface="Cambria Math"/>
                              </a:rPr>
                              <m:t>100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3</m:t>
                                </m:r>
                              </m:sup>
                            </m:sSup>
                          </m:e>
                        </m:eqArr>
                      </m:e>
                    </m:d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8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2C50932-7B1D-B9AD-4824-265FDEE55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438" y="4208945"/>
            <a:ext cx="4369362" cy="17874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예제</a:t>
            </a:r>
            <a:r>
              <a:rPr lang="en-US" dirty="0"/>
              <a:t>1</a:t>
            </a:r>
            <a:r>
              <a:rPr dirty="0"/>
              <a:t>: 암호화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lang="ko-KR" altLang="en-US" dirty="0"/>
                  <a:t>평문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/>
                      </a:rPr>
                      <m:t>𝑚</m:t>
                    </m:r>
                    <m:r>
                      <a:rPr lang="en-US" altLang="ko-KR" i="1">
                        <a:latin typeface="Cambria Math"/>
                      </a:rPr>
                      <m:t>=</m:t>
                    </m:r>
                    <m:r>
                      <a:rPr lang="en-US" altLang="ko-KR" i="1">
                        <a:latin typeface="Cambria Math"/>
                      </a:rPr>
                      <m:t>0111</m:t>
                    </m:r>
                    <m:r>
                      <a:rPr lang="en-US" altLang="ko-KR" i="1">
                        <a:latin typeface="Cambria Math"/>
                      </a:rPr>
                      <m:t>↔</m:t>
                    </m:r>
                    <m:r>
                      <a:rPr lang="ko-KR" altLang="en-US" i="1">
                        <a:latin typeface="Cambria Math"/>
                      </a:rPr>
                      <m:t>𝑥</m:t>
                    </m:r>
                    <m:r>
                      <a:rPr lang="en-US" altLang="ko-KR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ar-AE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ar-AE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ar-AE" i="1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ar-AE" dirty="0"/>
                  <a:t> </a:t>
                </a:r>
                <a:r>
                  <a:rPr lang="ko-KR" altLang="en-US" dirty="0"/>
                  <a:t>을 암호화한다</a:t>
                </a:r>
                <a:r>
                  <a:rPr lang="en-US" altLang="ko-KR" dirty="0"/>
                  <a:t>.</a:t>
                </a:r>
                <a:endParaRPr lang="ko-KR" altLang="en-US" dirty="0"/>
              </a:p>
              <a:p>
                <a14:m>
                  <m:oMath xmlns:m="http://schemas.openxmlformats.org/officeDocument/2006/math">
                    <m:r>
                      <a:rPr lang="ko-KR" altLang="en-US" i="1">
                        <a:latin typeface="Cambria Math"/>
                      </a:rPr>
                      <m:t>𝑟</m:t>
                    </m:r>
                    <m:r>
                      <a:rPr lang="en-US" altLang="ko-KR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ar-AE" i="1">
                                <a:latin typeface="Cambria Math"/>
                              </a:rPr>
                              <m:t>−</m:t>
                            </m:r>
                            <m:r>
                              <a:rPr lang="ar-AE" i="1">
                                <a:latin typeface="Cambria Math"/>
                              </a:rPr>
                              <m:t>2</m:t>
                            </m:r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r>
                              <a:rPr lang="ar-AE" i="1">
                                <a:latin typeface="Cambria Math"/>
                              </a:rPr>
                              <m:t>2</m:t>
                            </m:r>
                            <m:r>
                              <a:rPr lang="ar-AE" i="1">
                                <a:latin typeface="Cambria Math"/>
                              </a:rPr>
                              <m:t>𝑥</m:t>
                            </m:r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ar-AE" i="1">
                                <a:latin typeface="Cambria Math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3</m:t>
                                </m:r>
                              </m:sup>
                            </m:sSup>
                          </m:e>
                          <m:e>
                            <m:r>
                              <a:rPr lang="ar-AE" i="1">
                                <a:latin typeface="Cambria Math"/>
                              </a:rPr>
                              <m:t>−</m:t>
                            </m:r>
                            <m:r>
                              <a:rPr lang="ar-AE" i="1">
                                <a:latin typeface="Cambria Math"/>
                              </a:rPr>
                              <m:t>1</m:t>
                            </m:r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r>
                              <a:rPr lang="ar-AE" i="1">
                                <a:latin typeface="Cambria Math"/>
                              </a:rPr>
                              <m:t>𝑥</m:t>
                            </m:r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eqArr>
                      </m:e>
                    </m:d>
                    <m:r>
                      <a:rPr lang="ar-AE" i="1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ar-AE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ar-AE" i="1">
                                <a:latin typeface="Cambria Math"/>
                              </a:rPr>
                              <m:t>1</m:t>
                            </m:r>
                            <m:r>
                              <a:rPr lang="ar-AE" i="1">
                                <a:latin typeface="Cambria Math"/>
                              </a:rPr>
                              <m:t>−</m:t>
                            </m:r>
                            <m:r>
                              <a:rPr lang="ar-AE" i="1">
                                <a:latin typeface="Cambria Math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3</m:t>
                                </m:r>
                              </m:sup>
                            </m:sSup>
                          </m:e>
                          <m:e>
                            <m:r>
                              <a:rPr lang="ar-AE" i="1">
                                <a:latin typeface="Cambria Math"/>
                              </a:rPr>
                              <m:t>−</m:t>
                            </m:r>
                            <m:r>
                              <a:rPr lang="ar-AE" i="1">
                                <a:latin typeface="Cambria Math"/>
                              </a:rPr>
                              <m:t>1</m:t>
                            </m:r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r>
                              <a:rPr lang="ar-AE" i="1">
                                <a:latin typeface="Cambria Math"/>
                              </a:rPr>
                              <m:t>2</m:t>
                            </m:r>
                            <m:r>
                              <a:rPr lang="ar-AE" i="1">
                                <a:latin typeface="Cambria Math"/>
                              </a:rPr>
                              <m:t>𝑥</m:t>
                            </m:r>
                            <m:r>
                              <a:rPr lang="ar-AE" i="1">
                                <a:latin typeface="Cambria Math"/>
                              </a:rPr>
                              <m:t>−</m:t>
                            </m:r>
                            <m:r>
                              <a:rPr lang="ar-AE" i="1">
                                <a:latin typeface="Cambria Math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3</m:t>
                                </m:r>
                              </m:sup>
                            </m:sSup>
                          </m:e>
                        </m:eqArr>
                      </m:e>
                    </m:d>
                    <m:r>
                      <a:rPr lang="ar-AE" i="1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ar-AE" i="1">
                        <a:latin typeface="Cambria Math"/>
                      </a:rPr>
                      <m:t>=</m:t>
                    </m:r>
                    <m:r>
                      <a:rPr lang="ar-AE" i="1">
                        <a:latin typeface="Cambria Math"/>
                      </a:rPr>
                      <m:t>2</m:t>
                    </m:r>
                    <m:r>
                      <a:rPr lang="ar-AE" i="1">
                        <a:latin typeface="Cambria Math"/>
                      </a:rPr>
                      <m:t>+</m:t>
                    </m:r>
                    <m:r>
                      <a:rPr lang="ar-AE" i="1">
                        <a:latin typeface="Cambria Math"/>
                      </a:rPr>
                      <m:t>2</m:t>
                    </m:r>
                    <m:r>
                      <a:rPr lang="ar-AE" i="1">
                        <a:latin typeface="Cambria Math"/>
                      </a:rPr>
                      <m:t>𝑥</m:t>
                    </m:r>
                    <m:r>
                      <a:rPr lang="ar-AE" i="1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ar-AE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ar-AE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ar-AE" i="1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/>
                      </a:rPr>
                      <m:t>𝑢</m:t>
                    </m:r>
                    <m:r>
                      <a:rPr lang="ar-AE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ar-AE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ar-AE" i="1">
                        <a:latin typeface="Cambria Math"/>
                      </a:rPr>
                      <m:t>𝑟</m:t>
                    </m:r>
                    <m:r>
                      <a:rPr lang="ar-AE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ar-AE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ar-AE" i="1">
                                <a:latin typeface="Cambria Math"/>
                              </a:rPr>
                              <m:t>56</m:t>
                            </m:r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r>
                              <a:rPr lang="ar-AE" i="1">
                                <a:latin typeface="Cambria Math"/>
                              </a:rPr>
                              <m:t>32</m:t>
                            </m:r>
                            <m:r>
                              <a:rPr lang="ar-AE" i="1">
                                <a:latin typeface="Cambria Math"/>
                              </a:rPr>
                              <m:t>𝑥</m:t>
                            </m:r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r>
                              <a:rPr lang="ar-AE" i="1">
                                <a:latin typeface="Cambria Math"/>
                              </a:rPr>
                              <m:t>77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r>
                              <a:rPr lang="ar-AE" i="1">
                                <a:latin typeface="Cambria Math"/>
                              </a:rPr>
                              <m:t>9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3</m:t>
                                </m:r>
                              </m:sup>
                            </m:sSup>
                          </m:e>
                          <m:e>
                            <m:r>
                              <a:rPr lang="ar-AE" i="1">
                                <a:latin typeface="Cambria Math"/>
                              </a:rPr>
                              <m:t>45</m:t>
                            </m:r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r>
                              <a:rPr lang="ar-AE" i="1">
                                <a:latin typeface="Cambria Math"/>
                              </a:rPr>
                              <m:t>21</m:t>
                            </m:r>
                            <m:r>
                              <a:rPr lang="ar-AE" i="1">
                                <a:latin typeface="Cambria Math"/>
                              </a:rPr>
                              <m:t>𝑥</m:t>
                            </m:r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r>
                              <a:rPr lang="ar-AE" i="1">
                                <a:latin typeface="Cambria Math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r>
                              <a:rPr lang="ar-AE" i="1">
                                <a:latin typeface="Cambria Math"/>
                              </a:rPr>
                              <m:t>127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3</m:t>
                                </m:r>
                              </m:sup>
                            </m:sSup>
                          </m:e>
                        </m:eqArr>
                      </m:e>
                    </m:d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/>
                      </a:rPr>
                      <m:t>𝑣</m:t>
                    </m:r>
                    <m:r>
                      <a:rPr lang="ar-AE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/>
                          </a:rPr>
                          <m:t>𝑡</m:t>
                        </m:r>
                      </m:e>
                      <m:sup>
                        <m:r>
                          <a:rPr lang="ar-AE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ar-AE" i="1">
                        <a:latin typeface="Cambria Math"/>
                      </a:rPr>
                      <m:t>𝑟</m:t>
                    </m:r>
                    <m:r>
                      <a:rPr lang="ar-AE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ar-AE" i="1">
                        <a:latin typeface="Cambria Math"/>
                      </a:rPr>
                      <m:t>+</m:t>
                    </m:r>
                    <m:r>
                      <a:rPr lang="ar-AE" i="1">
                        <a:latin typeface="Cambria Math"/>
                      </a:rPr>
                      <m:t>69</m:t>
                    </m:r>
                    <m:r>
                      <a:rPr lang="ar-AE" i="1">
                        <a:latin typeface="Cambria Math"/>
                      </a:rPr>
                      <m:t>𝑚</m:t>
                    </m:r>
                    <m:r>
                      <a:rPr lang="ar-AE" i="1">
                        <a:latin typeface="Cambria Math"/>
                      </a:rPr>
                      <m:t>=</m:t>
                    </m:r>
                    <m:r>
                      <a:rPr lang="ar-AE" i="1">
                        <a:latin typeface="Cambria Math"/>
                      </a:rPr>
                      <m:t>3</m:t>
                    </m:r>
                    <m:r>
                      <a:rPr lang="ar-AE" i="1">
                        <a:latin typeface="Cambria Math"/>
                      </a:rPr>
                      <m:t>+</m:t>
                    </m:r>
                    <m:r>
                      <a:rPr lang="ar-AE" i="1">
                        <a:latin typeface="Cambria Math"/>
                      </a:rPr>
                      <m:t>10</m:t>
                    </m:r>
                    <m:r>
                      <a:rPr lang="ar-AE" i="1">
                        <a:latin typeface="Cambria Math"/>
                      </a:rPr>
                      <m:t>𝑥</m:t>
                    </m:r>
                    <m:r>
                      <a:rPr lang="ar-AE" i="1">
                        <a:latin typeface="Cambria Math"/>
                      </a:rPr>
                      <m:t>+</m:t>
                    </m:r>
                    <m:r>
                      <a:rPr lang="ar-AE" i="1">
                        <a:latin typeface="Cambria Math"/>
                      </a:rPr>
                      <m:t>8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ar-AE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ar-AE" i="1">
                        <a:latin typeface="Cambria Math"/>
                      </a:rPr>
                      <m:t>+</m:t>
                    </m:r>
                    <m:r>
                      <a:rPr lang="ar-AE" i="1">
                        <a:latin typeface="Cambria Math"/>
                      </a:rPr>
                      <m:t>123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ar-AE" i="1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9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21DA416-1395-2592-6027-9F493638F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356" y="4208946"/>
            <a:ext cx="4396444" cy="17874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예제</a:t>
            </a:r>
            <a:r>
              <a:rPr lang="en-US" dirty="0"/>
              <a:t>1</a:t>
            </a:r>
            <a:r>
              <a:rPr dirty="0"/>
              <a:t>: 압축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lang="ko-KR" altLang="en-US" dirty="0"/>
                  <a:t>압축 파라미터 </a:t>
                </a:r>
                <a:r>
                  <a:rPr lang="en-US" dirty="0"/>
                  <a:t>d</a:t>
                </a:r>
                <a:r>
                  <a:rPr lang="en-US" baseline="-25000" dirty="0"/>
                  <a:t>u</a:t>
                </a:r>
                <a:r>
                  <a:rPr lang="en-US" dirty="0"/>
                  <a:t> = 6, d</a:t>
                </a:r>
                <a:r>
                  <a:rPr lang="en-US" baseline="-25000" dirty="0"/>
                  <a:t>v</a:t>
                </a:r>
                <a:r>
                  <a:rPr lang="en-US" dirty="0"/>
                  <a:t> = 4</a:t>
                </a:r>
                <a:r>
                  <a:rPr lang="ko-KR" altLang="en-US" dirty="0"/>
                  <a:t>를 임의로 고른다</a:t>
                </a:r>
                <a:r>
                  <a:rPr lang="en-US" altLang="ko-KR" dirty="0"/>
                  <a:t>.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둘 다 </a:t>
                </a:r>
                <a:r>
                  <a:rPr lang="en-US" altLang="ko-KR" dirty="0"/>
                  <a:t>[1, ⌊</a:t>
                </a:r>
                <a:r>
                  <a:rPr lang="en-US" dirty="0"/>
                  <a:t>log₂137⌋] = [1,7] </a:t>
                </a:r>
                <a:r>
                  <a:rPr lang="ko-KR" altLang="en-US" dirty="0"/>
                  <a:t>안</a:t>
                </a:r>
                <a:r>
                  <a:rPr lang="en-US" altLang="ko-KR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ar-AE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/>
                          </a:rPr>
                          <m:t>Compress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137</m:t>
                        </m:r>
                      </m:sub>
                    </m:sSub>
                    <m:r>
                      <a:rPr lang="ar-AE" i="1">
                        <a:latin typeface="Cambria Math"/>
                      </a:rPr>
                      <m:t>(</m:t>
                    </m:r>
                    <m:r>
                      <a:rPr lang="ar-AE" i="1">
                        <a:latin typeface="Cambria Math"/>
                      </a:rPr>
                      <m:t>𝑢</m:t>
                    </m:r>
                    <m:r>
                      <a:rPr lang="ar-AE" i="1">
                        <a:latin typeface="Cambria Math"/>
                      </a:rPr>
                      <m:t>,</m:t>
                    </m:r>
                    <m:r>
                      <a:rPr lang="ar-AE" i="1">
                        <a:latin typeface="Cambria Math"/>
                      </a:rPr>
                      <m:t>6</m:t>
                    </m:r>
                    <m:r>
                      <a:rPr lang="ar-AE" i="1">
                        <a:latin typeface="Cambria Math"/>
                      </a:rPr>
                      <m:t>)=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ar-AE" i="1">
                                <a:latin typeface="Cambria Math"/>
                              </a:rPr>
                              <m:t>26</m:t>
                            </m:r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r>
                              <a:rPr lang="ar-AE" i="1">
                                <a:latin typeface="Cambria Math"/>
                              </a:rPr>
                              <m:t>15</m:t>
                            </m:r>
                            <m:r>
                              <a:rPr lang="ar-AE" i="1">
                                <a:latin typeface="Cambria Math"/>
                              </a:rPr>
                              <m:t>𝑥</m:t>
                            </m:r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r>
                              <a:rPr lang="ar-AE" i="1">
                                <a:latin typeface="Cambria Math"/>
                              </a:rPr>
                              <m:t>36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r>
                              <a:rPr lang="ar-AE" i="1">
                                <a:latin typeface="Cambria Math"/>
                              </a:rPr>
                              <m:t>4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3</m:t>
                                </m:r>
                              </m:sup>
                            </m:sSup>
                          </m:e>
                          <m:e>
                            <m:r>
                              <a:rPr lang="ar-AE" i="1">
                                <a:latin typeface="Cambria Math"/>
                              </a:rPr>
                              <m:t>21</m:t>
                            </m:r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r>
                              <a:rPr lang="ar-AE" i="1">
                                <a:latin typeface="Cambria Math"/>
                              </a:rPr>
                              <m:t>10</m:t>
                            </m:r>
                            <m:r>
                              <a:rPr lang="ar-AE" i="1">
                                <a:latin typeface="Cambria Math"/>
                              </a:rPr>
                              <m:t>𝑥</m:t>
                            </m:r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r>
                              <a:rPr lang="ar-AE" i="1">
                                <a:latin typeface="Cambria Math"/>
                              </a:rPr>
                              <m:t>59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3</m:t>
                                </m:r>
                              </m:sup>
                            </m:sSup>
                          </m:e>
                        </m:eqArr>
                      </m:e>
                    </m:d>
                  </m:oMath>
                </a14:m>
                <a:endParaRPr lang="ar-AE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ar-AE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/>
                          </a:rPr>
                          <m:t>Compress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137</m:t>
                        </m:r>
                      </m:sub>
                    </m:sSub>
                    <m:r>
                      <a:rPr lang="ar-AE" i="1">
                        <a:latin typeface="Cambria Math"/>
                      </a:rPr>
                      <m:t>(</m:t>
                    </m:r>
                    <m:r>
                      <a:rPr lang="ar-AE" i="1">
                        <a:latin typeface="Cambria Math"/>
                      </a:rPr>
                      <m:t>𝑣</m:t>
                    </m:r>
                    <m:r>
                      <a:rPr lang="ar-AE" i="1">
                        <a:latin typeface="Cambria Math"/>
                      </a:rPr>
                      <m:t>,</m:t>
                    </m:r>
                    <m:r>
                      <a:rPr lang="ar-AE" i="1">
                        <a:latin typeface="Cambria Math"/>
                      </a:rPr>
                      <m:t>4</m:t>
                    </m:r>
                    <m:r>
                      <a:rPr lang="ar-AE" i="1">
                        <a:latin typeface="Cambria Math"/>
                      </a:rPr>
                      <m:t>)=</m:t>
                    </m:r>
                    <m:r>
                      <a:rPr lang="ar-AE" i="1">
                        <a:latin typeface="Cambria Math"/>
                      </a:rPr>
                      <m:t>0</m:t>
                    </m:r>
                    <m:r>
                      <a:rPr lang="ar-AE" i="1">
                        <a:latin typeface="Cambria Math"/>
                      </a:rPr>
                      <m:t>+</m:t>
                    </m:r>
                    <m:r>
                      <a:rPr lang="ar-AE" i="1">
                        <a:latin typeface="Cambria Math"/>
                      </a:rPr>
                      <m:t>𝑥</m:t>
                    </m:r>
                    <m:r>
                      <a:rPr lang="ar-AE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ar-AE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ar-AE" i="1">
                        <a:latin typeface="Cambria Math"/>
                      </a:rPr>
                      <m:t>+</m:t>
                    </m:r>
                    <m:r>
                      <a:rPr lang="ar-AE" i="1">
                        <a:latin typeface="Cambria Math"/>
                      </a:rPr>
                      <m:t>14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ar-AE" i="1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ar-AE" dirty="0"/>
              </a:p>
              <a:p>
                <a:r>
                  <a:rPr lang="ko-KR" altLang="en-US" dirty="0"/>
                  <a:t>출력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암호문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/>
                      </a:rPr>
                      <m:t>𝑐</m:t>
                    </m:r>
                    <m:r>
                      <a:rPr lang="en-US" altLang="ko-KR" i="1">
                        <a:latin typeface="Cambria Math"/>
                      </a:rPr>
                      <m:t>=(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ar-AE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ar-AE" i="1">
                        <a:latin typeface="Cambria Math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10</a:t>
            </a:fld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예제</a:t>
            </a:r>
            <a:r>
              <a:rPr lang="en-US" dirty="0"/>
              <a:t>1</a:t>
            </a:r>
            <a:r>
              <a:rPr dirty="0"/>
              <a:t>: 압축해제와 오차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/>
                          </a:rPr>
                          <m:t>𝑢</m:t>
                        </m:r>
                      </m:e>
                      <m:sup>
                        <m:r>
                          <a:rPr lang="ar-AE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ar-AE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/>
                          </a:rPr>
                          <m:t>Decompress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137</m:t>
                        </m:r>
                      </m:sub>
                    </m:sSub>
                    <m:r>
                      <a:rPr lang="ar-AE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ar-AE" i="1">
                        <a:latin typeface="Cambria Math"/>
                      </a:rPr>
                      <m:t>,</m:t>
                    </m:r>
                    <m:r>
                      <a:rPr lang="ar-AE" i="1">
                        <a:latin typeface="Cambria Math"/>
                      </a:rPr>
                      <m:t>6</m:t>
                    </m:r>
                    <m:r>
                      <a:rPr lang="ar-AE" i="1">
                        <a:latin typeface="Cambria Math"/>
                      </a:rPr>
                      <m:t>)=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ar-AE" i="1">
                                <a:latin typeface="Cambria Math"/>
                              </a:rPr>
                              <m:t>56</m:t>
                            </m:r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r>
                              <a:rPr lang="ar-AE" i="1">
                                <a:latin typeface="Cambria Math"/>
                              </a:rPr>
                              <m:t>32</m:t>
                            </m:r>
                            <m:r>
                              <a:rPr lang="ar-AE" i="1">
                                <a:latin typeface="Cambria Math"/>
                              </a:rPr>
                              <m:t>𝑥</m:t>
                            </m:r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r>
                              <a:rPr lang="ar-AE" i="1">
                                <a:latin typeface="Cambria Math"/>
                              </a:rPr>
                              <m:t>77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r>
                              <a:rPr lang="ar-AE" i="1">
                                <a:latin typeface="Cambria Math"/>
                              </a:rPr>
                              <m:t>9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3</m:t>
                                </m:r>
                              </m:sup>
                            </m:sSup>
                          </m:e>
                          <m:e>
                            <m:r>
                              <a:rPr lang="ar-AE" i="1">
                                <a:latin typeface="Cambria Math"/>
                              </a:rPr>
                              <m:t>45</m:t>
                            </m:r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r>
                              <a:rPr lang="ar-AE" i="1">
                                <a:latin typeface="Cambria Math"/>
                              </a:rPr>
                              <m:t>21</m:t>
                            </m:r>
                            <m:r>
                              <a:rPr lang="ar-AE" i="1">
                                <a:latin typeface="Cambria Math"/>
                              </a:rPr>
                              <m:t>𝑥</m:t>
                            </m:r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r>
                              <a:rPr lang="ar-AE" i="1">
                                <a:latin typeface="Cambria Math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ar-AE" i="1">
                                <a:latin typeface="Cambria Math"/>
                              </a:rPr>
                              <m:t>+</m:t>
                            </m:r>
                            <m:r>
                              <a:rPr lang="ar-AE" i="1">
                                <a:latin typeface="Cambria Math"/>
                              </a:rPr>
                              <m:t>126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3</m:t>
                                </m:r>
                              </m:sup>
                            </m:sSup>
                          </m:e>
                        </m:eqArr>
                      </m:e>
                    </m:d>
                  </m:oMath>
                </a14:m>
                <a:endParaRPr lang="ar-AE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/>
                          </a:rPr>
                          <m:t>𝑣</m:t>
                        </m:r>
                      </m:e>
                      <m:sup>
                        <m:r>
                          <a:rPr lang="ar-AE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ar-AE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/>
                          </a:rPr>
                          <m:t>Decompress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137</m:t>
                        </m:r>
                      </m:sub>
                    </m:sSub>
                    <m:r>
                      <a:rPr lang="ar-AE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/>
                          </a:rPr>
                          <m:t>𝑐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ar-AE" i="1">
                        <a:latin typeface="Cambria Math"/>
                      </a:rPr>
                      <m:t>,</m:t>
                    </m:r>
                    <m:r>
                      <a:rPr lang="ar-AE" i="1">
                        <a:latin typeface="Cambria Math"/>
                      </a:rPr>
                      <m:t>4</m:t>
                    </m:r>
                    <m:r>
                      <a:rPr lang="ar-AE" i="1">
                        <a:latin typeface="Cambria Math"/>
                      </a:rPr>
                      <m:t>)=</m:t>
                    </m:r>
                    <m:r>
                      <a:rPr lang="ar-AE" i="1">
                        <a:latin typeface="Cambria Math"/>
                      </a:rPr>
                      <m:t>0</m:t>
                    </m:r>
                    <m:r>
                      <a:rPr lang="ar-AE" i="1">
                        <a:latin typeface="Cambria Math"/>
                      </a:rPr>
                      <m:t>+</m:t>
                    </m:r>
                    <m:r>
                      <a:rPr lang="ar-AE" i="1">
                        <a:latin typeface="Cambria Math"/>
                      </a:rPr>
                      <m:t>9</m:t>
                    </m:r>
                    <m:r>
                      <a:rPr lang="ar-AE" i="1">
                        <a:latin typeface="Cambria Math"/>
                      </a:rPr>
                      <m:t>𝑥</m:t>
                    </m:r>
                    <m:r>
                      <a:rPr lang="ar-AE" i="1">
                        <a:latin typeface="Cambria Math"/>
                      </a:rPr>
                      <m:t>+</m:t>
                    </m:r>
                    <m:r>
                      <a:rPr lang="ar-AE" i="1">
                        <a:latin typeface="Cambria Math"/>
                      </a:rPr>
                      <m:t>9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ar-AE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ar-AE" i="1">
                        <a:latin typeface="Cambria Math"/>
                      </a:rPr>
                      <m:t>+</m:t>
                    </m:r>
                    <m:r>
                      <a:rPr lang="ar-AE" i="1">
                        <a:latin typeface="Cambria Math"/>
                      </a:rPr>
                      <m:t>120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ar-AE" i="1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lang="ar-AE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𝑢</m:t>
                        </m:r>
                      </m:sub>
                    </m:sSub>
                    <m:r>
                      <a:rPr lang="ar-AE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/>
                          </a:rPr>
                          <m:t>𝑢</m:t>
                        </m:r>
                      </m:e>
                      <m:sup>
                        <m:r>
                          <a:rPr lang="ar-AE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ar-AE" i="1">
                        <a:latin typeface="Cambria Math"/>
                      </a:rPr>
                      <m:t>−</m:t>
                    </m:r>
                    <m:r>
                      <a:rPr lang="ar-AE" i="1">
                        <a:latin typeface="Cambria Math"/>
                      </a:rPr>
                      <m:t>𝑢</m:t>
                    </m:r>
                    <m:r>
                      <a:rPr lang="ar-AE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ar-AE" i="1">
                                <a:latin typeface="Cambria Math"/>
                              </a:rPr>
                              <m:t>0</m:t>
                            </m:r>
                          </m:e>
                          <m:e>
                            <m:r>
                              <a:rPr lang="ar-AE" i="1">
                                <a:latin typeface="Cambria Math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ar-AE" i="1">
                                    <a:latin typeface="Cambria Math"/>
                                  </a:rPr>
                                  <m:t>3</m:t>
                                </m:r>
                              </m:sup>
                            </m:sSup>
                          </m:e>
                        </m:eqArr>
                      </m:e>
                    </m:d>
                    <m:r>
                      <a:rPr lang="ar-AE" i="1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ar-AE" i="1">
                            <a:latin typeface="Cambria Math"/>
                          </a:rPr>
                          <m:t>𝑣</m:t>
                        </m:r>
                      </m:sub>
                    </m:sSub>
                    <m:r>
                      <a:rPr lang="ar-AE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/>
                          </a:rPr>
                          <m:t>𝑣</m:t>
                        </m:r>
                      </m:e>
                      <m:sup>
                        <m:r>
                          <a:rPr lang="ar-AE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ar-AE" i="1">
                        <a:latin typeface="Cambria Math"/>
                      </a:rPr>
                      <m:t>−</m:t>
                    </m:r>
                    <m:r>
                      <a:rPr lang="ar-AE" i="1">
                        <a:latin typeface="Cambria Math"/>
                      </a:rPr>
                      <m:t>𝑣</m:t>
                    </m:r>
                    <m:r>
                      <a:rPr lang="ar-AE" i="1">
                        <a:latin typeface="Cambria Math"/>
                      </a:rPr>
                      <m:t>=−</m:t>
                    </m:r>
                    <m:r>
                      <a:rPr lang="ar-AE" i="1">
                        <a:latin typeface="Cambria Math"/>
                      </a:rPr>
                      <m:t>3</m:t>
                    </m:r>
                    <m:r>
                      <a:rPr lang="ar-AE" i="1">
                        <a:latin typeface="Cambria Math"/>
                      </a:rPr>
                      <m:t>−</m:t>
                    </m:r>
                    <m:r>
                      <a:rPr lang="ar-AE" i="1">
                        <a:latin typeface="Cambria Math"/>
                      </a:rPr>
                      <m:t>𝑥</m:t>
                    </m:r>
                    <m:r>
                      <a:rPr lang="ar-AE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ar-AE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ar-AE" i="1">
                        <a:latin typeface="Cambria Math"/>
                      </a:rPr>
                      <m:t>−</m:t>
                    </m:r>
                    <m:r>
                      <a:rPr lang="ar-AE" i="1">
                        <a:latin typeface="Cambria Math"/>
                      </a:rPr>
                      <m:t>3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ar-AE" i="1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11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415769"/>
              </p:ext>
            </p:extLst>
          </p:nvPr>
        </p:nvGraphicFramePr>
        <p:xfrm>
          <a:off x="838200" y="3645866"/>
          <a:ext cx="10515600" cy="11500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333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오차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실측 상계 ‖·‖∞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이론 상계 ⌈q/2</a:t>
                      </a:r>
                      <a:r>
                        <a:rPr sz="1800" b="1" baseline="30000" dirty="0"/>
                        <a:t>d+1</a:t>
                      </a:r>
                      <a:r>
                        <a:rPr sz="1800" b="1" dirty="0"/>
                        <a:t>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333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e</a:t>
                      </a:r>
                      <a:r>
                        <a:rPr sz="1800" baseline="-25000" dirty="0"/>
                        <a:t>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⌈137/2⁷⌋ =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334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e</a:t>
                      </a:r>
                      <a:r>
                        <a:rPr sz="1800" baseline="-25000" dirty="0"/>
                        <a:t>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⌈137/2⁵⌋ =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예제</a:t>
            </a:r>
            <a:r>
              <a:rPr lang="en-US" dirty="0"/>
              <a:t>1</a:t>
            </a:r>
            <a:r>
              <a:rPr dirty="0"/>
              <a:t>: 복호화 확인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𝑢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=2+59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−59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+63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dirty="0"/>
              </a:p>
              <a:p>
                <a:endParaRPr dirty="0"/>
              </a:p>
              <a:p>
                <a:endParaRPr dirty="0"/>
              </a:p>
              <a:p>
                <a:endParaRPr dirty="0"/>
              </a:p>
              <a:p>
                <a:endParaRPr dirty="0"/>
              </a:p>
              <a:p>
                <a:r>
                  <a:rPr dirty="0"/>
                  <a:t>결과: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/>
                          </a:rPr>
                          <m:t>Round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137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𝑢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)=[0,1,1,1]</m:t>
                    </m:r>
                    <m:r>
                      <a:rPr lang="en-US" i="1">
                        <a:latin typeface="Cambria Math"/>
                      </a:rPr>
                      <m:t>↔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endParaRPr dirty="0"/>
              </a:p>
              <a:p>
                <a:r>
                  <a:rPr dirty="0"/>
                  <a:t>원래 평문 m과 일치 — 압축을 통과했는데도 복호화가 성공했다</a:t>
                </a:r>
                <a:r>
                  <a:rPr lang="en-US" dirty="0"/>
                  <a:t>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12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336710"/>
              </p:ext>
            </p:extLst>
          </p:nvPr>
        </p:nvGraphicFramePr>
        <p:xfrm>
          <a:off x="838200" y="1943327"/>
          <a:ext cx="10515600" cy="19000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계수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mods 137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|·| vs q/4 = 34.25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판정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&lt; 34.25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&gt; 34.25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-59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-59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&gt; 34.25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&gt; 34.25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오차 다항식의 확장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질문: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𝑚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/>
                          </a:rPr>
                          <m:t>Round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𝑢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 가 항상 성립하는가?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𝑢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𝑢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𝑢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,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𝑣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sub>
                    </m:sSub>
                  </m:oMath>
                </a14:m>
                <a:r>
                  <a:rPr dirty="0"/>
                  <a:t> 라 </a:t>
                </a:r>
                <a:r>
                  <a:rPr lang="ko-KR" altLang="en-US" dirty="0"/>
                  <a:t>하면</a:t>
                </a:r>
                <a:r>
                  <a:rPr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𝑣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=(</m:t>
                      </m:r>
                      <m:r>
                        <a:rPr lang="en-US" i="1">
                          <a:latin typeface="Cambria Math"/>
                        </a:rPr>
                        <m:t>𝑣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𝑣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(</m:t>
                      </m:r>
                      <m:r>
                        <a:rPr lang="en-US" i="1">
                          <a:latin typeface="Cambria Math"/>
                        </a:rPr>
                        <m:t>𝑢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=(</m:t>
                      </m:r>
                      <m:r>
                        <a:rPr lang="en-US" i="1">
                          <a:latin typeface="Cambria Math"/>
                        </a:rPr>
                        <m:t>𝑣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𝑢</m:t>
                      </m:r>
                      <m:r>
                        <a:rPr lang="en-US" i="1">
                          <a:latin typeface="Cambria Math"/>
                        </a:rPr>
                        <m:t>)+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𝑣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sub>
                      </m:sSub>
                    </m:oMath>
                  </m:oMathPara>
                </a14:m>
                <a:endParaRPr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𝑟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𝑣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𝑢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d>
                        <m:dPr>
                          <m:begChr m:val="⌈"/>
                          <m:endChr m:val="⌋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/>
                                </a:rPr>
                                <m:t>𝑞</m:t>
                              </m:r>
                            </m:num>
                            <m:den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/>
                        </a:rPr>
                        <m:t>𝑚</m:t>
                      </m:r>
                    </m:oMath>
                  </m:oMathPara>
                </a14:m>
                <a:endParaRPr dirty="0"/>
              </a:p>
              <a:p>
                <a:r>
                  <a:rPr dirty="0"/>
                  <a:t>따라서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/>
                          </a:rPr>
                          <m:t>Round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𝑢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)=</m:t>
                    </m:r>
                    <m:r>
                      <a:rPr lang="en-US" i="1">
                        <a:latin typeface="Cambria Math"/>
                      </a:rPr>
                      <m:t>𝑚</m:t>
                    </m:r>
                  </m:oMath>
                </a14:m>
                <a:r>
                  <a:rPr dirty="0"/>
                  <a:t> ⟺ 오차 다항식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𝐸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)=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𝑟</m:t>
                    </m:r>
                    <m:r>
                      <a:rPr lang="en-US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𝑣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𝑢</m:t>
                        </m:r>
                      </m:sub>
                    </m:sSub>
                  </m:oMath>
                </a14:m>
                <a:r>
                  <a:rPr dirty="0"/>
                  <a:t> 의 모든 계수가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‖</m:t>
                    </m:r>
                    <m:r>
                      <a:rPr lang="en-US" i="1">
                        <a:latin typeface="Cambria Math"/>
                      </a:rPr>
                      <m:t>𝐸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∞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&lt;</m:t>
                    </m:r>
                    <m:r>
                      <a:rPr lang="en-US" i="1">
                        <a:latin typeface="Cambria Math"/>
                      </a:rPr>
                      <m:t>𝑞</m:t>
                    </m:r>
                    <m:r>
                      <a:rPr lang="en-US" i="1">
                        <a:latin typeface="Cambria Math"/>
                      </a:rPr>
                      <m:t>/</m:t>
                    </m:r>
                    <m:r>
                      <a:rPr lang="en-US" i="1">
                        <a:latin typeface="Cambria Math"/>
                      </a:rPr>
                      <m:t>4</m:t>
                    </m:r>
                  </m:oMath>
                </a14:m>
                <a:r>
                  <a:rPr lang="en-US" dirty="0"/>
                  <a:t>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13</a:t>
            </a:fld>
            <a:endParaRPr lang="ko-KR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오차 다항식 상계: ML-KEM-768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r>
              <a:rPr dirty="0"/>
              <a:t>삼각부등식으로 각 항의 상계를 구해 더하면: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dirty="0"/>
              <a:t>q/4 = 832.25 인데 9322 ≮ 832.25 ⟹ 복호화가 항상 성공한다는 보장은 없다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14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933946"/>
              </p:ext>
            </p:extLst>
          </p:nvPr>
        </p:nvGraphicFramePr>
        <p:xfrm>
          <a:off x="838200" y="1903748"/>
          <a:ext cx="10515600" cy="256032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857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상계식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857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eᵀr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knη₁²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3072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857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e₂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η₂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857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-sᵀe₁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knη₁η₂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3072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857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-sᵀe</a:t>
                      </a:r>
                      <a:r>
                        <a:rPr sz="1800" baseline="-25000" dirty="0"/>
                        <a:t>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knη₁⌈q/2</a:t>
                      </a:r>
                      <a:r>
                        <a:rPr lang="en-US" altLang="ko-KR" sz="1800" dirty="0"/>
                        <a:t>^(</a:t>
                      </a:r>
                      <a:r>
                        <a:rPr sz="1800" dirty="0"/>
                        <a:t>d</a:t>
                      </a:r>
                      <a:r>
                        <a:rPr sz="1800" baseline="-25000" dirty="0"/>
                        <a:t>u</a:t>
                      </a:r>
                      <a:r>
                        <a:rPr sz="1800" dirty="0"/>
                        <a:t>+1</a:t>
                      </a:r>
                      <a:r>
                        <a:rPr lang="en-US" altLang="ko-KR" sz="1800" dirty="0"/>
                        <a:t>)</a:t>
                      </a:r>
                      <a:r>
                        <a:rPr sz="1800" dirty="0"/>
                        <a:t>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3072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857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e</a:t>
                      </a:r>
                      <a:r>
                        <a:rPr sz="1800" baseline="-25000" dirty="0"/>
                        <a:t>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⌈q/2</a:t>
                      </a:r>
                      <a:r>
                        <a:rPr lang="en-US" altLang="ko-KR" sz="1800" dirty="0"/>
                        <a:t>^(</a:t>
                      </a:r>
                      <a:r>
                        <a:rPr sz="1800" dirty="0"/>
                        <a:t>d</a:t>
                      </a:r>
                      <a:r>
                        <a:rPr sz="1800" baseline="-25000" dirty="0"/>
                        <a:t>v</a:t>
                      </a:r>
                      <a:r>
                        <a:rPr sz="1800" dirty="0"/>
                        <a:t>+1</a:t>
                      </a:r>
                      <a:r>
                        <a:rPr lang="en-US" altLang="ko-KR" sz="1800" dirty="0"/>
                        <a:t>)</a:t>
                      </a:r>
                      <a:r>
                        <a:rPr sz="1800" dirty="0"/>
                        <a:t>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858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합계 ‖E‖</a:t>
                      </a:r>
                      <a:r>
                        <a:rPr sz="1800" baseline="-25000" dirty="0"/>
                        <a:t>∞</a:t>
                      </a:r>
                      <a:r>
                        <a:rPr sz="1800" dirty="0"/>
                        <a:t> 상계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9322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결론: 거의 항상 성공한다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r>
              <a:rPr dirty="0"/>
              <a:t>9322는 모든 항이 최악의 경우 같은 부호로 정렬될 때의 극단적 상계일 뿐이다</a:t>
            </a:r>
            <a:r>
              <a:rPr lang="en-US" dirty="0"/>
              <a:t>.</a:t>
            </a:r>
            <a:endParaRPr dirty="0"/>
          </a:p>
          <a:p>
            <a:r>
              <a:rPr dirty="0"/>
              <a:t>실제로는 각 항이 무작위 부호를 갖는 여러 항의 합이므로 상당한 상쇄가 기대되고, ‖E‖</a:t>
            </a:r>
            <a:r>
              <a:rPr baseline="-25000" dirty="0"/>
              <a:t>∞</a:t>
            </a:r>
            <a:r>
              <a:rPr dirty="0"/>
              <a:t> &lt; q/4가 압도적인 확률로 성립함을 보일 수 있다</a:t>
            </a:r>
            <a:r>
              <a:rPr lang="en-US" dirty="0"/>
              <a:t>.</a:t>
            </a:r>
            <a:endParaRPr dirty="0"/>
          </a:p>
          <a:p>
            <a:r>
              <a:rPr dirty="0"/>
              <a:t>결론: 복호화는 거의 항상 성공한다 — Kyber 파라미터는 복호화 오류 확률을 최소화하도록 신중히 선택</a:t>
            </a:r>
            <a:r>
              <a:rPr lang="ko-KR" altLang="en-US" dirty="0"/>
              <a:t>된다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15</a:t>
            </a:fld>
            <a:endParaRPr lang="ko-KR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안전성: 암호문 압축과 IND-CPA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주장: 암호문 압축은 Kyber-PKE의 안전성에 영향을 주지 않는다 — D-MLWE가 어렵다는 가정 아래 완성형 Kyber-PKE도 IND-CPA</a:t>
                </a:r>
                <a:r>
                  <a:rPr lang="en-US" dirty="0"/>
                  <a:t>.</a:t>
                </a:r>
                <a:endParaRPr dirty="0"/>
              </a:p>
              <a:p>
                <a:r>
                  <a:rPr dirty="0"/>
                  <a:t>직관: u, v 자체가 균등 랜덤과 구별 불가능하다면,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/>
                          </a:rPr>
                          <m:t>Compress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𝑞</m:t>
                        </m:r>
                      </m:sub>
                    </m:sSub>
                  </m:oMath>
                </a14:m>
                <a:r>
                  <a:rPr dirty="0"/>
                  <a:t> 는 공개된 결정적 함수이므로 압축본 c1, c2도 구별 불가능하다</a:t>
                </a:r>
                <a:r>
                  <a:rPr lang="en-US" dirty="0"/>
                  <a:t>.</a:t>
                </a:r>
                <a:endParaRPr dirty="0"/>
              </a:p>
              <a:p>
                <a:r>
                  <a:rPr dirty="0"/>
                  <a:t>압축은 정보를 버리기만 할 뿐 새로운 구별 수단을 주지 않는다</a:t>
                </a:r>
                <a:r>
                  <a:rPr lang="en-US" dirty="0"/>
                  <a:t>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 r="-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16</a:t>
            </a:fld>
            <a:endParaRPr lang="ko-KR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키 캡슐화 메커니즘(KEM)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r>
              <a:rPr dirty="0"/>
              <a:t>두 당사자가 공유 비밀키를 수립하도록 해주는 프로토콜이며, 세 알고리즘으로 구성된다</a:t>
            </a:r>
            <a:r>
              <a:rPr lang="en-US" dirty="0"/>
              <a:t>.</a:t>
            </a:r>
            <a:endParaRPr dirty="0"/>
          </a:p>
          <a:p>
            <a:pPr marL="800100" lvl="1" indent="-342900">
              <a:buFont typeface="+mj-lt"/>
              <a:buAutoNum type="arabicPeriod"/>
            </a:pPr>
            <a:r>
              <a:rPr dirty="0"/>
              <a:t>키</a:t>
            </a:r>
            <a:r>
              <a:rPr lang="en-US" dirty="0"/>
              <a:t> </a:t>
            </a:r>
            <a:r>
              <a:rPr dirty="0"/>
              <a:t>생성: 각 사용자(Alice)가 캡슐화 키(공개키)와 역캡슐화 키(개인키)를 생성한다</a:t>
            </a:r>
            <a:r>
              <a:rPr lang="en-US" dirty="0"/>
              <a:t>.</a:t>
            </a:r>
            <a:endParaRPr dirty="0"/>
          </a:p>
          <a:p>
            <a:pPr marL="800100" lvl="1" indent="-342900">
              <a:buFont typeface="+mj-lt"/>
              <a:buAutoNum type="arabicPeriod"/>
            </a:pPr>
            <a:r>
              <a:rPr dirty="0"/>
              <a:t>캡슐화: Bob이 Alice의 캡슐화 키를 이용해 비밀키 K와 암호문 c를 생성하고, c를 Alice에게 보낸다</a:t>
            </a:r>
            <a:r>
              <a:rPr lang="en-US" dirty="0"/>
              <a:t>.</a:t>
            </a:r>
            <a:endParaRPr dirty="0"/>
          </a:p>
          <a:p>
            <a:pPr marL="800100" lvl="1" indent="-342900">
              <a:buFont typeface="+mj-lt"/>
              <a:buAutoNum type="arabicPeriod"/>
            </a:pPr>
            <a:r>
              <a:rPr dirty="0"/>
              <a:t>역캡슐화: Alice가 자신의 역캡슐화 키로 암호문 c에서 K를 복원한다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17</a:t>
            </a:fld>
            <a:endParaRPr lang="ko-KR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왜 Kyber-PKE만으로는 부족한가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r>
              <a:rPr dirty="0"/>
              <a:t>Kyber-PKE는 선택 평문 공격(IND-CPA)에만 안전하도록 설계됐다</a:t>
            </a:r>
            <a:r>
              <a:rPr lang="en-US" dirty="0"/>
              <a:t>.</a:t>
            </a:r>
            <a:endParaRPr dirty="0"/>
          </a:p>
          <a:p>
            <a:pPr lvl="1"/>
            <a:r>
              <a:rPr dirty="0"/>
              <a:t>단독 공개키 암호로 쓰면 안 되고, 오직 Kyber-KEM의 구성 요소로만 사용</a:t>
            </a:r>
            <a:r>
              <a:rPr lang="en-US" dirty="0"/>
              <a:t>.</a:t>
            </a:r>
            <a:endParaRPr dirty="0"/>
          </a:p>
          <a:p>
            <a:r>
              <a:rPr dirty="0"/>
              <a:t>IND-CCA(선택 암호문 공격 하 구별 불가능성)는 더 강한 공격 모델이다</a:t>
            </a:r>
            <a:r>
              <a:rPr lang="en-US" dirty="0"/>
              <a:t>.</a:t>
            </a:r>
            <a:endParaRPr dirty="0"/>
          </a:p>
          <a:p>
            <a:pPr lvl="1"/>
            <a:r>
              <a:rPr dirty="0"/>
              <a:t>공격자가 도전 암호문 외의 임의의 암호문을 복호화 오라클에 제출해 결과를 볼 수 있다</a:t>
            </a:r>
            <a:r>
              <a:rPr lang="en-US" dirty="0"/>
              <a:t>.</a:t>
            </a:r>
            <a:endParaRPr dirty="0"/>
          </a:p>
          <a:p>
            <a:r>
              <a:rPr dirty="0"/>
              <a:t>IND-CPA를 만족한다고 해서 IND-CCA를 만족하는 것은 아니다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18</a:t>
            </a:fld>
            <a:endParaRPr lang="ko-KR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Fujisaki-Okamoto 변환: 역랜덤화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lang="en-US" altLang="ko-KR" dirty="0"/>
                  <a:t>FO </a:t>
                </a:r>
                <a:r>
                  <a:rPr lang="ko-KR" altLang="en-US" dirty="0"/>
                  <a:t>변환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선택 평문 공격</a:t>
                </a:r>
                <a:r>
                  <a:rPr lang="en-US" altLang="ko-KR" dirty="0"/>
                  <a:t>(CPA)</a:t>
                </a:r>
                <a:r>
                  <a:rPr lang="ko-KR" altLang="en-US" dirty="0"/>
                  <a:t>에 안전한 공개키 암호를 선택 암호문 공격</a:t>
                </a:r>
                <a:r>
                  <a:rPr lang="en-US" altLang="ko-KR" dirty="0"/>
                  <a:t>(CCA)</a:t>
                </a:r>
                <a:r>
                  <a:rPr lang="ko-KR" altLang="en-US" dirty="0"/>
                  <a:t>에 안전한 스킴으로 바꾸는 일반적인 방법</a:t>
                </a:r>
                <a:r>
                  <a:rPr lang="en-US" altLang="ko-KR" dirty="0"/>
                  <a:t>.</a:t>
                </a:r>
                <a:endParaRPr lang="ko-KR" altLang="en-US" dirty="0"/>
              </a:p>
              <a:p>
                <a:r>
                  <a:rPr lang="ko-KR" altLang="en-US" dirty="0"/>
                  <a:t>세 해시함수 사용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/>
                      </a:rPr>
                      <m:t>𝐺</m:t>
                    </m:r>
                    <m:r>
                      <a:rPr lang="en-US" altLang="ko-KR" i="1">
                        <a:latin typeface="Cambria Math"/>
                      </a:rPr>
                      <m:t>:{</m:t>
                    </m:r>
                    <m:r>
                      <a:rPr lang="en-US" altLang="ko-KR" i="1">
                        <a:latin typeface="Cambria Math"/>
                      </a:rPr>
                      <m:t>0</m:t>
                    </m:r>
                    <m:r>
                      <a:rPr lang="en-US" altLang="ko-KR" i="1">
                        <a:latin typeface="Cambria Math"/>
                      </a:rPr>
                      <m:t>,</m:t>
                    </m:r>
                    <m:r>
                      <a:rPr lang="en-US" altLang="ko-KR" i="1">
                        <a:latin typeface="Cambria Math"/>
                      </a:rPr>
                      <m:t>1</m:t>
                    </m:r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/>
                          </a:rPr>
                          <m:t>}</m:t>
                        </m:r>
                      </m:e>
                      <m:sup>
                        <m:r>
                          <a:rPr lang="ko-KR" altLang="en-US" i="1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ko-KR" altLang="en-US" i="1">
                        <a:latin typeface="Cambria Math"/>
                      </a:rPr>
                      <m:t>→</m:t>
                    </m:r>
                    <m:r>
                      <a:rPr lang="en-US" altLang="ko-KR" i="1">
                        <a:latin typeface="Cambria Math"/>
                      </a:rPr>
                      <m:t>{</m:t>
                    </m:r>
                    <m:r>
                      <a:rPr lang="en-US" altLang="ko-KR" i="1">
                        <a:latin typeface="Cambria Math"/>
                      </a:rPr>
                      <m:t>0</m:t>
                    </m:r>
                    <m:r>
                      <a:rPr lang="en-US" altLang="ko-KR" i="1">
                        <a:latin typeface="Cambria Math"/>
                      </a:rPr>
                      <m:t>,</m:t>
                    </m:r>
                    <m:r>
                      <a:rPr lang="en-US" altLang="ko-KR" i="1">
                        <a:latin typeface="Cambria Math"/>
                      </a:rPr>
                      <m:t>1</m:t>
                    </m:r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/>
                          </a:rPr>
                          <m:t>}</m:t>
                        </m:r>
                      </m:e>
                      <m:sup>
                        <m:r>
                          <a:rPr lang="en-US" altLang="ko-KR" i="1">
                            <a:latin typeface="Cambria Math"/>
                          </a:rPr>
                          <m:t>512</m:t>
                        </m:r>
                      </m:sup>
                    </m:sSup>
                    <m:r>
                      <a:rPr lang="en-US" altLang="ko-KR" i="1">
                        <a:latin typeface="Cambria Math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ko-KR" altLang="en-US" i="1">
                        <a:latin typeface="Cambria Math"/>
                      </a:rPr>
                      <m:t>𝐻</m:t>
                    </m:r>
                    <m:r>
                      <a:rPr lang="en-US" altLang="ko-KR" i="1">
                        <a:latin typeface="Cambria Math"/>
                      </a:rPr>
                      <m:t>:{</m:t>
                    </m:r>
                    <m:r>
                      <a:rPr lang="en-US" altLang="ko-KR" i="1">
                        <a:latin typeface="Cambria Math"/>
                      </a:rPr>
                      <m:t>0</m:t>
                    </m:r>
                    <m:r>
                      <a:rPr lang="en-US" altLang="ko-KR" i="1">
                        <a:latin typeface="Cambria Math"/>
                      </a:rPr>
                      <m:t>,</m:t>
                    </m:r>
                    <m:r>
                      <a:rPr lang="en-US" altLang="ko-KR" i="1">
                        <a:latin typeface="Cambria Math"/>
                      </a:rPr>
                      <m:t>1</m:t>
                    </m:r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/>
                          </a:rPr>
                          <m:t>}</m:t>
                        </m:r>
                      </m:e>
                      <m:sup>
                        <m:r>
                          <a:rPr lang="ko-KR" altLang="en-US" i="1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ko-KR" altLang="en-US" i="1">
                        <a:latin typeface="Cambria Math"/>
                      </a:rPr>
                      <m:t>→</m:t>
                    </m:r>
                    <m:r>
                      <a:rPr lang="en-US" altLang="ko-KR" i="1">
                        <a:latin typeface="Cambria Math"/>
                      </a:rPr>
                      <m:t>{</m:t>
                    </m:r>
                    <m:r>
                      <a:rPr lang="en-US" altLang="ko-KR" i="1">
                        <a:latin typeface="Cambria Math"/>
                      </a:rPr>
                      <m:t>0</m:t>
                    </m:r>
                    <m:r>
                      <a:rPr lang="en-US" altLang="ko-KR" i="1">
                        <a:latin typeface="Cambria Math"/>
                      </a:rPr>
                      <m:t>,</m:t>
                    </m:r>
                    <m:r>
                      <a:rPr lang="en-US" altLang="ko-KR" i="1">
                        <a:latin typeface="Cambria Math"/>
                      </a:rPr>
                      <m:t>1</m:t>
                    </m:r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/>
                          </a:rPr>
                          <m:t>}</m:t>
                        </m:r>
                      </m:e>
                      <m:sup>
                        <m:r>
                          <a:rPr lang="en-US" altLang="ko-KR" i="1">
                            <a:latin typeface="Cambria Math"/>
                          </a:rPr>
                          <m:t>256</m:t>
                        </m:r>
                      </m:sup>
                    </m:sSup>
                    <m:r>
                      <a:rPr lang="en-US" altLang="ko-KR" i="1">
                        <a:latin typeface="Cambria Math"/>
                      </a:rPr>
                      <m:t>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ko-KR" altLang="en-US" i="1">
                        <a:latin typeface="Cambria Math"/>
                      </a:rPr>
                      <m:t>𝐽</m:t>
                    </m:r>
                    <m:r>
                      <a:rPr lang="en-US" altLang="ko-KR" i="1">
                        <a:latin typeface="Cambria Math"/>
                      </a:rPr>
                      <m:t>:{</m:t>
                    </m:r>
                    <m:r>
                      <a:rPr lang="en-US" altLang="ko-KR" i="1">
                        <a:latin typeface="Cambria Math"/>
                      </a:rPr>
                      <m:t>0</m:t>
                    </m:r>
                    <m:r>
                      <a:rPr lang="en-US" altLang="ko-KR" i="1">
                        <a:latin typeface="Cambria Math"/>
                      </a:rPr>
                      <m:t>,</m:t>
                    </m:r>
                    <m:r>
                      <a:rPr lang="en-US" altLang="ko-KR" i="1">
                        <a:latin typeface="Cambria Math"/>
                      </a:rPr>
                      <m:t>1</m:t>
                    </m:r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/>
                          </a:rPr>
                          <m:t>}</m:t>
                        </m:r>
                      </m:e>
                      <m:sup>
                        <m:r>
                          <a:rPr lang="ko-KR" altLang="en-US" i="1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ko-KR" altLang="en-US" i="1">
                        <a:latin typeface="Cambria Math"/>
                      </a:rPr>
                      <m:t>→</m:t>
                    </m:r>
                    <m:r>
                      <a:rPr lang="en-US" altLang="ko-KR" i="1">
                        <a:latin typeface="Cambria Math"/>
                      </a:rPr>
                      <m:t>{</m:t>
                    </m:r>
                    <m:r>
                      <a:rPr lang="en-US" altLang="ko-KR" i="1">
                        <a:latin typeface="Cambria Math"/>
                      </a:rPr>
                      <m:t>0</m:t>
                    </m:r>
                    <m:r>
                      <a:rPr lang="en-US" altLang="ko-KR" i="1">
                        <a:latin typeface="Cambria Math"/>
                      </a:rPr>
                      <m:t>,</m:t>
                    </m:r>
                    <m:r>
                      <a:rPr lang="en-US" altLang="ko-KR" i="1">
                        <a:latin typeface="Cambria Math"/>
                      </a:rPr>
                      <m:t>1</m:t>
                    </m:r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/>
                          </a:rPr>
                          <m:t>}</m:t>
                        </m:r>
                      </m:e>
                      <m:sup>
                        <m:r>
                          <a:rPr lang="en-US" altLang="ko-KR" i="1">
                            <a:latin typeface="Cambria Math"/>
                          </a:rPr>
                          <m:t>256</m:t>
                        </m:r>
                      </m:sup>
                    </m:sSup>
                  </m:oMath>
                </a14:m>
                <a:r>
                  <a:rPr lang="en-US" altLang="ko-KR" dirty="0"/>
                  <a:t>.</a:t>
                </a:r>
                <a:endParaRPr lang="ko-KR" altLang="en-US" dirty="0"/>
              </a:p>
              <a:p>
                <a:r>
                  <a:rPr lang="ko-KR" altLang="en-US" dirty="0"/>
                  <a:t>역랜덤화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캡슐화는 </a:t>
                </a:r>
                <a:r>
                  <a:rPr lang="en-US" altLang="ko-KR" dirty="0"/>
                  <a:t>256</a:t>
                </a:r>
                <a:r>
                  <a:rPr lang="ko-KR" altLang="en-US" dirty="0"/>
                  <a:t>비트 무작위 문자열 </a:t>
                </a:r>
                <a:r>
                  <a:rPr lang="en-US" altLang="ko-KR" dirty="0"/>
                  <a:t>m</a:t>
                </a:r>
                <a:r>
                  <a:rPr lang="ko-KR" altLang="en-US" dirty="0"/>
                  <a:t>을 </a:t>
                </a:r>
                <a:r>
                  <a:rPr lang="en-US" altLang="ko-KR" dirty="0"/>
                  <a:t>Kyber-PKE</a:t>
                </a:r>
                <a:r>
                  <a:rPr lang="ko-KR" altLang="en-US" dirty="0"/>
                  <a:t>로 암호화하는 것이다</a:t>
                </a:r>
                <a:r>
                  <a:rPr lang="en-US" altLang="ko-KR" dirty="0"/>
                  <a:t>.</a:t>
                </a:r>
                <a:endParaRPr lang="ko-KR" altLang="en-US" dirty="0"/>
              </a:p>
              <a:p>
                <a:pPr lvl="1"/>
                <a:r>
                  <a:rPr lang="en-US" altLang="ko-KR" dirty="0"/>
                  <a:t>m</a:t>
                </a:r>
                <a:r>
                  <a:rPr lang="ko-KR" altLang="en-US" dirty="0"/>
                  <a:t>과 캡슐화 키 </a:t>
                </a:r>
                <a:r>
                  <a:rPr lang="en-US" altLang="ko-KR" dirty="0"/>
                  <a:t>ek</a:t>
                </a:r>
                <a:r>
                  <a:rPr lang="ko-KR" altLang="en-US" dirty="0"/>
                  <a:t>를 해싱해 무작위 시드 </a:t>
                </a:r>
                <a:r>
                  <a:rPr lang="en-US" altLang="ko-KR" dirty="0"/>
                  <a:t>R</a:t>
                </a:r>
                <a:r>
                  <a:rPr lang="ko-KR" altLang="en-US" dirty="0"/>
                  <a:t>과 비밀키 </a:t>
                </a:r>
                <a:r>
                  <a:rPr lang="en-US" altLang="ko-KR" dirty="0"/>
                  <a:t>K</a:t>
                </a:r>
                <a:r>
                  <a:rPr lang="ko-KR" altLang="en-US" dirty="0"/>
                  <a:t>를 얻는다</a:t>
                </a:r>
                <a:r>
                  <a:rPr lang="en-US" altLang="ko-KR" dirty="0"/>
                  <a:t>.</a:t>
                </a:r>
                <a:endParaRPr lang="ko-KR" altLang="en-US" dirty="0"/>
              </a:p>
              <a:p>
                <a:pPr lvl="1"/>
                <a:r>
                  <a:rPr lang="ko-KR" altLang="en-US" dirty="0"/>
                  <a:t>암호화에 필요한 </a:t>
                </a:r>
                <a:r>
                  <a:rPr lang="en-US" altLang="ko-KR" dirty="0"/>
                  <a:t>r, e1, e2</a:t>
                </a:r>
                <a:r>
                  <a:rPr lang="ko-KR" altLang="en-US" dirty="0"/>
                  <a:t>를 모두 </a:t>
                </a:r>
                <a:r>
                  <a:rPr lang="en-US" altLang="ko-KR" dirty="0"/>
                  <a:t>R</a:t>
                </a:r>
                <a:r>
                  <a:rPr lang="ko-KR" altLang="en-US" dirty="0"/>
                  <a:t>로부터 결정적으로 유도한다</a:t>
                </a:r>
                <a:r>
                  <a:rPr lang="en-US" altLang="ko-KR" dirty="0"/>
                  <a:t>.</a:t>
                </a:r>
                <a:endParaRPr lang="ko-KR" altLang="en-US" dirty="0"/>
              </a:p>
              <a:p>
                <a:pPr lvl="1"/>
                <a:r>
                  <a:rPr lang="ko-KR" altLang="en-US" dirty="0"/>
                  <a:t>암호문 </a:t>
                </a:r>
                <a:r>
                  <a:rPr lang="en-US" altLang="ko-KR" dirty="0"/>
                  <a:t>c</a:t>
                </a:r>
                <a:r>
                  <a:rPr lang="ko-KR" altLang="en-US" dirty="0"/>
                  <a:t>는 </a:t>
                </a:r>
                <a:r>
                  <a:rPr lang="en-US" altLang="ko-KR" dirty="0"/>
                  <a:t>m</a:t>
                </a:r>
                <a:r>
                  <a:rPr lang="ko-KR" altLang="en-US" dirty="0"/>
                  <a:t>과 </a:t>
                </a:r>
                <a:r>
                  <a:rPr lang="en-US" altLang="ko-KR" dirty="0"/>
                  <a:t>ek</a:t>
                </a:r>
                <a:r>
                  <a:rPr lang="ko-KR" altLang="en-US" dirty="0"/>
                  <a:t>만으로 결정되는 결정적 함수가 된다</a:t>
                </a:r>
                <a:r>
                  <a:rPr lang="en-US" altLang="ko-KR" dirty="0"/>
                  <a:t>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 r="-2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19</a:t>
            </a:fld>
            <a:endParaRPr lang="ko-KR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FO 변환: 재암호화 검증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r>
              <a:rPr dirty="0"/>
              <a:t>역캡슐화는 받은 암호문 c를 Kyber-PKE로 복호화해 m'을 얻는다</a:t>
            </a:r>
            <a:r>
              <a:rPr lang="en-US" dirty="0"/>
              <a:t>.</a:t>
            </a:r>
            <a:endParaRPr dirty="0"/>
          </a:p>
          <a:p>
            <a:pPr lvl="1"/>
            <a:r>
              <a:rPr dirty="0"/>
              <a:t>m'과 ek를 해싱해 R', K'을 구한 뒤, m'을 R'으로 다시 암호화해 c'을 얻는다</a:t>
            </a:r>
            <a:r>
              <a:rPr lang="en-US" dirty="0"/>
              <a:t>.</a:t>
            </a:r>
            <a:endParaRPr dirty="0"/>
          </a:p>
          <a:p>
            <a:r>
              <a:rPr dirty="0"/>
              <a:t>c'과 원래 받은 c를 비교한다</a:t>
            </a:r>
            <a:r>
              <a:rPr lang="en-US" dirty="0"/>
              <a:t>.</a:t>
            </a:r>
            <a:endParaRPr dirty="0"/>
          </a:p>
          <a:p>
            <a:pPr lvl="1"/>
            <a:r>
              <a:rPr dirty="0"/>
              <a:t>올바르게 암호화됐다면(m'=m) 결정적 암호화이므로 c'=c가 재현된다</a:t>
            </a:r>
            <a:r>
              <a:rPr lang="en-US" dirty="0"/>
              <a:t>.</a:t>
            </a:r>
            <a:endParaRPr dirty="0"/>
          </a:p>
          <a:p>
            <a:pPr lvl="1"/>
            <a:r>
              <a:rPr dirty="0"/>
              <a:t>틀렸다면(m'≠m) c'≠c가 압도적 확률로 성립한다</a:t>
            </a:r>
            <a:r>
              <a:rPr lang="en-US" dirty="0"/>
              <a:t>.</a:t>
            </a:r>
            <a:endParaRPr dirty="0"/>
          </a:p>
          <a:p>
            <a:r>
              <a:rPr dirty="0"/>
              <a:t>c=c'면 K'을 공유 비밀키로, 아니면 c와 별도 비밀 z를 해싱한 무작위 키 K̄를 출력한다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20</a:t>
            </a:fld>
            <a:endParaRPr lang="ko-KR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평문 인지성과 CCA 안전성 직관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r>
              <a:rPr dirty="0"/>
              <a:t>평문 인지성: 캡슐화를 수행한 주체가 이미 K를 알고 있는 경우에만</a:t>
            </a:r>
            <a:r>
              <a:rPr lang="en-US" dirty="0"/>
              <a:t> </a:t>
            </a:r>
            <a:r>
              <a:rPr dirty="0"/>
              <a:t>역캡슐화가 K̄가 아니라 K를 내놓는다는 성질이다</a:t>
            </a:r>
            <a:r>
              <a:rPr lang="en-US" dirty="0"/>
              <a:t>.</a:t>
            </a:r>
            <a:endParaRPr dirty="0"/>
          </a:p>
          <a:p>
            <a:r>
              <a:rPr dirty="0"/>
              <a:t>공격자가 임의로 만든 c를 역캡슐화 오라클에 제출해</a:t>
            </a:r>
            <a:r>
              <a:rPr lang="ko-KR" altLang="en-US" dirty="0"/>
              <a:t>도</a:t>
            </a:r>
            <a:r>
              <a:rPr lang="en-US" altLang="ko-KR" dirty="0"/>
              <a:t>:</a:t>
            </a:r>
            <a:endParaRPr dirty="0"/>
          </a:p>
          <a:p>
            <a:pPr lvl="1"/>
            <a:r>
              <a:rPr dirty="0"/>
              <a:t>스스로 암호화해서 만든 c라면</a:t>
            </a:r>
            <a:r>
              <a:rPr lang="en-US" dirty="0"/>
              <a:t>,</a:t>
            </a:r>
            <a:r>
              <a:rPr dirty="0"/>
              <a:t> 같은 K를 돌려받아도 새로 배우는 것이 없다</a:t>
            </a:r>
            <a:r>
              <a:rPr lang="en-US" dirty="0"/>
              <a:t>.</a:t>
            </a:r>
            <a:endParaRPr dirty="0"/>
          </a:p>
          <a:p>
            <a:pPr lvl="1"/>
            <a:r>
              <a:rPr dirty="0"/>
              <a:t>K를 몰랐다면</a:t>
            </a:r>
            <a:r>
              <a:rPr lang="en-US" dirty="0"/>
              <a:t>,</a:t>
            </a:r>
            <a:r>
              <a:rPr dirty="0"/>
              <a:t> 오라클은 거의 확실히 무관한 무작위 K̄를 돌려주므로 배우지 못한다</a:t>
            </a:r>
            <a:r>
              <a:rPr lang="en-US" dirty="0"/>
              <a:t>.</a:t>
            </a:r>
            <a:endParaRPr dirty="0"/>
          </a:p>
          <a:p>
            <a:r>
              <a:rPr dirty="0"/>
              <a:t>복호화 오라클 접근이 공격자에게 이점을 주지 못한다 — IND-CCA의 핵심 메커니즘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21</a:t>
            </a:fld>
            <a:endParaRPr lang="ko-KR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Kyber-KEM </a:t>
            </a:r>
            <a:r>
              <a:rPr lang="ko-KR" altLang="en-US" dirty="0"/>
              <a:t>키 생성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lang="en-US" altLang="ko-KR" dirty="0"/>
                  <a:t>Kyber-KEM </a:t>
                </a:r>
                <a:r>
                  <a:rPr lang="ko-KR" altLang="en-US" dirty="0"/>
                  <a:t>키 생성</a:t>
                </a:r>
                <a:r>
                  <a:rPr lang="en-US" altLang="ko-KR" dirty="0"/>
                  <a:t>: Alice</a:t>
                </a:r>
                <a:r>
                  <a:rPr lang="ko-KR" altLang="en-US" dirty="0"/>
                  <a:t>가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ko-KR" dirty="0"/>
                  <a:t>Kyber-PKE </a:t>
                </a:r>
                <a:r>
                  <a:rPr lang="ko-KR" altLang="en-US" dirty="0"/>
                  <a:t>키 생성 알고리즘으로 암호화 키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/>
                      </a:rPr>
                      <m:t>(</m:t>
                    </m:r>
                    <m:r>
                      <a:rPr lang="ko-KR" altLang="en-US" i="1">
                        <a:latin typeface="Cambria Math"/>
                      </a:rPr>
                      <m:t>𝜌</m:t>
                    </m:r>
                    <m:r>
                      <a:rPr lang="en-US" altLang="ko-KR" i="1">
                        <a:latin typeface="Cambria Math"/>
                      </a:rPr>
                      <m:t>,</m:t>
                    </m:r>
                    <m:r>
                      <a:rPr lang="ko-KR" altLang="en-US" i="1">
                        <a:latin typeface="Cambria Math"/>
                      </a:rPr>
                      <m:t>𝑡</m:t>
                    </m:r>
                    <m:r>
                      <a:rPr lang="en-US" altLang="ko-KR" i="1"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/>
                  <a:t>와 복호화 키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/>
                      </a:rPr>
                      <m:t>𝑠</m:t>
                    </m:r>
                  </m:oMath>
                </a14:m>
                <a:r>
                  <a:rPr lang="ko-KR" altLang="en-US" dirty="0"/>
                  <a:t>를 선택</a:t>
                </a:r>
                <a:r>
                  <a:rPr lang="en-US" altLang="ko-KR" dirty="0"/>
                  <a:t>.</a:t>
                </a:r>
                <a:endParaRPr lang="ko-KR" altLang="en-US" dirty="0"/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ko-KR" altLang="en-US" i="1">
                        <a:latin typeface="Cambria Math"/>
                      </a:rPr>
                      <m:t>𝑧</m:t>
                    </m:r>
                    <m:sSub>
                      <m:sSub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/>
                          </a:rPr>
                          <m:t>∈</m:t>
                        </m:r>
                      </m:e>
                      <m:sub>
                        <m:r>
                          <a:rPr lang="ko-KR" altLang="en-US" i="1">
                            <a:latin typeface="Cambria Math"/>
                          </a:rPr>
                          <m:t>𝑅</m:t>
                        </m:r>
                      </m:sub>
                    </m:sSub>
                    <m:r>
                      <a:rPr lang="en-US" altLang="ko-KR" i="1">
                        <a:latin typeface="Cambria Math"/>
                      </a:rPr>
                      <m:t>{</m:t>
                    </m:r>
                    <m:r>
                      <a:rPr lang="en-US" altLang="ko-KR" i="1">
                        <a:latin typeface="Cambria Math"/>
                      </a:rPr>
                      <m:t>0</m:t>
                    </m:r>
                    <m:r>
                      <a:rPr lang="en-US" altLang="ko-KR" i="1">
                        <a:latin typeface="Cambria Math"/>
                      </a:rPr>
                      <m:t>,</m:t>
                    </m:r>
                    <m:r>
                      <a:rPr lang="en-US" altLang="ko-KR" i="1">
                        <a:latin typeface="Cambria Math"/>
                      </a:rPr>
                      <m:t>1</m:t>
                    </m:r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/>
                          </a:rPr>
                          <m:t>}</m:t>
                        </m:r>
                      </m:e>
                      <m:sup>
                        <m:r>
                          <a:rPr lang="en-US" altLang="ko-KR" i="1">
                            <a:latin typeface="Cambria Math"/>
                          </a:rPr>
                          <m:t>256</m:t>
                        </m:r>
                      </m:sup>
                    </m:sSup>
                  </m:oMath>
                </a14:m>
                <a:r>
                  <a:rPr lang="ko-KR" altLang="en-US" dirty="0"/>
                  <a:t> 선택</a:t>
                </a:r>
                <a:r>
                  <a:rPr lang="en-US" altLang="ko-KR" dirty="0"/>
                  <a:t>.</a:t>
                </a:r>
                <a:endParaRPr lang="ko-KR" altLang="en-US"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ko-KR" altLang="en-US" dirty="0"/>
                  <a:t>캡슐화 키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/>
                      </a:rPr>
                      <m:t>𝑒𝑘</m:t>
                    </m:r>
                    <m:r>
                      <a:rPr lang="en-US" altLang="ko-KR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/>
                          </a:rPr>
                          <m:t>𝜌</m:t>
                        </m:r>
                        <m:r>
                          <a:rPr lang="en-US" altLang="ko-KR" i="1">
                            <a:latin typeface="Cambria Math"/>
                          </a:rPr>
                          <m:t>,</m:t>
                        </m:r>
                        <m:r>
                          <a:rPr lang="ko-KR" altLang="en-US" i="1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ko-KR" dirty="0"/>
                  <a:t>;</a:t>
                </a:r>
                <a:br>
                  <a:rPr lang="ko-KR" altLang="en-US" dirty="0"/>
                </a:br>
                <a:r>
                  <a:rPr lang="ko-KR" altLang="en-US" dirty="0"/>
                  <a:t>역캡슐화 키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/>
                      </a:rPr>
                      <m:t>𝑑𝑘</m:t>
                    </m:r>
                    <m:r>
                      <a:rPr lang="en-US" altLang="ko-KR" i="1">
                        <a:latin typeface="Cambria Math"/>
                      </a:rPr>
                      <m:t>=(</m:t>
                    </m:r>
                    <m:r>
                      <a:rPr lang="ko-KR" altLang="en-US" i="1">
                        <a:latin typeface="Cambria Math"/>
                      </a:rPr>
                      <m:t>𝑠</m:t>
                    </m:r>
                    <m:r>
                      <a:rPr lang="en-US" altLang="ko-KR" i="1">
                        <a:latin typeface="Cambria Math"/>
                      </a:rPr>
                      <m:t>,</m:t>
                    </m:r>
                    <m:r>
                      <a:rPr lang="ko-KR" altLang="en-US" i="1">
                        <a:latin typeface="Cambria Math"/>
                      </a:rPr>
                      <m:t>𝑒𝑘</m:t>
                    </m:r>
                    <m:r>
                      <a:rPr lang="en-US" altLang="ko-KR" i="1">
                        <a:latin typeface="Cambria Math"/>
                      </a:rPr>
                      <m:t>,</m:t>
                    </m:r>
                    <m:r>
                      <a:rPr lang="ko-KR" altLang="en-US" i="1">
                        <a:latin typeface="Cambria Math"/>
                      </a:rPr>
                      <m:t>𝐻</m:t>
                    </m:r>
                    <m:r>
                      <a:rPr lang="en-US" altLang="ko-KR" i="1">
                        <a:latin typeface="Cambria Math"/>
                      </a:rPr>
                      <m:t>(</m:t>
                    </m:r>
                    <m:r>
                      <a:rPr lang="ko-KR" altLang="en-US" i="1">
                        <a:latin typeface="Cambria Math"/>
                      </a:rPr>
                      <m:t>𝑒𝑘</m:t>
                    </m:r>
                    <m:r>
                      <a:rPr lang="en-US" altLang="ko-KR" i="1">
                        <a:latin typeface="Cambria Math"/>
                      </a:rPr>
                      <m:t>),</m:t>
                    </m:r>
                    <m:r>
                      <a:rPr lang="ko-KR" altLang="en-US" i="1">
                        <a:latin typeface="Cambria Math"/>
                      </a:rPr>
                      <m:t>𝑧</m:t>
                    </m:r>
                    <m:r>
                      <a:rPr lang="en-US" altLang="ko-KR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ko-KR" dirty="0"/>
                  <a:t>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22</a:t>
            </a:fld>
            <a:endParaRPr lang="ko-KR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Kyber-KEM 캡슐화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dirty="0"/>
                  <a:t>Kyber-KEM 캡슐화: Alice와 공유 비밀키를 수립하려는 Bob이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𝑚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∈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𝑅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{</m:t>
                    </m:r>
                    <m:r>
                      <a:rPr lang="en-US" i="1">
                        <a:latin typeface="Cambria Math"/>
                      </a:rPr>
                      <m:t>0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1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}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256</m:t>
                        </m:r>
                      </m:sup>
                    </m:sSup>
                  </m:oMath>
                </a14:m>
                <a:r>
                  <a:rPr dirty="0"/>
                  <a:t> 선택</a:t>
                </a:r>
                <a:r>
                  <a:rPr lang="en-US" dirty="0"/>
                  <a:t>.</a:t>
                </a:r>
                <a:endParaRPr dirty="0"/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h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𝑒𝑘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𝐾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𝑅</m:t>
                    </m:r>
                    <m:r>
                      <a:rPr lang="en-US" i="1">
                        <a:latin typeface="Cambria Math"/>
                      </a:rPr>
                      <m:t>) =</m:t>
                    </m:r>
                    <m:r>
                      <a:rPr lang="en-US" i="1">
                        <a:latin typeface="Cambria Math"/>
                      </a:rPr>
                      <m:t>𝐺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𝑚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h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dirty="0"/>
                  <a:t> 계산</a:t>
                </a:r>
                <a:r>
                  <a:rPr lang="en-US" dirty="0"/>
                  <a:t>.</a:t>
                </a:r>
                <a:endParaRPr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dirty="0"/>
                  <a:t>Kyber-PKE 암호화 알고리즘으로 ek, m을 암호화하되 R로부터 r, e1, e2를 유도</a:t>
                </a:r>
                <a:br>
                  <a:rPr lang="en-US" dirty="0"/>
                </a:br>
                <a:r>
                  <a:rPr dirty="0"/>
                  <a:t>→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𝑐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Kyber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−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PKE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.</m:t>
                    </m:r>
                    <m:r>
                      <m:rPr>
                        <m:nor/>
                      </m:rPr>
                      <a:rPr lang="en-US" i="1">
                        <a:latin typeface="Cambria Math"/>
                      </a:rPr>
                      <m:t>Enc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𝑒𝑘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𝑚</m:t>
                    </m:r>
                    <m:r>
                      <a:rPr lang="en-US" i="1">
                        <a:latin typeface="Cambria Math"/>
                      </a:rPr>
                      <m:t>;</m:t>
                    </m:r>
                    <m:r>
                      <a:rPr lang="en-US" i="1">
                        <a:latin typeface="Cambria Math"/>
                      </a:rPr>
                      <m:t>𝑅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  <a:endParaRPr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dirty="0"/>
                  <a:t>출력: 비밀키 K</a:t>
                </a:r>
                <a:r>
                  <a:rPr lang="en-US" dirty="0"/>
                  <a:t>;</a:t>
                </a:r>
                <a:r>
                  <a:rPr dirty="0"/>
                  <a:t> 암호문 c</a:t>
                </a:r>
                <a:r>
                  <a:rPr lang="en-US" dirty="0"/>
                  <a:t>.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23</a:t>
            </a:fld>
            <a:endParaRPr lang="ko-KR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Kyber-KEM 역캡슐화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</p:spPr>
            <p:txBody>
              <a:bodyPr wrap="square"/>
              <a:lstStyle/>
              <a:p>
                <a:r>
                  <a:rPr lang="en-US" altLang="ko-KR" dirty="0"/>
                  <a:t>Kyber-KEM </a:t>
                </a:r>
                <a:r>
                  <a:rPr lang="ko-KR" altLang="en-US" dirty="0"/>
                  <a:t>역캡슐화</a:t>
                </a:r>
                <a:r>
                  <a:rPr lang="en-US" altLang="ko-KR" dirty="0"/>
                  <a:t>: dk = (s, ek, H(ek), z)</a:t>
                </a:r>
                <a:r>
                  <a:rPr lang="ko-KR" altLang="en-US" dirty="0"/>
                  <a:t>로 </a:t>
                </a:r>
                <a:r>
                  <a:rPr lang="en-US" altLang="ko-KR" dirty="0"/>
                  <a:t>c</a:t>
                </a:r>
                <a:r>
                  <a:rPr lang="ko-KR" altLang="en-US" dirty="0"/>
                  <a:t>에서 </a:t>
                </a:r>
                <a:r>
                  <a:rPr lang="en-US" altLang="ko-KR" dirty="0"/>
                  <a:t>Alice</a:t>
                </a:r>
                <a:r>
                  <a:rPr lang="ko-KR" altLang="en-US" dirty="0"/>
                  <a:t>가</a:t>
                </a:r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/>
                          </a:rPr>
                          <m:t>𝑚</m:t>
                        </m:r>
                      </m:e>
                      <m:sup>
                        <m:r>
                          <a:rPr lang="en-US" altLang="ko-KR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ko-KR" i="1">
                        <a:latin typeface="Cambria Math"/>
                      </a:rPr>
                      <m:t>=</m:t>
                    </m:r>
                    <m:r>
                      <m:rPr>
                        <m:nor/>
                      </m:rPr>
                      <a:rPr lang="en-US" altLang="ko-KR" i="1">
                        <a:latin typeface="Cambria Math"/>
                      </a:rPr>
                      <m:t>Kyber</m:t>
                    </m:r>
                    <m:r>
                      <m:rPr>
                        <m:nor/>
                      </m:rPr>
                      <a:rPr lang="en-US" altLang="ko-KR" i="1">
                        <a:latin typeface="Cambria Math"/>
                      </a:rPr>
                      <m:t>−</m:t>
                    </m:r>
                    <m:r>
                      <m:rPr>
                        <m:nor/>
                      </m:rPr>
                      <a:rPr lang="en-US" altLang="ko-KR" i="1">
                        <a:latin typeface="Cambria Math"/>
                      </a:rPr>
                      <m:t>PKE</m:t>
                    </m:r>
                    <m:r>
                      <m:rPr>
                        <m:nor/>
                      </m:rPr>
                      <a:rPr lang="en-US" altLang="ko-KR" i="1">
                        <a:latin typeface="Cambria Math"/>
                      </a:rPr>
                      <m:t>.</m:t>
                    </m:r>
                    <m:r>
                      <m:rPr>
                        <m:nor/>
                      </m:rPr>
                      <a:rPr lang="en-US" altLang="ko-KR" i="1">
                        <a:latin typeface="Cambria Math"/>
                      </a:rPr>
                      <m:t>Dec</m:t>
                    </m:r>
                    <m:r>
                      <a:rPr lang="en-US" altLang="ko-KR" i="1">
                        <a:latin typeface="Cambria Math"/>
                      </a:rPr>
                      <m:t>(</m:t>
                    </m:r>
                    <m:r>
                      <a:rPr lang="ko-KR" altLang="en-US" i="1">
                        <a:latin typeface="Cambria Math"/>
                      </a:rPr>
                      <m:t>𝑠</m:t>
                    </m:r>
                    <m:r>
                      <a:rPr lang="en-US" altLang="ko-KR" i="1">
                        <a:latin typeface="Cambria Math"/>
                      </a:rPr>
                      <m:t>,</m:t>
                    </m:r>
                    <m:r>
                      <a:rPr lang="ko-KR" altLang="en-US" i="1">
                        <a:latin typeface="Cambria Math"/>
                      </a:rPr>
                      <m:t>𝑐</m:t>
                    </m:r>
                    <m:r>
                      <a:rPr lang="en-US" altLang="ko-KR" i="1"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/>
                  <a:t> 계산</a:t>
                </a:r>
                <a:r>
                  <a:rPr lang="en-US" altLang="ko-KR" dirty="0"/>
                  <a:t>.</a:t>
                </a:r>
                <a:endParaRPr lang="ko-KR" altLang="en-US" dirty="0"/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/>
                          </a:rPr>
                          <m:t>𝐾</m:t>
                        </m:r>
                      </m:e>
                      <m:sup>
                        <m:r>
                          <a:rPr lang="en-US" altLang="ko-KR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ko-KR" i="1">
                        <a:latin typeface="Cambria Math"/>
                      </a:rPr>
                      <m:t>,</m:t>
                    </m:r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en-US" altLang="ko-KR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ko-KR" i="1">
                        <a:latin typeface="Cambria Math"/>
                      </a:rPr>
                      <m:t>)</m:t>
                    </m:r>
                    <m:r>
                      <a:rPr lang="en-US" altLang="ko-KR" i="1" smtClean="0">
                        <a:latin typeface="Cambria Math"/>
                      </a:rPr>
                      <m:t> </m:t>
                    </m:r>
                    <m:r>
                      <a:rPr lang="en-US" altLang="ko-KR" i="1">
                        <a:latin typeface="Cambria Math"/>
                      </a:rPr>
                      <m:t>=</m:t>
                    </m:r>
                    <m:r>
                      <a:rPr lang="ko-KR" altLang="en-US" i="1">
                        <a:latin typeface="Cambria Math"/>
                      </a:rPr>
                      <m:t>𝐺</m:t>
                    </m:r>
                    <m:r>
                      <a:rPr lang="en-US" altLang="ko-KR" i="1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/>
                          </a:rPr>
                          <m:t>𝑚</m:t>
                        </m:r>
                      </m:e>
                      <m:sup>
                        <m:r>
                          <a:rPr lang="en-US" altLang="ko-KR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ko-KR" i="1">
                        <a:latin typeface="Cambria Math"/>
                      </a:rPr>
                      <m:t>,</m:t>
                    </m:r>
                    <m:r>
                      <a:rPr lang="ko-KR" altLang="en-US" i="1">
                        <a:latin typeface="Cambria Math"/>
                      </a:rPr>
                      <m:t>𝐻</m:t>
                    </m:r>
                    <m:r>
                      <a:rPr lang="en-US" altLang="ko-KR" i="1">
                        <a:latin typeface="Cambria Math"/>
                      </a:rPr>
                      <m:t>(</m:t>
                    </m:r>
                    <m:r>
                      <a:rPr lang="ko-KR" altLang="en-US" i="1">
                        <a:latin typeface="Cambria Math"/>
                      </a:rPr>
                      <m:t>𝑒𝑘</m:t>
                    </m:r>
                    <m:r>
                      <a:rPr lang="en-US" altLang="ko-KR" i="1">
                        <a:latin typeface="Cambria Math"/>
                      </a:rPr>
                      <m:t>))</m:t>
                    </m:r>
                  </m:oMath>
                </a14:m>
                <a:r>
                  <a:rPr lang="ko-KR" altLang="en-US" dirty="0"/>
                  <a:t> 계산</a:t>
                </a:r>
                <a:r>
                  <a:rPr lang="en-US" altLang="ko-KR" dirty="0"/>
                  <a:t>.</a:t>
                </a:r>
                <a:endParaRPr lang="ko-KR" altLang="en-US" dirty="0"/>
              </a:p>
              <a:p>
                <a:pPr marL="800100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ko-KR" altLang="en-US" i="1">
                            <a:latin typeface="Cambria Math"/>
                          </a:rPr>
                          <m:t>𝐾</m:t>
                        </m:r>
                      </m:e>
                    </m:bar>
                    <m:r>
                      <a:rPr lang="en-US" altLang="ko-KR" i="1">
                        <a:latin typeface="Cambria Math"/>
                      </a:rPr>
                      <m:t>=</m:t>
                    </m:r>
                    <m:r>
                      <a:rPr lang="ko-KR" altLang="en-US" i="1">
                        <a:latin typeface="Cambria Math"/>
                      </a:rPr>
                      <m:t>𝐽</m:t>
                    </m:r>
                    <m:r>
                      <a:rPr lang="en-US" altLang="ko-KR" i="1">
                        <a:latin typeface="Cambria Math"/>
                      </a:rPr>
                      <m:t>(</m:t>
                    </m:r>
                    <m:r>
                      <a:rPr lang="ko-KR" altLang="en-US" i="1">
                        <a:latin typeface="Cambria Math"/>
                      </a:rPr>
                      <m:t>𝑧</m:t>
                    </m:r>
                    <m:r>
                      <a:rPr lang="en-US" altLang="ko-KR" i="1">
                        <a:latin typeface="Cambria Math"/>
                      </a:rPr>
                      <m:t>,</m:t>
                    </m:r>
                    <m:r>
                      <a:rPr lang="ko-KR" altLang="en-US" i="1">
                        <a:latin typeface="Cambria Math"/>
                      </a:rPr>
                      <m:t>𝑐</m:t>
                    </m:r>
                    <m:r>
                      <a:rPr lang="en-US" altLang="ko-KR" i="1"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/>
                  <a:t> 계산</a:t>
                </a:r>
                <a:r>
                  <a:rPr lang="en-US" altLang="ko-KR" dirty="0"/>
                  <a:t>.</a:t>
                </a:r>
                <a:endParaRPr lang="ko-KR" altLang="en-US"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ko-KR" dirty="0"/>
                  <a:t>Kyber-PKE </a:t>
                </a:r>
                <a:r>
                  <a:rPr lang="ko-KR" altLang="en-US" dirty="0"/>
                  <a:t>암호화 알고리즘으로 </a:t>
                </a:r>
                <a:r>
                  <a:rPr lang="en-US" altLang="ko-KR" dirty="0"/>
                  <a:t>ek, m'</a:t>
                </a:r>
                <a:r>
                  <a:rPr lang="ko-KR" altLang="en-US" dirty="0"/>
                  <a:t>을 </a:t>
                </a:r>
                <a:r>
                  <a:rPr lang="en-US" altLang="ko-KR" dirty="0"/>
                  <a:t>R'</a:t>
                </a:r>
                <a:r>
                  <a:rPr lang="ko-KR" altLang="en-US" dirty="0"/>
                  <a:t>으로 암호화 →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latin typeface="Cambria Math"/>
                          </a:rPr>
                          <m:t>𝑐</m:t>
                        </m:r>
                      </m:e>
                      <m:sup>
                        <m:r>
                          <a:rPr lang="en-US" altLang="ko-KR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ko-KR" i="1">
                        <a:latin typeface="Cambria Math"/>
                      </a:rPr>
                      <m:t>=</m:t>
                    </m:r>
                    <m:r>
                      <m:rPr>
                        <m:nor/>
                      </m:rPr>
                      <a:rPr lang="en-US" altLang="ko-KR" i="1">
                        <a:latin typeface="Cambria Math"/>
                      </a:rPr>
                      <m:t>Kyber</m:t>
                    </m:r>
                    <m:r>
                      <m:rPr>
                        <m:nor/>
                      </m:rPr>
                      <a:rPr lang="en-US" altLang="ko-KR" i="1">
                        <a:latin typeface="Cambria Math"/>
                      </a:rPr>
                      <m:t>−</m:t>
                    </m:r>
                    <m:r>
                      <m:rPr>
                        <m:nor/>
                      </m:rPr>
                      <a:rPr lang="en-US" altLang="ko-KR" i="1">
                        <a:latin typeface="Cambria Math"/>
                      </a:rPr>
                      <m:t>PKE</m:t>
                    </m:r>
                    <m:r>
                      <m:rPr>
                        <m:nor/>
                      </m:rPr>
                      <a:rPr lang="en-US" altLang="ko-KR" i="1">
                        <a:latin typeface="Cambria Math"/>
                      </a:rPr>
                      <m:t>.</m:t>
                    </m:r>
                    <m:r>
                      <m:rPr>
                        <m:nor/>
                      </m:rPr>
                      <a:rPr lang="en-US" altLang="ko-KR" i="1">
                        <a:latin typeface="Cambria Math"/>
                      </a:rPr>
                      <m:t>Enc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/>
                          </a:rPr>
                          <m:t>𝑒𝑘</m:t>
                        </m:r>
                        <m:r>
                          <a:rPr lang="en-US" altLang="ko-KR" i="1"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i="1">
                            <a:latin typeface="Cambria Math"/>
                          </a:rPr>
                          <m:t>;</m:t>
                        </m:r>
                        <m:sSup>
                          <m:sSupPr>
                            <m:ctrlPr>
                              <a:rPr lang="ko-KR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latin typeface="Cambria Math"/>
                              </a:rPr>
                              <m:t>𝑅</m:t>
                            </m:r>
                          </m:e>
                          <m:sup>
                            <m:r>
                              <a:rPr lang="en-US" altLang="ko-KR" i="1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ko-KR" dirty="0"/>
                  <a:t>.</a:t>
                </a:r>
                <a:endParaRPr lang="ko-KR" altLang="en-US" dirty="0"/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altLang="ko-KR" dirty="0"/>
                  <a:t>c ≠ c' </a:t>
                </a:r>
                <a:r>
                  <a:rPr lang="ko-KR" altLang="en-US" dirty="0"/>
                  <a:t>이면 </a:t>
                </a:r>
                <a:r>
                  <a:rPr lang="en-US" altLang="ko-KR" dirty="0"/>
                  <a:t>K̄ </a:t>
                </a:r>
                <a:r>
                  <a:rPr lang="ko-KR" altLang="en-US" dirty="0"/>
                  <a:t>출력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아니면 </a:t>
                </a:r>
                <a:r>
                  <a:rPr lang="en-US" altLang="ko-KR" dirty="0"/>
                  <a:t>K’ </a:t>
                </a:r>
                <a:r>
                  <a:rPr lang="ko-KR" altLang="en-US" dirty="0"/>
                  <a:t>출력</a:t>
                </a:r>
                <a:r>
                  <a:rPr lang="en-US" altLang="ko-KR" dirty="0"/>
                  <a:t>.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4701089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24</a:t>
            </a:fld>
            <a:endParaRPr lang="ko-KR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역캡슐화 실패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r>
              <a:rPr dirty="0"/>
              <a:t>역캡슐화는 c ≠ c'일 때 실패한다</a:t>
            </a:r>
            <a:r>
              <a:rPr lang="en-US" dirty="0"/>
              <a:t>.</a:t>
            </a:r>
            <a:endParaRPr dirty="0"/>
          </a:p>
          <a:p>
            <a:pPr lvl="1"/>
            <a:r>
              <a:rPr dirty="0"/>
              <a:t>이때 출력되는 키 K̄는 (거의 확실히) 원래 캡슐화된 키 K와 다르다</a:t>
            </a:r>
            <a:r>
              <a:rPr lang="en-US" dirty="0"/>
              <a:t>.</a:t>
            </a:r>
            <a:endParaRPr dirty="0"/>
          </a:p>
          <a:p>
            <a:r>
              <a:rPr dirty="0"/>
              <a:t>Alice와 Bob이 모두 정직하게 행동해도 이 실패는 일어날 수 있다</a:t>
            </a:r>
            <a:r>
              <a:rPr lang="en-US" dirty="0"/>
              <a:t>.</a:t>
            </a:r>
            <a:endParaRPr dirty="0"/>
          </a:p>
          <a:p>
            <a:pPr lvl="1"/>
            <a:r>
              <a:rPr dirty="0"/>
              <a:t>바탕이 되는 Kyber-PKE 복호화 자체가 아주 작은 확률로 실패해(m'</a:t>
            </a:r>
            <a:r>
              <a:rPr lang="en-US" dirty="0"/>
              <a:t> </a:t>
            </a:r>
            <a:r>
              <a:rPr dirty="0"/>
              <a:t>≠</a:t>
            </a:r>
            <a:r>
              <a:rPr lang="en-US" dirty="0"/>
              <a:t> </a:t>
            </a:r>
            <a:r>
              <a:rPr dirty="0"/>
              <a:t>m) 발생 가능</a:t>
            </a:r>
            <a:r>
              <a:rPr lang="en-US" dirty="0"/>
              <a:t>.</a:t>
            </a:r>
            <a:endParaRPr dirty="0"/>
          </a:p>
          <a:p>
            <a:r>
              <a:rPr dirty="0"/>
              <a:t>다만 이 복호화 실패 확률 자체가 무시할 수 있을 만큼 작으므로, 역캡슐화 실패율도 극히 낮다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25</a:t>
            </a:fld>
            <a:endParaRPr lang="ko-KR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안전성: IND-CCA (고전 및 양자)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r>
              <a:rPr dirty="0"/>
              <a:t>주장: D-MLWE가 어렵고 G, H, J가 랜덤 오라클로 모델링된다는 가정 아래</a:t>
            </a:r>
            <a:endParaRPr lang="en-US" dirty="0"/>
          </a:p>
          <a:p>
            <a:pPr lvl="1"/>
            <a:r>
              <a:rPr dirty="0"/>
              <a:t>Kyber-KEM은 선택 암호문 공격 하 구별 불가능(IND-CCA)하다</a:t>
            </a:r>
            <a:r>
              <a:rPr lang="en-US" dirty="0"/>
              <a:t>.</a:t>
            </a:r>
            <a:endParaRPr dirty="0"/>
          </a:p>
          <a:p>
            <a:r>
              <a:rPr dirty="0"/>
              <a:t>양자 공격자에 대해서도 IND-CCA를 만족한다</a:t>
            </a:r>
            <a:r>
              <a:rPr lang="en-US" dirty="0"/>
              <a:t>.</a:t>
            </a:r>
            <a:endParaRPr dirty="0"/>
          </a:p>
          <a:p>
            <a:pPr lvl="1"/>
            <a:r>
              <a:rPr dirty="0"/>
              <a:t>고전 질의와 중첩 상태의 양자 질의를 G, H, J에 모두 할 수 있는 공격자</a:t>
            </a:r>
            <a:r>
              <a:rPr lang="en-US" dirty="0"/>
              <a:t>.</a:t>
            </a:r>
            <a:endParaRPr dirty="0"/>
          </a:p>
          <a:p>
            <a:pPr lvl="1"/>
            <a:r>
              <a:rPr dirty="0"/>
              <a:t>안전성 증명이 QROM(양자 랜덤 오라클 모델)까지 확장된다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26</a:t>
            </a:fld>
            <a:endParaRPr lang="ko-KR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/>
          <a:lstStyle/>
          <a:p>
            <a:r>
              <a:rPr dirty="0"/>
              <a:t>파라미터 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wrap="square"/>
          <a:lstStyle/>
          <a:p>
            <a:r>
              <a:rPr dirty="0"/>
              <a:t>보안 카테고리 1, 3, 5는 각각 128비트·192비트·256비트 AES 전수조사에 필요한 자원과 최소한 같은 수준의 최상의 알려진 공격을 뜻한다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27</a:t>
            </a:fld>
            <a:endParaRPr lang="ko-KR" alt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556573"/>
              </p:ext>
            </p:extLst>
          </p:nvPr>
        </p:nvGraphicFramePr>
        <p:xfrm>
          <a:off x="838200" y="2400000"/>
          <a:ext cx="10515600" cy="206508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26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5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50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75000"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카테고리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η₁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η₂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d</a:t>
                      </a:r>
                      <a:r>
                        <a:rPr sz="1800" b="1" baseline="-25000" dirty="0"/>
                        <a:t>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d</a:t>
                      </a:r>
                      <a:r>
                        <a:rPr sz="1800" b="1" baseline="-25000" dirty="0"/>
                        <a:t>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캡슐</a:t>
                      </a:r>
                      <a:r>
                        <a:rPr lang="ko-KR" altLang="en-US" sz="1800" b="1" dirty="0"/>
                        <a:t>화</a:t>
                      </a:r>
                      <a:r>
                        <a:rPr sz="1800" b="1" dirty="0"/>
                        <a:t>키(</a:t>
                      </a:r>
                      <a:r>
                        <a:rPr lang="en-US" sz="1800" b="1" dirty="0"/>
                        <a:t>b</a:t>
                      </a:r>
                      <a:r>
                        <a:rPr sz="1800" b="1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암호문</a:t>
                      </a:r>
                      <a:br>
                        <a:rPr lang="en-US" sz="1800" b="1" dirty="0"/>
                      </a:br>
                      <a:r>
                        <a:rPr sz="1800" b="1" dirty="0"/>
                        <a:t>(</a:t>
                      </a:r>
                      <a:r>
                        <a:rPr lang="en-US" sz="1800" b="1" dirty="0"/>
                        <a:t>b</a:t>
                      </a:r>
                      <a:r>
                        <a:rPr sz="1800" b="1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실패율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ML-KEM-512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3329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800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768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&lt; 2⁻</a:t>
                      </a:r>
                      <a:r>
                        <a:rPr lang="en-US" sz="1800" baseline="30000" dirty="0"/>
                        <a:t>139</a:t>
                      </a:r>
                      <a:endParaRPr sz="1800" baseline="30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ML-KEM-768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3329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1184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1088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&lt; 2⁻</a:t>
                      </a:r>
                      <a:r>
                        <a:rPr lang="en-US" sz="1800" baseline="30000" dirty="0"/>
                        <a:t>164</a:t>
                      </a:r>
                      <a:endParaRPr sz="1800" baseline="30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000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ML-KEM-1024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3329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1568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1568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&lt; 2⁻</a:t>
                      </a:r>
                      <a:r>
                        <a:rPr lang="en-US" sz="1800" baseline="30000" dirty="0"/>
                        <a:t>174</a:t>
                      </a:r>
                      <a:endParaRPr sz="1800" baseline="30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4452</TotalTime>
  <Words>1951</Words>
  <Application>Microsoft Office PowerPoint</Application>
  <PresentationFormat>와이드스크린</PresentationFormat>
  <Paragraphs>274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맑은 고딕</vt:lpstr>
      <vt:lpstr>Arial</vt:lpstr>
      <vt:lpstr>Cambria Math</vt:lpstr>
      <vt:lpstr>Office 테마</vt:lpstr>
      <vt:lpstr>Post-Quantum Cryptography</vt:lpstr>
      <vt:lpstr>Plan</vt:lpstr>
      <vt:lpstr>Kyber-PKE</vt:lpstr>
      <vt:lpstr>도메인 파라미터</vt:lpstr>
      <vt:lpstr>키 생성</vt:lpstr>
      <vt:lpstr>암호화</vt:lpstr>
      <vt:lpstr>복호화</vt:lpstr>
      <vt:lpstr>예제1: 키 생성</vt:lpstr>
      <vt:lpstr>예제1: 암호화</vt:lpstr>
      <vt:lpstr>예제1: 압축</vt:lpstr>
      <vt:lpstr>예제1: 압축해제와 오차</vt:lpstr>
      <vt:lpstr>예제1: 복호화 확인</vt:lpstr>
      <vt:lpstr>오차 다항식의 확장</vt:lpstr>
      <vt:lpstr>오차 다항식 상계: ML-KEM-768</vt:lpstr>
      <vt:lpstr>결론: 거의 항상 성공한다</vt:lpstr>
      <vt:lpstr>안전성: 암호문 압축과 IND-CPA</vt:lpstr>
      <vt:lpstr>키 캡슐화 메커니즘(KEM)</vt:lpstr>
      <vt:lpstr>왜 Kyber-PKE만으로는 부족한가</vt:lpstr>
      <vt:lpstr>Fujisaki-Okamoto 변환: 역랜덤화</vt:lpstr>
      <vt:lpstr>FO 변환: 재암호화 검증</vt:lpstr>
      <vt:lpstr>평문 인지성과 CCA 안전성 직관</vt:lpstr>
      <vt:lpstr>Kyber-KEM 키 생성</vt:lpstr>
      <vt:lpstr>Kyber-KEM 캡슐화</vt:lpstr>
      <vt:lpstr>Kyber-KEM 역캡슐화</vt:lpstr>
      <vt:lpstr>역캡슐화 실패</vt:lpstr>
      <vt:lpstr>안전성: IND-CCA (고전 및 양자)</vt:lpstr>
      <vt:lpstr>파라미터 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규빈 박</dc:creator>
  <cp:lastModifiedBy>규빈 박</cp:lastModifiedBy>
  <cp:revision>1559</cp:revision>
  <dcterms:created xsi:type="dcterms:W3CDTF">2026-03-17T05:07:50Z</dcterms:created>
  <dcterms:modified xsi:type="dcterms:W3CDTF">2026-08-06T04:12:57Z</dcterms:modified>
</cp:coreProperties>
</file>