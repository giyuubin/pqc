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332" r:id="rId3"/>
    <p:sldId id="333" r:id="rId4"/>
    <p:sldId id="335" r:id="rId5"/>
    <p:sldId id="334" r:id="rId6"/>
    <p:sldId id="336" r:id="rId7"/>
    <p:sldId id="337" r:id="rId8"/>
    <p:sldId id="338" r:id="rId9"/>
    <p:sldId id="339" r:id="rId10"/>
    <p:sldId id="34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ADF637E-82D6-4563-BCF0-C9101F2B5148}" type="datetime1">
              <a:rPr lang="ko-KR" altLang="en-US" smtClean="0"/>
              <a:pPr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>
            <a:lvl1pPr algn="ctr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50000"/>
              </a:lnSpc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lnSpc>
                <a:spcPct val="15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58CD677-7AD2-4A27-94BD-C65458D22428}" type="datetime1">
              <a:rPr lang="ko-KR" altLang="en-US" smtClean="0"/>
              <a:pPr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5B8A52-06C2-8583-0C1B-A817C4737BF0}"/>
              </a:ext>
            </a:extLst>
          </p:cNvPr>
          <p:cNvSpPr/>
          <p:nvPr userDrawn="1"/>
        </p:nvSpPr>
        <p:spPr>
          <a:xfrm flipV="1">
            <a:off x="405063" y="889665"/>
            <a:ext cx="1138187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52EC-B397-4D0A-AE91-E0D6840C85A1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61A29-800E-482A-B0FD-5A04401ECD92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5C70B-7871-D2F3-E49B-85D4BEBAD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0" dirty="0"/>
              <a:t>Post-Quantum Cryptography</a:t>
            </a:r>
            <a:endParaRPr lang="ko-KR" altLang="en-US" sz="4000" b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A4BB57-D4CA-4972-9722-922AA1C02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ko-KR" altLang="en-US" dirty="0"/>
              <a:t>학습 및 발표 계획 </a:t>
            </a:r>
            <a:r>
              <a:rPr lang="en-US" altLang="ko-KR" dirty="0"/>
              <a:t>&amp;</a:t>
            </a:r>
          </a:p>
          <a:p>
            <a:r>
              <a:rPr lang="en-US" altLang="ko-KR" dirty="0"/>
              <a:t>Lattice-Based Cryptography Introduction</a:t>
            </a:r>
          </a:p>
        </p:txBody>
      </p:sp>
    </p:spTree>
    <p:extLst>
      <p:ext uri="{BB962C8B-B14F-4D97-AF65-F5344CB8AC3E}">
        <p14:creationId xmlns:p14="http://schemas.microsoft.com/office/powerpoint/2010/main" val="184127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DB61-F834-D9E7-299E-9100B8F3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2A060-71A6-5EA2-F906-1524933F5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962"/>
            <a:ext cx="10515600" cy="5037388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z="1800" b="0" dirty="0"/>
              <a:t>학습 계획 발표</a:t>
            </a:r>
            <a:endParaRPr lang="en-US" altLang="ko-KR" sz="1800" b="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1800" b="0" dirty="0"/>
              <a:t>Introduction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AA46B-FCCE-8A34-657F-EEC8E88D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6756302-4A72-F2DD-A7FF-B2186F87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/>
          <a:p>
            <a:r>
              <a:rPr lang="en-US" altLang="ko-KR" sz="3200" b="0" dirty="0"/>
              <a:t>Plan</a:t>
            </a:r>
            <a:endParaRPr lang="ko-KR" altLang="en-US" sz="3200" b="0" dirty="0"/>
          </a:p>
        </p:txBody>
      </p:sp>
    </p:spTree>
    <p:extLst>
      <p:ext uri="{BB962C8B-B14F-4D97-AF65-F5344CB8AC3E}">
        <p14:creationId xmlns:p14="http://schemas.microsoft.com/office/powerpoint/2010/main" val="222571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39CE8-DDF7-8E28-3B0B-A5A25579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0" dirty="0"/>
              <a:t>전체 </a:t>
            </a:r>
            <a:r>
              <a:rPr lang="ko-KR" altLang="en-US" sz="3200" b="0" dirty="0" err="1"/>
              <a:t>커리귤럼</a:t>
            </a:r>
            <a:r>
              <a:rPr lang="ko-KR" altLang="en-US" sz="3200" b="0" dirty="0"/>
              <a:t>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A2F99C-B973-24F8-3BB7-0FF403B3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EAFEC7-AC88-E93C-9D39-135F85572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595111"/>
              </p:ext>
            </p:extLst>
          </p:nvPr>
        </p:nvGraphicFramePr>
        <p:xfrm>
          <a:off x="792480" y="1447799"/>
          <a:ext cx="10561320" cy="2676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4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6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순서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코스</a:t>
                      </a:r>
                      <a:endParaRPr sz="18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강의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수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6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Lattice-Based Cryptography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7강 </a:t>
                      </a:r>
                      <a:r>
                        <a:rPr lang="en-US" altLang="ko-KR"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—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격자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기반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암호의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수학적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기초</a:t>
                      </a:r>
                      <a:endParaRPr sz="1800" b="0" dirty="0">
                        <a:solidFill>
                          <a:srgbClr val="2B2B2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54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 and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Dilithium</a:t>
                      </a:r>
                      <a:endParaRPr sz="1800" b="0" dirty="0">
                        <a:solidFill>
                          <a:srgbClr val="2B2B2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4강 — ML-KEM, ML-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DSA의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구체적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구성과</a:t>
                      </a:r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최적화</a:t>
                      </a:r>
                      <a:endParaRPr sz="1800" b="0" dirty="0">
                        <a:solidFill>
                          <a:srgbClr val="2B2B2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6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 Signature Schemes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6강 — LMS, XMSS, SPHINCS+(SLH-DSA)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11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C229C-24BF-67CF-5B6B-BCB63138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0" dirty="0"/>
              <a:t>일정 구성 원칙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0BD12C-11B9-9B91-3EE2-0947FE37A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ko-KR" altLang="en-US" sz="1800" b="0" dirty="0"/>
              <a:t>화요일</a:t>
            </a:r>
            <a:r>
              <a:rPr lang="en-US" altLang="ko-KR" sz="1800" b="0" dirty="0"/>
              <a:t>: </a:t>
            </a:r>
            <a:r>
              <a:rPr lang="ko-KR" altLang="en-US" sz="1800" b="0" dirty="0"/>
              <a:t>목요일 세미나 이후 나흘</a:t>
            </a:r>
            <a:r>
              <a:rPr lang="en-US" altLang="ko-KR" sz="1800" b="0" dirty="0"/>
              <a:t>(</a:t>
            </a:r>
            <a:r>
              <a:rPr lang="ko-KR" altLang="en-US" sz="1800" b="0" dirty="0"/>
              <a:t>금</a:t>
            </a:r>
            <a:r>
              <a:rPr lang="en-US" altLang="ko-KR" sz="1800" b="0" dirty="0"/>
              <a:t>~</a:t>
            </a:r>
            <a:r>
              <a:rPr lang="ko-KR" altLang="en-US" sz="1800" b="0" dirty="0"/>
              <a:t>월</a:t>
            </a:r>
            <a:r>
              <a:rPr lang="en-US" altLang="ko-KR" sz="1800" b="0" dirty="0"/>
              <a:t>)</a:t>
            </a:r>
            <a:r>
              <a:rPr lang="ko-KR" altLang="en-US" sz="1800" b="0" dirty="0"/>
              <a:t>의 준비 기간 → 상대적으로 많은 분량</a:t>
            </a:r>
            <a:endParaRPr lang="en-US" altLang="ko-KR" sz="1800" b="0" dirty="0"/>
          </a:p>
          <a:p>
            <a:r>
              <a:rPr lang="ko-KR" altLang="en-US" sz="1800" b="0" dirty="0"/>
              <a:t>목요일</a:t>
            </a:r>
            <a:r>
              <a:rPr lang="en-US" altLang="ko-KR" sz="1800" b="0" dirty="0"/>
              <a:t>: </a:t>
            </a:r>
            <a:r>
              <a:rPr lang="ko-KR" altLang="en-US" sz="1800" b="0" dirty="0"/>
              <a:t>준비 기간 수요일 하루뿐 → 가볍게 유지</a:t>
            </a:r>
            <a:endParaRPr lang="en-US" altLang="ko-KR" sz="1800" b="0" dirty="0"/>
          </a:p>
          <a:p>
            <a:r>
              <a:rPr lang="ko-KR" altLang="en-US" sz="1800" b="0" dirty="0"/>
              <a:t>분량이 많거나 어려운 </a:t>
            </a:r>
            <a:r>
              <a:rPr lang="ko-KR" altLang="en-US" sz="1800" b="0" dirty="0" err="1"/>
              <a:t>회차는</a:t>
            </a:r>
            <a:r>
              <a:rPr lang="ko-KR" altLang="en-US" sz="1800" b="0" dirty="0"/>
              <a:t> 화요일 시작 → 목요일 종료로 </a:t>
            </a:r>
            <a:r>
              <a:rPr lang="en-US" altLang="ko-KR" sz="1800" b="0" dirty="0"/>
              <a:t>2</a:t>
            </a:r>
            <a:r>
              <a:rPr lang="ko-KR" altLang="en-US" sz="1800" b="0" dirty="0" err="1"/>
              <a:t>회차</a:t>
            </a:r>
            <a:r>
              <a:rPr lang="ko-KR" altLang="en-US" sz="1800" b="0" dirty="0"/>
              <a:t> 배치</a:t>
            </a:r>
            <a:endParaRPr lang="en-US" altLang="ko-KR" sz="1800" b="0" dirty="0"/>
          </a:p>
          <a:p>
            <a:pPr marL="457200" lvl="1" indent="0">
              <a:buNone/>
            </a:pPr>
            <a:r>
              <a:rPr lang="en-US" altLang="ko-KR" dirty="0"/>
              <a:t>- Ring-SIS/Ring-LWE, Kyber (V2), </a:t>
            </a:r>
            <a:r>
              <a:rPr lang="en-US" altLang="ko-KR" dirty="0" err="1"/>
              <a:t>Dilithium</a:t>
            </a:r>
            <a:r>
              <a:rPr lang="en-US" altLang="ko-KR" dirty="0"/>
              <a:t>(V3)</a:t>
            </a:r>
          </a:p>
          <a:p>
            <a:r>
              <a:rPr lang="en-US" altLang="ko-KR" sz="1800" b="0" dirty="0"/>
              <a:t>Introduction </a:t>
            </a:r>
            <a:r>
              <a:rPr lang="ko-KR" altLang="en-US" sz="1800" b="0" dirty="0"/>
              <a:t>강의는 화요일 세미나가 있는 주의 목요일에 배치</a:t>
            </a:r>
            <a:endParaRPr lang="en-US" altLang="ko-KR" sz="1800" b="0" dirty="0"/>
          </a:p>
          <a:p>
            <a:r>
              <a:rPr lang="en-US" altLang="ko-KR" sz="1800" b="0" dirty="0"/>
              <a:t>8/27</a:t>
            </a:r>
            <a:r>
              <a:rPr lang="ko-KR" altLang="en-US" sz="1800" b="0" dirty="0"/>
              <a:t> 이후는 세션 간 공백이 길수록 분량을 늘림</a:t>
            </a:r>
            <a:endParaRPr lang="en-US" altLang="ko-KR" sz="18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AA6057-3CCF-B983-8C32-3E79C977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94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06D7C-EFF9-4DB4-3AF9-1ED1D0C11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0" dirty="0"/>
              <a:t>학습 일정표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6BA68-9605-18E6-4F26-64FF4CF0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92BD28-1A5D-D968-C71D-5B71B993A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964379"/>
              </p:ext>
            </p:extLst>
          </p:nvPr>
        </p:nvGraphicFramePr>
        <p:xfrm>
          <a:off x="838200" y="1268428"/>
          <a:ext cx="10515601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7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6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날짜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코스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회차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07-09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발표+Lattice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계획+1강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학습</a:t>
                      </a:r>
                      <a:r>
                        <a:rPr sz="1100" b="1" dirty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로드맵</a:t>
                      </a:r>
                      <a:r>
                        <a:rPr sz="1100" b="1" dirty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100" b="1" dirty="0" err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일정표</a:t>
                      </a:r>
                      <a:r>
                        <a:rPr sz="1100" b="1" dirty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발표</a:t>
                      </a:r>
                      <a:r>
                        <a:rPr sz="1100" b="1" dirty="0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 및 1강 Introduction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07-14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2~4강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SIS + LWE + Lattices (세 회차 결합)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5강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SIS/LWE and Lattices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07-21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6강(1/2)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Ring-SIS and Ring-LWE — 전반부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6강(2/2)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Ring-SIS and Ring-LWE — 후반부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07-28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7강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Module-SIS and Module-LWE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Introduction 전체 (PQC 개요+수학적 사전지식)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08-04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V2(1/2)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 PKE(simplified) + </a:t>
                      </a:r>
                      <a:r>
                        <a:rPr sz="11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최적화</a:t>
                      </a:r>
                      <a:endParaRPr sz="1100" b="0" dirty="0">
                        <a:solidFill>
                          <a:srgbClr val="2B2B2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V2(2/2)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 PKE(full) + KEM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08-11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V3(1/2)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Dilithium 토이 버전 + t 비압축 버전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V3(2/2)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Dilithium t 압축 + 전체 스킴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08-27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V4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NTT — Dilithium NTT + Kyber NTT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09-03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V1~V3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Intro + Hash functions + Lamport 서명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09-17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V4+V5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Lamport 문제점/해결책 + LMS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33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10-01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SPHINCS+ / SLH-DSA (</a:t>
                      </a:r>
                      <a:r>
                        <a:rPr sz="11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마지막</a:t>
                      </a:r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회차</a:t>
                      </a:r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464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271D9-7E3E-96FA-E7A3-727421ADC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en-US" altLang="ko-KR" b="0" dirty="0"/>
              <a:t>Introduction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240980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7B5DF-86FF-B51F-A8B7-C2075FE44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0" dirty="0"/>
              <a:t>PQC </a:t>
            </a:r>
            <a:r>
              <a:rPr lang="ko-KR" altLang="en-US" sz="3200" b="0" dirty="0"/>
              <a:t>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235565-9CF6-37C4-F2A8-908D9A605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b="0" dirty="0"/>
              <a:t>2024</a:t>
            </a:r>
            <a:r>
              <a:rPr lang="ko-KR" altLang="en-US" sz="1800" b="0" dirty="0"/>
              <a:t>년 </a:t>
            </a:r>
            <a:r>
              <a:rPr lang="en-US" altLang="ko-KR" sz="1800" b="0" dirty="0"/>
              <a:t>8</a:t>
            </a:r>
            <a:r>
              <a:rPr lang="ko-KR" altLang="en-US" sz="1800" b="0" dirty="0"/>
              <a:t>월</a:t>
            </a:r>
            <a:r>
              <a:rPr lang="en-US" altLang="ko-KR" sz="1800" b="0" dirty="0"/>
              <a:t>, NIST</a:t>
            </a:r>
            <a:r>
              <a:rPr lang="ko-KR" altLang="en-US" sz="1800" b="0" dirty="0"/>
              <a:t>가 </a:t>
            </a:r>
            <a:r>
              <a:rPr lang="ko-KR" altLang="en-US" sz="1800" b="0" dirty="0" err="1"/>
              <a:t>양자내성</a:t>
            </a:r>
            <a:r>
              <a:rPr lang="en-US" altLang="ko-KR" sz="1800" b="0" dirty="0"/>
              <a:t>(post-quantum) </a:t>
            </a:r>
            <a:r>
              <a:rPr lang="ko-KR" altLang="en-US" sz="1800" b="0" dirty="0"/>
              <a:t>암호 표준을 발표</a:t>
            </a:r>
            <a:endParaRPr lang="en-US" altLang="ko-KR" sz="1800" b="0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키</a:t>
            </a:r>
            <a:r>
              <a:rPr lang="en-US" altLang="ko-KR" dirty="0"/>
              <a:t> </a:t>
            </a:r>
            <a:r>
              <a:rPr lang="ko-KR" altLang="en-US" dirty="0"/>
              <a:t>캡슐화</a:t>
            </a:r>
            <a:r>
              <a:rPr lang="en-US" altLang="ko-KR" dirty="0"/>
              <a:t>(KEM) </a:t>
            </a:r>
            <a:r>
              <a:rPr lang="ko-KR" altLang="en-US" dirty="0"/>
              <a:t>표준</a:t>
            </a:r>
            <a:r>
              <a:rPr lang="en-US" altLang="ko-KR" dirty="0"/>
              <a:t>: FIPS 203 (ML-KEM, </a:t>
            </a:r>
            <a:r>
              <a:rPr lang="ko-KR" altLang="en-US" dirty="0"/>
              <a:t>옛 </a:t>
            </a:r>
            <a:r>
              <a:rPr lang="en-US" altLang="ko-KR" dirty="0"/>
              <a:t>Kyber)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전자서명 표준</a:t>
            </a:r>
            <a:r>
              <a:rPr lang="en-US" altLang="ko-KR" dirty="0"/>
              <a:t>: FIPS 204 (ML-DSA, </a:t>
            </a:r>
            <a:r>
              <a:rPr lang="ko-KR" altLang="en-US" dirty="0"/>
              <a:t>옛 </a:t>
            </a:r>
            <a:r>
              <a:rPr lang="en-US" altLang="ko-KR" dirty="0" err="1"/>
              <a:t>Dilithium</a:t>
            </a:r>
            <a:r>
              <a:rPr lang="en-US" altLang="ko-KR" dirty="0"/>
              <a:t>)</a:t>
            </a:r>
          </a:p>
          <a:p>
            <a:r>
              <a:rPr lang="en-US" altLang="ko-KR" sz="1800" b="0" dirty="0"/>
              <a:t>RSA</a:t>
            </a:r>
            <a:r>
              <a:rPr lang="ko-KR" altLang="ko-KR" sz="1800" b="0" dirty="0"/>
              <a:t>∙</a:t>
            </a:r>
            <a:r>
              <a:rPr lang="en-US" altLang="ko-KR" sz="1800" b="0" dirty="0"/>
              <a:t>ECC</a:t>
            </a:r>
            <a:r>
              <a:rPr lang="ko-KR" altLang="en-US" sz="1800" b="0" dirty="0"/>
              <a:t>는 양자 컴퓨터로 완전히 해독 가능하다는 사실이 이미 알려져 있음</a:t>
            </a:r>
            <a:endParaRPr lang="en-US" altLang="ko-KR" sz="1800" b="0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양자내성</a:t>
            </a:r>
            <a:r>
              <a:rPr lang="ko-KR" altLang="en-US" dirty="0"/>
              <a:t> </a:t>
            </a:r>
            <a:r>
              <a:rPr lang="ko-KR" altLang="en-US" dirty="0" err="1"/>
              <a:t>스킴은</a:t>
            </a:r>
            <a:r>
              <a:rPr lang="ko-KR" altLang="en-US" dirty="0"/>
              <a:t> 이를 대체하기 위해 설계됨</a:t>
            </a:r>
            <a:endParaRPr lang="en-US" altLang="ko-KR" dirty="0"/>
          </a:p>
          <a:p>
            <a:r>
              <a:rPr lang="ko-KR" altLang="en-US" sz="1800" b="0" dirty="0"/>
              <a:t>양자 컴퓨터 실현 시점은 불확실하지만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전환 작업은 이미 가속화되는 중</a:t>
            </a:r>
            <a:endParaRPr lang="en-US" altLang="ko-KR" sz="18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DF7416-988D-E82D-65AB-C253CAA8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908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7C867-3C32-5E86-0682-961DF3360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0202E-7AEC-D0F9-8055-CB238B1A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0" dirty="0"/>
              <a:t>Kyber</a:t>
            </a:r>
            <a:r>
              <a:rPr lang="ko-KR" altLang="en-US" sz="3200" b="0" dirty="0"/>
              <a:t> </a:t>
            </a:r>
            <a:r>
              <a:rPr lang="en-US" altLang="ko-KR" sz="3200" b="0" dirty="0"/>
              <a:t>/</a:t>
            </a:r>
            <a:r>
              <a:rPr lang="ko-KR" altLang="en-US" sz="3200" b="0" dirty="0"/>
              <a:t> </a:t>
            </a:r>
            <a:r>
              <a:rPr lang="en-US" altLang="ko-KR" sz="3200" b="0" dirty="0" err="1"/>
              <a:t>Dilithium</a:t>
            </a:r>
            <a:r>
              <a:rPr lang="ko-KR" altLang="en-US" sz="3200" b="0" dirty="0"/>
              <a:t>의 안전성 근거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480D82-4F99-3B74-3BAC-650154467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>
            <a:normAutofit/>
          </a:bodyPr>
          <a:lstStyle/>
          <a:p>
            <a:r>
              <a:rPr lang="ko-KR" altLang="en-US" sz="1800" b="0" dirty="0"/>
              <a:t>향후 가장 널리 배포될 것으로 예상되는 </a:t>
            </a:r>
            <a:r>
              <a:rPr lang="en-US" altLang="ko-KR" sz="1800" b="0" dirty="0"/>
              <a:t>PQC </a:t>
            </a:r>
            <a:r>
              <a:rPr lang="ko-KR" altLang="en-US" sz="1800" b="0" dirty="0" err="1"/>
              <a:t>스킴</a:t>
            </a:r>
            <a:r>
              <a:rPr lang="en-US" altLang="ko-KR" sz="1800" b="0" dirty="0"/>
              <a:t>: Kyber, </a:t>
            </a:r>
            <a:r>
              <a:rPr lang="en-US" altLang="ko-KR" sz="1800" b="0" dirty="0" err="1"/>
              <a:t>Dilithium</a:t>
            </a:r>
            <a:endParaRPr lang="en-US" altLang="ko-KR" sz="1800" b="0" dirty="0"/>
          </a:p>
          <a:p>
            <a:r>
              <a:rPr lang="en-US" altLang="ko-KR" sz="1800" b="0" dirty="0"/>
              <a:t>Kyber (ML-KEM) </a:t>
            </a:r>
          </a:p>
          <a:p>
            <a:pPr marL="457200" lvl="1" indent="0">
              <a:buNone/>
            </a:pPr>
            <a:r>
              <a:rPr lang="en-US" altLang="ko-KR" dirty="0"/>
              <a:t>→ D-MLWE (Decisional Module-Learning</a:t>
            </a:r>
            <a:r>
              <a:rPr lang="ko-KR" altLang="en-US" dirty="0"/>
              <a:t> </a:t>
            </a:r>
            <a:r>
              <a:rPr lang="en-US" altLang="ko-KR" dirty="0"/>
              <a:t>With Errors) </a:t>
            </a:r>
            <a:r>
              <a:rPr lang="ko-KR" altLang="en-US" dirty="0"/>
              <a:t>문제의 어려움에 근거</a:t>
            </a:r>
            <a:endParaRPr lang="en-US" altLang="ko-KR" dirty="0"/>
          </a:p>
          <a:p>
            <a:r>
              <a:rPr lang="en-US" altLang="ko-KR" sz="1800" b="0" dirty="0" err="1"/>
              <a:t>Dilithium</a:t>
            </a:r>
            <a:r>
              <a:rPr lang="en-US" altLang="ko-KR" sz="1800" b="0" dirty="0"/>
              <a:t> (ML-DSA) </a:t>
            </a:r>
          </a:p>
          <a:p>
            <a:pPr marL="457200" lvl="1" indent="0">
              <a:buNone/>
            </a:pPr>
            <a:r>
              <a:rPr lang="ko-KR" altLang="en-US" dirty="0">
                <a:solidFill>
                  <a:srgbClr val="2B2B2B"/>
                </a:solidFill>
                <a:latin typeface="맑은 고딕"/>
                <a:ea typeface="맑은 고딕"/>
              </a:rPr>
              <a:t>→ </a:t>
            </a:r>
            <a:r>
              <a:rPr lang="en-US" altLang="ko-KR" dirty="0">
                <a:solidFill>
                  <a:srgbClr val="2B2B2B"/>
                </a:solidFill>
                <a:latin typeface="맑은 고딕"/>
                <a:ea typeface="맑은 고딕"/>
              </a:rPr>
              <a:t>D-MLWE + MSIS (Module-Short Integer Solution) </a:t>
            </a:r>
            <a:r>
              <a:rPr lang="ko-KR" altLang="en-US" dirty="0">
                <a:solidFill>
                  <a:srgbClr val="2B2B2B"/>
                </a:solidFill>
                <a:latin typeface="맑은 고딕"/>
                <a:ea typeface="맑은 고딕"/>
              </a:rPr>
              <a:t>문제의 어려움에 근거</a:t>
            </a:r>
            <a:endParaRPr lang="en-US" altLang="ko-KR" dirty="0">
              <a:solidFill>
                <a:srgbClr val="2B2B2B"/>
              </a:solidFill>
              <a:latin typeface="맑은 고딕"/>
              <a:ea typeface="맑은 고딕"/>
            </a:endParaRPr>
          </a:p>
          <a:p>
            <a:r>
              <a:rPr lang="ko-KR" altLang="en-US" sz="1800" b="0" dirty="0">
                <a:solidFill>
                  <a:srgbClr val="2B2B2B"/>
                </a:solidFill>
                <a:latin typeface="맑은 고딕"/>
                <a:ea typeface="맑은 고딕"/>
              </a:rPr>
              <a:t>기존 </a:t>
            </a:r>
            <a:r>
              <a:rPr lang="en-US" altLang="ko-KR" sz="1800" b="0" dirty="0">
                <a:solidFill>
                  <a:srgbClr val="2B2B2B"/>
                </a:solidFill>
                <a:latin typeface="맑은 고딕"/>
                <a:ea typeface="맑은 고딕"/>
              </a:rPr>
              <a:t>Kyber and </a:t>
            </a:r>
            <a:r>
              <a:rPr lang="en-US" altLang="ko-KR" sz="1800" b="0" dirty="0" err="1">
                <a:solidFill>
                  <a:srgbClr val="2B2B2B"/>
                </a:solidFill>
                <a:latin typeface="맑은 고딕"/>
                <a:ea typeface="맑은 고딕"/>
              </a:rPr>
              <a:t>Dilithium</a:t>
            </a:r>
            <a:r>
              <a:rPr lang="en-US" altLang="ko-KR" sz="1800" b="0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0" dirty="0">
                <a:solidFill>
                  <a:srgbClr val="2B2B2B"/>
                </a:solidFill>
                <a:latin typeface="맑은 고딕"/>
                <a:ea typeface="맑은 고딕"/>
              </a:rPr>
              <a:t>코스는 </a:t>
            </a:r>
            <a:r>
              <a:rPr lang="en-US" altLang="ko-KR" sz="1800" b="0" dirty="0">
                <a:solidFill>
                  <a:srgbClr val="2B2B2B"/>
                </a:solidFill>
                <a:latin typeface="맑은 고딕"/>
                <a:ea typeface="맑은 고딕"/>
              </a:rPr>
              <a:t>FIPS 203/204</a:t>
            </a:r>
            <a:r>
              <a:rPr lang="ko-KR" altLang="en-US" sz="1800" b="0" dirty="0">
                <a:solidFill>
                  <a:srgbClr val="2B2B2B"/>
                </a:solidFill>
                <a:latin typeface="맑은 고딕"/>
                <a:ea typeface="맑은 고딕"/>
              </a:rPr>
              <a:t>에 따른 두 </a:t>
            </a:r>
            <a:r>
              <a:rPr lang="ko-KR" altLang="en-US" sz="1800" b="0" dirty="0" err="1">
                <a:solidFill>
                  <a:srgbClr val="2B2B2B"/>
                </a:solidFill>
                <a:latin typeface="맑은 고딕"/>
                <a:ea typeface="맑은 고딕"/>
              </a:rPr>
              <a:t>스킴의</a:t>
            </a:r>
            <a:r>
              <a:rPr lang="ko-KR" altLang="en-US" sz="1800" b="0" dirty="0">
                <a:solidFill>
                  <a:srgbClr val="2B2B2B"/>
                </a:solidFill>
                <a:latin typeface="맑은 고딕"/>
                <a:ea typeface="맑은 고딕"/>
              </a:rPr>
              <a:t> 구체적 구성은 다뤘지만</a:t>
            </a:r>
            <a:r>
              <a:rPr lang="en-US" altLang="ko-KR" sz="1800" b="0" dirty="0">
                <a:solidFill>
                  <a:srgbClr val="2B2B2B"/>
                </a:solidFill>
                <a:latin typeface="맑은 고딕"/>
                <a:ea typeface="맑은 고딕"/>
              </a:rPr>
              <a:t>, </a:t>
            </a:r>
            <a:r>
              <a:rPr lang="ko-KR" altLang="en-US" sz="1800" b="0" dirty="0">
                <a:solidFill>
                  <a:srgbClr val="2B2B2B"/>
                </a:solidFill>
                <a:latin typeface="맑은 고딕"/>
                <a:ea typeface="맑은 고딕"/>
              </a:rPr>
              <a:t>격자와의 연결은 설명하지 않음</a:t>
            </a:r>
            <a:endParaRPr lang="en-US" altLang="ko-KR" sz="18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DC7FFA-089C-5605-FE0B-193F49BF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827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0C0F-DAAD-C574-C2CA-A1D4D2539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FF023-1692-0735-9330-CE299041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0" dirty="0"/>
              <a:t>Lattice-Based Cryptography</a:t>
            </a:r>
            <a:r>
              <a:rPr lang="ko-KR" altLang="en-US" sz="3200" b="0" dirty="0"/>
              <a:t>의 목적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F5C406-3736-3A13-06C5-81D114563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>
            <a:normAutofit/>
          </a:bodyPr>
          <a:lstStyle/>
          <a:p>
            <a:r>
              <a:rPr lang="ko-KR" altLang="en-US" sz="1800" b="0" dirty="0"/>
              <a:t>목적</a:t>
            </a:r>
            <a:r>
              <a:rPr lang="en-US" altLang="ko-KR" sz="1800" b="0" dirty="0"/>
              <a:t>: “MLWE</a:t>
            </a:r>
            <a:r>
              <a:rPr lang="ko-KR" altLang="en-US" sz="1800" b="0" dirty="0"/>
              <a:t>와 </a:t>
            </a:r>
            <a:r>
              <a:rPr lang="en-US" altLang="ko-KR" sz="1800" b="0" dirty="0"/>
              <a:t>MSIS</a:t>
            </a:r>
            <a:r>
              <a:rPr lang="ko-KR" altLang="en-US" sz="1800" b="0" dirty="0"/>
              <a:t>가 왜 격자 문제로 볼 수 있는가</a:t>
            </a:r>
            <a:r>
              <a:rPr lang="en-US" altLang="ko-KR" sz="1800" b="0" dirty="0"/>
              <a:t>?”</a:t>
            </a:r>
            <a:r>
              <a:rPr lang="ko-KR" altLang="en-US" sz="1800" b="0" dirty="0"/>
              <a:t>를 규명</a:t>
            </a:r>
            <a:endParaRPr lang="en-US" altLang="ko-KR" sz="1800" b="0" dirty="0"/>
          </a:p>
          <a:p>
            <a:r>
              <a:rPr lang="ko-KR" altLang="en-US" sz="1800" b="0" dirty="0"/>
              <a:t>결과적으로 </a:t>
            </a:r>
            <a:r>
              <a:rPr lang="en-US" altLang="ko-KR" sz="1800" b="0" dirty="0"/>
              <a:t>Kyber</a:t>
            </a:r>
            <a:r>
              <a:rPr lang="ko-KR" altLang="en-US" sz="1800" b="0" dirty="0"/>
              <a:t>와 </a:t>
            </a:r>
            <a:r>
              <a:rPr lang="en-US" altLang="ko-KR" sz="1800" b="0" dirty="0" err="1"/>
              <a:t>Dilithium</a:t>
            </a:r>
            <a:r>
              <a:rPr lang="ko-KR" altLang="en-US" sz="1800" b="0" dirty="0"/>
              <a:t>을 </a:t>
            </a:r>
            <a:r>
              <a:rPr lang="en-US" altLang="ko-KR" sz="1800" b="0" dirty="0"/>
              <a:t>“lattice-based cryptography”</a:t>
            </a:r>
            <a:r>
              <a:rPr lang="ko-KR" altLang="en-US" sz="1800" b="0" dirty="0"/>
              <a:t>라 부를 수 있는 수학적 근거를 확보</a:t>
            </a:r>
            <a:endParaRPr lang="en-US" altLang="ko-KR" sz="18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89C5F7-C001-0A84-8A5C-D0D04F6D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19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7D65-A56B-DA3E-668A-86397F30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7E7C9-0C84-A1C3-0043-30CF61F3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0" dirty="0"/>
              <a:t>Lattice-Based Cryptography</a:t>
            </a:r>
            <a:r>
              <a:rPr lang="ko-KR" altLang="en-US" sz="3200" b="0" dirty="0"/>
              <a:t>의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6FE704-43F9-CDFC-48D4-0D9627AB2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2567411"/>
          </a:xfrm>
        </p:spPr>
        <p:txBody>
          <a:bodyPr>
            <a:normAutofit/>
          </a:bodyPr>
          <a:lstStyle/>
          <a:p>
            <a:r>
              <a:rPr lang="en-US" altLang="ko-KR" sz="1800" b="0" dirty="0"/>
              <a:t>SIS-LWE</a:t>
            </a:r>
            <a:r>
              <a:rPr lang="ko-KR" altLang="en-US" sz="1800" b="0" dirty="0"/>
              <a:t>를 각각 배운 뒤</a:t>
            </a:r>
            <a:r>
              <a:rPr lang="en-US" altLang="ko-KR" sz="1800" b="0" dirty="0"/>
              <a:t>(2~3</a:t>
            </a:r>
            <a:r>
              <a:rPr lang="ko-KR" altLang="en-US" sz="1800" b="0" dirty="0"/>
              <a:t>강</a:t>
            </a:r>
            <a:r>
              <a:rPr lang="en-US" altLang="ko-KR" sz="1800" b="0" dirty="0"/>
              <a:t>) </a:t>
            </a:r>
            <a:r>
              <a:rPr lang="ko-KR" altLang="en-US" sz="1800" b="0" dirty="0"/>
              <a:t>격자와 연결하고</a:t>
            </a:r>
            <a:r>
              <a:rPr lang="en-US" altLang="ko-KR" sz="1800" b="0" dirty="0"/>
              <a:t>(4~5</a:t>
            </a:r>
            <a:r>
              <a:rPr lang="ko-KR" altLang="en-US" sz="1800" b="0" dirty="0"/>
              <a:t>강</a:t>
            </a:r>
            <a:r>
              <a:rPr lang="en-US" altLang="ko-KR" sz="1800" b="0" dirty="0"/>
              <a:t>)</a:t>
            </a:r>
          </a:p>
          <a:p>
            <a:r>
              <a:rPr lang="en-US" altLang="ko-KR" sz="1800" b="0" dirty="0"/>
              <a:t>Ring-Module </a:t>
            </a:r>
            <a:r>
              <a:rPr lang="ko-KR" altLang="en-US" sz="1800" b="0" dirty="0"/>
              <a:t>구조로 일반화하여</a:t>
            </a:r>
            <a:r>
              <a:rPr lang="en-US" altLang="ko-KR" sz="1800" b="0" dirty="0"/>
              <a:t>(6~7</a:t>
            </a:r>
            <a:r>
              <a:rPr lang="ko-KR" altLang="en-US" sz="1800" b="0" dirty="0"/>
              <a:t>강</a:t>
            </a:r>
            <a:r>
              <a:rPr lang="en-US" altLang="ko-KR" sz="1800" b="0" dirty="0"/>
              <a:t>) Kyber/</a:t>
            </a:r>
            <a:r>
              <a:rPr lang="en-US" altLang="ko-KR" sz="1800" b="0" dirty="0" err="1"/>
              <a:t>Dilithium</a:t>
            </a:r>
            <a:r>
              <a:rPr lang="ko-KR" altLang="en-US" sz="1800" b="0" dirty="0"/>
              <a:t>이 사용하는 </a:t>
            </a:r>
            <a:r>
              <a:rPr lang="en-US" altLang="ko-KR" sz="1800" b="0" dirty="0"/>
              <a:t>MSIS-MLWE</a:t>
            </a:r>
            <a:r>
              <a:rPr lang="ko-KR" altLang="en-US" sz="1800" b="0" dirty="0"/>
              <a:t>에 최종 도달</a:t>
            </a:r>
            <a:endParaRPr lang="en-US" altLang="ko-KR" sz="18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F258E6-0742-AE72-0350-BF159C29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25DA4AB-44AD-081A-2EFB-8C4BE05FC7B1}"/>
              </a:ext>
            </a:extLst>
          </p:cNvPr>
          <p:cNvSpPr/>
          <p:nvPr/>
        </p:nvSpPr>
        <p:spPr>
          <a:xfrm>
            <a:off x="641451" y="1783080"/>
            <a:ext cx="1417320" cy="1051560"/>
          </a:xfrm>
          <a:prstGeom prst="roundRect">
            <a:avLst/>
          </a:prstGeom>
          <a:solidFill>
            <a:srgbClr val="3B6EA5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</a:rPr>
              <a:t>1.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238C0-738F-E8ED-D9BE-3E0003277D95}"/>
              </a:ext>
            </a:extLst>
          </p:cNvPr>
          <p:cNvSpPr txBox="1"/>
          <p:nvPr/>
        </p:nvSpPr>
        <p:spPr>
          <a:xfrm>
            <a:off x="2024689" y="2178055"/>
            <a:ext cx="232756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CF83BE-9E5F-AA14-811B-4E7D8B5D167D}"/>
              </a:ext>
            </a:extLst>
          </p:cNvPr>
          <p:cNvSpPr/>
          <p:nvPr/>
        </p:nvSpPr>
        <p:spPr>
          <a:xfrm>
            <a:off x="2223363" y="1783080"/>
            <a:ext cx="2999232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</a:rPr>
              <a:t>2. SIS  ·  3. LWE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938E2F-5A40-54E4-4599-57D4AC07764C}"/>
              </a:ext>
            </a:extLst>
          </p:cNvPr>
          <p:cNvSpPr txBox="1"/>
          <p:nvPr/>
        </p:nvSpPr>
        <p:spPr>
          <a:xfrm>
            <a:off x="5188513" y="2178055"/>
            <a:ext cx="232756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084A08F1-C786-AE25-9543-729B1DCA9206}"/>
              </a:ext>
            </a:extLst>
          </p:cNvPr>
          <p:cNvSpPr/>
          <p:nvPr/>
        </p:nvSpPr>
        <p:spPr>
          <a:xfrm>
            <a:off x="5387187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</a:rPr>
              <a:t>4. Lattices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4D425-67C2-B4D8-E49F-E4F8977470A9}"/>
              </a:ext>
            </a:extLst>
          </p:cNvPr>
          <p:cNvSpPr txBox="1"/>
          <p:nvPr/>
        </p:nvSpPr>
        <p:spPr>
          <a:xfrm>
            <a:off x="6770425" y="2178055"/>
            <a:ext cx="232756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9F6CC274-4EBA-CB91-2782-1F5BCEE24D05}"/>
              </a:ext>
            </a:extLst>
          </p:cNvPr>
          <p:cNvSpPr/>
          <p:nvPr/>
        </p:nvSpPr>
        <p:spPr>
          <a:xfrm>
            <a:off x="6969099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</a:rPr>
              <a:t>5. SIS/LWE and Lattices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51B74-7C71-49EE-F317-D741B3F7CD91}"/>
              </a:ext>
            </a:extLst>
          </p:cNvPr>
          <p:cNvSpPr txBox="1"/>
          <p:nvPr/>
        </p:nvSpPr>
        <p:spPr>
          <a:xfrm>
            <a:off x="8352337" y="2178055"/>
            <a:ext cx="232756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221325A6-7421-FB68-56F2-167344D3C938}"/>
              </a:ext>
            </a:extLst>
          </p:cNvPr>
          <p:cNvSpPr/>
          <p:nvPr/>
        </p:nvSpPr>
        <p:spPr>
          <a:xfrm>
            <a:off x="8551011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</a:rPr>
              <a:t>6. Ring-SIS and Ring-LWE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6175C6-2702-46BF-CE7D-41C751163AFE}"/>
              </a:ext>
            </a:extLst>
          </p:cNvPr>
          <p:cNvSpPr txBox="1"/>
          <p:nvPr/>
        </p:nvSpPr>
        <p:spPr>
          <a:xfrm>
            <a:off x="9934249" y="2178055"/>
            <a:ext cx="232756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7B97B0E4-BA42-EF0D-0022-5575F626E37C}"/>
              </a:ext>
            </a:extLst>
          </p:cNvPr>
          <p:cNvSpPr/>
          <p:nvPr/>
        </p:nvSpPr>
        <p:spPr>
          <a:xfrm>
            <a:off x="10132923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</a:rPr>
              <a:t>7. Module-SIS and Module-LWE</a:t>
            </a:r>
          </a:p>
        </p:txBody>
      </p:sp>
    </p:spTree>
    <p:extLst>
      <p:ext uri="{BB962C8B-B14F-4D97-AF65-F5344CB8AC3E}">
        <p14:creationId xmlns:p14="http://schemas.microsoft.com/office/powerpoint/2010/main" val="415463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3314</TotalTime>
  <Words>595</Words>
  <Application>Microsoft Office PowerPoint</Application>
  <PresentationFormat>와이드스크린</PresentationFormat>
  <Paragraphs>147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Post-Quantum Cryptography</vt:lpstr>
      <vt:lpstr>Plan</vt:lpstr>
      <vt:lpstr>전체 커리귤럼 구성</vt:lpstr>
      <vt:lpstr>일정 구성 원칙</vt:lpstr>
      <vt:lpstr>학습 일정표</vt:lpstr>
      <vt:lpstr>Introduction</vt:lpstr>
      <vt:lpstr>PQC 배경</vt:lpstr>
      <vt:lpstr>Kyber / Dilithium의 안전성 근거</vt:lpstr>
      <vt:lpstr>Lattice-Based Cryptography의 목적</vt:lpstr>
      <vt:lpstr>Lattice-Based Cryptography의 흐름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703</cp:revision>
  <dcterms:created xsi:type="dcterms:W3CDTF">2026-03-17T05:07:50Z</dcterms:created>
  <dcterms:modified xsi:type="dcterms:W3CDTF">2026-07-27T13:52:34Z</dcterms:modified>
</cp:coreProperties>
</file>