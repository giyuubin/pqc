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70" r:id="rId30"/>
    <p:sldId id="359" r:id="rId31"/>
    <p:sldId id="360" r:id="rId32"/>
    <p:sldId id="361" r:id="rId33"/>
    <p:sldId id="362" r:id="rId34"/>
    <p:sldId id="363" r:id="rId35"/>
    <p:sldId id="364" r:id="rId36"/>
    <p:sldId id="372" r:id="rId37"/>
    <p:sldId id="365" r:id="rId38"/>
    <p:sldId id="366" r:id="rId39"/>
    <p:sldId id="367" r:id="rId40"/>
    <p:sldId id="373" r:id="rId41"/>
    <p:sldId id="374" r:id="rId42"/>
    <p:sldId id="368" r:id="rId43"/>
    <p:sldId id="369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693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62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Post-Quantum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6. Ring-SIS and Ring-LWE &amp;</a:t>
            </a:r>
          </a:p>
          <a:p>
            <a:r>
              <a:rPr lang="en-US" altLang="ko-KR" dirty="0"/>
              <a:t>7. Module-SIS and Module-LWE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62A060-71A6-5EA2-F906-1524933F5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8962"/>
                <a:ext cx="10515600" cy="5037388"/>
              </a:xfrm>
            </p:spPr>
            <p:txBody>
              <a:bodyPr anchor="t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ko-KR" altLang="en-US" dirty="0"/>
                  <a:t>다항식 링</a:t>
                </a:r>
                <a:endParaRPr lang="en-US" altLang="ko-KR" dirty="0"/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ko-KR" altLang="en-US" dirty="0"/>
                  <a:t>이상 격자</a:t>
                </a:r>
                <a:endParaRPr lang="en-US" altLang="ko-KR" dirty="0"/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ko-KR" altLang="en-US" dirty="0"/>
                  <a:t>순환 격자</a:t>
                </a:r>
                <a:endParaRPr lang="en-US" altLang="ko-KR" dirty="0"/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ko-KR" altLang="en-US" dirty="0"/>
                  <a:t>반순환 격자</a:t>
                </a:r>
                <a:endParaRPr lang="en-US" altLang="ko-KR" dirty="0"/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altLang="ko-KR" dirty="0"/>
                  <a:t>Ring-SIS &amp; Ring-LWE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ko-KR" altLang="en-US" dirty="0"/>
                  <a:t>모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endParaRPr lang="en-US" altLang="ko-KR" dirty="0"/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altLang="ko-KR" dirty="0"/>
                  <a:t>Module-SIS &amp; Module-LWE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62A060-71A6-5EA2-F906-1524933F5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8962"/>
                <a:ext cx="10515600" cy="5037388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DE6F3-2098-228F-34DC-312CEF5D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LWE</a:t>
            </a:r>
            <a:r>
              <a:rPr lang="ko-KR" altLang="en-US" dirty="0"/>
              <a:t> 기반 공개키 암호화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B4566E-BACF-E2A3-60F7-3772D5E8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SIS·LWE</a:t>
            </a:r>
            <a:r>
              <a:rPr lang="ko-KR" altLang="en-US" dirty="0"/>
              <a:t>는 격자</a:t>
            </a:r>
            <a:r>
              <a:rPr lang="en-US" altLang="ko-KR" dirty="0"/>
              <a:t> </a:t>
            </a:r>
            <a:r>
              <a:rPr lang="ko-KR" altLang="en-US" dirty="0"/>
              <a:t>위의 문제로 재해석된다</a:t>
            </a:r>
            <a:r>
              <a:rPr lang="en-US" altLang="ko-KR" dirty="0"/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Lindner-Peikert </a:t>
            </a:r>
            <a:r>
              <a:rPr lang="ko-KR" altLang="en-US" dirty="0"/>
              <a:t>공개키 암호</a:t>
            </a:r>
            <a:r>
              <a:rPr lang="en-US" altLang="ko-KR" dirty="0"/>
              <a:t>: LWE </a:t>
            </a:r>
            <a:r>
              <a:rPr lang="ko-KR" altLang="en-US" dirty="0"/>
              <a:t>기반</a:t>
            </a:r>
            <a:r>
              <a:rPr lang="en-US" altLang="ko-KR" dirty="0"/>
              <a:t>, </a:t>
            </a:r>
            <a:r>
              <a:rPr lang="ko-KR" altLang="en-US" dirty="0"/>
              <a:t>안전하지만 한 번에 </a:t>
            </a:r>
            <a:r>
              <a:rPr lang="en-US" altLang="ko-KR" dirty="0"/>
              <a:t>1</a:t>
            </a:r>
            <a:r>
              <a:rPr lang="ko-KR" altLang="en-US" dirty="0"/>
              <a:t>비트만 암호화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ko-KR" dirty="0"/>
              <a:t>- </a:t>
            </a:r>
            <a:r>
              <a:rPr lang="ko-KR" altLang="en-US" dirty="0"/>
              <a:t>원인</a:t>
            </a:r>
            <a:r>
              <a:rPr lang="en-US" altLang="ko-KR" dirty="0"/>
              <a:t>: </a:t>
            </a:r>
            <a:r>
              <a:rPr lang="ko-KR" altLang="en-US" dirty="0"/>
              <a:t>암호문 성분 </a:t>
            </a:r>
            <a:r>
              <a:rPr lang="en-US" altLang="ko-KR" dirty="0"/>
              <a:t>c₂ = </a:t>
            </a:r>
            <a:r>
              <a:rPr lang="en-US" altLang="ko-KR" dirty="0" err="1"/>
              <a:t>bᵀr</a:t>
            </a:r>
            <a:r>
              <a:rPr lang="ko-KR" altLang="en-US" dirty="0"/>
              <a:t> </a:t>
            </a:r>
            <a:r>
              <a:rPr lang="en-US" altLang="ko-KR" dirty="0"/>
              <a:t>+ z′ + ⌈q/2⌉m </a:t>
            </a:r>
            <a:r>
              <a:rPr lang="ko-KR" altLang="en-US" dirty="0"/>
              <a:t>이 정수 하나</a:t>
            </a:r>
            <a:r>
              <a:rPr lang="en-US" altLang="ko-KR" dirty="0"/>
              <a:t>(</a:t>
            </a:r>
            <a:r>
              <a:rPr lang="ko-KR" altLang="en-US" dirty="0"/>
              <a:t>스칼라</a:t>
            </a:r>
            <a:r>
              <a:rPr lang="en-US" altLang="ko-KR" dirty="0"/>
              <a:t>)</a:t>
            </a:r>
            <a:r>
              <a:rPr lang="ko-KR" altLang="en-US" dirty="0"/>
              <a:t>라서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ko-KR" dirty="0"/>
              <a:t>- </a:t>
            </a:r>
            <a:r>
              <a:rPr lang="ko-KR" altLang="en-US" dirty="0"/>
              <a:t>오차 처리 때문에 비트 하나 이상은 </a:t>
            </a:r>
            <a:r>
              <a:rPr lang="ko-KR" altLang="en-US" dirty="0" err="1"/>
              <a:t>욱여넣을</a:t>
            </a:r>
            <a:r>
              <a:rPr lang="ko-KR" altLang="en-US" dirty="0"/>
              <a:t>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0D0D9-2EFD-59A3-51A7-B28C3E3C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52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F38C-DC12-215C-6D78-4BF4E66B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23FCB-304B-FEED-DE2A-8BAA30CD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다항식으로 바꾸는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65B42-CAE3-C65C-1C7E-171F0CAAB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ko-KR" altLang="en-US" dirty="0"/>
              <a:t> 원소를 차수 </a:t>
            </a:r>
            <a:r>
              <a:rPr lang="en-US" altLang="ko-KR" dirty="0"/>
              <a:t>&lt; n</a:t>
            </a:r>
            <a:r>
              <a:rPr lang="ko-KR" altLang="en-US" dirty="0"/>
              <a:t>인 다항식</a:t>
            </a:r>
            <a:r>
              <a:rPr lang="en-US" altLang="ko-KR" dirty="0"/>
              <a:t>(</a:t>
            </a:r>
            <a:r>
              <a:rPr lang="ko-KR" altLang="en-US" dirty="0"/>
              <a:t>계수는 </a:t>
            </a:r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en-US" altLang="ko-KR" dirty="0"/>
              <a:t>)</a:t>
            </a:r>
            <a:r>
              <a:rPr lang="ko-KR" altLang="en-US" dirty="0"/>
              <a:t>으로 바꾸면 </a:t>
            </a:r>
            <a:r>
              <a:rPr lang="en-US" altLang="ko-KR" dirty="0"/>
              <a:t>c₂</a:t>
            </a:r>
            <a:r>
              <a:rPr lang="ko-KR" altLang="en-US" dirty="0"/>
              <a:t>도 다항식이 된다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lnSpc>
                <a:spcPct val="200000"/>
              </a:lnSpc>
            </a:pPr>
            <a:r>
              <a:rPr lang="ko-KR" altLang="en-US" dirty="0"/>
              <a:t>다항식은 계수가 </a:t>
            </a:r>
            <a:r>
              <a:rPr lang="en-US" altLang="ko-KR" dirty="0"/>
              <a:t>n</a:t>
            </a:r>
            <a:r>
              <a:rPr lang="ko-KR" altLang="en-US" dirty="0"/>
              <a:t>개 → 계수마다 비트 하나씩</a:t>
            </a:r>
            <a:r>
              <a:rPr lang="en-US" altLang="ko-KR" dirty="0"/>
              <a:t>, </a:t>
            </a:r>
            <a:r>
              <a:rPr lang="ko-KR" altLang="en-US" dirty="0"/>
              <a:t>한 번에 </a:t>
            </a:r>
            <a:r>
              <a:rPr lang="en-US" altLang="ko-KR" dirty="0"/>
              <a:t>n</a:t>
            </a:r>
            <a:r>
              <a:rPr lang="ko-KR" altLang="en-US" dirty="0"/>
              <a:t>비트 암호화 가능</a:t>
            </a:r>
            <a:r>
              <a:rPr lang="en-US" altLang="ko-KR" dirty="0"/>
              <a:t>.</a:t>
            </a:r>
            <a:endParaRPr lang="ko-KR" altLang="en-US" dirty="0"/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ko-KR" dirty="0"/>
              <a:t>- Kyber/</a:t>
            </a:r>
            <a:r>
              <a:rPr lang="en-US" altLang="ko-KR" dirty="0" err="1"/>
              <a:t>Dilithium</a:t>
            </a:r>
            <a:r>
              <a:rPr lang="ko-KR" altLang="en-US" dirty="0"/>
              <a:t>은 </a:t>
            </a:r>
            <a:r>
              <a:rPr lang="en-US" altLang="ko-KR" dirty="0"/>
              <a:t>n = 256 → </a:t>
            </a:r>
            <a:r>
              <a:rPr lang="ko-KR" altLang="en-US" dirty="0" err="1"/>
              <a:t>대칭키</a:t>
            </a:r>
            <a:r>
              <a:rPr lang="ko-KR" altLang="en-US" dirty="0"/>
              <a:t> 세션 키로 충분한 크기를 한 번에 암호화</a:t>
            </a:r>
            <a:r>
              <a:rPr lang="en-US" altLang="ko-KR" dirty="0"/>
              <a:t>.</a:t>
            </a:r>
            <a:endParaRPr lang="ko-KR" altLang="en-US" dirty="0"/>
          </a:p>
          <a:p>
            <a:pPr>
              <a:lnSpc>
                <a:spcPct val="200000"/>
              </a:lnSpc>
            </a:pPr>
            <a:r>
              <a:rPr lang="ko-KR" altLang="en-US" dirty="0"/>
              <a:t>이 아이디어의 가장 단순한 형태 </a:t>
            </a:r>
            <a:r>
              <a:rPr lang="en-US" altLang="ko-KR" dirty="0"/>
              <a:t>= Ring-SIS · Ring-LWE (rank-1 </a:t>
            </a:r>
            <a:r>
              <a:rPr lang="ko-KR" altLang="en-US" dirty="0"/>
              <a:t>모듈</a:t>
            </a:r>
            <a:r>
              <a:rPr lang="en-US" altLang="ko-KR" dirty="0"/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일반화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Module-SIS · Module-LWE </a:t>
            </a:r>
          </a:p>
          <a:p>
            <a:pPr marL="457200" lvl="1" indent="0">
              <a:lnSpc>
                <a:spcPct val="200000"/>
              </a:lnSpc>
              <a:buNone/>
            </a:pPr>
            <a:r>
              <a:rPr lang="en-US" altLang="ko-KR" dirty="0"/>
              <a:t>- Kyber/</a:t>
            </a:r>
            <a:r>
              <a:rPr lang="en-US" altLang="ko-KR" dirty="0" err="1"/>
              <a:t>Dilithium</a:t>
            </a:r>
            <a:r>
              <a:rPr lang="ko-KR" altLang="en-US" dirty="0"/>
              <a:t>의 실제 안전성 근거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E9ADA-118E-41EB-1650-A08668CA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64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4F41-7F63-15EE-DC35-600B44B7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2B7EEE-1473-519A-0252-658C5463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다항식 링 </a:t>
            </a:r>
            <a:r>
              <a:rPr lang="en-US" altLang="ko-KR" dirty="0"/>
              <a:t>R = ℤ[x]/(f)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432D59A-1983-C57E-7C6A-390CE47F3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>
                          <a:latin typeface="Cambria Math"/>
                        </a:rPr>
                        <m:t>𝑅</m:t>
                      </m:r>
                      <m:r>
                        <a:rPr lang="en-US" altLang="ko-KR" sz="2400" i="1">
                          <a:latin typeface="Cambria Math"/>
                        </a:rPr>
                        <m:t>=</m:t>
                      </m:r>
                      <m:r>
                        <a:rPr lang="en-US" altLang="ko-KR" sz="2400" i="1">
                          <a:latin typeface="Cambria Math"/>
                        </a:rPr>
                        <m:t>ℤ</m:t>
                      </m:r>
                      <m:r>
                        <a:rPr lang="en-US" altLang="ko-KR" sz="2400" i="1">
                          <a:latin typeface="Cambria Math"/>
                        </a:rPr>
                        <m:t>[</m:t>
                      </m:r>
                      <m:r>
                        <a:rPr lang="ko-KR" altLang="en-US" sz="2400" i="1">
                          <a:latin typeface="Cambria Math"/>
                        </a:rPr>
                        <m:t>𝑥</m:t>
                      </m:r>
                      <m:r>
                        <a:rPr lang="en-US" altLang="ko-KR" sz="2400" i="1">
                          <a:latin typeface="Cambria Math"/>
                        </a:rPr>
                        <m:t>]/(</m:t>
                      </m:r>
                      <m:r>
                        <a:rPr lang="ko-KR" altLang="en-US" sz="2400" i="1">
                          <a:latin typeface="Cambria Math"/>
                        </a:rPr>
                        <m:t>𝑓</m:t>
                      </m:r>
                      <m:r>
                        <a:rPr lang="en-US" altLang="ko-KR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sz="2400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f: </a:t>
                </a:r>
                <a:r>
                  <a:rPr lang="ko-KR" altLang="en-US" dirty="0"/>
                  <a:t>차수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모닉</a:t>
                </a:r>
                <a:r>
                  <a:rPr lang="en-US" altLang="ko-KR" dirty="0"/>
                  <a:t>(monic, </a:t>
                </a:r>
                <a:r>
                  <a:rPr lang="ko-KR" altLang="en-US" dirty="0" err="1"/>
                  <a:t>최고차항</a:t>
                </a:r>
                <a:r>
                  <a:rPr lang="ko-KR" altLang="en-US" dirty="0"/>
                  <a:t> 계수 </a:t>
                </a:r>
                <a:r>
                  <a:rPr lang="en-US" altLang="ko-KR" dirty="0"/>
                  <a:t>1) </a:t>
                </a:r>
                <a:r>
                  <a:rPr lang="ko-KR" altLang="en-US" dirty="0"/>
                  <a:t>다항식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R = </a:t>
                </a:r>
                <a:r>
                  <a:rPr lang="ko-KR" altLang="en-US" dirty="0"/>
                  <a:t>차수 </a:t>
                </a:r>
                <a:r>
                  <a:rPr lang="en-US" altLang="ko-KR" dirty="0"/>
                  <a:t>&lt; n</a:t>
                </a:r>
                <a:r>
                  <a:rPr lang="ko-KR" altLang="en-US" dirty="0"/>
                  <a:t>인 정수계수 다항식 전체의 집합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덧셈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뺄셈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계수별로 그대로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곱셈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먼저 보통 다항식 곱셈 → </a:t>
                </a:r>
                <a:r>
                  <a:rPr lang="en-US" altLang="ko-KR" dirty="0"/>
                  <a:t>f</a:t>
                </a:r>
                <a:r>
                  <a:rPr lang="ko-KR" altLang="en-US" dirty="0"/>
                  <a:t>로 나눈 나머지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차수 ≤ </a:t>
                </a:r>
                <a:r>
                  <a:rPr lang="en-US" altLang="ko-KR" dirty="0"/>
                  <a:t>n−1)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암호학에서는 계수도 </a:t>
                </a:r>
                <a:r>
                  <a:rPr lang="en-US" altLang="ko-KR" dirty="0"/>
                  <a:t>mod q</a:t>
                </a:r>
                <a:r>
                  <a:rPr lang="ko-KR" altLang="en-US" dirty="0"/>
                  <a:t>로 취급</a:t>
                </a:r>
                <a:r>
                  <a:rPr lang="en-US" altLang="ko-KR" dirty="0"/>
                  <a:t>: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en-US" altLang="ko-KR" dirty="0" err="1"/>
                  <a:t>ℤ</a:t>
                </a:r>
                <a:r>
                  <a:rPr lang="en-US" altLang="ko-KR" baseline="-25000" dirty="0" err="1"/>
                  <a:t>q</a:t>
                </a:r>
                <a:r>
                  <a:rPr lang="en-US" altLang="ko-KR" dirty="0"/>
                  <a:t>[x]/(f)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432D59A-1983-C57E-7C6A-390CE47F3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770FB-C567-96C7-6D25-C4BF5570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274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D7EB-A210-C846-EB30-38084C1E5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45C07-F099-77F1-2565-41FB7C4E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다항식의 벡터 표현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BE2C6E-BDB0-7948-D697-7ABC66287C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a(x) = a₀ + </a:t>
                </a:r>
                <a:r>
                  <a:rPr lang="en-US" altLang="ko-KR" dirty="0" err="1"/>
                  <a:t>a₁x</a:t>
                </a:r>
                <a:r>
                  <a:rPr lang="en-US" altLang="ko-KR" dirty="0"/>
                  <a:t> + ⋯ + aₙ₋₁xⁿ⁻¹  ↔  </a:t>
                </a:r>
                <a:r>
                  <a:rPr lang="ko-KR" altLang="en-US" dirty="0"/>
                  <a:t>벡터 </a:t>
                </a:r>
                <a:r>
                  <a:rPr lang="en-US" altLang="ko-KR" dirty="0"/>
                  <a:t>(a₀, a₁, …, aₙ₋₁)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예제</a:t>
                </a:r>
                <a:r>
                  <a:rPr lang="en-US" altLang="ko-KR" dirty="0"/>
                  <a:t>: R = ℤ[x]/(x⁴+2x²−11x+1), n=4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)=</m:t>
                      </m:r>
                      <m:r>
                        <a:rPr lang="ar-AE" altLang="ko-KR" i="1">
                          <a:latin typeface="Cambria Math"/>
                        </a:rPr>
                        <m:t>23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11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7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↔(</m:t>
                      </m:r>
                      <m:r>
                        <a:rPr lang="ar-AE" altLang="ko-KR" i="1">
                          <a:latin typeface="Cambria Math"/>
                        </a:rPr>
                        <m:t>23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0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11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7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 marL="457200" lvl="1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)=</m:t>
                      </m:r>
                      <m:r>
                        <a:rPr lang="ar-AE" altLang="ko-KR" i="1">
                          <a:latin typeface="Cambria Math"/>
                        </a:rPr>
                        <m:t>40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5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16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↔(</m:t>
                      </m:r>
                      <m:r>
                        <a:rPr lang="ar-AE" altLang="ko-KR" i="1">
                          <a:latin typeface="Cambria Math"/>
                        </a:rPr>
                        <m:t>40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5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16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ar-AE" altLang="ko-KR" i="1">
                          <a:latin typeface="Cambria Math"/>
                        </a:rPr>
                        <m:t>0</m:t>
                      </m:r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 marL="457200" lvl="1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/>
                        </a:rPr>
                        <m:t>𝑎</m:t>
                      </m:r>
                      <m:r>
                        <a:rPr lang="en-US" altLang="ko-KR" i="1">
                          <a:latin typeface="Cambria Math"/>
                        </a:rPr>
                        <m:t>+</m:t>
                      </m:r>
                      <m:r>
                        <a:rPr lang="ko-KR" altLang="en-US" i="1">
                          <a:latin typeface="Cambria Math"/>
                        </a:rPr>
                        <m:t>𝑏</m:t>
                      </m:r>
                      <m:r>
                        <a:rPr lang="en-US" altLang="ko-KR" i="1">
                          <a:latin typeface="Cambria Math"/>
                        </a:rPr>
                        <m:t>=(</m:t>
                      </m:r>
                      <m:r>
                        <a:rPr lang="en-US" altLang="ko-KR" i="1">
                          <a:latin typeface="Cambria Math"/>
                        </a:rPr>
                        <m:t>63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en-US" altLang="ko-KR" i="1">
                          <a:latin typeface="Cambria Math"/>
                        </a:rPr>
                        <m:t>5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en-US" altLang="ko-KR" i="1">
                          <a:latin typeface="Cambria Math"/>
                        </a:rPr>
                        <m:t>27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en-US" altLang="ko-KR" i="1">
                          <a:latin typeface="Cambria Math"/>
                        </a:rPr>
                        <m:t>7</m:t>
                      </m:r>
                      <m:r>
                        <a:rPr lang="en-US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곱셈은 먼저 보통 곱셈 → </a:t>
                </a:r>
                <a:r>
                  <a:rPr lang="en-US" altLang="ko-KR" dirty="0"/>
                  <a:t>f(x)=0</a:t>
                </a:r>
                <a:r>
                  <a:rPr lang="ko-KR" altLang="en-US" dirty="0"/>
                  <a:t>에서 얻은 </a:t>
                </a:r>
                <a:r>
                  <a:rPr lang="en-US" altLang="ko-KR" dirty="0"/>
                  <a:t>x⁴=−2x²+11x−1 </a:t>
                </a:r>
                <a:r>
                  <a:rPr lang="ko-KR" altLang="en-US" dirty="0"/>
                  <a:t>규칙으로 환원</a:t>
                </a:r>
              </a:p>
              <a:p>
                <a:pPr marL="457200" lvl="1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)×</m:t>
                      </m:r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)≡</m:t>
                      </m:r>
                      <m:r>
                        <a:rPr lang="ar-AE" altLang="ko-KR" i="1">
                          <a:latin typeface="Cambria Math"/>
                        </a:rPr>
                        <m:t>709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2324</m:t>
                      </m:r>
                      <m:r>
                        <a:rPr lang="ko-KR" altLang="ar-AE" i="1">
                          <a:latin typeface="Cambria Math"/>
                        </a:rPr>
                        <m:t>𝑥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1618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ar-AE" altLang="ko-KR" i="1">
                          <a:latin typeface="Cambria Math"/>
                        </a:rPr>
                        <m:t>111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mod</m:t>
                      </m:r>
                      <m:r>
                        <a:rPr lang="ko-KR" altLang="en-US" i="1">
                          <a:latin typeface="Cambria Math"/>
                        </a:rPr>
                        <m:t>𝑓</m:t>
                      </m:r>
                      <m:r>
                        <a:rPr lang="en-US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BE2C6E-BDB0-7948-D697-7ABC66287C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966FD2-0D79-C5C8-BABA-3186D53B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54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D406-EE52-F306-1A3D-C0AF47A9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32881-7ADF-EA70-DE11-C6D71DF0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Ideal (</a:t>
            </a:r>
            <a:r>
              <a:rPr lang="ko-KR" altLang="en-US" dirty="0"/>
              <a:t>이상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3E640-DBE4-0078-EC5C-E3CE7B2D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I ⊆ R</a:t>
            </a:r>
            <a:r>
              <a:rPr lang="ko-KR" altLang="en-US" dirty="0"/>
              <a:t>가 다음을 만족하면 이상</a:t>
            </a:r>
            <a:r>
              <a:rPr lang="en-US" altLang="ko-KR" dirty="0"/>
              <a:t>(ideal)</a:t>
            </a:r>
            <a:r>
              <a:rPr lang="ko-KR" altLang="en-US" dirty="0"/>
              <a:t>이라 한다</a:t>
            </a:r>
            <a:r>
              <a:rPr lang="en-US" altLang="ko-KR" dirty="0"/>
              <a:t>: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 err="1"/>
              <a:t>i</a:t>
            </a:r>
            <a:r>
              <a:rPr lang="en-US" altLang="ko-KR" dirty="0"/>
              <a:t>) 0 ∈ I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ii) a, b ∈ I ⇒ </a:t>
            </a:r>
            <a:r>
              <a:rPr lang="en-US" altLang="ko-KR" dirty="0" err="1"/>
              <a:t>a+b</a:t>
            </a:r>
            <a:r>
              <a:rPr lang="en-US" altLang="ko-KR" dirty="0"/>
              <a:t> ∈ I, a−b ∈ I  (</a:t>
            </a:r>
            <a:r>
              <a:rPr lang="ko-KR" altLang="en-US" dirty="0"/>
              <a:t>덧셈</a:t>
            </a:r>
            <a:r>
              <a:rPr lang="en-US" altLang="ko-KR" dirty="0"/>
              <a:t>·</a:t>
            </a:r>
            <a:r>
              <a:rPr lang="ko-KR" altLang="en-US" dirty="0"/>
              <a:t>뺄셈에 닫힘</a:t>
            </a:r>
            <a:r>
              <a:rPr lang="en-US" altLang="ko-KR" dirty="0"/>
              <a:t>)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iii) a ∈ I, r ∈ R ⇒ </a:t>
            </a:r>
            <a:r>
              <a:rPr lang="en-US" altLang="ko-KR" dirty="0" err="1"/>
              <a:t>a·r</a:t>
            </a:r>
            <a:r>
              <a:rPr lang="en-US" altLang="ko-KR" dirty="0"/>
              <a:t> ∈ I  (</a:t>
            </a:r>
            <a:r>
              <a:rPr lang="ko-KR" altLang="en-US" dirty="0"/>
              <a:t>링의 임의의 원소를 곱해도 닫힘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조건</a:t>
            </a:r>
            <a:r>
              <a:rPr lang="en-US" altLang="ko-KR" dirty="0"/>
              <a:t>(ii)</a:t>
            </a:r>
            <a:r>
              <a:rPr lang="ko-KR" altLang="en-US" dirty="0"/>
              <a:t>는 격자의 가법 </a:t>
            </a:r>
            <a:r>
              <a:rPr lang="ko-KR" altLang="en-US" dirty="0" err="1"/>
              <a:t>부분군</a:t>
            </a:r>
            <a:r>
              <a:rPr lang="ko-KR" altLang="en-US" dirty="0"/>
              <a:t> 조건과 형태가 같지만</a:t>
            </a:r>
            <a:r>
              <a:rPr lang="en-US" altLang="ko-KR" dirty="0"/>
              <a:t>, (iii)</a:t>
            </a:r>
            <a:r>
              <a:rPr lang="ko-KR" altLang="en-US" dirty="0"/>
              <a:t>이 훨씬 강하다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이상은 자기 </a:t>
            </a:r>
            <a:r>
              <a:rPr lang="ko-KR" altLang="en-US" dirty="0" err="1"/>
              <a:t>자신끼리가</a:t>
            </a:r>
            <a:r>
              <a:rPr lang="ko-KR" altLang="en-US" dirty="0"/>
              <a:t> 아니라 링 전체의 임의 원소를 곱해도 안에 머물러야 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D7A15B-B1D3-9050-43F2-707A30AC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14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7711A-F26F-EC09-004D-D38FFEEA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68668-BAE5-EC91-1520-2356B9FF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Principal Ideal (</a:t>
            </a:r>
            <a:r>
              <a:rPr lang="ko-KR" altLang="en-US" dirty="0"/>
              <a:t>주 이상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C980A2-F710-018F-5542-7C6E24C93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>
                    <a:latin typeface="+mn-ea"/>
                  </a:rPr>
                  <a:t>주 이상</a:t>
                </a:r>
                <a:r>
                  <a:rPr lang="en-US" altLang="ko-KR" dirty="0">
                    <a:latin typeface="+mn-ea"/>
                  </a:rPr>
                  <a:t>(Principal Ideal)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)⟩={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ko-KR" i="1">
                          <a:latin typeface="+mn-ea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m:rPr>
                          <m:nor/>
                        </m:rPr>
                        <a:rPr lang="en-US" altLang="ko-KR" i="1">
                          <a:latin typeface="+mn-ea"/>
                        </a:rPr>
                        <m:t>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):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>
                  <a:latin typeface="+mn-ea"/>
                </a:endParaRPr>
              </a:p>
              <a:p>
                <a:pPr lvl="1"/>
                <a:r>
                  <a:rPr lang="en-US" altLang="ko-KR" dirty="0">
                    <a:latin typeface="+mn-ea"/>
                  </a:rPr>
                  <a:t>a(x)</a:t>
                </a:r>
                <a:r>
                  <a:rPr lang="ko-KR" altLang="en-US" dirty="0">
                    <a:latin typeface="+mn-ea"/>
                  </a:rPr>
                  <a:t>의 모든 배수로 이루어진 집합</a:t>
                </a:r>
                <a:endParaRPr lang="en-US" altLang="ko-KR" dirty="0">
                  <a:latin typeface="+mn-ea"/>
                </a:endParaRPr>
              </a:p>
              <a:p>
                <a:pPr marL="914400" lvl="2" indent="0">
                  <a:buNone/>
                </a:pPr>
                <a:r>
                  <a:rPr lang="en-US" altLang="ko-KR" dirty="0">
                    <a:latin typeface="+mn-ea"/>
                  </a:rPr>
                  <a:t>- a(x)</a:t>
                </a:r>
                <a:r>
                  <a:rPr lang="ko-KR" altLang="en-US" dirty="0">
                    <a:latin typeface="+mn-ea"/>
                  </a:rPr>
                  <a:t>가 생성한 주 이상</a:t>
                </a:r>
              </a:p>
              <a:p>
                <a:r>
                  <a:rPr lang="ko-KR" altLang="en-US" dirty="0">
                    <a:latin typeface="+mn-ea"/>
                  </a:rPr>
                  <a:t>다중 </a:t>
                </a:r>
                <a:r>
                  <a:rPr lang="ko-KR" altLang="en-US" dirty="0" err="1">
                    <a:latin typeface="+mn-ea"/>
                  </a:rPr>
                  <a:t>생성원</a:t>
                </a:r>
                <a:r>
                  <a:rPr lang="ko-KR" altLang="en-US" dirty="0">
                    <a:latin typeface="+mn-ea"/>
                  </a:rPr>
                  <a:t> 이상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)⟩={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ar-AE" altLang="ko-KR" i="1">
                          <a:latin typeface="+mn-ea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m:rPr>
                          <m:nor/>
                        </m:rPr>
                        <a:rPr lang="en-US" altLang="ko-KR" i="1">
                          <a:latin typeface="+mn-ea"/>
                        </a:rPr>
                        <m:t> 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):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ar-AE" altLang="ko-KR" dirty="0">
                  <a:latin typeface="+mn-ea"/>
                </a:endParaRPr>
              </a:p>
              <a:p>
                <a:pPr lvl="1"/>
                <a:r>
                  <a:rPr lang="en-US" altLang="ko-KR" dirty="0">
                    <a:latin typeface="+mn-ea"/>
                  </a:rPr>
                  <a:t>a₁, a₂</a:t>
                </a:r>
                <a:r>
                  <a:rPr lang="ko-KR" altLang="en-US" dirty="0">
                    <a:latin typeface="+mn-ea"/>
                  </a:rPr>
                  <a:t>가 생성한 이상</a:t>
                </a:r>
                <a:endParaRPr lang="en-US" altLang="ko-KR" dirty="0">
                  <a:latin typeface="+mn-ea"/>
                </a:endParaRPr>
              </a:p>
              <a:p>
                <a:pPr marL="914400" lvl="2" indent="0">
                  <a:buNone/>
                </a:pPr>
                <a:r>
                  <a:rPr lang="en-US" altLang="ko-KR" dirty="0">
                    <a:latin typeface="+mn-ea"/>
                  </a:rPr>
                  <a:t>- </a:t>
                </a:r>
                <a:r>
                  <a:rPr lang="ko-KR" altLang="en-US" dirty="0">
                    <a:latin typeface="+mn-ea"/>
                  </a:rPr>
                  <a:t>조건</a:t>
                </a:r>
                <a:r>
                  <a:rPr lang="en-US" altLang="ko-KR" dirty="0">
                    <a:latin typeface="+mn-ea"/>
                  </a:rPr>
                  <a:t>(ii)(iii)</a:t>
                </a:r>
                <a:r>
                  <a:rPr lang="ko-KR" altLang="en-US" dirty="0">
                    <a:latin typeface="+mn-ea"/>
                  </a:rPr>
                  <a:t>을 직접 대입해 확인 가능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C980A2-F710-018F-5542-7C6E24C93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7B4FA4-F297-B8A1-6A9A-C182143F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4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53C2-F132-4F57-9711-62474B64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80390-1B34-FA7F-F0C3-FAECF6705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Ideal Lattice (</a:t>
            </a:r>
            <a:r>
              <a:rPr lang="ko-KR" altLang="en-US" dirty="0"/>
              <a:t>이상 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956C50-9E53-45AA-BABF-E9EBA4C45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)={</m:t>
                      </m:r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)∈</m:t>
                      </m:r>
                      <m:r>
                        <m:rPr>
                          <m:sty m:val="p"/>
                        </m:rPr>
                        <a:rPr lang="ko-KR" altLang="en-US" sz="2400" i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I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R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이 아닌 이상이면</a:t>
                </a:r>
                <a:r>
                  <a:rPr lang="en-US" altLang="ko-KR" dirty="0"/>
                  <a:t>, L(I)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ℝⁿ </a:t>
                </a:r>
                <a:r>
                  <a:rPr lang="ko-KR" altLang="en-US" dirty="0"/>
                  <a:t>안의 정수 격자</a:t>
                </a:r>
                <a:endParaRPr lang="en-US" altLang="ko-KR" dirty="0"/>
              </a:p>
              <a:p>
                <a:pPr marL="457200" lvl="1" indent="0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이상 격자</a:t>
                </a:r>
                <a:r>
                  <a:rPr lang="en-US" altLang="ko-KR" dirty="0"/>
                  <a:t>(ideal lattice)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이상의 조건</a:t>
                </a:r>
                <a:r>
                  <a:rPr lang="en-US" altLang="ko-KR" dirty="0"/>
                  <a:t>(ii) = </a:t>
                </a:r>
                <a:r>
                  <a:rPr lang="ko-KR" altLang="en-US" dirty="0"/>
                  <a:t>격자의 가법 </a:t>
                </a:r>
                <a:r>
                  <a:rPr lang="ko-KR" altLang="en-US" dirty="0" err="1"/>
                  <a:t>부분군</a:t>
                </a:r>
                <a:r>
                  <a:rPr lang="ko-KR" altLang="en-US" dirty="0"/>
                  <a:t> 조건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정수 계수라 이산성도 자동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주의</a:t>
                </a:r>
                <a:r>
                  <a:rPr lang="en-US" altLang="ko-KR" dirty="0"/>
                  <a:t>: L(I)</a:t>
                </a:r>
                <a:r>
                  <a:rPr lang="ko-KR" altLang="en-US" dirty="0"/>
                  <a:t>가 항상 완전계수</a:t>
                </a:r>
                <a:r>
                  <a:rPr lang="en-US" altLang="ko-KR" dirty="0"/>
                  <a:t>(rank n)</a:t>
                </a:r>
                <a:r>
                  <a:rPr lang="ko-KR" altLang="en-US" dirty="0"/>
                  <a:t>인 것은 아니다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이번 차시는 두 특수한 경우만 다룬다</a:t>
                </a:r>
                <a:r>
                  <a:rPr lang="en-US" altLang="ko-KR" dirty="0"/>
                  <a:t>:</a:t>
                </a:r>
              </a:p>
              <a:p>
                <a:pPr lvl="1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Tx/>
                  <a:buChar char="-"/>
                </a:pPr>
                <a:r>
                  <a:rPr lang="en-US" altLang="ko-KR" dirty="0"/>
                  <a:t>f(x)=xⁿ−1  →  </a:t>
                </a:r>
                <a:r>
                  <a:rPr lang="ko-KR" altLang="en-US" dirty="0"/>
                  <a:t>순환 격자</a:t>
                </a:r>
                <a:r>
                  <a:rPr lang="en-US" altLang="ko-KR" dirty="0"/>
                  <a:t>(cyclic lattice)</a:t>
                </a:r>
              </a:p>
              <a:p>
                <a:pPr lvl="1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Tx/>
                  <a:buChar char="-"/>
                </a:pPr>
                <a:r>
                  <a:rPr lang="en-US" altLang="ko-KR" dirty="0"/>
                  <a:t>f(x)=xⁿ+1  →  </a:t>
                </a:r>
                <a:r>
                  <a:rPr lang="ko-KR" altLang="en-US" dirty="0"/>
                  <a:t>반순환 격자</a:t>
                </a:r>
                <a:r>
                  <a:rPr lang="en-US" altLang="ko-KR" dirty="0"/>
                  <a:t>(anti-cyclic lattice)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956C50-9E53-45AA-BABF-E9EBA4C45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83873-7FF7-8B8E-43FC-012A9920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826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8253D-506E-18F9-85A3-3CA36237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E71D5-1FEA-2C50-F0B7-27BDD971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Cyclic Lattice (</a:t>
            </a:r>
            <a:r>
              <a:rPr lang="ko-KR" altLang="en-US" dirty="0"/>
              <a:t>순환 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D36AE5A-CF30-16ED-AE68-5AA7E5F85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정의</a:t>
                </a:r>
                <a:r>
                  <a:rPr lang="en-US" altLang="ko-KR" dirty="0"/>
                  <a:t>: v=(v₀,…,vₙ₋₁)∈L</a:t>
                </a:r>
                <a:r>
                  <a:rPr lang="ko-KR" altLang="en-US" dirty="0"/>
                  <a:t>이면 우측 순환 시프트 </a:t>
                </a:r>
                <a:r>
                  <a:rPr lang="en-US" altLang="ko-KR" dirty="0"/>
                  <a:t>(vₙ₋₁,v₀,…,vₙ₋₂)</a:t>
                </a:r>
                <a:r>
                  <a:rPr lang="ko-KR" altLang="en-US" dirty="0"/>
                  <a:t>도 ∈</a:t>
                </a:r>
                <a:r>
                  <a:rPr lang="en-US" altLang="ko-KR" dirty="0"/>
                  <a:t>L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구조화된 격자</a:t>
                </a:r>
                <a:r>
                  <a:rPr lang="en-US" altLang="ko-KR" dirty="0"/>
                  <a:t>(structured lattice)</a:t>
                </a:r>
                <a:r>
                  <a:rPr lang="ko-KR" altLang="en-US" dirty="0"/>
                  <a:t>의 한 예</a:t>
                </a:r>
                <a:endParaRPr lang="en-US" altLang="ko-KR" dirty="0"/>
              </a:p>
              <a:p>
                <a:pPr marL="457200" lvl="1" indent="0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None/>
                </a:pPr>
                <a:r>
                  <a:rPr lang="en-US" altLang="ko-KR" dirty="0"/>
                  <a:t>- </a:t>
                </a:r>
                <a:r>
                  <a:rPr lang="en-US" altLang="ko-KR" dirty="0" err="1"/>
                  <a:t>Micciancio</a:t>
                </a:r>
                <a:r>
                  <a:rPr lang="en-US" altLang="ko-KR" dirty="0"/>
                  <a:t>(2002) </a:t>
                </a:r>
                <a:r>
                  <a:rPr lang="ko-KR" altLang="en-US" dirty="0"/>
                  <a:t>최초 연구</a:t>
                </a:r>
              </a:p>
              <a:p>
                <a:r>
                  <a:rPr lang="en-US" altLang="ko-KR" dirty="0"/>
                  <a:t>Claim: R=ℤ[x]/(xⁿ−1)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R</a:t>
                </a:r>
                <a:r>
                  <a:rPr lang="ko-KR" altLang="en-US" dirty="0"/>
                  <a:t>의 모든 이상 격자는 순환이다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nor/>
                        </m:rPr>
                        <a:rPr lang="ar-AE" altLang="ko-KR" i="1"/>
                        <m:t> 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(∵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즉 </a:t>
                </a:r>
                <a:r>
                  <a:rPr lang="en-US" altLang="ko-KR" dirty="0"/>
                  <a:t>v</a:t>
                </a:r>
                <a:r>
                  <a:rPr lang="ko-KR" altLang="en-US" dirty="0"/>
                  <a:t>의 우측 순환 시프트와 일치</a:t>
                </a:r>
                <a:r>
                  <a:rPr lang="en-US" altLang="ko-KR" dirty="0"/>
                  <a:t>. I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x</a:t>
                </a:r>
                <a:r>
                  <a:rPr lang="ko-KR" altLang="en-US" dirty="0"/>
                  <a:t>를 곱해도 닫혀 있으므로 </a:t>
                </a:r>
                <a:r>
                  <a:rPr lang="en-US" altLang="ko-KR" dirty="0" err="1"/>
                  <a:t>x·v</a:t>
                </a:r>
                <a:r>
                  <a:rPr lang="en-US" altLang="ko-KR" dirty="0"/>
                  <a:t>(x)∈I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D36AE5A-CF30-16ED-AE68-5AA7E5F85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BC5749-90EC-562D-2DEA-0ED7F66A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91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DA8F-3F73-B682-4704-F4208344A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725EF-7192-63A9-D8A0-D4CC5A4A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Circulant Matrix (</a:t>
            </a:r>
            <a:r>
              <a:rPr lang="ko-KR" altLang="en-US" dirty="0"/>
              <a:t>순환 행렬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7DD9C-5F2E-4CD0-7510-2A1A6A038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각 행은 이전 행의 우측 순환 시프트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A </a:t>
            </a:r>
            <a:r>
              <a:rPr lang="ko-KR" altLang="en-US" dirty="0"/>
              <a:t>가역 ⟺ </a:t>
            </a:r>
            <a:r>
              <a:rPr lang="en-US" altLang="ko-KR" dirty="0" err="1"/>
              <a:t>gcd</a:t>
            </a:r>
            <a:r>
              <a:rPr lang="en-US" altLang="ko-KR" dirty="0"/>
              <a:t>(a(x), xⁿ−1)=1 (ℚ </a:t>
            </a:r>
            <a:r>
              <a:rPr lang="ko-KR" altLang="en-US" dirty="0"/>
              <a:t>위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	 ⟺ L(A)</a:t>
            </a:r>
            <a:r>
              <a:rPr lang="ko-KR" altLang="en-US" dirty="0"/>
              <a:t>가 완전계수 격자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L(⟨a(x)⟩) = L(A),  A = circ(a)  (</a:t>
            </a:r>
            <a:r>
              <a:rPr lang="en-US" altLang="ko-KR" dirty="0" err="1"/>
              <a:t>gcd</a:t>
            </a:r>
            <a:r>
              <a:rPr lang="en-US" altLang="ko-KR" dirty="0"/>
              <a:t>(</a:t>
            </a:r>
            <a:r>
              <a:rPr lang="en-US" altLang="ko-KR" dirty="0" err="1"/>
              <a:t>a,x</a:t>
            </a:r>
            <a:r>
              <a:rPr lang="en-US" altLang="ko-KR" dirty="0"/>
              <a:t>ⁿ−1)=1</a:t>
            </a:r>
            <a:r>
              <a:rPr lang="ko-KR" altLang="en-US" dirty="0"/>
              <a:t>일 때</a:t>
            </a:r>
            <a:r>
              <a:rPr lang="en-US" altLang="ko-KR" dirty="0"/>
              <a:t>)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다중 </a:t>
            </a:r>
            <a:r>
              <a:rPr lang="ko-KR" altLang="en-US" dirty="0" err="1"/>
              <a:t>생성원</a:t>
            </a:r>
            <a:r>
              <a:rPr lang="ko-KR" altLang="en-US" dirty="0"/>
              <a:t> 일반화</a:t>
            </a:r>
            <a:r>
              <a:rPr lang="en-US" altLang="ko-KR" dirty="0"/>
              <a:t>: A=[A₁|A₂|⋯|Aℓ], Aᵢ=circ(aᵢ) → </a:t>
            </a:r>
            <a:r>
              <a:rPr lang="ko-KR" altLang="en-US" dirty="0"/>
              <a:t>랭크 </a:t>
            </a:r>
            <a:r>
              <a:rPr lang="en-US" altLang="ko-KR" dirty="0"/>
              <a:t>n </a:t>
            </a:r>
            <a:r>
              <a:rPr lang="ko-KR" altLang="en-US" dirty="0"/>
              <a:t>순환 정수 격자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19D05-5489-FAC6-68BB-A0C9C13E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39E5C6-3C7E-7D1B-C488-9EA98A0FF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93945"/>
            <a:ext cx="5075360" cy="23624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E99F36-E43E-FD98-93C4-761C74151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53047"/>
            <a:ext cx="5540220" cy="18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9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36927-96B6-64DF-0C68-AD425C93F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711EF-BC47-43AB-BEE1-2C530E19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순환 격자 기반</a:t>
            </a:r>
            <a:r>
              <a:rPr lang="en-US" altLang="ko-KR" dirty="0"/>
              <a:t> One-way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A833AB-2C7D-6B59-0AFC-785ADE407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(</m:t>
                      </m:r>
                      <m:r>
                        <a:rPr lang="ko-KR" altLang="ar-AE" sz="2400" i="1">
                          <a:latin typeface="Cambria Math"/>
                        </a:rPr>
                        <m:t>𝑧</m:t>
                      </m:r>
                      <m:r>
                        <a:rPr lang="ar-AE" altLang="ko-KR" sz="2400" i="1">
                          <a:latin typeface="Cambria Math"/>
                        </a:rPr>
                        <m:t>)=</m:t>
                      </m:r>
                      <m:r>
                        <a:rPr lang="ko-KR" altLang="ar-AE" sz="2400" i="1">
                          <a:latin typeface="Cambria Math"/>
                        </a:rPr>
                        <m:t>𝐴𝑧</m:t>
                      </m:r>
                      <m:r>
                        <m:rPr>
                          <m:nor/>
                        </m:rPr>
                        <a:rPr lang="ar-AE" altLang="ko-KR" sz="2400" i="1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2400" i="1">
                          <a:latin typeface="Cambria Math"/>
                        </a:rPr>
                        <m:t>mod</m:t>
                      </m:r>
                      <m:r>
                        <m:rPr>
                          <m:nor/>
                        </m:rPr>
                        <a:rPr lang="en-US" altLang="ko-KR" sz="2400" i="1">
                          <a:latin typeface="Cambria Math"/>
                        </a:rPr>
                        <m:t> </m:t>
                      </m:r>
                      <m:r>
                        <a:rPr lang="ko-KR" altLang="en-US" sz="2400" i="1">
                          <a:latin typeface="Cambria Math"/>
                        </a:rPr>
                        <m:t>𝑞</m:t>
                      </m:r>
                      <m:r>
                        <a:rPr lang="en-US" altLang="ko-KR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𝐴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:{</m:t>
                      </m:r>
                      <m:r>
                        <a:rPr lang="ar-AE" altLang="ko-KR" sz="2400" i="1">
                          <a:latin typeface="Cambria Math"/>
                        </a:rPr>
                        <m:t>0</m:t>
                      </m:r>
                      <m:r>
                        <a:rPr lang="ar-AE" altLang="ko-KR" sz="2400" i="1">
                          <a:latin typeface="Cambria Math"/>
                        </a:rPr>
                        <m:t>,</m:t>
                      </m:r>
                      <m:r>
                        <a:rPr lang="ar-AE" altLang="ko-KR" sz="2400" i="1">
                          <a:latin typeface="Cambria Math"/>
                        </a:rPr>
                        <m:t>1</m:t>
                      </m:r>
                      <m:sSup>
                        <m:sSup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}</m:t>
                          </m:r>
                        </m:e>
                        <m:sup>
                          <m:r>
                            <a:rPr lang="ko-KR" altLang="ar-AE" sz="2400" i="1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ar-AE" altLang="ko-KR" sz="2400" i="1">
                          <a:latin typeface="Cambria Math"/>
                        </a:rPr>
                        <m:t>→</m:t>
                      </m:r>
                      <m:sSubSup>
                        <m:sSubSup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ℤ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𝑞</m:t>
                          </m:r>
                        </m:sub>
                        <m:sup>
                          <m:r>
                            <a:rPr lang="ko-KR" altLang="ar-AE" sz="2400" i="1">
                              <a:latin typeface="Cambria Math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ar-AE" altLang="ko-KR" sz="2400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정의역이 공역보다 커서 압축 함수</a:t>
                </a:r>
                <a:r>
                  <a:rPr lang="en-US" altLang="ko-KR" dirty="0"/>
                  <a:t>(compression function)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 err="1"/>
                  <a:t>Micciancio</a:t>
                </a:r>
                <a:r>
                  <a:rPr lang="en-US" altLang="ko-KR" dirty="0"/>
                  <a:t>(2002): </a:t>
                </a:r>
                <a:r>
                  <a:rPr lang="ko-KR" altLang="en-US" dirty="0"/>
                  <a:t>순환 격자의 </a:t>
                </a:r>
                <a:r>
                  <a:rPr lang="en-US" altLang="ko-KR" dirty="0"/>
                  <a:t>covering radius</a:t>
                </a:r>
                <a:r>
                  <a:rPr lang="ko-KR" altLang="en-US" dirty="0"/>
                  <a:t>를 근사하는 문제가 최악 케이스에서 어렵다는 가정 아래</a:t>
                </a:r>
                <a:r>
                  <a:rPr lang="en-US" altLang="ko-KR" dirty="0"/>
                  <a:t>, H</a:t>
                </a:r>
                <a:r>
                  <a:rPr lang="en-US" altLang="ko-KR" baseline="-25000" dirty="0"/>
                  <a:t>A</a:t>
                </a:r>
                <a:r>
                  <a:rPr lang="ko-KR" altLang="en-US" dirty="0"/>
                  <a:t>는 평균 케이스에서 원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웨이 함수</a:t>
                </a:r>
                <a:r>
                  <a:rPr lang="en-US" altLang="ko-KR" dirty="0"/>
                  <a:t>(one-way function)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9A833AB-2C7D-6B59-0AFC-785ADE407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9B42D-E90B-10DD-C135-7753DF78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604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F964-D99F-46DA-CE51-BF1017ADC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48D75-E415-4C72-2A8F-181A2D1C2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충돌을 쉽게 찾을 수 있는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33CD9-23F5-C3F0-75F2-CF730DE33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circulant </a:t>
            </a:r>
            <a:r>
              <a:rPr lang="ko-KR" altLang="en-US" dirty="0"/>
              <a:t>행렬의 모든 행 합이 동일 → </a:t>
            </a:r>
            <a:r>
              <a:rPr lang="en-US" altLang="ko-KR" dirty="0"/>
              <a:t>all-ones </a:t>
            </a:r>
            <a:r>
              <a:rPr lang="ko-KR" altLang="en-US" dirty="0"/>
              <a:t>벡터를 곱하면 모든 성분이 같은 값 </a:t>
            </a:r>
            <a:r>
              <a:rPr lang="en-US" altLang="ko-KR" dirty="0"/>
              <a:t>cᵢ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충돌 찾는 절차</a:t>
            </a:r>
            <a:r>
              <a:rPr lang="en-US" altLang="ko-KR" dirty="0"/>
              <a:t>: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</a:t>
            </a:r>
            <a:r>
              <a:rPr lang="en-US" altLang="ko-KR" dirty="0" err="1"/>
              <a:t>x₁c</a:t>
            </a:r>
            <a:r>
              <a:rPr lang="ko-KR" altLang="en-US" dirty="0"/>
              <a:t>₁</a:t>
            </a:r>
            <a:r>
              <a:rPr lang="en-US" altLang="ko-KR" dirty="0"/>
              <a:t>+⋯+xℓcℓ ≡ 0 (mod q)</a:t>
            </a:r>
            <a:r>
              <a:rPr lang="ko-KR" altLang="en-US" dirty="0"/>
              <a:t>가 되는 </a:t>
            </a:r>
            <a:r>
              <a:rPr lang="en-US" altLang="ko-KR" dirty="0"/>
              <a:t>xᵢ∈{0, ±1} </a:t>
            </a:r>
            <a:r>
              <a:rPr lang="ko-KR" altLang="en-US" dirty="0"/>
              <a:t>선택 </a:t>
            </a:r>
            <a:r>
              <a:rPr lang="en-US" altLang="ko-KR" dirty="0"/>
              <a:t>(</a:t>
            </a:r>
            <a:r>
              <a:rPr lang="ko-KR" altLang="en-US" dirty="0"/>
              <a:t>적어도 하나는 </a:t>
            </a:r>
            <a:r>
              <a:rPr lang="en-US" altLang="ko-KR" dirty="0"/>
              <a:t>+1, </a:t>
            </a:r>
            <a:r>
              <a:rPr lang="ko-KR" altLang="en-US" dirty="0"/>
              <a:t>하나는 −</a:t>
            </a:r>
            <a:r>
              <a:rPr lang="en-US" altLang="ko-KR" dirty="0"/>
              <a:t>1)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z: </a:t>
            </a:r>
            <a:r>
              <a:rPr lang="ko-KR" altLang="en-US" dirty="0"/>
              <a:t>각 </a:t>
            </a:r>
            <a:r>
              <a:rPr lang="en-US" altLang="ko-KR" dirty="0"/>
              <a:t>zᵢ</a:t>
            </a:r>
            <a:r>
              <a:rPr lang="ko-KR" altLang="en-US" dirty="0"/>
              <a:t>가 성분 전부 </a:t>
            </a:r>
            <a:r>
              <a:rPr lang="en-US" altLang="ko-KR" dirty="0"/>
              <a:t>xᵢ</a:t>
            </a:r>
            <a:r>
              <a:rPr lang="ko-KR" altLang="en-US" dirty="0"/>
              <a:t>인 길이 </a:t>
            </a:r>
            <a:r>
              <a:rPr lang="en-US" altLang="ko-KR" dirty="0"/>
              <a:t>n </a:t>
            </a:r>
            <a:r>
              <a:rPr lang="ko-KR" altLang="en-US" dirty="0"/>
              <a:t>벡터 → </a:t>
            </a:r>
            <a:r>
              <a:rPr lang="en-US" altLang="ko-KR" dirty="0"/>
              <a:t>Az ≡ 0 (mod q)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z</a:t>
            </a:r>
            <a:r>
              <a:rPr lang="ko-KR" altLang="en-US" dirty="0"/>
              <a:t>의 </a:t>
            </a:r>
            <a:r>
              <a:rPr lang="en-US" altLang="ko-KR" dirty="0"/>
              <a:t>-1 </a:t>
            </a:r>
            <a:r>
              <a:rPr lang="ko-KR" altLang="en-US" dirty="0"/>
              <a:t>성분을 </a:t>
            </a:r>
            <a:r>
              <a:rPr lang="en-US" altLang="ko-KR" dirty="0"/>
              <a:t>0</a:t>
            </a:r>
            <a:r>
              <a:rPr lang="ko-KR" altLang="en-US" dirty="0"/>
              <a:t>으로 바꾼 것이 </a:t>
            </a:r>
            <a:r>
              <a:rPr lang="en-US" altLang="ko-KR" dirty="0"/>
              <a:t>r₁, r₂ = r₁ - z → (r₁, r</a:t>
            </a:r>
            <a:r>
              <a:rPr lang="ko-KR" altLang="en-US" dirty="0"/>
              <a:t>₂</a:t>
            </a:r>
            <a:r>
              <a:rPr lang="en-US" altLang="ko-KR" dirty="0"/>
              <a:t>)</a:t>
            </a:r>
            <a:r>
              <a:rPr lang="ko-KR" altLang="en-US" dirty="0"/>
              <a:t>가 충돌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H</a:t>
            </a:r>
            <a:r>
              <a:rPr lang="en-US" altLang="ko-KR" baseline="-25000" dirty="0"/>
              <a:t>A</a:t>
            </a:r>
            <a:r>
              <a:rPr lang="ko-KR" altLang="en-US" dirty="0"/>
              <a:t>는 </a:t>
            </a:r>
            <a:r>
              <a:rPr lang="en-US" altLang="ko-KR" dirty="0"/>
              <a:t>One-way</a:t>
            </a:r>
            <a:r>
              <a:rPr lang="ko-KR" altLang="en-US" dirty="0"/>
              <a:t>하지만 충돌 저항적이지는 않다</a:t>
            </a:r>
            <a:r>
              <a:rPr lang="en-US" altLang="ko-KR" dirty="0"/>
              <a:t>.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anti-circulant</a:t>
            </a:r>
            <a:r>
              <a:rPr lang="ko-KR" altLang="en-US" dirty="0"/>
              <a:t>로 이 취약점을 없앤다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76EF83-E479-5CD1-47F5-66DA426BF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E353B6-0F3D-A2AF-844F-E3E6EC47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990" y="4118478"/>
            <a:ext cx="3441810" cy="187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26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78E8-08DF-6B94-4B01-063552FFC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00C0F-FCCA-E4BC-0561-4EB25DB1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Anti-cyclic Lattice (</a:t>
            </a:r>
            <a:r>
              <a:rPr lang="ko-KR" altLang="en-US" dirty="0"/>
              <a:t>반순환 격자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7B32875-F08D-704B-CFAF-6EFEDB3F4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정의</a:t>
                </a:r>
                <a:r>
                  <a:rPr lang="en-US" altLang="ko-KR" dirty="0"/>
                  <a:t>: v=(v₀,…,vₙ₋₁)∈L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(−vₙ₋₁,v₀,…,vₙ₋₂)</a:t>
                </a:r>
                <a:r>
                  <a:rPr lang="ko-KR" altLang="en-US" dirty="0"/>
                  <a:t>도 ∈</a:t>
                </a:r>
                <a:r>
                  <a:rPr lang="en-US" altLang="ko-KR" dirty="0"/>
                  <a:t>L (</a:t>
                </a:r>
                <a:r>
                  <a:rPr lang="ko-KR" altLang="en-US" dirty="0"/>
                  <a:t>순환 시프트 </a:t>
                </a:r>
                <a:r>
                  <a:rPr lang="en-US" altLang="ko-KR" dirty="0"/>
                  <a:t>+ </a:t>
                </a:r>
                <a:r>
                  <a:rPr lang="ko-KR" altLang="en-US" dirty="0"/>
                  <a:t>부호 반전</a:t>
                </a:r>
                <a:r>
                  <a:rPr lang="en-US" altLang="ko-KR" dirty="0"/>
                  <a:t>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 err="1"/>
                  <a:t>Lyubashevsky-Micciancio</a:t>
                </a:r>
                <a:r>
                  <a:rPr lang="en-US" altLang="ko-KR" dirty="0"/>
                  <a:t>(2006) </a:t>
                </a:r>
                <a:r>
                  <a:rPr lang="ko-KR" altLang="en-US" dirty="0"/>
                  <a:t>최초 연구</a:t>
                </a:r>
              </a:p>
              <a:p>
                <a:r>
                  <a:rPr lang="en-US" altLang="ko-KR" dirty="0"/>
                  <a:t>Claim: R=ℤ[x]/(xⁿ+1)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R</a:t>
                </a:r>
                <a:r>
                  <a:rPr lang="ko-KR" altLang="en-US" dirty="0"/>
                  <a:t>의 모든 이상 격자는 반순환이다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)=−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ar-A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m:rPr>
                          <m:nor/>
                        </m:rPr>
                        <a:rPr lang="ar-AE" altLang="ko-KR" i="1"/>
                        <m:t> 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(∵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ko-KR" alt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즉 부호 반전 시프트와 일치</a:t>
                </a:r>
                <a:r>
                  <a:rPr lang="en-US" altLang="ko-KR" dirty="0"/>
                  <a:t>. I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x </a:t>
                </a:r>
                <a:r>
                  <a:rPr lang="ko-KR" altLang="en-US" dirty="0"/>
                  <a:t>곱셈에 닫혀 있으므로 </a:t>
                </a:r>
                <a:r>
                  <a:rPr lang="en-US" altLang="ko-KR" dirty="0" err="1"/>
                  <a:t>x·v</a:t>
                </a:r>
                <a:r>
                  <a:rPr lang="en-US" altLang="ko-KR" dirty="0"/>
                  <a:t>(x)∈I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7B32875-F08D-704B-CFAF-6EFEDB3F4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68911F-CFC5-18BA-9D94-F87933AA0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48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F508-9D4F-1787-841B-DC8A2C540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3284D-0154-A6D9-2CCD-4C2C55919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Anti-circulant Matrix (</a:t>
            </a:r>
            <a:r>
              <a:rPr lang="ko-KR" altLang="en-US" dirty="0"/>
              <a:t>반순환 행렬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1098C-D6F5-0D58-6E39-A3BDC121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5281941"/>
          </a:xfrm>
        </p:spPr>
        <p:txBody>
          <a:bodyPr>
            <a:normAutofit/>
          </a:bodyPr>
          <a:lstStyle/>
          <a:p>
            <a:r>
              <a:rPr lang="en-US" altLang="ko-KR" dirty="0"/>
              <a:t>n=2ʷ</a:t>
            </a:r>
            <a:r>
              <a:rPr lang="ko-KR" altLang="en-US" dirty="0"/>
              <a:t>이면 </a:t>
            </a:r>
            <a:r>
              <a:rPr lang="en-US" altLang="ko-KR" dirty="0"/>
              <a:t>xⁿ+1</a:t>
            </a:r>
            <a:r>
              <a:rPr lang="ko-KR" altLang="en-US" dirty="0"/>
              <a:t>은 </a:t>
            </a:r>
            <a:r>
              <a:rPr lang="en-US" altLang="ko-KR" dirty="0"/>
              <a:t>ℚ </a:t>
            </a:r>
            <a:r>
              <a:rPr lang="ko-KR" altLang="en-US" dirty="0"/>
              <a:t>위에서 기약</a:t>
            </a:r>
            <a:r>
              <a:rPr lang="en-US" altLang="ko-KR" dirty="0"/>
              <a:t>(irreducible) → a(x)≠0</a:t>
            </a:r>
            <a:r>
              <a:rPr lang="ko-KR" altLang="en-US" dirty="0"/>
              <a:t>이면 </a:t>
            </a:r>
            <a:r>
              <a:rPr lang="en-US" altLang="ko-KR" dirty="0" err="1"/>
              <a:t>gcd</a:t>
            </a:r>
            <a:r>
              <a:rPr lang="en-US" altLang="ko-KR" dirty="0"/>
              <a:t>(</a:t>
            </a:r>
            <a:r>
              <a:rPr lang="en-US" altLang="ko-KR" dirty="0" err="1"/>
              <a:t>a,x</a:t>
            </a:r>
            <a:r>
              <a:rPr lang="en-US" altLang="ko-KR" dirty="0"/>
              <a:t>ⁿ+1)=1 </a:t>
            </a:r>
            <a:r>
              <a:rPr lang="ko-KR" altLang="en-US" dirty="0"/>
              <a:t>항상 자동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완전계수 보장</a:t>
            </a:r>
            <a:endParaRPr lang="en-US" altLang="ko-KR" dirty="0"/>
          </a:p>
          <a:p>
            <a:r>
              <a:rPr lang="ko-KR" altLang="en-US" dirty="0"/>
              <a:t>예제</a:t>
            </a:r>
            <a:r>
              <a:rPr lang="en-US" altLang="ko-KR" dirty="0"/>
              <a:t>: R=ℤ[x]/(x⁴+1), a(x)=3−2x+5x²−4x³</a:t>
            </a:r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endParaRPr lang="en-US" altLang="ko-KR" dirty="0"/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endParaRPr lang="en-US" altLang="ko-KR" dirty="0"/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endParaRPr lang="en-US" altLang="ko-KR" dirty="0"/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r(x)=1+2x+11x²−7x³</a:t>
            </a:r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 err="1"/>
              <a:t>A·r</a:t>
            </a:r>
            <a:r>
              <a:rPr lang="en-US" altLang="ko-KR" dirty="0"/>
              <a:t>ᵀ = (−58, 83, 6, −37)ᵀ</a:t>
            </a:r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= a(x)r(x) mod(x⁴+1) </a:t>
            </a:r>
            <a:r>
              <a:rPr lang="ko-KR" altLang="en-US" dirty="0"/>
              <a:t>검산 일치</a:t>
            </a:r>
          </a:p>
          <a:p>
            <a:r>
              <a:rPr lang="ko-KR" altLang="en-US" dirty="0"/>
              <a:t>행렬</a:t>
            </a:r>
            <a:r>
              <a:rPr lang="en-US" altLang="ko-KR" dirty="0"/>
              <a:t>-</a:t>
            </a:r>
            <a:r>
              <a:rPr lang="ko-KR" altLang="en-US" dirty="0"/>
              <a:t>벡터 곱 </a:t>
            </a:r>
            <a:r>
              <a:rPr lang="en-US" altLang="ko-KR" dirty="0"/>
              <a:t>= </a:t>
            </a:r>
            <a:r>
              <a:rPr lang="ko-KR" altLang="en-US" dirty="0"/>
              <a:t>링 곱셈</a:t>
            </a:r>
            <a:r>
              <a:rPr lang="en-US" altLang="ko-KR" dirty="0"/>
              <a:t>. </a:t>
            </a:r>
            <a:r>
              <a:rPr lang="ko-KR" altLang="en-US" dirty="0"/>
              <a:t>대각선 위쪽 부호가 반전되어 있다는 점이 </a:t>
            </a:r>
            <a:r>
              <a:rPr lang="en-US" altLang="ko-KR" dirty="0"/>
              <a:t>circulant</a:t>
            </a:r>
            <a:r>
              <a:rPr lang="ko-KR" altLang="en-US" dirty="0"/>
              <a:t>와의 차이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5CD2D9-2B45-954D-E62A-0D39EAD8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E2D6FD-BB7E-AC16-629A-164C2175F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750" y="2787782"/>
            <a:ext cx="3650008" cy="128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2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0441-AB9A-4554-01FB-E3EBEB08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009B67-462B-E560-A8F8-1BD9475B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순환 </a:t>
            </a:r>
            <a:r>
              <a:rPr lang="en-US" altLang="ko-KR" dirty="0"/>
              <a:t>vs </a:t>
            </a:r>
            <a:r>
              <a:rPr lang="ko-KR" altLang="en-US" dirty="0"/>
              <a:t>반순환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AFBB968B-5C0F-9C82-F6A5-57C82DEC8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9715853"/>
              </p:ext>
            </p:extLst>
          </p:nvPr>
        </p:nvGraphicFramePr>
        <p:xfrm>
          <a:off x="838200" y="1295400"/>
          <a:ext cx="10515597" cy="354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8979">
                  <a:extLst>
                    <a:ext uri="{9D8B030D-6E8A-4147-A177-3AD203B41FA5}">
                      <a16:colId xmlns:a16="http://schemas.microsoft.com/office/drawing/2014/main" val="1817655758"/>
                    </a:ext>
                  </a:extLst>
                </a:gridCol>
                <a:gridCol w="3930316">
                  <a:extLst>
                    <a:ext uri="{9D8B030D-6E8A-4147-A177-3AD203B41FA5}">
                      <a16:colId xmlns:a16="http://schemas.microsoft.com/office/drawing/2014/main" val="788815827"/>
                    </a:ext>
                  </a:extLst>
                </a:gridCol>
                <a:gridCol w="3926302">
                  <a:extLst>
                    <a:ext uri="{9D8B030D-6E8A-4147-A177-3AD203B41FA5}">
                      <a16:colId xmlns:a16="http://schemas.microsoft.com/office/drawing/2014/main" val="1174592467"/>
                    </a:ext>
                  </a:extLst>
                </a:gridCol>
              </a:tblGrid>
              <a:tr h="709863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순환 </a:t>
                      </a:r>
                      <a:r>
                        <a:rPr lang="en-US" altLang="ko-KR" sz="1800" b="1" dirty="0"/>
                        <a:t>(xⁿ−1)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dirty="0"/>
                        <a:t>반순환 </a:t>
                      </a:r>
                      <a:r>
                        <a:rPr lang="en-US" altLang="ko-KR" sz="1800" b="1" dirty="0"/>
                        <a:t>(xⁿ+1)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077600"/>
                  </a:ext>
                </a:extLst>
              </a:tr>
              <a:tr h="709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시프트 정의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우측 순환 시프트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순환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부호 반전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25903"/>
                  </a:ext>
                </a:extLst>
              </a:tr>
              <a:tr h="709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완전계수 보장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/>
                        <a:t>gcd</a:t>
                      </a:r>
                      <a:r>
                        <a:rPr lang="ko-KR" altLang="en-US" sz="1800" dirty="0"/>
                        <a:t> 조건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항상 성립 </a:t>
                      </a:r>
                      <a:r>
                        <a:rPr lang="en-US" altLang="ko-KR" sz="18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n=2ʷ</a:t>
                      </a:r>
                      <a:r>
                        <a:rPr lang="ko-KR" altLang="en-US" sz="1800" dirty="0"/>
                        <a:t>이면 항상 자동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162686"/>
                  </a:ext>
                </a:extLst>
              </a:tr>
              <a:tr h="709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해시 성질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One-way</a:t>
                      </a:r>
                      <a:r>
                        <a:rPr lang="ko-KR" altLang="en-US" sz="1800" dirty="0"/>
                        <a:t> </a:t>
                      </a:r>
                      <a:r>
                        <a:rPr lang="en-US" altLang="ko-KR" sz="1800" dirty="0"/>
                        <a:t>O / </a:t>
                      </a:r>
                      <a:r>
                        <a:rPr lang="ko-KR" altLang="en-US" sz="1800" dirty="0"/>
                        <a:t>충돌저항 </a:t>
                      </a:r>
                      <a:r>
                        <a:rPr lang="en-US" altLang="ko-KR" sz="18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One-way</a:t>
                      </a:r>
                      <a:r>
                        <a:rPr lang="ko-KR" altLang="en-US" sz="1800" dirty="0"/>
                        <a:t> </a:t>
                      </a:r>
                      <a:r>
                        <a:rPr lang="en-US" altLang="ko-KR" sz="1800" dirty="0"/>
                        <a:t>O / </a:t>
                      </a:r>
                      <a:r>
                        <a:rPr lang="ko-KR" altLang="en-US" sz="1800" dirty="0"/>
                        <a:t>충돌저항 </a:t>
                      </a:r>
                      <a:r>
                        <a:rPr lang="en-US" altLang="ko-KR" sz="1800" dirty="0"/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671944"/>
                  </a:ext>
                </a:extLst>
              </a:tr>
              <a:tr h="7098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암호학</a:t>
                      </a:r>
                      <a:r>
                        <a:rPr lang="ko-KR" altLang="en-US" dirty="0"/>
                        <a:t> 채택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표준 아님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Ring-SIS/LWE </a:t>
                      </a:r>
                      <a:r>
                        <a:rPr lang="ko-KR" altLang="en-US" sz="1800" dirty="0"/>
                        <a:t>표준 </a:t>
                      </a:r>
                      <a:r>
                        <a:rPr lang="en-US" altLang="ko-KR" sz="1800" dirty="0"/>
                        <a:t>(x²⁵⁶+1)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8864839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D1B69-86E9-BEE4-63A4-FAF36A47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350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80FA-35EB-16AD-8ED4-93F4A5F5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76569-EFA5-D3E2-ED6F-D284E82F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Size (</a:t>
            </a:r>
            <a:r>
              <a:rPr lang="ko-KR" altLang="en-US" dirty="0"/>
              <a:t>크기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8C5CF5-C257-F1C9-EB06-22C20EAC0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2400" i="1">
                          <a:latin typeface="Cambria Math"/>
                        </a:rPr>
                        <m:t>𝑟</m:t>
                      </m:r>
                      <m:r>
                        <m:rPr>
                          <m:nor/>
                        </m:rPr>
                        <a:rPr lang="ar-AE" altLang="ko-KR" sz="2400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/>
                            </a:rPr>
                            <m:t>mod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ko-KR" sz="2400" i="1">
                          <a:latin typeface="Cambria Math"/>
                        </a:rPr>
                        <m:t> </m:t>
                      </m:r>
                      <m:r>
                        <a:rPr lang="ko-KR" altLang="ar-AE" sz="2400" i="1">
                          <a:latin typeface="Cambria Math"/>
                        </a:rPr>
                        <m:t>𝑞</m:t>
                      </m:r>
                      <m:r>
                        <a:rPr lang="ar-AE" altLang="ko-KR" sz="2400" i="1">
                          <a:latin typeface="Cambria Math"/>
                        </a:rPr>
                        <m:t>={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ko-KR" altLang="ar-AE" sz="2400" i="1">
                                <a:latin typeface="Cambria Math"/>
                              </a:rPr>
                              <m:t>𝑟</m:t>
                            </m:r>
                          </m:e>
                          <m:e>
                            <m:r>
                              <a:rPr lang="ar-AE" altLang="ko-KR" sz="2400" i="1">
                                <a:latin typeface="Cambria Math"/>
                              </a:rPr>
                              <m:t>0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≤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𝑟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≤(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𝑞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1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)/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2</m:t>
                            </m:r>
                          </m:e>
                        </m:mr>
                        <m:mr>
                          <m:e>
                            <m:r>
                              <a:rPr lang="ko-KR" altLang="ar-AE" sz="2400" i="1">
                                <a:latin typeface="Cambria Math"/>
                              </a:rPr>
                              <m:t>𝑞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𝑟</m:t>
                            </m:r>
                          </m:e>
                          <m:e>
                            <m:r>
                              <a:rPr lang="ar-AE" altLang="ko-KR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𝑞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1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)/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2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&lt;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𝑟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≤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𝑞</m:t>
                            </m:r>
                            <m:r>
                              <a:rPr lang="ko-KR" altLang="ar-AE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ar-AE" altLang="ko-KR" sz="2400" i="1">
                                <a:latin typeface="Cambria Math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ar-AE" altLang="ko-KR" sz="2400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sz="2100" dirty="0"/>
                  <a:t>무한대 노름</a:t>
                </a:r>
                <a:r>
                  <a:rPr lang="en-US" altLang="ko-KR" sz="2100" dirty="0"/>
                  <a:t>(</a:t>
                </a:r>
                <a:r>
                  <a:rPr lang="ko-KR" altLang="en-US" sz="2100" dirty="0"/>
                  <a:t>크기</a:t>
                </a:r>
                <a:r>
                  <a:rPr lang="en-US" altLang="ko-KR" sz="2100" dirty="0"/>
                  <a:t>): ‖r‖∞ = |r mod</a:t>
                </a:r>
                <a:r>
                  <a:rPr lang="en-US" altLang="ko-KR" sz="2100" baseline="-25000" dirty="0"/>
                  <a:t>s</a:t>
                </a:r>
                <a:r>
                  <a:rPr lang="ko-KR" altLang="en-US" sz="2100" dirty="0"/>
                  <a:t> </a:t>
                </a:r>
                <a:r>
                  <a:rPr lang="en-US" altLang="ko-KR" sz="2100" dirty="0"/>
                  <a:t>q|</a:t>
                </a:r>
              </a:p>
              <a:p>
                <a:pPr marL="457200" lvl="1" indent="0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None/>
                </a:pPr>
                <a:r>
                  <a:rPr lang="en-US" altLang="ko-KR" sz="1900" dirty="0"/>
                  <a:t>- </a:t>
                </a:r>
                <a:r>
                  <a:rPr lang="ko-KR" altLang="en-US" sz="1900" dirty="0"/>
                  <a:t>예</a:t>
                </a:r>
                <a:r>
                  <a:rPr lang="en-US" altLang="ko-KR" sz="1900" dirty="0"/>
                  <a:t>) q=23</a:t>
                </a:r>
                <a:r>
                  <a:rPr lang="ko-KR" altLang="en-US" sz="1900" dirty="0"/>
                  <a:t>이면 </a:t>
                </a:r>
                <a:r>
                  <a:rPr lang="en-US" altLang="ko-KR" sz="1900" dirty="0"/>
                  <a:t>‖3‖∞=3, ‖19‖∞=4 (19 mod</a:t>
                </a:r>
                <a:r>
                  <a:rPr lang="en-US" altLang="ko-KR" sz="1900" baseline="-25000" dirty="0"/>
                  <a:t>s</a:t>
                </a:r>
                <a:r>
                  <a:rPr lang="ko-KR" altLang="en-US" sz="1900" dirty="0"/>
                  <a:t> </a:t>
                </a:r>
                <a:r>
                  <a:rPr lang="en-US" altLang="ko-KR" sz="1900" dirty="0"/>
                  <a:t>23 = −4</a:t>
                </a:r>
                <a:r>
                  <a:rPr lang="ko-KR" altLang="en-US" sz="1900" dirty="0"/>
                  <a:t>이므로</a:t>
                </a:r>
                <a:r>
                  <a:rPr lang="en-US" altLang="ko-KR" sz="1900" dirty="0"/>
                  <a:t>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sz="2100" dirty="0"/>
                  <a:t>다항식의 크기</a:t>
                </a:r>
                <a:r>
                  <a:rPr lang="en-US" altLang="ko-KR" sz="2100" dirty="0"/>
                  <a:t>: ‖a‖∞ = maxᵢ ‖aᵢ‖∞ (</a:t>
                </a:r>
                <a:r>
                  <a:rPr lang="ko-KR" altLang="en-US" sz="2100" dirty="0"/>
                  <a:t>계수마다 적용</a:t>
                </a:r>
                <a:r>
                  <a:rPr lang="en-US" altLang="ko-KR" sz="2100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8C5CF5-C257-F1C9-EB06-22C20EAC0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27004-ACA8-D435-0B80-C6C9D091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461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81AC-76E5-9A08-D34D-5C52132D5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15B0C-B195-6525-B683-7EF8AB8F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Ring-SIS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D8CB4B-DA80-A8F2-5152-82D260D10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Ring-SIS(n,ℓ,</a:t>
                </a:r>
                <a:r>
                  <a:rPr lang="en-US" altLang="ko-KR" dirty="0" err="1"/>
                  <a:t>q,B</a:t>
                </a:r>
                <a:r>
                  <a:rPr lang="en-US" altLang="ko-KR" dirty="0"/>
                  <a:t>): a₁,…,aℓ ∈R </a:t>
                </a:r>
                <a:r>
                  <a:rPr lang="en-US" altLang="ko-KR" dirty="0" err="1"/>
                  <a:t>Rq</a:t>
                </a:r>
                <a:r>
                  <a:rPr lang="ko-KR" altLang="en-US" dirty="0"/>
                  <a:t>가 주어졌을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다음을 만족하는 </a:t>
                </a:r>
                <a:r>
                  <a:rPr lang="en-US" altLang="ko-KR" dirty="0"/>
                  <a:t>z₁,…,zℓ∈</a:t>
                </a:r>
                <a:r>
                  <a:rPr lang="en-US" altLang="ko-KR" dirty="0" err="1"/>
                  <a:t>Rq</a:t>
                </a:r>
                <a:r>
                  <a:rPr lang="ko-KR" altLang="en-US" dirty="0"/>
                  <a:t>를 찾아라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),‖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ko-KR" i="1"/>
                        <m:t> </m:t>
                      </m:r>
                      <m:r>
                        <m:rPr>
                          <m:nor/>
                        </m:rPr>
                        <a:rPr lang="en-US" altLang="ko-KR" i="1"/>
                        <m:t>not</m:t>
                      </m:r>
                      <m:r>
                        <m:rPr>
                          <m:nor/>
                        </m:rPr>
                        <a:rPr lang="en-US" altLang="ko-KR" i="1"/>
                        <m:t> </m:t>
                      </m:r>
                      <m:r>
                        <m:rPr>
                          <m:nor/>
                        </m:rPr>
                        <a:rPr lang="en-US" altLang="ko-KR" i="1"/>
                        <m:t>all</m:t>
                      </m:r>
                      <m:r>
                        <m:rPr>
                          <m:nor/>
                        </m:rPr>
                        <a:rPr lang="en-US" altLang="ko-KR" i="1"/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행렬 형태</a:t>
                </a:r>
                <a:r>
                  <a:rPr lang="en-US" altLang="ko-KR" dirty="0"/>
                  <a:t>: A=[A₁|⋯|Aℓ], Aᵢ=circ↔(aᵢ) → "Az≡0 (mod q), ‖z‖∞≤B, z≠0" </a:t>
                </a:r>
                <a:r>
                  <a:rPr lang="ko-KR" altLang="en-US" dirty="0"/>
                  <a:t>찾기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즉 </a:t>
                </a:r>
                <a:r>
                  <a:rPr lang="en-US" altLang="ko-KR" dirty="0"/>
                  <a:t>Ring-SIS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anti-circulant </a:t>
                </a:r>
                <a:r>
                  <a:rPr lang="ko-KR" altLang="en-US" dirty="0"/>
                  <a:t>블록으로 구조화된 특수한 </a:t>
                </a:r>
                <a:r>
                  <a:rPr lang="en-US" altLang="ko-KR" dirty="0"/>
                  <a:t>SIS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안전성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평균 케이스 난이도가 반순환 격자의 근사</a:t>
                </a:r>
                <a:r>
                  <a:rPr lang="en-US" altLang="ko-KR" dirty="0"/>
                  <a:t>-</a:t>
                </a:r>
                <a:r>
                  <a:rPr lang="en-US" altLang="ko-KR" dirty="0" err="1"/>
                  <a:t>SVPγ</a:t>
                </a:r>
                <a:r>
                  <a:rPr lang="ko-KR" altLang="en-US" dirty="0"/>
                  <a:t> 최악 케이스 난이도와 동치</a:t>
                </a:r>
                <a:endParaRPr lang="en-US" altLang="ko-KR" dirty="0"/>
              </a:p>
              <a:p>
                <a:pPr marL="457200" lvl="1" indent="0"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None/>
                </a:pPr>
                <a:r>
                  <a:rPr lang="en-US" altLang="ko-KR" dirty="0"/>
                  <a:t>- </a:t>
                </a:r>
                <a:r>
                  <a:rPr lang="en-US" altLang="ko-KR" dirty="0" err="1"/>
                  <a:t>Lyubashevsky-Micciancio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AD8CB4B-DA80-A8F2-5152-82D260D10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02B382-75FC-026C-4589-382EDBB20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7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BB32-08EC-2B7F-7120-00BFB9AF4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6A59C-F76D-4C9A-D9EF-EE59EAA1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AD86F9-346A-4654-7F7D-8CB7A0AD5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q=59, n=4, f(x)=x⁴+1, </a:t>
            </a:r>
            <a:r>
              <a:rPr lang="en-US" altLang="ko-KR" dirty="0" err="1"/>
              <a:t>Rq</a:t>
            </a:r>
            <a:r>
              <a:rPr lang="en-US" altLang="ko-KR" dirty="0"/>
              <a:t>=ℤ₅₉[x]/(x⁴+1), ℓ=3, B=2</a:t>
            </a:r>
          </a:p>
          <a:p>
            <a:r>
              <a:rPr lang="en-US" altLang="ko-KR" dirty="0"/>
              <a:t>a₁=10+16x²+51x³,  a₂=41+10x+54x²+16x³,  a₃=11+17x+39x²+5x³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</a:t>
            </a:r>
            <a:r>
              <a:rPr lang="en-US" altLang="ko-KR" dirty="0"/>
              <a:t>: Az≡0 (mod 59), ‖z‖∞≤2</a:t>
            </a:r>
            <a:r>
              <a:rPr lang="ko-KR" altLang="en-US" dirty="0"/>
              <a:t>인 </a:t>
            </a:r>
            <a:r>
              <a:rPr lang="en-US" altLang="ko-KR" dirty="0"/>
              <a:t>z≠0 </a:t>
            </a:r>
            <a:r>
              <a:rPr lang="ko-KR" altLang="en-US" dirty="0"/>
              <a:t>찾기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7F78DF-74F9-B4F8-9855-F0DBF64A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2A4693-80C9-1FB0-7741-9F24772D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58" y="2602158"/>
            <a:ext cx="6744284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37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6DF9-6E4F-3570-5598-240F9D3F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D64AA-04F8-E296-49EA-E96D591C7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 (2/3)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F74E31-A11A-03B2-A68E-2731EF2A0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1958"/>
            <a:ext cx="10515600" cy="2964453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A′ (mod 59 </a:t>
            </a:r>
            <a:r>
              <a:rPr lang="ko-KR" altLang="en-US" dirty="0"/>
              <a:t>가우스 소거</a:t>
            </a:r>
            <a:r>
              <a:rPr lang="en-US" altLang="ko-KR" dirty="0"/>
              <a:t>)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rank 4, </a:t>
            </a:r>
            <a:r>
              <a:rPr lang="ko-KR" altLang="en-US" dirty="0"/>
              <a:t>피벗변수 </a:t>
            </a:r>
            <a:r>
              <a:rPr lang="en-US" altLang="ko-KR" dirty="0"/>
              <a:t>r₁~r₄, </a:t>
            </a:r>
            <a:r>
              <a:rPr lang="ko-KR" altLang="en-US" dirty="0"/>
              <a:t>자유변수 </a:t>
            </a:r>
            <a:r>
              <a:rPr lang="en-US" altLang="ko-KR" dirty="0"/>
              <a:t>r₅~r₁₂ (8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전체 해의 개수</a:t>
            </a:r>
            <a:r>
              <a:rPr lang="en-US" altLang="ko-KR" dirty="0"/>
              <a:t>: 59⁸ ≈ 146.8</a:t>
            </a:r>
            <a:r>
              <a:rPr lang="ko-KR" altLang="en-US" dirty="0"/>
              <a:t>조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이 중 </a:t>
            </a:r>
            <a:r>
              <a:rPr lang="en-US" altLang="ko-KR" dirty="0"/>
              <a:t>0</a:t>
            </a:r>
            <a:r>
              <a:rPr lang="ko-KR" altLang="en-US" dirty="0"/>
              <a:t>이 아니고 모든 성분이 </a:t>
            </a:r>
            <a:r>
              <a:rPr lang="en-US" altLang="ko-KR" dirty="0"/>
              <a:t>[−2,2]</a:t>
            </a:r>
            <a:r>
              <a:rPr lang="ko-KR" altLang="en-US" dirty="0"/>
              <a:t>인 해</a:t>
            </a:r>
            <a:r>
              <a:rPr lang="en-US" altLang="ko-KR" dirty="0"/>
              <a:t>: 24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전수조사</a:t>
            </a:r>
            <a:r>
              <a:rPr lang="en-US" altLang="ko-KR" dirty="0"/>
              <a:t>)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±1,±x,±x²,±x³ </a:t>
            </a:r>
            <a:r>
              <a:rPr lang="ko-KR" altLang="en-US" dirty="0"/>
              <a:t>배수 제외하면 대표 해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0EE9F-0AB2-8755-67DF-C4CFE98D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4749DE1-F695-B934-8E54-A831DB93F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5481"/>
            <a:ext cx="6348010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071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F31F1-68BC-1693-87C6-51FBD10C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E68A9-7865-C38D-F490-22255741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DC25700-BBB1-1807-5C6E-F7F9FEB522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R₁=(1,2,−1,2, −1,2,0,−2, 1,0,0,0)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R₂=(1,1,0,0, −2,−2,0,0, −2,2,−1,2)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R₃=(1,2,−2,1, −1,2,2,0, 0,2,2,−2)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altLang="ko-KR" i="1"/>
                        <m:t> 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)=−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ar-AE" altLang="ko-K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altLang="ko-KR" i="1"/>
                        <m:t> 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ko-KR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ko-KR" altLang="en-US" i="1"/>
                        <m:t>의 다항식 형태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  <a:p>
                <a:r>
                  <a:rPr lang="en-US" altLang="ko-KR" dirty="0"/>
                  <a:t>A·R₁≡0 (mod 59) </a:t>
                </a:r>
                <a:r>
                  <a:rPr lang="ko-KR" altLang="en-US" dirty="0"/>
                  <a:t>및 </a:t>
                </a:r>
                <a:r>
                  <a:rPr lang="en-US" altLang="ko-KR" dirty="0" err="1"/>
                  <a:t>a₁z</a:t>
                </a:r>
                <a:r>
                  <a:rPr lang="ko-KR" altLang="en-US" dirty="0"/>
                  <a:t>₁</a:t>
                </a:r>
                <a:r>
                  <a:rPr lang="en-US" altLang="ko-KR" dirty="0"/>
                  <a:t>+</a:t>
                </a:r>
                <a:r>
                  <a:rPr lang="en-US" altLang="ko-KR" dirty="0" err="1"/>
                  <a:t>a₂z</a:t>
                </a:r>
                <a:r>
                  <a:rPr lang="ko-KR" altLang="en-US" dirty="0"/>
                  <a:t>₂</a:t>
                </a:r>
                <a:r>
                  <a:rPr lang="en-US" altLang="ko-KR" dirty="0"/>
                  <a:t>+</a:t>
                </a:r>
                <a:r>
                  <a:rPr lang="en-US" altLang="ko-KR" dirty="0" err="1"/>
                  <a:t>a₃z</a:t>
                </a:r>
                <a:r>
                  <a:rPr lang="ko-KR" altLang="en-US" dirty="0"/>
                  <a:t>₃≡</a:t>
                </a:r>
                <a:r>
                  <a:rPr lang="en-US" altLang="ko-KR" dirty="0"/>
                  <a:t>0 ∈ </a:t>
                </a:r>
                <a:r>
                  <a:rPr lang="en-US" altLang="ko-KR" dirty="0" err="1"/>
                  <a:t>Rq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DC25700-BBB1-1807-5C6E-F7F9FEB522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C3C15E-9EE1-A395-B8FF-AB2A9159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595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B3B7E-E5C0-96B0-A642-7C123C092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7E6A8-8986-9536-9434-C36B9AF09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Ring-SIS</a:t>
            </a:r>
            <a:r>
              <a:rPr lang="ko-KR" altLang="en-US" dirty="0"/>
              <a:t>의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6795A5-536F-0ED6-9E83-A4B8DC248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 err="1"/>
              <a:t>Lyubashevsky-Micciancio</a:t>
            </a:r>
            <a:r>
              <a:rPr lang="en-US" altLang="ko-KR" dirty="0"/>
              <a:t>: Ring-SIS</a:t>
            </a:r>
            <a:r>
              <a:rPr lang="ko-KR" altLang="en-US" dirty="0"/>
              <a:t>를 평균적으로 푸는 것은 반순환 격자의 근사</a:t>
            </a:r>
            <a:r>
              <a:rPr lang="en-US" altLang="ko-KR" dirty="0"/>
              <a:t>-</a:t>
            </a:r>
            <a:r>
              <a:rPr lang="en-US" altLang="ko-KR" dirty="0" err="1"/>
              <a:t>SVPγ</a:t>
            </a:r>
            <a:r>
              <a:rPr lang="ko-KR" altLang="en-US" dirty="0"/>
              <a:t>를 최악 케이스에서 푸는 것만큼 어렵다 </a:t>
            </a:r>
            <a:r>
              <a:rPr lang="en-US" altLang="ko-KR" dirty="0"/>
              <a:t>(</a:t>
            </a:r>
            <a:r>
              <a:rPr lang="ko-KR" altLang="en-US" dirty="0" err="1"/>
              <a:t>점근적</a:t>
            </a:r>
            <a:r>
              <a:rPr lang="ko-KR" altLang="en-US" dirty="0"/>
              <a:t> 보장</a:t>
            </a:r>
            <a:r>
              <a:rPr lang="en-US" altLang="ko-KR" dirty="0"/>
              <a:t>)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충돌 저항 해시</a:t>
            </a:r>
            <a:r>
              <a:rPr lang="en-US" altLang="ko-KR" dirty="0"/>
              <a:t>: H</a:t>
            </a:r>
            <a:r>
              <a:rPr lang="en-US" altLang="ko-KR" baseline="-25000" dirty="0"/>
              <a:t>A</a:t>
            </a:r>
            <a:r>
              <a:rPr lang="en-US" altLang="ko-KR" dirty="0"/>
              <a:t>(z) = Az mod q (ℓ &gt; log q</a:t>
            </a:r>
            <a:r>
              <a:rPr lang="ko-KR" altLang="en-US" dirty="0"/>
              <a:t>일 때</a:t>
            </a:r>
            <a:r>
              <a:rPr lang="en-US" altLang="ko-KR" dirty="0"/>
              <a:t>)</a:t>
            </a:r>
          </a:p>
          <a:p>
            <a:pPr lvl="1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Tx/>
              <a:buChar char="-"/>
            </a:pPr>
            <a:r>
              <a:rPr lang="en-US" altLang="ko-KR" dirty="0"/>
              <a:t>Ring-SIS</a:t>
            </a:r>
            <a:r>
              <a:rPr lang="ko-KR" altLang="en-US" dirty="0"/>
              <a:t>가 어렵다는 가정 아래 </a:t>
            </a:r>
            <a:r>
              <a:rPr lang="en-US" altLang="ko-KR" dirty="0"/>
              <a:t>H</a:t>
            </a:r>
            <a:r>
              <a:rPr lang="en-US" altLang="ko-KR" baseline="-25000" dirty="0"/>
              <a:t>A</a:t>
            </a:r>
            <a:r>
              <a:rPr lang="ko-KR" altLang="en-US" dirty="0"/>
              <a:t>는 평균적으로 충돌 저항적</a:t>
            </a:r>
            <a:endParaRPr lang="en-US" altLang="ko-KR" dirty="0"/>
          </a:p>
          <a:p>
            <a:pPr lvl="1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Tx/>
              <a:buChar char="-"/>
            </a:pPr>
            <a:r>
              <a:rPr lang="ko-KR" altLang="en-US" dirty="0"/>
              <a:t>순환 격자</a:t>
            </a:r>
            <a:r>
              <a:rPr lang="en-US" altLang="ko-KR" dirty="0"/>
              <a:t>(</a:t>
            </a:r>
            <a:r>
              <a:rPr lang="ko-KR" altLang="en-US" dirty="0"/>
              <a:t>앞서 본 </a:t>
            </a:r>
            <a:r>
              <a:rPr lang="en-US" altLang="ko-KR" dirty="0"/>
              <a:t>circulant 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와 달리 </a:t>
            </a:r>
            <a:r>
              <a:rPr lang="en-US" altLang="ko-KR" dirty="0"/>
              <a:t>anti-circulant</a:t>
            </a:r>
            <a:r>
              <a:rPr lang="ko-KR" altLang="en-US" dirty="0"/>
              <a:t>는 행 합이 일정하지 않아 같은 공격이 통하지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3EC053-73E2-3215-E094-1AD0C94C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320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F977C-93FD-9730-02F6-16F672897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F1E2D-E449-F576-8A32-7FBE9CA44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vs Ring-SIS</a:t>
            </a:r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A9597BFA-9816-2580-2514-336F6DA69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475529"/>
              </p:ext>
            </p:extLst>
          </p:nvPr>
        </p:nvGraphicFramePr>
        <p:xfrm>
          <a:off x="838200" y="1295399"/>
          <a:ext cx="10515597" cy="404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895">
                  <a:extLst>
                    <a:ext uri="{9D8B030D-6E8A-4147-A177-3AD203B41FA5}">
                      <a16:colId xmlns:a16="http://schemas.microsoft.com/office/drawing/2014/main" val="2097984813"/>
                    </a:ext>
                  </a:extLst>
                </a:gridCol>
                <a:gridCol w="3978442">
                  <a:extLst>
                    <a:ext uri="{9D8B030D-6E8A-4147-A177-3AD203B41FA5}">
                      <a16:colId xmlns:a16="http://schemas.microsoft.com/office/drawing/2014/main" val="2850503425"/>
                    </a:ext>
                  </a:extLst>
                </a:gridCol>
                <a:gridCol w="3910260">
                  <a:extLst>
                    <a:ext uri="{9D8B030D-6E8A-4147-A177-3AD203B41FA5}">
                      <a16:colId xmlns:a16="http://schemas.microsoft.com/office/drawing/2014/main" val="3968521870"/>
                    </a:ext>
                  </a:extLst>
                </a:gridCol>
              </a:tblGrid>
              <a:tr h="8093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SIS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Ring-SIS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989680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행렬 </a:t>
                      </a:r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완전히 무작위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ℓ</a:t>
                      </a:r>
                      <a:r>
                        <a:rPr lang="ko-KR" altLang="en-US" sz="1800" dirty="0"/>
                        <a:t>개 다항식으로</a:t>
                      </a:r>
                      <a:endParaRPr lang="en-US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결정되는 구조화된 행렬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723218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안전성 근거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worst-case SIVP</a:t>
                      </a:r>
                      <a:r>
                        <a:rPr lang="el-GR" altLang="ko-KR" sz="1800" dirty="0"/>
                        <a:t>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worst-case </a:t>
                      </a:r>
                      <a:r>
                        <a:rPr lang="ko-KR" altLang="en-US" sz="1800" dirty="0"/>
                        <a:t>근사</a:t>
                      </a:r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SVPγ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반순환 격자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더 좁은 클래스</a:t>
                      </a:r>
                      <a:r>
                        <a:rPr lang="en-US" altLang="ko-KR" sz="18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137067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저장 비용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/>
                        <a:t>mn</a:t>
                      </a:r>
                      <a:r>
                        <a:rPr lang="ko-KR" altLang="en-US" sz="1800" dirty="0"/>
                        <a:t>개 </a:t>
                      </a:r>
                      <a:r>
                        <a:rPr lang="en-US" altLang="ko-KR" sz="1800" dirty="0" err="1"/>
                        <a:t>ℤq</a:t>
                      </a:r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ℓn=m</a:t>
                      </a:r>
                      <a:r>
                        <a:rPr lang="ko-KR" altLang="en-US" sz="1800" dirty="0"/>
                        <a:t>개 </a:t>
                      </a:r>
                      <a:r>
                        <a:rPr lang="en-US" altLang="ko-KR" sz="1800" dirty="0" err="1"/>
                        <a:t>ℤq</a:t>
                      </a:r>
                      <a:r>
                        <a:rPr lang="ko-KR" altLang="en-US" sz="1800" dirty="0"/>
                        <a:t> 원소 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첫 열만 저장</a:t>
                      </a:r>
                      <a:r>
                        <a:rPr lang="en-US" altLang="ko-KR" sz="18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083459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Ar</a:t>
                      </a:r>
                      <a:r>
                        <a:rPr lang="en-US" altLang="ko-KR" dirty="0"/>
                        <a:t> mod q </a:t>
                      </a:r>
                      <a:r>
                        <a:rPr lang="ko-KR" altLang="en-US" dirty="0"/>
                        <a:t>연산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</a:t>
                      </a:r>
                      <a:r>
                        <a:rPr lang="en-US" altLang="ko-KR" dirty="0" err="1"/>
                        <a:t>mn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O(m log n)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19807303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46D384-E179-E28A-F98B-1E218DA7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61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A2C12-E3D2-3D29-5321-F14A2533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86927-386F-819E-EE99-67673B4B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Ring-LWE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56452F-38C1-4C37-A2BD-500601A10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s∈</a:t>
            </a:r>
            <a:r>
              <a:rPr lang="en-US" altLang="ko-KR" baseline="-25000" dirty="0" err="1"/>
              <a:t>R</a:t>
            </a:r>
            <a:r>
              <a:rPr lang="ko-KR" altLang="en-US" dirty="0"/>
              <a:t>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dirty="0"/>
              <a:t>, e₁,…,e</a:t>
            </a:r>
            <a:r>
              <a:rPr lang="en-US" altLang="ko-KR" baseline="-25000" dirty="0"/>
              <a:t>k </a:t>
            </a:r>
            <a:r>
              <a:rPr lang="en-US" altLang="ko-KR" dirty="0"/>
              <a:t>∈</a:t>
            </a:r>
            <a:r>
              <a:rPr lang="en-US" altLang="ko-KR" baseline="-25000" dirty="0"/>
              <a:t>R</a:t>
            </a:r>
            <a:r>
              <a:rPr lang="ko-KR" altLang="en-US" dirty="0"/>
              <a:t> </a:t>
            </a:r>
            <a:r>
              <a:rPr lang="en-US" altLang="ko-KR" dirty="0"/>
              <a:t>S</a:t>
            </a:r>
            <a:r>
              <a:rPr lang="en-US" altLang="ko-KR" baseline="-25000" dirty="0"/>
              <a:t>B</a:t>
            </a:r>
            <a:r>
              <a:rPr lang="en-US" altLang="ko-KR" dirty="0"/>
              <a:t> (</a:t>
            </a:r>
            <a:r>
              <a:rPr lang="en-US" altLang="ko-KR" dirty="0" err="1"/>
              <a:t>B≪q</a:t>
            </a:r>
            <a:r>
              <a:rPr lang="en-US" altLang="ko-KR" dirty="0"/>
              <a:t>/2). a₁,…,</a:t>
            </a:r>
            <a:r>
              <a:rPr lang="en-US" altLang="ko-KR" dirty="0" err="1"/>
              <a:t>a</a:t>
            </a:r>
            <a:r>
              <a:rPr lang="en-US" altLang="ko-KR" baseline="-25000" dirty="0" err="1"/>
              <a:t>k</a:t>
            </a:r>
            <a:r>
              <a:rPr lang="en-US" altLang="ko-KR" baseline="-25000" dirty="0"/>
              <a:t> </a:t>
            </a:r>
            <a:r>
              <a:rPr lang="en-US" altLang="ko-KR" dirty="0"/>
              <a:t>∈</a:t>
            </a:r>
            <a:r>
              <a:rPr lang="en-US" altLang="ko-KR" baseline="-25000" dirty="0"/>
              <a:t>R</a:t>
            </a:r>
            <a:r>
              <a:rPr lang="ko-KR" altLang="en-US" dirty="0"/>
              <a:t>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endParaRPr lang="en-US" altLang="ko-KR" dirty="0"/>
          </a:p>
          <a:p>
            <a:r>
              <a:rPr lang="en-US" altLang="ko-KR" dirty="0"/>
              <a:t>bᵢ=</a:t>
            </a:r>
            <a:r>
              <a:rPr lang="en-US" altLang="ko-KR" dirty="0" err="1"/>
              <a:t>aᵢs+e</a:t>
            </a:r>
            <a:r>
              <a:rPr lang="en-US" altLang="ko-KR" dirty="0"/>
              <a:t>ᵢ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en-US" altLang="ko-KR" dirty="0" err="1"/>
              <a:t>aᵢ,b</a:t>
            </a:r>
            <a:r>
              <a:rPr lang="en-US" altLang="ko-KR" dirty="0"/>
              <a:t>ᵢ</a:t>
            </a:r>
            <a:r>
              <a:rPr lang="ko-KR" altLang="en-US" dirty="0"/>
              <a:t>로부터 </a:t>
            </a:r>
            <a:r>
              <a:rPr lang="en-US" altLang="ko-KR" dirty="0"/>
              <a:t>s</a:t>
            </a:r>
            <a:r>
              <a:rPr lang="ko-KR" altLang="en-US" dirty="0"/>
              <a:t>를 찾아라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Ring-LWE</a:t>
            </a:r>
            <a:r>
              <a:rPr lang="ko-KR" altLang="en-US" dirty="0"/>
              <a:t>는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anti-circulant </a:t>
            </a:r>
            <a:r>
              <a:rPr lang="ko-KR" altLang="en-US" dirty="0"/>
              <a:t>블록을 세로로 쌓은 구조화된 특수한 </a:t>
            </a:r>
            <a:r>
              <a:rPr lang="en-US" altLang="ko-KR" dirty="0"/>
              <a:t>LWE (LWE</a:t>
            </a:r>
            <a:r>
              <a:rPr lang="ko-KR" altLang="en-US" dirty="0"/>
              <a:t>의 </a:t>
            </a:r>
            <a:r>
              <a:rPr lang="en-US" altLang="ko-KR" dirty="0"/>
              <a:t>A</a:t>
            </a:r>
            <a:r>
              <a:rPr lang="ko-KR" altLang="en-US" dirty="0"/>
              <a:t>는 완전 무작위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6E50FB-EDCE-1F93-5D90-9B03CD8E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483478-5CA4-70B6-B8BC-F175367AA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752" y="2647559"/>
            <a:ext cx="5494496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81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0C59F-4008-2A46-41C3-64C55CE9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C7C1D4-35EC-677B-21CA-9BC5C15E8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2 (1/2)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4BA5B7-1116-8116-49DF-CFF8B1601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altLang="ko-KR" dirty="0"/>
              <a:t>q=17, n=4, f(x)=x⁴+1, k=3, B=3</a:t>
            </a:r>
          </a:p>
          <a:p>
            <a:pPr marL="457200" lvl="1" indent="0">
              <a:buNone/>
            </a:pPr>
            <a:r>
              <a:rPr lang="en-US" altLang="ko-KR" dirty="0"/>
              <a:t>a₁=10+16x²</a:t>
            </a:r>
          </a:p>
          <a:p>
            <a:pPr marL="457200" lvl="1" indent="0">
              <a:buNone/>
            </a:pPr>
            <a:r>
              <a:rPr lang="en-US" altLang="ko-KR" dirty="0"/>
              <a:t>a₂=7+10x+3x²+16x³</a:t>
            </a:r>
          </a:p>
          <a:p>
            <a:pPr marL="457200" lvl="1" indent="0">
              <a:buNone/>
            </a:pPr>
            <a:r>
              <a:rPr lang="en-US" altLang="ko-KR" dirty="0"/>
              <a:t>a₃=9+12x+16x²+14x³ </a:t>
            </a:r>
          </a:p>
          <a:p>
            <a:pPr marL="457200" lvl="1" indent="0">
              <a:buNone/>
            </a:pPr>
            <a:r>
              <a:rPr lang="en-US" altLang="ko-KR" dirty="0"/>
              <a:t>b₁=16+9x+6x²+4x³</a:t>
            </a:r>
          </a:p>
          <a:p>
            <a:pPr marL="457200" lvl="1" indent="0">
              <a:buNone/>
            </a:pPr>
            <a:r>
              <a:rPr lang="en-US" altLang="ko-KR" dirty="0"/>
              <a:t>b₂=2+16x+12x²</a:t>
            </a:r>
          </a:p>
          <a:p>
            <a:pPr marL="457200" lvl="1" indent="0">
              <a:buNone/>
            </a:pPr>
            <a:r>
              <a:rPr lang="en-US" altLang="ko-KR" dirty="0"/>
              <a:t>b₃=10+15x+7x²</a:t>
            </a:r>
          </a:p>
          <a:p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en-US" altLang="ko-KR" dirty="0" err="1"/>
              <a:t>As+e≡b</a:t>
            </a:r>
            <a:r>
              <a:rPr lang="en-US" altLang="ko-KR" dirty="0"/>
              <a:t> (mod 17), </a:t>
            </a:r>
            <a:r>
              <a:rPr lang="en-US" altLang="ko-KR" dirty="0" err="1"/>
              <a:t>s∈ℤ</a:t>
            </a:r>
            <a:r>
              <a:rPr lang="en-US" altLang="ko-KR" dirty="0"/>
              <a:t>₁₇⁴, e∈[−3,3]¹²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E3CDA3-0A23-145C-76AD-93EDDD93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65E21B-64C0-B3A4-AB9B-AC58D09C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2463"/>
            <a:ext cx="4378094" cy="43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79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20E20-553D-64DA-E59D-68F5AC97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0A6A-EAB9-27A8-DAF7-6FD5184C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2 (2/2)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11EBF0-3E15-CC07-C354-C25E752E7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pt-BR" altLang="ko-KR" dirty="0"/>
              <a:t>s=(5,15,15,12)ᵀ,  e=(2,0,−3,1, −2,1,2,−2, −2,1,1,−3)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pt-BR" altLang="ko-KR" dirty="0"/>
              <a:t>s=(14,15,14,12)ᵀ, e=(−2,0,−1,1, 0,−3,−1,0, 3,−2,2,2)</a:t>
            </a:r>
          </a:p>
          <a:p>
            <a:r>
              <a:rPr lang="ko-KR" altLang="en-US" dirty="0"/>
              <a:t>두 해 모두 </a:t>
            </a:r>
            <a:r>
              <a:rPr lang="en-US" altLang="ko-KR" dirty="0" err="1"/>
              <a:t>As+e≡b</a:t>
            </a:r>
            <a:r>
              <a:rPr lang="ko-KR" altLang="en-US" dirty="0"/>
              <a:t> </a:t>
            </a:r>
            <a:r>
              <a:rPr lang="en-US" altLang="ko-KR" dirty="0"/>
              <a:t>(mod 17) </a:t>
            </a:r>
            <a:r>
              <a:rPr lang="ko-KR" altLang="en-US" dirty="0"/>
              <a:t>및 </a:t>
            </a:r>
            <a:r>
              <a:rPr lang="en-US" altLang="ko-KR" dirty="0" err="1"/>
              <a:t>aᵢs+e</a:t>
            </a:r>
            <a:r>
              <a:rPr lang="en-US" altLang="ko-KR" dirty="0"/>
              <a:t>ᵢ≡bᵢ </a:t>
            </a:r>
            <a:r>
              <a:rPr lang="ko-KR" altLang="en-US" dirty="0"/>
              <a:t>만족</a:t>
            </a:r>
            <a:endParaRPr lang="en-US" altLang="ko-KR" dirty="0"/>
          </a:p>
          <a:p>
            <a:r>
              <a:rPr lang="ko-KR" altLang="en-US" dirty="0"/>
              <a:t>오차 </a:t>
            </a:r>
            <a:r>
              <a:rPr lang="en-US" altLang="ko-KR" dirty="0"/>
              <a:t>e</a:t>
            </a:r>
            <a:r>
              <a:rPr lang="ko-KR" altLang="en-US" dirty="0"/>
              <a:t>가 존재하는 한</a:t>
            </a:r>
            <a:r>
              <a:rPr lang="en-US" altLang="ko-KR" dirty="0"/>
              <a:t>, LWE</a:t>
            </a:r>
            <a:r>
              <a:rPr lang="ko-KR" altLang="en-US" dirty="0"/>
              <a:t>와 마찬가지로 탐색 문제로서의 </a:t>
            </a:r>
            <a:r>
              <a:rPr lang="en-US" altLang="ko-KR" dirty="0"/>
              <a:t>Ring-LWE</a:t>
            </a:r>
            <a:r>
              <a:rPr lang="ko-KR" altLang="en-US" dirty="0"/>
              <a:t>는 유일 해를 보장하지 않는다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6A914E-6DF6-EB52-21DC-5BEF01D6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662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90F6-F0C9-58EA-4EB3-5914E0A1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72C79-A5EF-65DE-70B5-A155CAD1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Ring-LWE</a:t>
            </a:r>
            <a:r>
              <a:rPr lang="ko-KR" altLang="en-US" dirty="0"/>
              <a:t>의 안전성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7E9258-3DC5-F5F3-B127-D022CF19C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 err="1"/>
              <a:t>Lyubashevsky</a:t>
            </a:r>
            <a:r>
              <a:rPr lang="en-US" altLang="ko-KR" dirty="0"/>
              <a:t>-Peikert-Regev (2010, STOC): Ring-LWE</a:t>
            </a:r>
            <a:r>
              <a:rPr lang="ko-KR" altLang="en-US" dirty="0"/>
              <a:t>를 평균적으로 푸는 것은</a:t>
            </a:r>
            <a:r>
              <a:rPr lang="en-US" altLang="ko-KR" dirty="0"/>
              <a:t> </a:t>
            </a:r>
            <a:r>
              <a:rPr lang="ko-KR" altLang="en-US" dirty="0"/>
              <a:t>반순환 격자의 근사</a:t>
            </a:r>
            <a:r>
              <a:rPr lang="en-US" altLang="ko-KR" dirty="0"/>
              <a:t>-</a:t>
            </a:r>
            <a:r>
              <a:rPr lang="en-US" altLang="ko-KR" dirty="0" err="1"/>
              <a:t>SVPγ</a:t>
            </a:r>
            <a:r>
              <a:rPr lang="ko-KR" altLang="en-US" dirty="0"/>
              <a:t>를 양자적으로 최악 케이스에서 푸는 것만큼 어렵다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LWE</a:t>
            </a:r>
            <a:r>
              <a:rPr lang="ko-KR" altLang="en-US" dirty="0"/>
              <a:t>의 </a:t>
            </a:r>
            <a:r>
              <a:rPr lang="en-US" altLang="ko-KR" dirty="0"/>
              <a:t>Regev </a:t>
            </a:r>
            <a:r>
              <a:rPr lang="ko-KR" altLang="en-US" dirty="0"/>
              <a:t>환원과 같은 형태</a:t>
            </a:r>
            <a:endParaRPr lang="en-US" altLang="ko-KR" dirty="0"/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</a:t>
            </a:r>
            <a:r>
              <a:rPr lang="ko-KR" altLang="en-US" dirty="0"/>
              <a:t>마찬가지로 양자 환원이자 </a:t>
            </a:r>
            <a:r>
              <a:rPr lang="ko-KR" altLang="en-US" dirty="0" err="1"/>
              <a:t>점근적</a:t>
            </a:r>
            <a:r>
              <a:rPr lang="ko-KR" altLang="en-US" dirty="0"/>
              <a:t> 보장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구조</a:t>
            </a:r>
            <a:r>
              <a:rPr lang="en-US" altLang="ko-KR" dirty="0"/>
              <a:t>(anti-circulant)</a:t>
            </a:r>
            <a:r>
              <a:rPr lang="ko-KR" altLang="en-US" dirty="0"/>
              <a:t>를 이용해 </a:t>
            </a:r>
            <a:r>
              <a:rPr lang="en-US" altLang="ko-KR" dirty="0"/>
              <a:t>LWE</a:t>
            </a:r>
            <a:r>
              <a:rPr lang="ko-KR" altLang="en-US" dirty="0"/>
              <a:t>보다 빠르게 푸는 알고리즘은 알려져 있지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B4AEA-A922-94BD-A24D-00186053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946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F6EA-868B-DFFF-4C9E-CE985F4E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62BC5-4FE5-E794-C786-2C6EAE1E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Ring-LWE </a:t>
            </a:r>
            <a:r>
              <a:rPr lang="ko-KR" altLang="en-US" dirty="0"/>
              <a:t>기반 공개키 암호화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F8C92-2495-FB06-E2EB-F209392F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Lindner-Peikert </a:t>
            </a:r>
            <a:r>
              <a:rPr lang="ko-KR" altLang="en-US" dirty="0"/>
              <a:t>암호를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ko-KR" altLang="en-US" dirty="0"/>
              <a:t> 위로 옮긴 것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한 번에 </a:t>
            </a:r>
            <a:r>
              <a:rPr lang="en-US" altLang="ko-KR" dirty="0"/>
              <a:t>n</a:t>
            </a:r>
            <a:r>
              <a:rPr lang="ko-KR" altLang="en-US" dirty="0"/>
              <a:t>비트 암호화</a:t>
            </a:r>
            <a:endParaRPr lang="en-US" altLang="ko-KR" dirty="0"/>
          </a:p>
          <a:p>
            <a:pPr>
              <a:defRPr>
                <a:latin typeface="Consolas"/>
              </a:defRPr>
            </a:pPr>
            <a:r>
              <a:rPr lang="ko-KR" altLang="en-US" dirty="0" err="1"/>
              <a:t>키생성</a:t>
            </a:r>
            <a:r>
              <a:rPr lang="en-US" altLang="ko-KR" dirty="0"/>
              <a:t>(Alice): </a:t>
            </a:r>
            <a:r>
              <a:rPr lang="en-US" altLang="ko-KR" dirty="0" err="1"/>
              <a:t>s∈</a:t>
            </a:r>
            <a:r>
              <a:rPr lang="en-US" altLang="ko-KR" baseline="-25000" dirty="0" err="1"/>
              <a:t>R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B</a:t>
            </a:r>
            <a:r>
              <a:rPr lang="en-US" altLang="ko-KR" dirty="0"/>
              <a:t>, </a:t>
            </a:r>
            <a:r>
              <a:rPr lang="en-US" altLang="ko-KR" dirty="0" err="1"/>
              <a:t>a∈</a:t>
            </a:r>
            <a:r>
              <a:rPr lang="en-US" altLang="ko-KR" baseline="-25000" dirty="0" err="1"/>
              <a:t>R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dirty="0"/>
              <a:t>, </a:t>
            </a:r>
            <a:r>
              <a:rPr lang="en-US" altLang="ko-KR" dirty="0" err="1"/>
              <a:t>e∈</a:t>
            </a:r>
            <a:r>
              <a:rPr lang="en-US" altLang="ko-KR" baseline="-25000" dirty="0" err="1"/>
              <a:t>R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B</a:t>
            </a:r>
            <a:r>
              <a:rPr lang="en-US" altLang="ko-KR" dirty="0"/>
              <a:t> </a:t>
            </a:r>
            <a:r>
              <a:rPr lang="ko-KR" altLang="en-US" dirty="0"/>
              <a:t>선택 → </a:t>
            </a:r>
            <a:r>
              <a:rPr lang="en-US" altLang="ko-KR" dirty="0"/>
              <a:t>b=</a:t>
            </a:r>
            <a:r>
              <a:rPr lang="en-US" altLang="ko-KR" dirty="0" err="1"/>
              <a:t>as+e</a:t>
            </a:r>
            <a:r>
              <a:rPr lang="en-US" altLang="ko-KR" dirty="0"/>
              <a:t>. </a:t>
            </a:r>
            <a:r>
              <a:rPr lang="ko-KR" altLang="en-US" dirty="0"/>
              <a:t>공개키 </a:t>
            </a:r>
            <a:r>
              <a:rPr lang="en-US" altLang="ko-KR" dirty="0"/>
              <a:t>(</a:t>
            </a:r>
            <a:r>
              <a:rPr lang="en-US" altLang="ko-KR" dirty="0" err="1"/>
              <a:t>a,b</a:t>
            </a:r>
            <a:r>
              <a:rPr lang="en-US" altLang="ko-KR" dirty="0"/>
              <a:t>), </a:t>
            </a:r>
            <a:r>
              <a:rPr lang="ko-KR" altLang="en-US" dirty="0"/>
              <a:t>개인키 </a:t>
            </a:r>
            <a:r>
              <a:rPr lang="en-US" altLang="ko-KR" dirty="0"/>
              <a:t>s.</a:t>
            </a:r>
          </a:p>
          <a:p>
            <a:pPr>
              <a:defRPr>
                <a:latin typeface="Consolas"/>
              </a:defRPr>
            </a:pPr>
            <a:r>
              <a:rPr lang="ko-KR" altLang="en-US" dirty="0"/>
              <a:t>암호화</a:t>
            </a:r>
            <a:r>
              <a:rPr lang="en-US" altLang="ko-KR" dirty="0"/>
              <a:t>(Bob, m∈{0,1}ⁿ): </a:t>
            </a:r>
            <a:r>
              <a:rPr lang="en-US" altLang="ko-KR" dirty="0" err="1"/>
              <a:t>r,z,z′∈</a:t>
            </a:r>
            <a:r>
              <a:rPr lang="en-US" altLang="ko-KR" baseline="-25000" dirty="0" err="1"/>
              <a:t>R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B</a:t>
            </a:r>
            <a:r>
              <a:rPr lang="en-US" altLang="ko-KR" dirty="0"/>
              <a:t> </a:t>
            </a:r>
            <a:r>
              <a:rPr lang="ko-KR" altLang="en-US" dirty="0"/>
              <a:t>선택 → </a:t>
            </a:r>
            <a:r>
              <a:rPr lang="en-US" altLang="ko-KR" dirty="0"/>
              <a:t>c1=</a:t>
            </a:r>
            <a:r>
              <a:rPr lang="en-US" altLang="ko-KR" dirty="0" err="1"/>
              <a:t>ar+z</a:t>
            </a:r>
            <a:r>
              <a:rPr lang="en-US" altLang="ko-KR" dirty="0"/>
              <a:t>, c2=</a:t>
            </a:r>
            <a:r>
              <a:rPr lang="en-US" altLang="ko-KR" dirty="0" err="1"/>
              <a:t>br+z</a:t>
            </a:r>
            <a:r>
              <a:rPr lang="en-US" altLang="ko-KR" dirty="0"/>
              <a:t>′+⌈q/2⌉m.</a:t>
            </a:r>
          </a:p>
          <a:p>
            <a:pPr>
              <a:defRPr>
                <a:latin typeface="Consolas"/>
              </a:defRPr>
            </a:pPr>
            <a:r>
              <a:rPr lang="ko-KR" altLang="en-US" dirty="0"/>
              <a:t>복호화</a:t>
            </a:r>
            <a:r>
              <a:rPr lang="en-US" altLang="ko-KR" dirty="0"/>
              <a:t>(Alice): </a:t>
            </a:r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r>
              <a:rPr lang="en-US" altLang="ko-KR" dirty="0"/>
              <a:t>(c</a:t>
            </a:r>
            <a:r>
              <a:rPr lang="en-US" altLang="ko-KR" baseline="-25000" dirty="0"/>
              <a:t>2</a:t>
            </a:r>
            <a:r>
              <a:rPr lang="en-US" altLang="ko-KR" dirty="0"/>
              <a:t> − s·c</a:t>
            </a:r>
            <a:r>
              <a:rPr lang="en-US" altLang="ko-KR" baseline="-25000" dirty="0"/>
              <a:t>1</a:t>
            </a:r>
            <a:r>
              <a:rPr lang="en-US" altLang="ko-KR" dirty="0"/>
              <a:t>) </a:t>
            </a:r>
            <a:r>
              <a:rPr lang="ko-KR" altLang="en-US" dirty="0"/>
              <a:t>출력</a:t>
            </a:r>
            <a:r>
              <a:rPr lang="en-US" altLang="ko-KR" dirty="0"/>
              <a:t>.</a:t>
            </a:r>
          </a:p>
          <a:p>
            <a:pPr>
              <a:defRPr>
                <a:latin typeface="Consolas"/>
              </a:defRPr>
            </a:pPr>
            <a:r>
              <a:rPr lang="ko-KR" altLang="en-US" dirty="0"/>
              <a:t>안전성</a:t>
            </a:r>
            <a:r>
              <a:rPr lang="en-US" altLang="ko-KR" dirty="0"/>
              <a:t>: </a:t>
            </a:r>
            <a:r>
              <a:rPr lang="ko-KR" altLang="en-US" dirty="0" err="1"/>
              <a:t>평문을</a:t>
            </a:r>
            <a:r>
              <a:rPr lang="ko-KR" altLang="en-US" dirty="0"/>
              <a:t> 골라 그 암호문을 볼 수 있는 공격자도 두 </a:t>
            </a:r>
            <a:r>
              <a:rPr lang="ko-KR" altLang="en-US" dirty="0" err="1"/>
              <a:t>평문의</a:t>
            </a:r>
            <a:r>
              <a:rPr lang="ko-KR" altLang="en-US" dirty="0"/>
              <a:t> 암호문을 구별할 수 없다</a:t>
            </a:r>
            <a:r>
              <a:rPr lang="en-US" altLang="ko-KR" dirty="0"/>
              <a:t>.</a:t>
            </a:r>
          </a:p>
          <a:p>
            <a:pPr marL="457200" lvl="1" indent="0">
              <a:buNone/>
              <a:defRPr>
                <a:latin typeface="Consolas"/>
              </a:defRPr>
            </a:pPr>
            <a:r>
              <a:rPr lang="en-US" altLang="ko-KR" dirty="0"/>
              <a:t>- Decisional short-secret Ring-LWE</a:t>
            </a:r>
            <a:r>
              <a:rPr lang="ko-KR" altLang="en-US" dirty="0"/>
              <a:t>가 어렵다는 가정 아래 성립한다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87681-7DF4-431B-1C7C-C5172432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144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16D81-8E6C-7426-3B51-4D34749B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7C8E6-F410-8794-19EF-F16996285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LWE vs Ring-LWE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07D739-FB3E-F11B-E5D3-DE78F911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/>
          </a:p>
        </p:txBody>
      </p:sp>
      <p:graphicFrame>
        <p:nvGraphicFramePr>
          <p:cNvPr id="8" name="내용 개체 틀 5">
            <a:extLst>
              <a:ext uri="{FF2B5EF4-FFF2-40B4-BE49-F238E27FC236}">
                <a16:creationId xmlns:a16="http://schemas.microsoft.com/office/drawing/2014/main" id="{FE0DAD9E-81FB-E0CE-FB45-8B3629895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030012"/>
              </p:ext>
            </p:extLst>
          </p:nvPr>
        </p:nvGraphicFramePr>
        <p:xfrm>
          <a:off x="838200" y="1295400"/>
          <a:ext cx="10515597" cy="404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6895">
                  <a:extLst>
                    <a:ext uri="{9D8B030D-6E8A-4147-A177-3AD203B41FA5}">
                      <a16:colId xmlns:a16="http://schemas.microsoft.com/office/drawing/2014/main" val="2097984813"/>
                    </a:ext>
                  </a:extLst>
                </a:gridCol>
                <a:gridCol w="3978442">
                  <a:extLst>
                    <a:ext uri="{9D8B030D-6E8A-4147-A177-3AD203B41FA5}">
                      <a16:colId xmlns:a16="http://schemas.microsoft.com/office/drawing/2014/main" val="2850503425"/>
                    </a:ext>
                  </a:extLst>
                </a:gridCol>
                <a:gridCol w="3910260">
                  <a:extLst>
                    <a:ext uri="{9D8B030D-6E8A-4147-A177-3AD203B41FA5}">
                      <a16:colId xmlns:a16="http://schemas.microsoft.com/office/drawing/2014/main" val="3968521870"/>
                    </a:ext>
                  </a:extLst>
                </a:gridCol>
              </a:tblGrid>
              <a:tr h="80932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LWE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Ring-LWE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989680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행렬 </a:t>
                      </a:r>
                      <a:r>
                        <a:rPr lang="en-US" altLang="ko-KR"/>
                        <a:t>A</a:t>
                      </a:r>
                      <a:endParaRPr lang="ko-KR" altLang="en-US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완전히 무작위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k</a:t>
                      </a:r>
                      <a:r>
                        <a:rPr lang="ko-KR" altLang="en-US" sz="1800" dirty="0"/>
                        <a:t>개 다항식으로 결정되는</a:t>
                      </a:r>
                      <a:endParaRPr lang="en-US" altLang="ko-KR" sz="1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구조화된 행렬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723218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안전성 근거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worst-case </a:t>
                      </a:r>
                      <a:r>
                        <a:rPr lang="ko-KR" altLang="en-US" sz="1800" dirty="0"/>
                        <a:t>근사</a:t>
                      </a:r>
                      <a:r>
                        <a:rPr lang="en-US" altLang="ko-KR" sz="1800" dirty="0"/>
                        <a:t>-SVP</a:t>
                      </a:r>
                      <a:r>
                        <a:rPr lang="el-GR" altLang="ko-KR" sz="1800" dirty="0"/>
                        <a:t>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worst-case </a:t>
                      </a:r>
                      <a:r>
                        <a:rPr lang="ko-KR" altLang="en-US" sz="1800" dirty="0"/>
                        <a:t>근사</a:t>
                      </a:r>
                      <a:r>
                        <a:rPr lang="en-US" altLang="ko-KR" sz="1800" dirty="0"/>
                        <a:t>-</a:t>
                      </a:r>
                      <a:r>
                        <a:rPr lang="en-US" altLang="ko-KR" sz="1800" dirty="0" err="1"/>
                        <a:t>SVPγ</a:t>
                      </a:r>
                      <a:endParaRPr lang="en-US" altLang="ko-KR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137067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저장 비용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/>
                        <a:t>mn</a:t>
                      </a:r>
                      <a:r>
                        <a:rPr lang="ko-KR" altLang="en-US" sz="1800" dirty="0"/>
                        <a:t>개 </a:t>
                      </a:r>
                      <a:r>
                        <a:rPr lang="en-US" altLang="ko-KR" sz="1800" dirty="0" err="1"/>
                        <a:t>ℤq</a:t>
                      </a:r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원소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kn</a:t>
                      </a:r>
                      <a:r>
                        <a:rPr lang="en-US" altLang="ko-KR" sz="1800" dirty="0"/>
                        <a:t>=m</a:t>
                      </a:r>
                      <a:r>
                        <a:rPr lang="ko-KR" altLang="en-US" sz="1800" dirty="0"/>
                        <a:t>개 </a:t>
                      </a:r>
                      <a:r>
                        <a:rPr lang="en-US" altLang="ko-KR" sz="1800" dirty="0" err="1"/>
                        <a:t>ℤq</a:t>
                      </a:r>
                      <a:r>
                        <a:rPr lang="ko-KR" altLang="en-US" sz="1800" dirty="0"/>
                        <a:t> 원소 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첫 열만 저장</a:t>
                      </a:r>
                      <a:r>
                        <a:rPr lang="en-US" altLang="ko-KR" sz="1800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083459"/>
                  </a:ext>
                </a:extLst>
              </a:tr>
              <a:tr h="8093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As mod q </a:t>
                      </a:r>
                      <a:r>
                        <a:rPr lang="ko-KR" altLang="en-US" dirty="0"/>
                        <a:t>연산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</a:t>
                      </a:r>
                      <a:r>
                        <a:rPr lang="en-US" altLang="ko-KR" dirty="0" err="1"/>
                        <a:t>mn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O(m log n)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1980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834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E3E1-D340-C426-760B-1F0491B3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35D6E-6D4D-0989-D1E7-E43FD60CF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구조를 느슨하게 만드는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3713F-77CC-C232-89EE-94235A63C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Ring-SIS/LWE</a:t>
            </a:r>
            <a:r>
              <a:rPr lang="ko-KR" altLang="en-US" dirty="0"/>
              <a:t>의 다항식 하나</a:t>
            </a:r>
            <a:r>
              <a:rPr lang="en-US" altLang="ko-KR" dirty="0"/>
              <a:t>(aᵢ∈</a:t>
            </a:r>
            <a:r>
              <a:rPr lang="en-US" altLang="ko-KR" dirty="0" err="1"/>
              <a:t>Rq</a:t>
            </a:r>
            <a:r>
              <a:rPr lang="en-US" altLang="ko-KR" dirty="0"/>
              <a:t>)</a:t>
            </a:r>
            <a:r>
              <a:rPr lang="ko-KR" altLang="en-US" dirty="0"/>
              <a:t>를 길이 </a:t>
            </a:r>
            <a:r>
              <a:rPr lang="en-US" altLang="ko-KR" dirty="0"/>
              <a:t>k(</a:t>
            </a:r>
            <a:r>
              <a:rPr lang="ko-KR" altLang="en-US" dirty="0"/>
              <a:t>또는 </a:t>
            </a:r>
            <a:r>
              <a:rPr lang="en-US" altLang="ko-KR" dirty="0"/>
              <a:t>ℓ)</a:t>
            </a:r>
            <a:r>
              <a:rPr lang="ko-KR" altLang="en-US" dirty="0"/>
              <a:t>의 다항식 벡터로 바꾸면 </a:t>
            </a:r>
            <a:r>
              <a:rPr lang="en-US" altLang="ko-KR" dirty="0"/>
              <a:t>MSIS/MLWE</a:t>
            </a:r>
          </a:p>
          <a:p>
            <a:pPr marL="457200" lvl="1" indent="0"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</a:t>
            </a:r>
            <a:r>
              <a:rPr lang="ko-KR" altLang="en-US" dirty="0"/>
              <a:t>결과 행렬 </a:t>
            </a:r>
            <a:r>
              <a:rPr lang="en-US" altLang="ko-KR" dirty="0"/>
              <a:t>A</a:t>
            </a:r>
            <a:r>
              <a:rPr lang="ko-KR" altLang="en-US" dirty="0"/>
              <a:t>는 여전히 </a:t>
            </a:r>
            <a:r>
              <a:rPr lang="en-US" altLang="ko-KR" dirty="0"/>
              <a:t>anti-circulant </a:t>
            </a:r>
            <a:r>
              <a:rPr lang="ko-KR" altLang="en-US" dirty="0"/>
              <a:t>블록이지만</a:t>
            </a:r>
            <a:r>
              <a:rPr lang="en-US" altLang="ko-KR" dirty="0"/>
              <a:t>, 1</a:t>
            </a:r>
            <a:r>
              <a:rPr lang="ko-KR" altLang="en-US" dirty="0"/>
              <a:t>개가 아니라 </a:t>
            </a:r>
            <a:r>
              <a:rPr lang="en-US" altLang="ko-KR" dirty="0"/>
              <a:t>k×ℓ</a:t>
            </a:r>
            <a:r>
              <a:rPr lang="ko-KR" altLang="en-US" dirty="0"/>
              <a:t>개 배열되어 덜 구조화된다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28AB06-9404-EF28-3B1B-39F83528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0E9C63-C997-E5AB-7E69-F318289C6DB7}"/>
              </a:ext>
            </a:extLst>
          </p:cNvPr>
          <p:cNvSpPr/>
          <p:nvPr/>
        </p:nvSpPr>
        <p:spPr>
          <a:xfrm>
            <a:off x="838200" y="2887451"/>
            <a:ext cx="5212080" cy="310896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000" tIns="110000" rIns="155000" rtlCol="0" anchor="ctr"/>
          <a:lstStyle/>
          <a:p>
            <a:pPr algn="ctr">
              <a:spcAft>
                <a:spcPts val="1000"/>
              </a:spcAft>
            </a:pPr>
            <a:r>
              <a:rPr sz="2000" b="1" dirty="0">
                <a:solidFill>
                  <a:srgbClr val="000000"/>
                </a:solidFill>
              </a:rPr>
              <a:t>Ring </a:t>
            </a:r>
            <a:r>
              <a:rPr sz="2000" b="1" dirty="0" err="1">
                <a:solidFill>
                  <a:srgbClr val="000000"/>
                </a:solidFill>
              </a:rPr>
              <a:t>버전</a:t>
            </a:r>
            <a:r>
              <a:rPr lang="en-US" sz="2000" b="1" dirty="0">
                <a:solidFill>
                  <a:srgbClr val="000000"/>
                </a:solidFill>
              </a:rPr>
              <a:t>: </a:t>
            </a:r>
            <a:r>
              <a:rPr sz="2000" b="1" dirty="0" err="1">
                <a:solidFill>
                  <a:srgbClr val="000000"/>
                </a:solidFill>
              </a:rPr>
              <a:t>n으로만</a:t>
            </a:r>
            <a:r>
              <a:rPr sz="2000" b="1" dirty="0">
                <a:solidFill>
                  <a:srgbClr val="000000"/>
                </a:solidFill>
              </a:rPr>
              <a:t> </a:t>
            </a:r>
            <a:r>
              <a:rPr sz="2000" b="1" dirty="0" err="1">
                <a:solidFill>
                  <a:srgbClr val="000000"/>
                </a:solidFill>
              </a:rPr>
              <a:t>조절</a:t>
            </a:r>
            <a:endParaRPr sz="2000" b="1" dirty="0">
              <a:solidFill>
                <a:srgbClr val="000000"/>
              </a:solidFill>
            </a:endParaRPr>
          </a:p>
          <a:p>
            <a:pPr marL="228600" indent="-22860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dirty="0" err="1">
                <a:solidFill>
                  <a:srgbClr val="1A1A1A"/>
                </a:solidFill>
              </a:rPr>
              <a:t>안전성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수준을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바꾸려면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n을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바꿔야</a:t>
            </a:r>
            <a:r>
              <a:rPr dirty="0">
                <a:solidFill>
                  <a:srgbClr val="1A1A1A"/>
                </a:solidFill>
              </a:rPr>
              <a:t> 함</a:t>
            </a:r>
          </a:p>
          <a:p>
            <a:pPr marL="228600" indent="-22860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dirty="0" err="1">
                <a:solidFill>
                  <a:srgbClr val="1A1A1A"/>
                </a:solidFill>
              </a:rPr>
              <a:t>n은</a:t>
            </a:r>
            <a:r>
              <a:rPr dirty="0">
                <a:solidFill>
                  <a:srgbClr val="1A1A1A"/>
                </a:solidFill>
              </a:rPr>
              <a:t> xⁿ+1이 </a:t>
            </a:r>
            <a:r>
              <a:rPr dirty="0" err="1">
                <a:solidFill>
                  <a:srgbClr val="1A1A1A"/>
                </a:solidFill>
              </a:rPr>
              <a:t>기약이도록</a:t>
            </a:r>
            <a:r>
              <a:rPr dirty="0">
                <a:solidFill>
                  <a:srgbClr val="1A1A1A"/>
                </a:solidFill>
              </a:rPr>
              <a:t> 2의 </a:t>
            </a:r>
            <a:r>
              <a:rPr dirty="0" err="1">
                <a:solidFill>
                  <a:srgbClr val="1A1A1A"/>
                </a:solidFill>
              </a:rPr>
              <a:t>거듭제곱으로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강하게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제약</a:t>
            </a:r>
            <a:endParaRPr dirty="0">
              <a:solidFill>
                <a:srgbClr val="1A1A1A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316349-8581-A364-133A-C55D866826BB}"/>
              </a:ext>
            </a:extLst>
          </p:cNvPr>
          <p:cNvSpPr/>
          <p:nvPr/>
        </p:nvSpPr>
        <p:spPr>
          <a:xfrm>
            <a:off x="6141720" y="2887451"/>
            <a:ext cx="5212080" cy="3108960"/>
          </a:xfrm>
          <a:prstGeom prst="roundRect">
            <a:avLst>
              <a:gd name="adj" fmla="val 4000"/>
            </a:avLst>
          </a:prstGeom>
          <a:solidFill>
            <a:srgbClr val="E8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000" tIns="110000" rIns="155000" rtlCol="0" anchor="ctr"/>
          <a:lstStyle/>
          <a:p>
            <a:pPr algn="ctr">
              <a:spcAft>
                <a:spcPts val="1000"/>
              </a:spcAft>
            </a:pPr>
            <a:r>
              <a:rPr sz="2000" b="1" dirty="0">
                <a:solidFill>
                  <a:schemeClr val="tx1"/>
                </a:solidFill>
              </a:rPr>
              <a:t>Module </a:t>
            </a:r>
            <a:r>
              <a:rPr sz="2000" b="1" dirty="0" err="1">
                <a:solidFill>
                  <a:schemeClr val="tx1"/>
                </a:solidFill>
              </a:rPr>
              <a:t>버전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sz="2000" b="1" dirty="0" err="1">
                <a:solidFill>
                  <a:schemeClr val="tx1"/>
                </a:solidFill>
              </a:rPr>
              <a:t>랭크로</a:t>
            </a:r>
            <a:r>
              <a:rPr sz="2000" b="1" dirty="0">
                <a:solidFill>
                  <a:schemeClr val="tx1"/>
                </a:solidFill>
              </a:rPr>
              <a:t> </a:t>
            </a:r>
            <a:r>
              <a:rPr sz="2000" b="1" dirty="0" err="1">
                <a:solidFill>
                  <a:schemeClr val="tx1"/>
                </a:solidFill>
              </a:rPr>
              <a:t>조절</a:t>
            </a:r>
            <a:endParaRPr sz="20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dirty="0">
                <a:solidFill>
                  <a:srgbClr val="1A1A1A"/>
                </a:solidFill>
              </a:rPr>
              <a:t>q, </a:t>
            </a:r>
            <a:r>
              <a:rPr dirty="0" err="1">
                <a:solidFill>
                  <a:srgbClr val="1A1A1A"/>
                </a:solidFill>
              </a:rPr>
              <a:t>n은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고정</a:t>
            </a:r>
            <a:r>
              <a:rPr dirty="0">
                <a:solidFill>
                  <a:srgbClr val="1A1A1A"/>
                </a:solidFill>
              </a:rPr>
              <a:t>, </a:t>
            </a:r>
            <a:r>
              <a:rPr dirty="0" err="1">
                <a:solidFill>
                  <a:srgbClr val="1A1A1A"/>
                </a:solidFill>
              </a:rPr>
              <a:t>모듈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랭크</a:t>
            </a:r>
            <a:r>
              <a:rPr dirty="0">
                <a:solidFill>
                  <a:srgbClr val="1A1A1A"/>
                </a:solidFill>
              </a:rPr>
              <a:t>(k, ℓ)만 </a:t>
            </a:r>
            <a:r>
              <a:rPr dirty="0" err="1">
                <a:solidFill>
                  <a:srgbClr val="1A1A1A"/>
                </a:solidFill>
              </a:rPr>
              <a:t>정수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단위로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자유롭게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조절</a:t>
            </a:r>
            <a:endParaRPr dirty="0">
              <a:solidFill>
                <a:srgbClr val="1A1A1A"/>
              </a:solidFill>
            </a:endParaRPr>
          </a:p>
          <a:p>
            <a:pPr marL="228600" indent="-22860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dirty="0" err="1">
                <a:solidFill>
                  <a:srgbClr val="1A1A1A"/>
                </a:solidFill>
              </a:rPr>
              <a:t>다항식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산술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구현을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그대로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재사용</a:t>
            </a:r>
            <a:endParaRPr dirty="0">
              <a:solidFill>
                <a:srgbClr val="1A1A1A"/>
              </a:solidFill>
            </a:endParaRPr>
          </a:p>
          <a:p>
            <a:pPr marL="228600" indent="-22860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dirty="0" err="1">
                <a:solidFill>
                  <a:srgbClr val="1A1A1A"/>
                </a:solidFill>
              </a:rPr>
              <a:t>Kyber·Dilithium이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실제로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채택한</a:t>
            </a:r>
            <a:r>
              <a:rPr dirty="0">
                <a:solidFill>
                  <a:srgbClr val="1A1A1A"/>
                </a:solidFill>
              </a:rPr>
              <a:t> </a:t>
            </a:r>
            <a:r>
              <a:rPr dirty="0" err="1">
                <a:solidFill>
                  <a:srgbClr val="1A1A1A"/>
                </a:solidFill>
              </a:rPr>
              <a:t>전략</a:t>
            </a:r>
            <a:endParaRPr dirty="0">
              <a:solidFill>
                <a:srgbClr val="1A1A1A"/>
              </a:solidFill>
            </a:endParaRPr>
          </a:p>
        </p:txBody>
      </p:sp>
      <p:sp>
        <p:nvSpPr>
          <p:cNvPr id="8" name="Right Arrow 6">
            <a:extLst>
              <a:ext uri="{FF2B5EF4-FFF2-40B4-BE49-F238E27FC236}">
                <a16:creationId xmlns:a16="http://schemas.microsoft.com/office/drawing/2014/main" id="{5A8D8214-7A0D-7A4F-35AF-C7877A82C61C}"/>
              </a:ext>
            </a:extLst>
          </p:cNvPr>
          <p:cNvSpPr/>
          <p:nvPr/>
        </p:nvSpPr>
        <p:spPr>
          <a:xfrm>
            <a:off x="5798820" y="4213331"/>
            <a:ext cx="594360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8843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F13F-D978-C576-4C56-09844A94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8011A71-1B39-7BD6-5DAB-7B6247E49C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en-US" altLang="ko-KR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정의</a:t>
                </a:r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8011A71-1B39-7BD6-5DAB-7B6247E49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839" b="-88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FAC6B9-3515-80D2-F82F-E790EEAD2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𝑞</m:t>
                          </m:r>
                        </m:sub>
                        <m:sup>
                          <m:r>
                            <a:rPr lang="ko-KR" altLang="ar-AE" sz="2400" i="1">
                              <a:latin typeface="Cambria Math"/>
                            </a:rPr>
                            <m:t>𝑘</m:t>
                          </m:r>
                        </m:sup>
                      </m:sSubSup>
                      <m:r>
                        <a:rPr lang="ar-AE" altLang="ko-KR" sz="2400" i="1">
                          <a:latin typeface="Cambria Math"/>
                        </a:rPr>
                        <m:t>={(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):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ar-AE" altLang="ko-KR" sz="2400" dirty="0"/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ko-KR" altLang="en-US" dirty="0"/>
                  <a:t>모듈</a:t>
                </a:r>
                <a:r>
                  <a:rPr lang="en-US" altLang="ko-KR" dirty="0"/>
                  <a:t>(module): </a:t>
                </a:r>
                <a:r>
                  <a:rPr lang="ko-KR" altLang="en-US" dirty="0"/>
                  <a:t>벡터공간의 스칼라 체</a:t>
                </a:r>
                <a:r>
                  <a:rPr lang="en-US" altLang="ko-KR" dirty="0"/>
                  <a:t>(field)</a:t>
                </a:r>
                <a:r>
                  <a:rPr lang="ko-KR" altLang="en-US" dirty="0"/>
                  <a:t>를 링</a:t>
                </a:r>
                <a:r>
                  <a:rPr lang="en-US" altLang="ko-KR" dirty="0"/>
                  <a:t>(ring)</a:t>
                </a:r>
                <a:r>
                  <a:rPr lang="ko-KR" altLang="en-US" dirty="0"/>
                  <a:t>으로 바꾼 대수 구조</a:t>
                </a:r>
              </a:p>
              <a:p>
                <a:pPr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MSIS</a:t>
                </a:r>
                <a:r>
                  <a:rPr lang="ko-KR" altLang="en-US" dirty="0"/>
                  <a:t>는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baseline="30000" dirty="0" err="1"/>
                  <a:t>k</a:t>
                </a:r>
                <a:r>
                  <a:rPr lang="en-US" altLang="ko-KR" dirty="0"/>
                  <a:t>, MLWE</a:t>
                </a:r>
                <a:r>
                  <a:rPr lang="ko-KR" altLang="en-US" dirty="0"/>
                  <a:t>는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baseline="30000" dirty="0"/>
                  <a:t>ℓ</a:t>
                </a:r>
                <a:r>
                  <a:rPr lang="ko-KR" altLang="en-US" dirty="0"/>
                  <a:t>을 무대로 삼는다</a:t>
                </a:r>
              </a:p>
              <a:p>
                <a:r>
                  <a:rPr lang="ko-KR" altLang="en-US" dirty="0"/>
                  <a:t>크기</a:t>
                </a:r>
                <a:r>
                  <a:rPr lang="en-US" altLang="ko-KR" dirty="0"/>
                  <a:t>: ‖a‖∞=maxᵢ‖aᵢ‖∞ </a:t>
                </a:r>
              </a:p>
              <a:p>
                <a:r>
                  <a:rPr lang="ko-KR" altLang="en-US" dirty="0"/>
                  <a:t>덧셈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뺄셈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성분별로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결과도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baseline="30000" dirty="0" err="1"/>
                  <a:t>k</a:t>
                </a:r>
                <a:r>
                  <a:rPr lang="ko-KR" altLang="en-US" dirty="0"/>
                  <a:t> 안에 머문다</a:t>
                </a:r>
                <a:r>
                  <a:rPr lang="en-US" altLang="ko-KR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ar-AE" altLang="ko-KR" i="1"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a:rPr lang="ar-AE" altLang="ko-KR" i="1">
                          <a:latin typeface="Cambria Math"/>
                        </a:rPr>
                        <m:t>·</m:t>
                      </m:r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r>
                  <a:rPr lang="ko-KR" altLang="en-US" dirty="0"/>
                  <a:t>내적은 스칼라가 아니라 다항식 하나를 만든다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곱셈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덧셈이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ko-KR" altLang="en-US" dirty="0"/>
                  <a:t>의 다항식 연산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3FAC6B9-3515-80D2-F82F-E790EEAD2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1C9317-E104-E737-D4E7-EA61DAF9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030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C47B-CCBC-4A0F-4D2C-33F5260B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5E638-8783-946B-5C24-C9FEB6BC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Module-SIS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31C32C-8A6F-8CA2-4247-E2FFC0CE33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MSIS(</a:t>
                </a:r>
                <a:r>
                  <a:rPr lang="en-US" altLang="ko-KR" dirty="0" err="1"/>
                  <a:t>n,k</a:t>
                </a:r>
                <a:r>
                  <a:rPr lang="en-US" altLang="ko-KR" dirty="0"/>
                  <a:t>,ℓ,</a:t>
                </a:r>
                <a:r>
                  <a:rPr lang="en-US" altLang="ko-KR" dirty="0" err="1"/>
                  <a:t>q,B</a:t>
                </a:r>
                <a:r>
                  <a:rPr lang="en-US" altLang="ko-KR" dirty="0"/>
                  <a:t>): a₁,…,a</a:t>
                </a:r>
                <a:r>
                  <a:rPr lang="en-US" altLang="ko-KR" baseline="-25000" dirty="0"/>
                  <a:t>ℓ</a:t>
                </a:r>
                <a:r>
                  <a:rPr lang="en-US" altLang="ko-KR" dirty="0"/>
                  <a:t>∈</a:t>
                </a:r>
                <a:r>
                  <a:rPr lang="en-US" altLang="ko-KR" baseline="-25000" dirty="0"/>
                  <a:t>R</a:t>
                </a:r>
                <a:r>
                  <a:rPr lang="en-US" altLang="ko-KR" dirty="0"/>
                  <a:t>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baseline="30000" dirty="0" err="1"/>
                  <a:t>k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(ℓ&gt;k)</a:t>
                </a:r>
                <a:r>
                  <a:rPr lang="ko-KR" altLang="en-US" dirty="0"/>
                  <a:t>가 주어졌을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다음을 만족하는 </a:t>
                </a:r>
                <a:r>
                  <a:rPr lang="en-US" altLang="ko-KR" dirty="0"/>
                  <a:t>z₁,…,zℓ∈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ko-KR" altLang="en-US" dirty="0"/>
                  <a:t>를 찾아라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+⋯+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ℓ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ℓ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=</m:t>
                      </m:r>
                      <m:r>
                        <a:rPr lang="ar-AE" altLang="ko-KR" i="1">
                          <a:latin typeface="Cambria Math"/>
                        </a:rPr>
                        <m:t>0</m:t>
                      </m:r>
                      <m:r>
                        <a:rPr lang="ar-AE" altLang="ko-KR" i="1">
                          <a:latin typeface="Cambria Math"/>
                        </a:rPr>
                        <m:t>,‖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ko-KR" altLang="ar-AE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ko-KR" i="1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i="1">
                          <a:latin typeface="Cambria Math"/>
                        </a:rPr>
                        <m:t>not</m:t>
                      </m:r>
                      <m:r>
                        <m:rPr>
                          <m:nor/>
                        </m:rPr>
                        <a:rPr lang="en-US" altLang="ko-KR" i="1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i="1">
                          <a:latin typeface="Cambria Math"/>
                        </a:rPr>
                        <m:t>all</m:t>
                      </m:r>
                      <m:r>
                        <m:rPr>
                          <m:nor/>
                        </m:rPr>
                        <a:rPr lang="en-US" altLang="ko-KR" i="1">
                          <a:latin typeface="Cambria Math"/>
                        </a:rPr>
                        <m:t> </m:t>
                      </m:r>
                      <m:r>
                        <a:rPr lang="en-US" altLang="ko-KR" i="1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>
                  <a:lnSpc>
                    <a:spcPct val="112000"/>
                  </a:lnSpc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endParaRPr lang="en-US" altLang="ko-KR" dirty="0"/>
              </a:p>
              <a:p>
                <a:pPr>
                  <a:lnSpc>
                    <a:spcPct val="112000"/>
                  </a:lnSpc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A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k×ℓ</a:t>
                </a:r>
                <a:r>
                  <a:rPr lang="ko-KR" altLang="en-US" dirty="0"/>
                  <a:t>개의 </a:t>
                </a:r>
                <a:r>
                  <a:rPr lang="en-US" altLang="ko-KR" dirty="0"/>
                  <a:t>anti-circulant </a:t>
                </a:r>
                <a:r>
                  <a:rPr lang="ko-KR" altLang="en-US" dirty="0"/>
                  <a:t>블록 </a:t>
                </a:r>
                <a:r>
                  <a:rPr lang="en-US" altLang="ko-KR" dirty="0"/>
                  <a:t>(Ring-SIS(1×ℓ</a:t>
                </a:r>
                <a:r>
                  <a:rPr lang="ko-KR" altLang="en-US" dirty="0"/>
                  <a:t>개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보다 블록이 세로로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배</a:t>
                </a:r>
                <a:r>
                  <a:rPr lang="en-US" altLang="ko-KR" dirty="0"/>
                  <a:t>)</a:t>
                </a:r>
                <a:endParaRPr lang="ko-KR" altLang="en-US" dirty="0"/>
              </a:p>
              <a:p>
                <a:pPr>
                  <a:lnSpc>
                    <a:spcPct val="112000"/>
                  </a:lnSpc>
                  <a:spcBef>
                    <a:spcPts val="700"/>
                  </a:spcBef>
                  <a:spcAft>
                    <a:spcPts val="900"/>
                  </a:spcAft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ko-KR" dirty="0"/>
                  <a:t>k=1 → Ring-SIS,  n=1 → SIS (MSIS</a:t>
                </a:r>
                <a:r>
                  <a:rPr lang="ko-KR" altLang="en-US" dirty="0"/>
                  <a:t>의 보간 성질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31C32C-8A6F-8CA2-4247-E2FFC0CE33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49E452-4025-052C-337D-C53ED85A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1D41F2-9653-51D0-47A4-B930F063B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683" y="2468797"/>
            <a:ext cx="5692633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9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CD2B-1D8E-0404-96E3-87237161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74817-02BE-051E-E001-B57458F8D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3 (1/2)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94E505-13D6-8E1E-BABD-7CFA130D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1"/>
            <a:ext cx="10515600" cy="5249857"/>
          </a:xfrm>
        </p:spPr>
        <p:txBody>
          <a:bodyPr>
            <a:normAutofit/>
          </a:bodyPr>
          <a:lstStyle/>
          <a:p>
            <a:r>
              <a:rPr lang="pt-BR" altLang="ko-KR" dirty="0"/>
              <a:t>n=4, q=67, k=2, ℓ=3, B=10, f(x)=x⁴+1</a:t>
            </a:r>
          </a:p>
          <a:p>
            <a:pPr marL="457200" lvl="1" indent="0">
              <a:buNone/>
            </a:pPr>
            <a:r>
              <a:rPr lang="en-US" altLang="ko-KR" dirty="0"/>
              <a:t>a₁ = (32+66x²+33x³, 30+64x+31x²+65x³)</a:t>
            </a:r>
          </a:p>
          <a:p>
            <a:pPr marL="457200" lvl="1" indent="0">
              <a:buNone/>
            </a:pPr>
            <a:r>
              <a:rPr lang="en-US" altLang="ko-KR" dirty="0"/>
              <a:t>a₂ = (42+44x+20x²+65x³, 63+41x+19x²+64x³)</a:t>
            </a:r>
          </a:p>
          <a:p>
            <a:pPr marL="457200" lvl="1" indent="0">
              <a:buNone/>
            </a:pPr>
            <a:r>
              <a:rPr lang="en-US" altLang="ko-KR" dirty="0"/>
              <a:t>a₃ = (2+60x+33x²+42x³, 26+9x+57x²+7x³)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 (8×12) — </a:t>
            </a:r>
            <a:r>
              <a:rPr lang="ko-KR" altLang="en-US" dirty="0"/>
              <a:t>목표</a:t>
            </a:r>
            <a:r>
              <a:rPr lang="en-US" altLang="ko-KR" dirty="0"/>
              <a:t>: Az≡0 (mod 67), ‖z‖∞≤10</a:t>
            </a:r>
            <a:r>
              <a:rPr lang="ko-KR" altLang="en-US" dirty="0"/>
              <a:t>인 </a:t>
            </a:r>
            <a:r>
              <a:rPr lang="en-US" altLang="ko-KR" dirty="0"/>
              <a:t>z≠0 </a:t>
            </a:r>
            <a:r>
              <a:rPr lang="ko-KR" altLang="en-US" dirty="0"/>
              <a:t>찾기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5E0A4-9068-92C8-4657-12CD3FFF9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889F64-9402-E8A1-A5E5-46521FAF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3429000"/>
            <a:ext cx="6035563" cy="240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93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26486-489B-9A85-B329-740E94B7A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A6DB6D-3178-FE3B-0B8E-BA2C0744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3 (2/2)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DCD10-6794-769C-5C91-94513A4C0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81806"/>
            <a:ext cx="10515600" cy="1435096"/>
          </a:xfrm>
        </p:spPr>
        <p:txBody>
          <a:bodyPr/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rank 8, </a:t>
            </a:r>
            <a:r>
              <a:rPr lang="ko-KR" altLang="en-US" dirty="0"/>
              <a:t>자유변수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(r₉~r₁₂) → </a:t>
            </a:r>
            <a:r>
              <a:rPr lang="ko-KR" altLang="en-US" dirty="0"/>
              <a:t>전체 해 </a:t>
            </a:r>
            <a:r>
              <a:rPr lang="en-US" altLang="ko-KR" dirty="0"/>
              <a:t>67⁴≈2015</a:t>
            </a:r>
            <a:r>
              <a:rPr lang="ko-KR" altLang="en-US" dirty="0"/>
              <a:t>만</a:t>
            </a:r>
            <a:r>
              <a:rPr lang="en-US" altLang="ko-KR" dirty="0"/>
              <a:t>, </a:t>
            </a:r>
            <a:r>
              <a:rPr lang="ko-KR" altLang="en-US" dirty="0"/>
              <a:t>이 중 </a:t>
            </a:r>
            <a:r>
              <a:rPr lang="en-US" altLang="ko-KR" dirty="0"/>
              <a:t>[-10,10]</a:t>
            </a:r>
            <a:r>
              <a:rPr lang="ko-KR" altLang="en-US" dirty="0"/>
              <a:t>인 </a:t>
            </a:r>
            <a:r>
              <a:rPr lang="en-US" altLang="ko-KR" dirty="0"/>
              <a:t>0</a:t>
            </a:r>
            <a:r>
              <a:rPr lang="ko-KR" altLang="en-US" dirty="0"/>
              <a:t>아닌 해 </a:t>
            </a:r>
            <a:r>
              <a:rPr lang="en-US" altLang="ko-KR" dirty="0"/>
              <a:t>8</a:t>
            </a:r>
            <a:r>
              <a:rPr lang="ko-KR" altLang="en-US" dirty="0"/>
              <a:t>개 </a:t>
            </a:r>
            <a:r>
              <a:rPr lang="en-US" altLang="ko-KR" dirty="0"/>
              <a:t>(</a:t>
            </a:r>
            <a:r>
              <a:rPr lang="ko-KR" altLang="en-US" dirty="0"/>
              <a:t>대표 해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대표 해 </a:t>
            </a:r>
            <a:r>
              <a:rPr lang="en-US" altLang="ko-KR" dirty="0"/>
              <a:t>r=(6,−8,8,0, 2,10,−6,3, −9,6,3,2) → z₁=6−8x+8x², z₂=2+10x−6x²+3x³, z₃=−9+6x+3x²+2x³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9B22C-E1D6-56E1-8294-67FD7DC9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A92264-0652-762B-5E9D-BF23F5CC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344" y="1558646"/>
            <a:ext cx="5258256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78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F7B6-27AE-AF42-4DFB-6FBE91B2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22DB3-4C92-5A34-0DFB-30B88B18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MSIS </a:t>
            </a:r>
            <a:r>
              <a:rPr lang="ko-KR" altLang="en-US" dirty="0"/>
              <a:t>안전성</a:t>
            </a:r>
            <a:r>
              <a:rPr lang="en-US" altLang="ko-KR" dirty="0"/>
              <a:t>, </a:t>
            </a:r>
            <a:r>
              <a:rPr lang="ko-KR" altLang="en-US" dirty="0"/>
              <a:t>보간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F6E83-7049-2B7B-08B6-B85B53F10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안전성 </a:t>
            </a:r>
            <a:r>
              <a:rPr lang="en-US" altLang="ko-KR" dirty="0"/>
              <a:t>(Langlois-</a:t>
            </a:r>
            <a:r>
              <a:rPr lang="en-US" altLang="ko-KR" dirty="0" err="1"/>
              <a:t>Stehlé</a:t>
            </a:r>
            <a:r>
              <a:rPr lang="en-US" altLang="ko-KR" dirty="0"/>
              <a:t>, 2015): MSIS</a:t>
            </a:r>
            <a:r>
              <a:rPr lang="ko-KR" altLang="en-US" dirty="0"/>
              <a:t>를 평균적으로 푸는 것은 모듈 격자의 근사</a:t>
            </a:r>
            <a:r>
              <a:rPr lang="en-US" altLang="ko-KR" dirty="0"/>
              <a:t>-</a:t>
            </a:r>
            <a:r>
              <a:rPr lang="en-US" altLang="ko-KR" dirty="0" err="1"/>
              <a:t>SVPγ</a:t>
            </a:r>
            <a:r>
              <a:rPr lang="ko-KR" altLang="en-US" dirty="0"/>
              <a:t> 최악 케이스만큼 어렵다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보간</a:t>
            </a:r>
            <a:r>
              <a:rPr lang="en-US" altLang="ko-KR" dirty="0">
                <a:solidFill>
                  <a:srgbClr val="000000"/>
                </a:solidFill>
              </a:rPr>
              <a:t>(interpolation) </a:t>
            </a:r>
            <a:r>
              <a:rPr lang="ko-KR" altLang="en-US" dirty="0">
                <a:solidFill>
                  <a:srgbClr val="000000"/>
                </a:solidFill>
              </a:rPr>
              <a:t>성질</a:t>
            </a:r>
            <a:r>
              <a:rPr lang="en-US" altLang="ko-KR" dirty="0">
                <a:solidFill>
                  <a:srgbClr val="000000"/>
                </a:solidFill>
              </a:rPr>
              <a:t>: MSIS</a:t>
            </a:r>
            <a:r>
              <a:rPr lang="ko-KR" altLang="en-US" dirty="0">
                <a:solidFill>
                  <a:srgbClr val="000000"/>
                </a:solidFill>
              </a:rPr>
              <a:t>는 </a:t>
            </a:r>
            <a:r>
              <a:rPr lang="en-US" altLang="ko-KR" dirty="0">
                <a:solidFill>
                  <a:srgbClr val="000000"/>
                </a:solidFill>
              </a:rPr>
              <a:t>SIS</a:t>
            </a:r>
            <a:r>
              <a:rPr lang="ko-KR" altLang="en-US" dirty="0">
                <a:solidFill>
                  <a:srgbClr val="000000"/>
                </a:solidFill>
              </a:rPr>
              <a:t>와 </a:t>
            </a:r>
            <a:r>
              <a:rPr lang="en-US" altLang="ko-KR" dirty="0">
                <a:solidFill>
                  <a:srgbClr val="000000"/>
                </a:solidFill>
              </a:rPr>
              <a:t>Ring-SIS </a:t>
            </a:r>
            <a:r>
              <a:rPr lang="ko-KR" altLang="en-US" dirty="0">
                <a:solidFill>
                  <a:srgbClr val="000000"/>
                </a:solidFill>
              </a:rPr>
              <a:t>사이를 </a:t>
            </a:r>
            <a:r>
              <a:rPr lang="ko-KR" altLang="en-US" dirty="0" err="1">
                <a:solidFill>
                  <a:srgbClr val="000000"/>
                </a:solidFill>
              </a:rPr>
              <a:t>보간한다</a:t>
            </a:r>
            <a:endParaRPr lang="ko-KR" altLang="en-US" dirty="0">
              <a:solidFill>
                <a:srgbClr val="00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B492A-44AB-2CDA-F02A-6E6B09DC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86399E64-C0BE-21A6-6AD7-142A9EDBCDEB}"/>
              </a:ext>
            </a:extLst>
          </p:cNvPr>
          <p:cNvSpPr/>
          <p:nvPr/>
        </p:nvSpPr>
        <p:spPr>
          <a:xfrm>
            <a:off x="1288181" y="308610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SIS</a:t>
            </a:r>
          </a:p>
        </p:txBody>
      </p:sp>
      <p:sp>
        <p:nvSpPr>
          <p:cNvPr id="14" name="Right Arrow 6">
            <a:extLst>
              <a:ext uri="{FF2B5EF4-FFF2-40B4-BE49-F238E27FC236}">
                <a16:creationId xmlns:a16="http://schemas.microsoft.com/office/drawing/2014/main" id="{135B1298-B093-F2D0-DB4E-2A3FEB2A663D}"/>
              </a:ext>
            </a:extLst>
          </p:cNvPr>
          <p:cNvSpPr/>
          <p:nvPr/>
        </p:nvSpPr>
        <p:spPr>
          <a:xfrm>
            <a:off x="4122821" y="3268980"/>
            <a:ext cx="502920" cy="3200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BA600427-6D29-AE62-6AF0-BD080A4FB061}"/>
              </a:ext>
            </a:extLst>
          </p:cNvPr>
          <p:cNvSpPr/>
          <p:nvPr/>
        </p:nvSpPr>
        <p:spPr>
          <a:xfrm>
            <a:off x="4717181" y="308610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MSIS</a:t>
            </a:r>
          </a:p>
        </p:txBody>
      </p:sp>
      <p:sp>
        <p:nvSpPr>
          <p:cNvPr id="16" name="Right Arrow 8">
            <a:extLst>
              <a:ext uri="{FF2B5EF4-FFF2-40B4-BE49-F238E27FC236}">
                <a16:creationId xmlns:a16="http://schemas.microsoft.com/office/drawing/2014/main" id="{2EE73E13-F3C5-5BFA-5914-D6AA6B6C1295}"/>
              </a:ext>
            </a:extLst>
          </p:cNvPr>
          <p:cNvSpPr/>
          <p:nvPr/>
        </p:nvSpPr>
        <p:spPr>
          <a:xfrm>
            <a:off x="7551821" y="3268980"/>
            <a:ext cx="502920" cy="3200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CE4D19F9-B2AC-B9CC-E738-B730AC410619}"/>
              </a:ext>
            </a:extLst>
          </p:cNvPr>
          <p:cNvSpPr/>
          <p:nvPr/>
        </p:nvSpPr>
        <p:spPr>
          <a:xfrm>
            <a:off x="8146181" y="308610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Ring-SIS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64FAA-5394-AEFA-16C9-41FB83A16A5B}"/>
              </a:ext>
            </a:extLst>
          </p:cNvPr>
          <p:cNvSpPr txBox="1"/>
          <p:nvPr/>
        </p:nvSpPr>
        <p:spPr>
          <a:xfrm>
            <a:off x="1320265" y="38267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n = 1 (스칼라)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A4461D-C08F-775D-A1E3-464E4359B874}"/>
              </a:ext>
            </a:extLst>
          </p:cNvPr>
          <p:cNvSpPr txBox="1"/>
          <p:nvPr/>
        </p:nvSpPr>
        <p:spPr>
          <a:xfrm>
            <a:off x="4749265" y="38267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일반 n, k, ℓ (모듈)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FFAB7-5898-E548-468C-9DA0386D7CF3}"/>
              </a:ext>
            </a:extLst>
          </p:cNvPr>
          <p:cNvSpPr txBox="1"/>
          <p:nvPr/>
        </p:nvSpPr>
        <p:spPr>
          <a:xfrm>
            <a:off x="8178265" y="38267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k = 1 (다항식)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DAE2FC-6627-1998-672C-6D4717EEDF35}"/>
              </a:ext>
            </a:extLst>
          </p:cNvPr>
          <p:cNvSpPr txBox="1"/>
          <p:nvPr/>
        </p:nvSpPr>
        <p:spPr>
          <a:xfrm>
            <a:off x="1295400" y="4247388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dirty="0" err="1">
                <a:solidFill>
                  <a:srgbClr val="595959"/>
                </a:solidFill>
              </a:rPr>
              <a:t>구조화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정도</a:t>
            </a:r>
            <a:r>
              <a:rPr sz="1500" dirty="0">
                <a:solidFill>
                  <a:srgbClr val="595959"/>
                </a:solidFill>
              </a:rPr>
              <a:t>: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낮음</a:t>
            </a:r>
            <a:r>
              <a:rPr sz="1500" dirty="0">
                <a:solidFill>
                  <a:srgbClr val="595959"/>
                </a:solidFill>
              </a:rPr>
              <a:t> (</a:t>
            </a:r>
            <a:r>
              <a:rPr sz="1500" dirty="0" err="1">
                <a:solidFill>
                  <a:srgbClr val="595959"/>
                </a:solidFill>
              </a:rPr>
              <a:t>완전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무작위</a:t>
            </a:r>
            <a:r>
              <a:rPr sz="1500" dirty="0">
                <a:solidFill>
                  <a:srgbClr val="595959"/>
                </a:solidFill>
              </a:rPr>
              <a:t>) 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sz="1500" dirty="0">
                <a:solidFill>
                  <a:srgbClr val="595959"/>
                </a:solidFill>
              </a:rPr>
              <a:t>──────────────────────→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높음</a:t>
            </a:r>
            <a:r>
              <a:rPr sz="1500" dirty="0">
                <a:solidFill>
                  <a:srgbClr val="595959"/>
                </a:solidFill>
              </a:rPr>
              <a:t> (</a:t>
            </a:r>
            <a:r>
              <a:rPr sz="1500" dirty="0" err="1">
                <a:solidFill>
                  <a:srgbClr val="595959"/>
                </a:solidFill>
              </a:rPr>
              <a:t>완전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구조화</a:t>
            </a:r>
            <a:r>
              <a:rPr sz="1500" dirty="0">
                <a:solidFill>
                  <a:srgbClr val="595959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43181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D7568-B3F7-BBA1-9305-BFFF452C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Dilithium</a:t>
            </a:r>
            <a:r>
              <a:rPr lang="en-US" altLang="ko-KR" dirty="0"/>
              <a:t> </a:t>
            </a:r>
            <a:r>
              <a:rPr lang="ko-KR" altLang="en-US" dirty="0"/>
              <a:t>파라미터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5FEC2-AC9C-76A7-3F37-A55ACD1B9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Dilithium</a:t>
            </a:r>
            <a:r>
              <a:rPr lang="en-US" altLang="ko-KR" dirty="0"/>
              <a:t>(ML-DSA) </a:t>
            </a:r>
            <a:r>
              <a:rPr lang="ko-KR" altLang="en-US" dirty="0"/>
              <a:t>파라미터</a:t>
            </a:r>
            <a:r>
              <a:rPr lang="en-US" altLang="ko-KR" dirty="0"/>
              <a:t>: q=8,380,417, n=256 </a:t>
            </a:r>
            <a:r>
              <a:rPr lang="ko-KR" altLang="en-US" dirty="0"/>
              <a:t>고정</a:t>
            </a:r>
            <a:r>
              <a:rPr lang="en-US" altLang="ko-KR" dirty="0"/>
              <a:t>, k</a:t>
            </a:r>
            <a:r>
              <a:rPr lang="ko-KR" altLang="en-US" dirty="0"/>
              <a:t>만 조절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n=256</a:t>
            </a:r>
            <a:r>
              <a:rPr lang="ko-KR" altLang="en-US" dirty="0"/>
              <a:t>보다 훨씬 작아 </a:t>
            </a:r>
            <a:r>
              <a:rPr lang="en-US" altLang="ko-KR" dirty="0"/>
              <a:t>Ring-SIS</a:t>
            </a:r>
            <a:r>
              <a:rPr lang="ko-KR" altLang="en-US" dirty="0"/>
              <a:t>에 더 가까움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EC210-61D5-3C32-11BD-DAB2E550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36</a:t>
            </a:fld>
            <a:endParaRPr lang="ko-KR" altLang="en-US"/>
          </a:p>
        </p:txBody>
      </p:sp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87E155BF-599A-3564-1EEE-81C1C7C0D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423824"/>
              </p:ext>
            </p:extLst>
          </p:nvPr>
        </p:nvGraphicFramePr>
        <p:xfrm>
          <a:off x="2941320" y="2158464"/>
          <a:ext cx="6309360" cy="20124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121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파라미터셋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(k, ℓ)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근사 보안수준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21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ML-DSA-44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(4, 4)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128비트급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21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ML-DSA-65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(6, 5)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192비트급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21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ML-DSA-87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(8, 7)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475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7BED-8933-FF6C-F4CA-6AB1A81A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2CA2E-5054-9F40-D0DC-4D3892B9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Module-LWE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92BE9-216D-D56D-6733-C53CF247E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MLWE(</a:t>
            </a:r>
            <a:r>
              <a:rPr lang="en-US" altLang="ko-KR" dirty="0" err="1"/>
              <a:t>n,k</a:t>
            </a:r>
            <a:r>
              <a:rPr lang="en-US" altLang="ko-KR" dirty="0"/>
              <a:t>,ℓ,</a:t>
            </a:r>
            <a:r>
              <a:rPr lang="en-US" altLang="ko-KR" dirty="0" err="1"/>
              <a:t>q,B</a:t>
            </a:r>
            <a:r>
              <a:rPr lang="en-US" altLang="ko-KR" dirty="0"/>
              <a:t>): </a:t>
            </a:r>
            <a:r>
              <a:rPr lang="en-US" altLang="ko-KR" dirty="0" err="1"/>
              <a:t>s∈</a:t>
            </a:r>
            <a:r>
              <a:rPr lang="en-US" altLang="ko-KR" baseline="-25000" dirty="0" err="1"/>
              <a:t>R</a:t>
            </a:r>
            <a:r>
              <a:rPr lang="en-US" altLang="ko-KR" dirty="0"/>
              <a:t>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baseline="30000" dirty="0"/>
              <a:t>ℓ</a:t>
            </a:r>
            <a:r>
              <a:rPr lang="en-US" altLang="ko-KR" dirty="0"/>
              <a:t>, e∈</a:t>
            </a:r>
            <a:r>
              <a:rPr lang="en-US" altLang="ko-KR" baseline="-25000" dirty="0"/>
              <a:t>R</a:t>
            </a:r>
            <a:r>
              <a:rPr lang="en-US" altLang="ko-KR" dirty="0"/>
              <a:t> S</a:t>
            </a:r>
            <a:r>
              <a:rPr lang="en-US" altLang="ko-KR" baseline="-25000" dirty="0"/>
              <a:t>B</a:t>
            </a:r>
            <a:r>
              <a:rPr lang="en-US" altLang="ko-KR" baseline="30000" dirty="0"/>
              <a:t>k</a:t>
            </a:r>
            <a:r>
              <a:rPr lang="en-US" altLang="ko-KR" dirty="0"/>
              <a:t> (k&gt;ℓ). aᵢ∈</a:t>
            </a:r>
            <a:r>
              <a:rPr lang="en-US" altLang="ko-KR" baseline="-25000" dirty="0"/>
              <a:t>R</a:t>
            </a:r>
            <a:r>
              <a:rPr lang="en-US" altLang="ko-KR" dirty="0"/>
              <a:t>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baseline="30000" dirty="0"/>
              <a:t>ℓ</a:t>
            </a:r>
            <a:r>
              <a:rPr lang="en-US" altLang="ko-KR" dirty="0"/>
              <a:t>, bᵢ=aᵢᵀs+eᵢ </a:t>
            </a:r>
            <a:r>
              <a:rPr lang="ko-KR" altLang="en-US" dirty="0"/>
              <a:t>주어질 때 </a:t>
            </a:r>
            <a:r>
              <a:rPr lang="en-US" altLang="ko-KR" dirty="0"/>
              <a:t>s</a:t>
            </a:r>
            <a:r>
              <a:rPr lang="ko-KR" altLang="en-US" dirty="0"/>
              <a:t>를 찾아라</a:t>
            </a:r>
            <a:endParaRPr lang="en-US" altLang="ko-KR" dirty="0"/>
          </a:p>
          <a:p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MSIS</a:t>
            </a:r>
            <a:r>
              <a:rPr lang="ko-KR" altLang="en-US" dirty="0"/>
              <a:t>와 모양은 같고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·</a:t>
            </a:r>
            <a:r>
              <a:rPr lang="ko-KR" altLang="en-US" dirty="0"/>
              <a:t>열 블록 개수만 </a:t>
            </a:r>
            <a:r>
              <a:rPr lang="en-US" altLang="ko-KR" dirty="0"/>
              <a:t>k,ℓ </a:t>
            </a:r>
            <a:r>
              <a:rPr lang="ko-KR" altLang="en-US" dirty="0"/>
              <a:t>역할이 바뀜</a:t>
            </a:r>
            <a:r>
              <a:rPr lang="en-US" altLang="ko-KR" dirty="0"/>
              <a:t>), MLWE</a:t>
            </a:r>
            <a:r>
              <a:rPr lang="ko-KR" altLang="en-US" dirty="0"/>
              <a:t>는 이 </a:t>
            </a:r>
            <a:r>
              <a:rPr lang="en-US" altLang="ko-KR" dirty="0"/>
              <a:t>A</a:t>
            </a:r>
            <a:r>
              <a:rPr lang="ko-KR" altLang="en-US" dirty="0"/>
              <a:t>가 구조화된 </a:t>
            </a:r>
            <a:r>
              <a:rPr lang="en-US" altLang="ko-KR" dirty="0"/>
              <a:t>LWE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6E1DE2-3CD3-196A-077E-0E0B4C36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DEAD01-D625-E6AC-F5F3-BA8746A3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19" y="2144596"/>
            <a:ext cx="6477561" cy="15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898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4652-C747-15B4-EC63-9FE8330C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9F098C-6946-EF1F-D7C3-EEAB05AC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4 (1/2)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2F0F8-E663-40D9-BC24-EBECE4DFF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ko-KR" dirty="0"/>
              <a:t>n=4, q=37, k=3, ℓ=2, B=1, f(x)=x⁴+1</a:t>
            </a:r>
          </a:p>
          <a:p>
            <a:pPr marL="457200" lvl="1" indent="0">
              <a:buNone/>
            </a:pPr>
            <a:r>
              <a:rPr lang="en-US" altLang="ko-KR" dirty="0"/>
              <a:t>a₁ = (21+5x²+19x³, 1+23x+9x²+8x³)</a:t>
            </a:r>
          </a:p>
          <a:p>
            <a:pPr marL="457200" lvl="1" indent="0">
              <a:buNone/>
            </a:pPr>
            <a:r>
              <a:rPr lang="en-US" altLang="ko-KR" dirty="0"/>
              <a:t>a₂ = (4+14x+20x²+19x³, 24+23x+22x²+21x³)</a:t>
            </a:r>
          </a:p>
          <a:p>
            <a:pPr marL="457200" lvl="1" indent="0">
              <a:buNone/>
            </a:pPr>
            <a:r>
              <a:rPr lang="en-US" altLang="ko-KR" dirty="0"/>
              <a:t>a₃ = (13+7x+6x²+8x³, 34+33x+32x²+31x³)</a:t>
            </a:r>
          </a:p>
          <a:p>
            <a:pPr marL="457200" lvl="1" indent="0">
              <a:buNone/>
            </a:pPr>
            <a:r>
              <a:rPr lang="en-US" altLang="ko-KR" dirty="0"/>
              <a:t>b₁=19+32x+7x²+20x³</a:t>
            </a:r>
          </a:p>
          <a:p>
            <a:pPr marL="457200" lvl="1" indent="0">
              <a:buNone/>
            </a:pPr>
            <a:r>
              <a:rPr lang="en-US" altLang="ko-KR" dirty="0"/>
              <a:t>b₂=32+19x²+8x³</a:t>
            </a:r>
          </a:p>
          <a:p>
            <a:pPr marL="457200" lvl="1" indent="0">
              <a:buNone/>
            </a:pPr>
            <a:r>
              <a:rPr lang="en-US" altLang="ko-KR" dirty="0"/>
              <a:t>b₃=29+15x+11x²+14x³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D928EC-5DF5-7113-33E3-DD1DFF67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EE8911-F0A6-696E-B8CB-2E4B64613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95322"/>
            <a:ext cx="5692633" cy="31778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DF6E0B-B11C-807A-6635-55B91156B85D}"/>
              </a:ext>
            </a:extLst>
          </p:cNvPr>
          <p:cNvSpPr txBox="1"/>
          <p:nvPr/>
        </p:nvSpPr>
        <p:spPr>
          <a:xfrm>
            <a:off x="838199" y="5014038"/>
            <a:ext cx="10515599" cy="383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b="0" dirty="0" err="1"/>
              <a:t>목표</a:t>
            </a:r>
            <a:r>
              <a:rPr b="0" dirty="0"/>
              <a:t>: </a:t>
            </a:r>
            <a:r>
              <a:rPr b="0" dirty="0" err="1"/>
              <a:t>As+e≡b</a:t>
            </a:r>
            <a:r>
              <a:rPr b="0" dirty="0"/>
              <a:t> (mod 37), </a:t>
            </a:r>
            <a:r>
              <a:rPr b="0" dirty="0" err="1"/>
              <a:t>s∈ℤ</a:t>
            </a:r>
            <a:r>
              <a:rPr b="0" dirty="0"/>
              <a:t>₃₇⁸, e∈[−1,1]¹²</a:t>
            </a:r>
          </a:p>
        </p:txBody>
      </p:sp>
    </p:spTree>
    <p:extLst>
      <p:ext uri="{BB962C8B-B14F-4D97-AF65-F5344CB8AC3E}">
        <p14:creationId xmlns:p14="http://schemas.microsoft.com/office/powerpoint/2010/main" val="4115624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0628-9076-DF08-942A-AD7B306E2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61425-CA42-648A-1A86-1B125C47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4 (2/2)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7D0799-D917-6191-6174-5FBD136B0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s=(31,32,33,2,17,35,13,32),  e=(</a:t>
            </a:r>
            <a:r>
              <a:rPr lang="ko-KR" altLang="en-US" dirty="0"/>
              <a:t>각 성분∈</a:t>
            </a:r>
            <a:r>
              <a:rPr lang="en-US" altLang="ko-KR" dirty="0"/>
              <a:t>[−1,1]¹²</a:t>
            </a:r>
            <a:r>
              <a:rPr lang="ko-KR" altLang="en-US" dirty="0"/>
              <a:t>로 </a:t>
            </a:r>
            <a:r>
              <a:rPr lang="en-US" altLang="ko-KR" dirty="0" err="1"/>
              <a:t>As+e≡b</a:t>
            </a:r>
            <a:r>
              <a:rPr lang="en-US" altLang="ko-KR" dirty="0"/>
              <a:t>)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s=(2,29,9,22,32,12,27,18),  e=(</a:t>
            </a:r>
            <a:r>
              <a:rPr lang="ko-KR" altLang="en-US" dirty="0"/>
              <a:t>각 성분∈</a:t>
            </a:r>
            <a:r>
              <a:rPr lang="en-US" altLang="ko-KR" dirty="0"/>
              <a:t>[−1,1]¹²</a:t>
            </a:r>
            <a:r>
              <a:rPr lang="ko-KR" altLang="en-US" dirty="0"/>
              <a:t>로 </a:t>
            </a:r>
            <a:r>
              <a:rPr lang="en-US" altLang="ko-KR" dirty="0" err="1"/>
              <a:t>As+e≡b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두 해 모두 </a:t>
            </a:r>
            <a:r>
              <a:rPr lang="en-US" altLang="ko-KR" dirty="0" err="1"/>
              <a:t>As+e≡b</a:t>
            </a:r>
            <a:r>
              <a:rPr lang="ko-KR" altLang="en-US" dirty="0"/>
              <a:t> </a:t>
            </a:r>
            <a:r>
              <a:rPr lang="en-US" altLang="ko-KR" dirty="0"/>
              <a:t>(mod 37) </a:t>
            </a:r>
            <a:r>
              <a:rPr lang="ko-KR" altLang="en-US" dirty="0"/>
              <a:t>만족</a:t>
            </a:r>
            <a:endParaRPr lang="en-US" altLang="ko-KR" dirty="0"/>
          </a:p>
          <a:p>
            <a:r>
              <a:rPr lang="en-US" altLang="ko-KR" dirty="0"/>
              <a:t>Ring-LWE</a:t>
            </a:r>
            <a:r>
              <a:rPr lang="ko-KR" altLang="en-US" dirty="0"/>
              <a:t>와 마찬가지로</a:t>
            </a:r>
            <a:r>
              <a:rPr lang="en-US" altLang="ko-KR" dirty="0"/>
              <a:t>, </a:t>
            </a:r>
            <a:r>
              <a:rPr lang="ko-KR" altLang="en-US" dirty="0"/>
              <a:t>오차 </a:t>
            </a:r>
            <a:r>
              <a:rPr lang="en-US" altLang="ko-KR" dirty="0"/>
              <a:t>e</a:t>
            </a:r>
            <a:r>
              <a:rPr lang="ko-KR" altLang="en-US" dirty="0"/>
              <a:t>가 존재하는 한 탐색 문제로서의 </a:t>
            </a:r>
            <a:r>
              <a:rPr lang="en-US" altLang="ko-KR" dirty="0"/>
              <a:t>MLWE</a:t>
            </a:r>
            <a:r>
              <a:rPr lang="ko-KR" altLang="en-US" dirty="0"/>
              <a:t>는 유일 해를 보장하지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298AFF-88FA-90A3-B1B0-10C825C1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116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2F124-8295-0E84-6626-1BECBCD9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 </a:t>
            </a:r>
            <a:r>
              <a:rPr lang="ko-KR" altLang="en-US" dirty="0"/>
              <a:t>안전성</a:t>
            </a:r>
            <a:r>
              <a:rPr lang="en-US" altLang="ko-KR" dirty="0"/>
              <a:t>, </a:t>
            </a:r>
            <a:r>
              <a:rPr lang="ko-KR" altLang="en-US" dirty="0"/>
              <a:t>보간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E0BB1-2E9B-8047-D4B6-CB08F7D82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Module-LWE</a:t>
            </a:r>
            <a:r>
              <a:rPr lang="ko-KR" altLang="en-US" dirty="0"/>
              <a:t>는 </a:t>
            </a:r>
            <a:r>
              <a:rPr lang="en-US" altLang="ko-KR" dirty="0" err="1"/>
              <a:t>Brakerski</a:t>
            </a:r>
            <a:r>
              <a:rPr lang="en-US" altLang="ko-KR" dirty="0"/>
              <a:t>-Gentry-</a:t>
            </a:r>
            <a:r>
              <a:rPr lang="en-US" altLang="ko-KR" dirty="0" err="1"/>
              <a:t>Vaikuntanathan</a:t>
            </a:r>
            <a:r>
              <a:rPr lang="en-US" altLang="ko-KR" dirty="0"/>
              <a:t>(2011)</a:t>
            </a:r>
            <a:r>
              <a:rPr lang="ko-KR" altLang="en-US" dirty="0"/>
              <a:t>이 도입</a:t>
            </a:r>
          </a:p>
          <a:p>
            <a:pPr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안전성 </a:t>
            </a:r>
            <a:r>
              <a:rPr lang="en-US" altLang="ko-KR" dirty="0"/>
              <a:t>(Langlois-</a:t>
            </a:r>
            <a:r>
              <a:rPr lang="en-US" altLang="ko-KR" dirty="0" err="1"/>
              <a:t>Stehlé</a:t>
            </a:r>
            <a:r>
              <a:rPr lang="en-US" altLang="ko-KR" dirty="0"/>
              <a:t>, 2015): MLWE</a:t>
            </a:r>
            <a:r>
              <a:rPr lang="ko-KR" altLang="en-US" dirty="0"/>
              <a:t>를 평균적으로 푸는 것은 모듈 격자의 근사</a:t>
            </a:r>
            <a:r>
              <a:rPr lang="en-US" altLang="ko-KR" dirty="0"/>
              <a:t>-</a:t>
            </a:r>
            <a:r>
              <a:rPr lang="en-US" altLang="ko-KR" dirty="0" err="1"/>
              <a:t>SVPγ</a:t>
            </a:r>
            <a:r>
              <a:rPr lang="ko-KR" altLang="en-US" dirty="0"/>
              <a:t>를 양자적으로 최악 케이스만큼 어렵다 </a:t>
            </a:r>
            <a:r>
              <a:rPr lang="en-US" altLang="ko-KR" dirty="0"/>
              <a:t>(</a:t>
            </a:r>
            <a:r>
              <a:rPr lang="ko-KR" altLang="en-US" dirty="0" err="1"/>
              <a:t>비타이트한</a:t>
            </a:r>
            <a:r>
              <a:rPr lang="ko-KR" altLang="en-US" dirty="0"/>
              <a:t> 환원</a:t>
            </a:r>
            <a:r>
              <a:rPr lang="en-US" altLang="ko-KR" dirty="0"/>
              <a:t>)</a:t>
            </a:r>
          </a:p>
          <a:p>
            <a:r>
              <a:rPr lang="ko-KR" altLang="en-US" dirty="0">
                <a:solidFill>
                  <a:srgbClr val="000000"/>
                </a:solidFill>
              </a:rPr>
              <a:t>보간</a:t>
            </a:r>
            <a:r>
              <a:rPr lang="en-US" altLang="ko-KR" dirty="0">
                <a:solidFill>
                  <a:srgbClr val="000000"/>
                </a:solidFill>
              </a:rPr>
              <a:t>(interpolation) </a:t>
            </a:r>
            <a:r>
              <a:rPr lang="ko-KR" altLang="en-US" dirty="0">
                <a:solidFill>
                  <a:srgbClr val="000000"/>
                </a:solidFill>
              </a:rPr>
              <a:t>성질</a:t>
            </a:r>
            <a:r>
              <a:rPr lang="en-US" altLang="ko-KR" dirty="0">
                <a:solidFill>
                  <a:srgbClr val="000000"/>
                </a:solidFill>
              </a:rPr>
              <a:t>: MLWE</a:t>
            </a:r>
            <a:r>
              <a:rPr lang="ko-KR" altLang="en-US" dirty="0">
                <a:solidFill>
                  <a:srgbClr val="000000"/>
                </a:solidFill>
              </a:rPr>
              <a:t>는 </a:t>
            </a:r>
            <a:r>
              <a:rPr lang="en-US" altLang="ko-KR" dirty="0">
                <a:solidFill>
                  <a:srgbClr val="000000"/>
                </a:solidFill>
              </a:rPr>
              <a:t>LWE</a:t>
            </a:r>
            <a:r>
              <a:rPr lang="ko-KR" altLang="en-US" dirty="0">
                <a:solidFill>
                  <a:srgbClr val="000000"/>
                </a:solidFill>
              </a:rPr>
              <a:t>와 </a:t>
            </a:r>
            <a:r>
              <a:rPr lang="en-US" altLang="ko-KR" dirty="0">
                <a:solidFill>
                  <a:srgbClr val="000000"/>
                </a:solidFill>
              </a:rPr>
              <a:t>Ring-LWE </a:t>
            </a:r>
            <a:r>
              <a:rPr lang="ko-KR" altLang="en-US" dirty="0">
                <a:solidFill>
                  <a:srgbClr val="000000"/>
                </a:solidFill>
              </a:rPr>
              <a:t>사이를 </a:t>
            </a:r>
            <a:r>
              <a:rPr lang="ko-KR" altLang="en-US" dirty="0" err="1">
                <a:solidFill>
                  <a:srgbClr val="000000"/>
                </a:solidFill>
              </a:rPr>
              <a:t>보간한다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4EA9D-E3E3-CCA8-8EF6-BF661336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799F8128-B7A3-CCF9-9C9C-06E94D2F66BB}"/>
              </a:ext>
            </a:extLst>
          </p:cNvPr>
          <p:cNvSpPr/>
          <p:nvPr/>
        </p:nvSpPr>
        <p:spPr>
          <a:xfrm>
            <a:off x="1295400" y="3844661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LWE</a:t>
            </a:r>
          </a:p>
        </p:txBody>
      </p:sp>
      <p:sp>
        <p:nvSpPr>
          <p:cNvPr id="6" name="Right Arrow 6">
            <a:extLst>
              <a:ext uri="{FF2B5EF4-FFF2-40B4-BE49-F238E27FC236}">
                <a16:creationId xmlns:a16="http://schemas.microsoft.com/office/drawing/2014/main" id="{699B04C7-060A-0F47-3B21-EA468AD68708}"/>
              </a:ext>
            </a:extLst>
          </p:cNvPr>
          <p:cNvSpPr/>
          <p:nvPr/>
        </p:nvSpPr>
        <p:spPr>
          <a:xfrm>
            <a:off x="4130040" y="4027541"/>
            <a:ext cx="502920" cy="3200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CD0F3CD-2E94-FB94-30BF-05FECC4660D3}"/>
              </a:ext>
            </a:extLst>
          </p:cNvPr>
          <p:cNvSpPr/>
          <p:nvPr/>
        </p:nvSpPr>
        <p:spPr>
          <a:xfrm>
            <a:off x="4724400" y="3844661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 w="1587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MLWE</a:t>
            </a:r>
          </a:p>
        </p:txBody>
      </p:sp>
      <p:sp>
        <p:nvSpPr>
          <p:cNvPr id="8" name="Right Arrow 8">
            <a:extLst>
              <a:ext uri="{FF2B5EF4-FFF2-40B4-BE49-F238E27FC236}">
                <a16:creationId xmlns:a16="http://schemas.microsoft.com/office/drawing/2014/main" id="{FAB2883D-8490-EADF-954B-18DB5CDAB9F7}"/>
              </a:ext>
            </a:extLst>
          </p:cNvPr>
          <p:cNvSpPr/>
          <p:nvPr/>
        </p:nvSpPr>
        <p:spPr>
          <a:xfrm>
            <a:off x="7559040" y="4027541"/>
            <a:ext cx="502920" cy="32004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881623F9-3768-11EA-A4DD-290D7B8B4958}"/>
              </a:ext>
            </a:extLst>
          </p:cNvPr>
          <p:cNvSpPr/>
          <p:nvPr/>
        </p:nvSpPr>
        <p:spPr>
          <a:xfrm>
            <a:off x="8153400" y="3844661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000000"/>
                </a:solidFill>
              </a:rPr>
              <a:t>Ring-LWE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26DE1-2F04-C36D-652C-DC8CE03392F6}"/>
              </a:ext>
            </a:extLst>
          </p:cNvPr>
          <p:cNvSpPr txBox="1"/>
          <p:nvPr/>
        </p:nvSpPr>
        <p:spPr>
          <a:xfrm>
            <a:off x="1295400" y="45853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n = 1 (스칼라)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D96BF-6EE5-A757-DCB8-EA880B9B7AA1}"/>
              </a:ext>
            </a:extLst>
          </p:cNvPr>
          <p:cNvSpPr txBox="1"/>
          <p:nvPr/>
        </p:nvSpPr>
        <p:spPr>
          <a:xfrm>
            <a:off x="4724400" y="45853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일반 n, k, ℓ (모듈)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00EF40-54FD-2CE0-7ECC-85D9AEB18D10}"/>
              </a:ext>
            </a:extLst>
          </p:cNvPr>
          <p:cNvSpPr txBox="1"/>
          <p:nvPr/>
        </p:nvSpPr>
        <p:spPr>
          <a:xfrm>
            <a:off x="8153400" y="4585325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i="0">
                <a:solidFill>
                  <a:srgbClr val="595959"/>
                </a:solidFill>
              </a:rPr>
              <a:t>ℓ = 1 (다항식)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0EE5BB-89FF-B817-632B-FD540F19DD3E}"/>
              </a:ext>
            </a:extLst>
          </p:cNvPr>
          <p:cNvSpPr txBox="1"/>
          <p:nvPr/>
        </p:nvSpPr>
        <p:spPr>
          <a:xfrm>
            <a:off x="1295400" y="5033381"/>
            <a:ext cx="9601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dirty="0" err="1">
                <a:solidFill>
                  <a:srgbClr val="595959"/>
                </a:solidFill>
              </a:rPr>
              <a:t>구조화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정도</a:t>
            </a:r>
            <a:r>
              <a:rPr sz="1500" dirty="0">
                <a:solidFill>
                  <a:srgbClr val="595959"/>
                </a:solidFill>
              </a:rPr>
              <a:t>:</a:t>
            </a:r>
            <a:r>
              <a:rPr lang="en-US"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낮음</a:t>
            </a:r>
            <a:r>
              <a:rPr sz="1500" dirty="0">
                <a:solidFill>
                  <a:srgbClr val="595959"/>
                </a:solidFill>
              </a:rPr>
              <a:t> (</a:t>
            </a:r>
            <a:r>
              <a:rPr sz="1500" dirty="0" err="1">
                <a:solidFill>
                  <a:srgbClr val="595959"/>
                </a:solidFill>
              </a:rPr>
              <a:t>완전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무작위</a:t>
            </a:r>
            <a:r>
              <a:rPr sz="1500" dirty="0">
                <a:solidFill>
                  <a:srgbClr val="595959"/>
                </a:solidFill>
              </a:rPr>
              <a:t>)  ──────────────────────→  </a:t>
            </a:r>
            <a:r>
              <a:rPr sz="1500" dirty="0" err="1">
                <a:solidFill>
                  <a:srgbClr val="595959"/>
                </a:solidFill>
              </a:rPr>
              <a:t>높음</a:t>
            </a:r>
            <a:r>
              <a:rPr sz="1500" dirty="0">
                <a:solidFill>
                  <a:srgbClr val="595959"/>
                </a:solidFill>
              </a:rPr>
              <a:t> (</a:t>
            </a:r>
            <a:r>
              <a:rPr sz="1500" dirty="0" err="1">
                <a:solidFill>
                  <a:srgbClr val="595959"/>
                </a:solidFill>
              </a:rPr>
              <a:t>완전</a:t>
            </a:r>
            <a:r>
              <a:rPr sz="1500" dirty="0">
                <a:solidFill>
                  <a:srgbClr val="595959"/>
                </a:solidFill>
              </a:rPr>
              <a:t> </a:t>
            </a:r>
            <a:r>
              <a:rPr sz="1500" dirty="0" err="1">
                <a:solidFill>
                  <a:srgbClr val="595959"/>
                </a:solidFill>
              </a:rPr>
              <a:t>구조화</a:t>
            </a:r>
            <a:r>
              <a:rPr sz="1500" dirty="0">
                <a:solidFill>
                  <a:srgbClr val="595959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7688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B8C26-9210-97DA-3827-F7A84E70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Dilithium</a:t>
            </a:r>
            <a:r>
              <a:rPr lang="en-US" altLang="ko-KR" dirty="0"/>
              <a:t> </a:t>
            </a:r>
            <a:r>
              <a:rPr lang="ko-KR" altLang="en-US" dirty="0"/>
              <a:t>파라미터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DFEEC-3B45-5DF5-2028-81702E45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Dilithium</a:t>
            </a:r>
            <a:r>
              <a:rPr lang="en-US" altLang="ko-KR" dirty="0"/>
              <a:t>(ML-DSA) </a:t>
            </a:r>
            <a:r>
              <a:rPr lang="ko-KR" altLang="en-US" dirty="0"/>
              <a:t>파라미터</a:t>
            </a:r>
            <a:r>
              <a:rPr lang="en-US" altLang="ko-KR" dirty="0"/>
              <a:t>: q=8,380,417, n=256 </a:t>
            </a:r>
            <a:r>
              <a:rPr lang="ko-KR" altLang="en-US" dirty="0"/>
              <a:t>고정</a:t>
            </a:r>
            <a:r>
              <a:rPr lang="en-US" altLang="ko-KR" dirty="0"/>
              <a:t>, ℓ</a:t>
            </a:r>
            <a:r>
              <a:rPr lang="ko-KR" altLang="en-US" dirty="0"/>
              <a:t>만 조절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ℓ</a:t>
            </a:r>
            <a:r>
              <a:rPr lang="ko-KR" altLang="en-US" dirty="0"/>
              <a:t>이 </a:t>
            </a:r>
            <a:r>
              <a:rPr lang="en-US" altLang="ko-KR" dirty="0"/>
              <a:t>n=256</a:t>
            </a:r>
            <a:r>
              <a:rPr lang="ko-KR" altLang="en-US" dirty="0"/>
              <a:t>보다 훨씬 작아 </a:t>
            </a:r>
            <a:r>
              <a:rPr lang="en-US" altLang="ko-KR" dirty="0"/>
              <a:t>Ring-LWE</a:t>
            </a:r>
            <a:r>
              <a:rPr lang="ko-KR" altLang="en-US" dirty="0"/>
              <a:t>에 더 가까움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C1DA94-5B4A-E5A2-4DAD-9530C04F3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41</a:t>
            </a:fld>
            <a:endParaRPr lang="ko-KR" altLang="en-US"/>
          </a:p>
        </p:txBody>
      </p:sp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ABAFC73B-17A7-02D8-8D6F-5C006CA6C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706231"/>
              </p:ext>
            </p:extLst>
          </p:nvPr>
        </p:nvGraphicFramePr>
        <p:xfrm>
          <a:off x="2941320" y="2137289"/>
          <a:ext cx="6309360" cy="20176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404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파라미터셋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(k, ℓ)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근사 보안수준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404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ML-DSA-44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(4, 4)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128비트급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404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ML-DSA-65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(6, 5)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192비트급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404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ML-DSA-87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(8, 7)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5954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F9AA9-59CD-BD0A-8AC7-DE3485F5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6A2C8-8767-7D96-968E-2466A763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안전성 종합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0DFE9-5C40-5BD9-99D9-E41021D5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MSIS·MLWE</a:t>
            </a:r>
            <a:r>
              <a:rPr lang="ko-KR" altLang="en-US" dirty="0"/>
              <a:t>에는 </a:t>
            </a:r>
            <a:r>
              <a:rPr lang="en-US" altLang="ko-KR" dirty="0"/>
              <a:t>SIS·LWE</a:t>
            </a:r>
            <a:r>
              <a:rPr lang="ko-KR" altLang="en-US" dirty="0"/>
              <a:t>보다 빠른 공격</a:t>
            </a:r>
            <a:r>
              <a:rPr lang="en-US" altLang="ko-KR" dirty="0"/>
              <a:t>(</a:t>
            </a:r>
            <a:r>
              <a:rPr lang="ko-KR" altLang="en-US" dirty="0"/>
              <a:t>고전</a:t>
            </a:r>
            <a:r>
              <a:rPr lang="en-US" altLang="ko-KR" dirty="0"/>
              <a:t>·</a:t>
            </a:r>
            <a:r>
              <a:rPr lang="ko-KR" altLang="en-US" dirty="0"/>
              <a:t>양자 모두</a:t>
            </a:r>
            <a:r>
              <a:rPr lang="en-US" altLang="ko-KR" dirty="0"/>
              <a:t>)</a:t>
            </a:r>
            <a:r>
              <a:rPr lang="ko-KR" altLang="en-US" dirty="0"/>
              <a:t>이 알려져 있지 않다</a:t>
            </a:r>
            <a:endParaRPr lang="en-US" altLang="ko-KR" dirty="0"/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</a:t>
            </a:r>
            <a:r>
              <a:rPr lang="ko-KR" altLang="en-US" dirty="0"/>
              <a:t>행렬 </a:t>
            </a:r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anti-circulant </a:t>
            </a:r>
            <a:r>
              <a:rPr lang="ko-KR" altLang="en-US" dirty="0"/>
              <a:t>블록으로 구조화되어 있다는 사실을 이용하는 공격이 없음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실전에서는 </a:t>
            </a:r>
            <a:r>
              <a:rPr lang="en-US" altLang="ko-KR" dirty="0"/>
              <a:t>SIS·LWE</a:t>
            </a:r>
            <a:r>
              <a:rPr lang="ko-KR" altLang="en-US" dirty="0"/>
              <a:t>에 대한 최선의 공격</a:t>
            </a:r>
            <a:r>
              <a:rPr lang="en-US" altLang="ko-KR" dirty="0"/>
              <a:t>(</a:t>
            </a:r>
            <a:r>
              <a:rPr lang="ko-KR" altLang="en-US" dirty="0" err="1"/>
              <a:t>프라이멀</a:t>
            </a:r>
            <a:r>
              <a:rPr lang="ko-KR" altLang="en-US" dirty="0"/>
              <a:t> 공격 등</a:t>
            </a:r>
            <a:r>
              <a:rPr lang="en-US" altLang="ko-KR" dirty="0"/>
              <a:t>)</a:t>
            </a:r>
            <a:r>
              <a:rPr lang="ko-KR" altLang="en-US" dirty="0"/>
              <a:t>을 그대로 </a:t>
            </a:r>
            <a:r>
              <a:rPr lang="en-US" altLang="ko-KR" dirty="0"/>
              <a:t>MSIS·MLWE </a:t>
            </a:r>
            <a:r>
              <a:rPr lang="ko-KR" altLang="en-US" dirty="0"/>
              <a:t>파라미터 선택에 사용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4A0C67-1594-7A54-5950-27EE58BB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42</a:t>
            </a:fld>
            <a:endParaRPr lang="ko-KR" alt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83FE37C-76E9-FEB9-1BF2-4C92F4A29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159467"/>
              </p:ext>
            </p:extLst>
          </p:nvPr>
        </p:nvGraphicFramePr>
        <p:xfrm>
          <a:off x="1112520" y="3416091"/>
          <a:ext cx="1024128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1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연도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연구자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기여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2002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Micciancio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순환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격자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기반</a:t>
                      </a:r>
                      <a:r>
                        <a:rPr sz="1800" dirty="0"/>
                        <a:t> </a:t>
                      </a:r>
                      <a:r>
                        <a:rPr lang="en-US" sz="1800" dirty="0"/>
                        <a:t>One-way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해시함수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2006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Lyubashevsky</a:t>
                      </a:r>
                      <a:r>
                        <a:rPr sz="1800" dirty="0"/>
                        <a:t>–</a:t>
                      </a:r>
                      <a:r>
                        <a:rPr sz="1800" dirty="0" err="1"/>
                        <a:t>Micciancio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반순환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격자</a:t>
                      </a:r>
                      <a:r>
                        <a:rPr lang="en-US" sz="1800" dirty="0"/>
                        <a:t> (</a:t>
                      </a:r>
                      <a:r>
                        <a:rPr sz="1800" dirty="0"/>
                        <a:t>Ring-SIS </a:t>
                      </a:r>
                      <a:r>
                        <a:rPr sz="1800" dirty="0" err="1"/>
                        <a:t>충돌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저항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해시</a:t>
                      </a:r>
                      <a:r>
                        <a:rPr lang="en-US" sz="1800" dirty="0"/>
                        <a:t>)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2010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Lyubashevsky</a:t>
                      </a:r>
                      <a:r>
                        <a:rPr sz="1800" dirty="0"/>
                        <a:t>–Peikert–Regev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Ring-LWE </a:t>
                      </a:r>
                      <a:r>
                        <a:rPr sz="1800" dirty="0" err="1"/>
                        <a:t>도입</a:t>
                      </a:r>
                      <a:r>
                        <a:rPr sz="1800" dirty="0"/>
                        <a:t> (STOC)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2011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Brakerski</a:t>
                      </a:r>
                      <a:r>
                        <a:rPr sz="1800" dirty="0"/>
                        <a:t>–Gentry–</a:t>
                      </a:r>
                      <a:r>
                        <a:rPr sz="1800" dirty="0" err="1"/>
                        <a:t>Vaikuntanathan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Module-LWE </a:t>
                      </a:r>
                      <a:r>
                        <a:rPr sz="1800" dirty="0" err="1"/>
                        <a:t>도입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2015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Langlois–</a:t>
                      </a:r>
                      <a:r>
                        <a:rPr sz="1800" dirty="0" err="1"/>
                        <a:t>Stehlé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 err="1"/>
                        <a:t>MSIS·MLWE의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최악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케이스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안전성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증명</a:t>
                      </a:r>
                      <a:endParaRPr sz="1800" dirty="0"/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898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0417-5499-D8EE-D897-970EBD1FA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9A46B-5B29-7DCD-3E86-E6A2EF74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Kyber-PKE: MLWE</a:t>
            </a:r>
            <a:r>
              <a:rPr lang="ko-KR" altLang="en-US" dirty="0"/>
              <a:t> 기반 공개키 암호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36659-55D5-722C-3A40-1A782AD38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9663"/>
            <a:ext cx="10515600" cy="3801812"/>
          </a:xfrm>
        </p:spPr>
        <p:txBody>
          <a:bodyPr>
            <a:normAutofit/>
          </a:bodyPr>
          <a:lstStyle/>
          <a:p>
            <a:r>
              <a:rPr lang="en-US" altLang="ko-KR" dirty="0"/>
              <a:t>q=3329, n=256</a:t>
            </a:r>
            <a:r>
              <a:rPr lang="ko-KR" altLang="en-US" dirty="0"/>
              <a:t>은 세 </a:t>
            </a:r>
            <a:r>
              <a:rPr lang="ko-KR" altLang="en-US" dirty="0" err="1"/>
              <a:t>파라미터셋</a:t>
            </a:r>
            <a:r>
              <a:rPr lang="ko-KR" altLang="en-US" dirty="0"/>
              <a:t> 모두 고정 </a:t>
            </a:r>
            <a:r>
              <a:rPr lang="en-US" altLang="ko-KR" dirty="0"/>
              <a:t>— </a:t>
            </a:r>
            <a:r>
              <a:rPr lang="ko-KR" altLang="en-US" dirty="0"/>
              <a:t>보안수준은 랭크 </a:t>
            </a:r>
            <a:r>
              <a:rPr lang="en-US" altLang="ko-KR" dirty="0"/>
              <a:t>k</a:t>
            </a:r>
            <a:r>
              <a:rPr lang="ko-KR" altLang="en-US" dirty="0"/>
              <a:t>로만 조절</a:t>
            </a:r>
          </a:p>
          <a:p>
            <a:pPr>
              <a:lnSpc>
                <a:spcPct val="115000"/>
              </a:lnSpc>
              <a:defRPr>
                <a:latin typeface="Consolas"/>
              </a:defRPr>
            </a:pPr>
            <a:r>
              <a:rPr lang="ko-KR" altLang="en-US" dirty="0" err="1"/>
              <a:t>키생성</a:t>
            </a:r>
            <a:r>
              <a:rPr lang="en-US" altLang="ko-KR" dirty="0"/>
              <a:t>(Alice):</a:t>
            </a:r>
          </a:p>
          <a:p>
            <a:pPr marL="457200" lvl="1" indent="0">
              <a:lnSpc>
                <a:spcPct val="115000"/>
              </a:lnSpc>
              <a:buNone/>
              <a:defRPr>
                <a:latin typeface="Consolas"/>
              </a:defRPr>
            </a:pPr>
            <a:r>
              <a:rPr lang="en-US" altLang="ko-KR" dirty="0"/>
              <a:t>- </a:t>
            </a:r>
            <a:r>
              <a:rPr lang="en-US" altLang="ko-KR" dirty="0" err="1"/>
              <a:t>s∈R</a:t>
            </a:r>
            <a:r>
              <a:rPr lang="en-US" altLang="ko-KR" dirty="0"/>
              <a:t> S</a:t>
            </a:r>
            <a:r>
              <a:rPr lang="el-GR" altLang="ko-KR" baseline="-25000" dirty="0"/>
              <a:t>η1</a:t>
            </a:r>
            <a:r>
              <a:rPr lang="en-US" altLang="ko-KR" baseline="30000" dirty="0"/>
              <a:t>k</a:t>
            </a:r>
            <a:r>
              <a:rPr lang="en-US" altLang="ko-KR" dirty="0"/>
              <a:t>, A∈R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baseline="30000" dirty="0"/>
              <a:t>{</a:t>
            </a:r>
            <a:r>
              <a:rPr lang="en-US" altLang="ko-KR" baseline="30000" dirty="0" err="1"/>
              <a:t>k×k</a:t>
            </a:r>
            <a:r>
              <a:rPr lang="en-US" altLang="ko-KR" baseline="30000" dirty="0"/>
              <a:t>}</a:t>
            </a:r>
            <a:r>
              <a:rPr lang="en-US" altLang="ko-KR" dirty="0"/>
              <a:t>, </a:t>
            </a:r>
            <a:r>
              <a:rPr lang="en-US" altLang="ko-KR" dirty="0" err="1"/>
              <a:t>e∈</a:t>
            </a:r>
            <a:r>
              <a:rPr lang="en-US" altLang="ko-KR" baseline="-25000" dirty="0" err="1"/>
              <a:t>R</a:t>
            </a:r>
            <a:r>
              <a:rPr lang="en-US" altLang="ko-KR" dirty="0"/>
              <a:t> S</a:t>
            </a:r>
            <a:r>
              <a:rPr lang="el-GR" altLang="ko-KR" baseline="-25000" dirty="0"/>
              <a:t>η1</a:t>
            </a:r>
            <a:r>
              <a:rPr lang="en-US" altLang="ko-KR" baseline="30000" dirty="0"/>
              <a:t>k</a:t>
            </a:r>
            <a:r>
              <a:rPr lang="en-US" altLang="ko-KR" dirty="0"/>
              <a:t> → b=</a:t>
            </a:r>
            <a:r>
              <a:rPr lang="en-US" altLang="ko-KR" dirty="0" err="1"/>
              <a:t>As+e</a:t>
            </a:r>
            <a:r>
              <a:rPr lang="en-US" altLang="ko-KR" dirty="0"/>
              <a:t>. </a:t>
            </a:r>
            <a:r>
              <a:rPr lang="ko-KR" altLang="en-US" dirty="0"/>
              <a:t>공개키</a:t>
            </a:r>
            <a:r>
              <a:rPr lang="en-US" altLang="ko-KR" dirty="0"/>
              <a:t>(</a:t>
            </a:r>
            <a:r>
              <a:rPr lang="en-US" altLang="ko-KR" dirty="0" err="1"/>
              <a:t>A,b</a:t>
            </a:r>
            <a:r>
              <a:rPr lang="en-US" altLang="ko-KR" dirty="0"/>
              <a:t>), </a:t>
            </a:r>
            <a:r>
              <a:rPr lang="ko-KR" altLang="en-US" dirty="0"/>
              <a:t>개인키 </a:t>
            </a:r>
            <a:r>
              <a:rPr lang="en-US" altLang="ko-KR" dirty="0"/>
              <a:t>s</a:t>
            </a:r>
          </a:p>
          <a:p>
            <a:pPr>
              <a:defRPr>
                <a:latin typeface="Consolas"/>
              </a:defRPr>
            </a:pPr>
            <a:r>
              <a:rPr lang="ko-KR" altLang="en-US" dirty="0"/>
              <a:t>암호화</a:t>
            </a:r>
            <a:r>
              <a:rPr lang="en-US" altLang="ko-KR" dirty="0"/>
              <a:t>(Bob, m∈{0,1}ⁿ): </a:t>
            </a:r>
            <a:r>
              <a:rPr lang="en-US" altLang="ko-KR" dirty="0" err="1"/>
              <a:t>r∈</a:t>
            </a:r>
            <a:r>
              <a:rPr lang="en-US" altLang="ko-KR" baseline="-25000" dirty="0" err="1"/>
              <a:t>R</a:t>
            </a:r>
            <a:r>
              <a:rPr lang="en-US" altLang="ko-KR" dirty="0"/>
              <a:t> S</a:t>
            </a:r>
            <a:r>
              <a:rPr lang="el-GR" altLang="ko-KR" baseline="-25000" dirty="0"/>
              <a:t>η1</a:t>
            </a:r>
            <a:r>
              <a:rPr lang="en-US" altLang="ko-KR" baseline="30000" dirty="0"/>
              <a:t>k</a:t>
            </a:r>
            <a:r>
              <a:rPr lang="en-US" altLang="ko-KR" dirty="0"/>
              <a:t>, </a:t>
            </a:r>
            <a:r>
              <a:rPr lang="en-US" altLang="ko-KR" dirty="0" err="1"/>
              <a:t>z∈</a:t>
            </a:r>
            <a:r>
              <a:rPr lang="en-US" altLang="ko-KR" baseline="-25000" dirty="0" err="1"/>
              <a:t>R</a:t>
            </a:r>
            <a:r>
              <a:rPr lang="en-US" altLang="ko-KR" dirty="0"/>
              <a:t> S</a:t>
            </a:r>
            <a:r>
              <a:rPr lang="el-GR" altLang="ko-KR" baseline="-25000" dirty="0"/>
              <a:t>η2</a:t>
            </a:r>
            <a:r>
              <a:rPr lang="en-US" altLang="ko-KR" baseline="30000" dirty="0"/>
              <a:t>k</a:t>
            </a:r>
            <a:r>
              <a:rPr lang="en-US" altLang="ko-KR" dirty="0"/>
              <a:t>, </a:t>
            </a:r>
            <a:r>
              <a:rPr lang="en-US" altLang="ko-KR" dirty="0" err="1"/>
              <a:t>z′∈</a:t>
            </a:r>
            <a:r>
              <a:rPr lang="en-US" altLang="ko-KR" baseline="-25000" dirty="0" err="1"/>
              <a:t>R</a:t>
            </a:r>
            <a:r>
              <a:rPr lang="en-US" altLang="ko-KR" dirty="0"/>
              <a:t> S</a:t>
            </a:r>
            <a:r>
              <a:rPr lang="el-GR" altLang="ko-KR" baseline="-25000" dirty="0"/>
              <a:t>η2</a:t>
            </a:r>
            <a:r>
              <a:rPr lang="el-GR" altLang="ko-KR" dirty="0"/>
              <a:t> → </a:t>
            </a:r>
            <a:r>
              <a:rPr lang="en-US" altLang="ko-KR" dirty="0"/>
              <a:t>c1=</a:t>
            </a:r>
            <a:r>
              <a:rPr lang="en-US" altLang="ko-KR" dirty="0" err="1"/>
              <a:t>Aᵀr+z</a:t>
            </a:r>
            <a:r>
              <a:rPr lang="en-US" altLang="ko-KR" dirty="0"/>
              <a:t>, c2=</a:t>
            </a:r>
            <a:r>
              <a:rPr lang="en-US" altLang="ko-KR" dirty="0" err="1"/>
              <a:t>bᵀr+z</a:t>
            </a:r>
            <a:r>
              <a:rPr lang="en-US" altLang="ko-KR" dirty="0"/>
              <a:t>′+⌈q/2⌉m</a:t>
            </a:r>
          </a:p>
          <a:p>
            <a:pPr>
              <a:defRPr>
                <a:latin typeface="Consolas"/>
              </a:defRPr>
            </a:pPr>
            <a:r>
              <a:rPr lang="ko-KR" altLang="en-US" dirty="0"/>
              <a:t>복호화</a:t>
            </a:r>
            <a:r>
              <a:rPr lang="en-US" altLang="ko-KR" dirty="0"/>
              <a:t>(Alice): </a:t>
            </a:r>
            <a:r>
              <a:rPr lang="en-US" altLang="ko-KR" dirty="0" err="1"/>
              <a:t>Round</a:t>
            </a:r>
            <a:r>
              <a:rPr lang="en-US" altLang="ko-KR" baseline="-25000" dirty="0" err="1"/>
              <a:t>q</a:t>
            </a:r>
            <a:r>
              <a:rPr lang="en-US" altLang="ko-KR" dirty="0"/>
              <a:t>(c</a:t>
            </a:r>
            <a:r>
              <a:rPr lang="en-US" altLang="ko-KR" baseline="-25000" dirty="0"/>
              <a:t>2</a:t>
            </a:r>
            <a:r>
              <a:rPr lang="en-US" altLang="ko-KR" dirty="0"/>
              <a:t> − sᵀc</a:t>
            </a:r>
            <a:r>
              <a:rPr lang="en-US" altLang="ko-KR" baseline="-25000" dirty="0"/>
              <a:t>1</a:t>
            </a:r>
            <a:r>
              <a:rPr lang="en-US" altLang="ko-KR" dirty="0"/>
              <a:t>) </a:t>
            </a:r>
            <a:r>
              <a:rPr lang="ko-KR" altLang="en-US" dirty="0"/>
              <a:t>출력</a:t>
            </a:r>
            <a:endParaRPr lang="en-US" altLang="ko-KR" dirty="0"/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en-US" altLang="ko-KR" dirty="0"/>
              <a:t>Ring-LWE </a:t>
            </a:r>
            <a:r>
              <a:rPr lang="ko-KR" altLang="en-US" dirty="0"/>
              <a:t>암호를 모듈로 한 단계 더 일반화</a:t>
            </a:r>
            <a:endParaRPr lang="en-US" altLang="ko-KR" dirty="0"/>
          </a:p>
          <a:p>
            <a:pPr marL="457200" lvl="1" indent="0"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None/>
            </a:pPr>
            <a:r>
              <a:rPr lang="en-US" altLang="ko-KR" dirty="0"/>
              <a:t>- n=256 </a:t>
            </a:r>
            <a:r>
              <a:rPr lang="ko-KR" altLang="en-US" dirty="0"/>
              <a:t>고정</a:t>
            </a:r>
            <a:r>
              <a:rPr lang="en-US" altLang="ko-KR" dirty="0"/>
              <a:t>, k</a:t>
            </a:r>
            <a:r>
              <a:rPr lang="ko-KR" altLang="en-US" dirty="0"/>
              <a:t>만 바꿔 보안수준</a:t>
            </a:r>
            <a:r>
              <a:rPr lang="en-US" altLang="ko-KR" dirty="0"/>
              <a:t>(≈128/192/256</a:t>
            </a:r>
            <a:r>
              <a:rPr lang="ko-KR" altLang="en-US" dirty="0"/>
              <a:t>비트</a:t>
            </a:r>
            <a:r>
              <a:rPr lang="en-US" altLang="ko-KR" dirty="0"/>
              <a:t>) </a:t>
            </a:r>
            <a:r>
              <a:rPr lang="ko-KR" altLang="en-US" dirty="0"/>
              <a:t>조절</a:t>
            </a:r>
          </a:p>
          <a:p>
            <a:pPr>
              <a:lnSpc>
                <a:spcPct val="112000"/>
              </a:lnSpc>
              <a:spcBef>
                <a:spcPts val="700"/>
              </a:spcBef>
              <a:spcAft>
                <a:spcPts val="900"/>
              </a:spcAft>
              <a:buClr>
                <a:srgbClr val="000000"/>
              </a:buClr>
              <a:buFont typeface="Arial"/>
              <a:buChar char="•"/>
            </a:pPr>
            <a:r>
              <a:rPr lang="ko-KR" altLang="en-US" dirty="0"/>
              <a:t>안전성</a:t>
            </a:r>
            <a:r>
              <a:rPr lang="en-US" altLang="ko-KR" dirty="0"/>
              <a:t>: </a:t>
            </a:r>
            <a:r>
              <a:rPr lang="ko-KR" altLang="en-US" dirty="0"/>
              <a:t>짧은 비밀 결정 </a:t>
            </a:r>
            <a:r>
              <a:rPr lang="en-US" altLang="ko-KR" dirty="0"/>
              <a:t>MLWE(ss-D-MLWE)</a:t>
            </a:r>
            <a:r>
              <a:rPr lang="ko-KR" altLang="en-US" dirty="0"/>
              <a:t>가 어렵다는 가정 아래 </a:t>
            </a:r>
            <a:r>
              <a:rPr lang="en-US" altLang="ko-KR" dirty="0"/>
              <a:t>IND-CPA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8C608-2598-3EA9-C80D-7824953E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43</a:t>
            </a:fld>
            <a:endParaRPr lang="ko-KR" altLang="en-US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26ADF555-CE46-EB93-6CDA-3042E70C1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60324"/>
              </p:ext>
            </p:extLst>
          </p:nvPr>
        </p:nvGraphicFramePr>
        <p:xfrm>
          <a:off x="2987040" y="1062454"/>
          <a:ext cx="6217920" cy="168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105"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/>
                        <a:t>이름</a:t>
                      </a:r>
                      <a:r>
                        <a:rPr sz="1800" b="0" dirty="0"/>
                        <a:t>(ML-KEM)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k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보안수준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(η₁,η₂)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ML-KEM-512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2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128비트급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(3,2)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ML-KEM-768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3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192비트급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(2,2)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105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ML-KEM-1024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4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256비트급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(2,2)</a:t>
                      </a:r>
                    </a:p>
                  </a:txBody>
                  <a:tcPr marL="30000" marR="30000" marT="10000" marB="1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01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</TotalTime>
  <Words>3853</Words>
  <Application>Microsoft Office PowerPoint</Application>
  <PresentationFormat>와이드스크린</PresentationFormat>
  <Paragraphs>443</Paragraphs>
  <Slides>43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맑은 고딕</vt:lpstr>
      <vt:lpstr>Arial</vt:lpstr>
      <vt:lpstr>Cambria Math</vt:lpstr>
      <vt:lpstr>Office 테마</vt:lpstr>
      <vt:lpstr>Post-Quantum Cryptography</vt:lpstr>
      <vt:lpstr>Plan</vt:lpstr>
      <vt:lpstr>LWE 기반 공개키 암호화</vt:lpstr>
      <vt:lpstr>다항식으로 바꾸는 이유</vt:lpstr>
      <vt:lpstr>다항식 링 R = ℤ[x]/(f)</vt:lpstr>
      <vt:lpstr>다항식의 벡터 표현</vt:lpstr>
      <vt:lpstr>Ideal (이상)</vt:lpstr>
      <vt:lpstr>Principal Ideal (주 이상)</vt:lpstr>
      <vt:lpstr>Ideal Lattice (이상 격자)</vt:lpstr>
      <vt:lpstr>Cyclic Lattice (순환 격자)</vt:lpstr>
      <vt:lpstr>Circulant Matrix (순환 행렬)</vt:lpstr>
      <vt:lpstr>순환 격자 기반 One-way function</vt:lpstr>
      <vt:lpstr>충돌을 쉽게 찾을 수 있는 이유</vt:lpstr>
      <vt:lpstr>Anti-cyclic Lattice (반순환 격자)</vt:lpstr>
      <vt:lpstr>Anti-circulant Matrix (반순환 행렬)</vt:lpstr>
      <vt:lpstr>순환 vs 반순환</vt:lpstr>
      <vt:lpstr>Size (크기)</vt:lpstr>
      <vt:lpstr>Ring-SIS</vt:lpstr>
      <vt:lpstr>예제1 (1/3)</vt:lpstr>
      <vt:lpstr>예제1 (2/3)</vt:lpstr>
      <vt:lpstr>예제1 (3/3)</vt:lpstr>
      <vt:lpstr>Ring-SIS의 안전성</vt:lpstr>
      <vt:lpstr>SIS vs Ring-SIS</vt:lpstr>
      <vt:lpstr>Ring-LWE</vt:lpstr>
      <vt:lpstr>예제2 (1/2)</vt:lpstr>
      <vt:lpstr>예제2 (2/2)</vt:lpstr>
      <vt:lpstr>Ring-LWE의 안전성</vt:lpstr>
      <vt:lpstr>Ring-LWE 기반 공개키 암호화</vt:lpstr>
      <vt:lpstr>LWE vs Ring-LWE</vt:lpstr>
      <vt:lpstr>구조를 느슨하게 만드는 이유</vt:lpstr>
      <vt:lpstr>R_q^k의 정의</vt:lpstr>
      <vt:lpstr>Module-SIS</vt:lpstr>
      <vt:lpstr>예제3 (1/2)</vt:lpstr>
      <vt:lpstr>예제3 (2/2)</vt:lpstr>
      <vt:lpstr>MSIS 안전성, 보간 성질</vt:lpstr>
      <vt:lpstr>Dilithium 파라미터</vt:lpstr>
      <vt:lpstr>Module-LWE</vt:lpstr>
      <vt:lpstr>예제4 (1/2)</vt:lpstr>
      <vt:lpstr>예제4 (2/2)</vt:lpstr>
      <vt:lpstr>MLWE 안전성, 보간 성질</vt:lpstr>
      <vt:lpstr>Dilithium 파라미터</vt:lpstr>
      <vt:lpstr>안전성 종합</vt:lpstr>
      <vt:lpstr>Kyber-PKE: MLWE 기반 공개키 암호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1093</cp:revision>
  <dcterms:created xsi:type="dcterms:W3CDTF">2026-03-17T05:07:50Z</dcterms:created>
  <dcterms:modified xsi:type="dcterms:W3CDTF">2026-07-27T10:35:42Z</dcterms:modified>
</cp:coreProperties>
</file>