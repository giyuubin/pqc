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9"/>
  </p:notesMasterIdLst>
  <p:sldIdLst>
    <p:sldId id="256" r:id="rId2"/>
    <p:sldId id="332" r:id="rId3"/>
    <p:sldId id="334" r:id="rId4"/>
    <p:sldId id="335" r:id="rId5"/>
    <p:sldId id="336" r:id="rId6"/>
    <p:sldId id="337" r:id="rId7"/>
    <p:sldId id="338" r:id="rId8"/>
    <p:sldId id="365" r:id="rId9"/>
    <p:sldId id="339" r:id="rId10"/>
    <p:sldId id="366" r:id="rId11"/>
    <p:sldId id="340" r:id="rId12"/>
    <p:sldId id="342" r:id="rId13"/>
    <p:sldId id="341" r:id="rId14"/>
    <p:sldId id="343" r:id="rId15"/>
    <p:sldId id="362" r:id="rId16"/>
    <p:sldId id="345" r:id="rId17"/>
    <p:sldId id="346" r:id="rId18"/>
    <p:sldId id="347" r:id="rId19"/>
    <p:sldId id="348" r:id="rId20"/>
    <p:sldId id="367" r:id="rId21"/>
    <p:sldId id="349" r:id="rId22"/>
    <p:sldId id="368" r:id="rId23"/>
    <p:sldId id="350" r:id="rId24"/>
    <p:sldId id="351" r:id="rId25"/>
    <p:sldId id="352" r:id="rId26"/>
    <p:sldId id="353" r:id="rId27"/>
    <p:sldId id="354" r:id="rId28"/>
    <p:sldId id="355" r:id="rId29"/>
    <p:sldId id="356" r:id="rId30"/>
    <p:sldId id="363" r:id="rId31"/>
    <p:sldId id="357" r:id="rId32"/>
    <p:sldId id="358" r:id="rId33"/>
    <p:sldId id="359" r:id="rId34"/>
    <p:sldId id="360" r:id="rId35"/>
    <p:sldId id="364" r:id="rId36"/>
    <p:sldId id="361" r:id="rId37"/>
    <p:sldId id="369" r:id="rId38"/>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규빈 박" initials="규박" lastIdx="12" clrIdx="0">
    <p:extLst>
      <p:ext uri="{19B8F6BF-5375-455C-9EA6-DF929625EA0E}">
        <p15:presenceInfo xmlns:p15="http://schemas.microsoft.com/office/powerpoint/2012/main" userId="b405f47f44f6c53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테마 스타일 1 - 강조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C083E6E3-FA7D-4D7B-A595-EF9225AFEA82}" styleName="밝은 스타일 1 - 강조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밝은 스타일 2 - 강조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밝은 스타일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782" y="67"/>
      </p:cViewPr>
      <p:guideLst/>
    </p:cSldViewPr>
  </p:slideViewPr>
  <p:notesTextViewPr>
    <p:cViewPr>
      <p:scale>
        <a:sx n="1" d="1"/>
        <a:sy n="1" d="1"/>
      </p:scale>
      <p:origin x="0" y="0"/>
    </p:cViewPr>
  </p:notesTextViewPr>
  <p:notesViewPr>
    <p:cSldViewPr snapToGrid="0">
      <p:cViewPr varScale="1">
        <p:scale>
          <a:sx n="64" d="100"/>
          <a:sy n="64" d="100"/>
        </p:scale>
        <p:origin x="3192" y="8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2B40C2-3351-40A2-B46D-4B4F877A79B2}" type="datetimeFigureOut">
              <a:rPr lang="ko-KR" altLang="en-US" smtClean="0"/>
              <a:t>2026-07-14</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3BC5EA-D886-4875-B891-B25A6CC49088}" type="slidenum">
              <a:rPr lang="ko-KR" altLang="en-US" smtClean="0"/>
              <a:t>‹#›</a:t>
            </a:fld>
            <a:endParaRPr lang="ko-KR" altLang="en-US"/>
          </a:p>
        </p:txBody>
      </p:sp>
    </p:spTree>
    <p:extLst>
      <p:ext uri="{BB962C8B-B14F-4D97-AF65-F5344CB8AC3E}">
        <p14:creationId xmlns:p14="http://schemas.microsoft.com/office/powerpoint/2010/main" val="287552875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안녕하세요. 오늘은 격자 기반 암호의 두 핵심 문제인 SIS와 LWE에 대해 발표하겠습니다. Alfred Menezes 교수의 Cryptography 101 강의 중 2강과 3강 내용을 다룹니다. 이 두 문제는 이후 배울 Kyber와 Dilithium 같은 실제 PQC 표준 알고리즘의 수학적 기반이 됩니다.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오늘 발표는 크게 두 파트로 나뉩니다. 먼저 SIS, Short Integer Solutions 문제를 정의하고 그 성질들을 살펴본 뒤, LWE, Learning With Errors 문제로 넘어가서 실제 암호 시스템에 어떻게 응용되는지까지 보겠습니다.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첫 번째 파트, SIS입니다.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본격적인 정의에 들어가기 전에 표기법을 먼저 정리하겠습니다. q는 소수이고, Z_q는 0부터 q-1까지의 정수 집합입니다. Z_q^m은 이 집합의 원소로 이루어진 m차원 열벡터의 집합이고, Z_q^(n×m)은 n행 m열 행렬의 집합입니다. [-B,B]^m은 각 성분이 -B에서 B 사이의 정수인 벡터들의 집합이고요. x가 집합 S에서 균등하게 무작위로 뽑힌다는 표기도 자주 쓰겠습니다. 모든 벡터는 열벡터로 취급합니다.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SIS 문제는 이렇게 정의됩니다. 균등 랜덤 행렬 A가 주어졌을 때, Az가 mod q로 0이 되면서 z는 0이 아니고, 모든 성분이 -B에서 B 사이에 있는 짧은 벡터 z를 찾는 문제입니다. Ajtai가 1996년에 처음 도입했고요. 파라미터 조건은 n이 m보다 훨씬 작고, B는 q/2보다 훨씬 작다는 겁니다. 그림에서 보시듯 A는 n×m 행렬, z는 m×1 벡터, 결과는 n×1 영벡터입니다. 이 곱셈은 결국 A의 각 행과 z의 내적을 성분으로 갖는 벡터를 만드는 것뿐입니다.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그럼 왜 이게 어려울까요? 사실 Az≡0을 만족하는 벡터 전체, 즉 A의 null space를 구하는 것 자체는 쉽습니다. q가 소수라서 Z_q가 체(field)이기 때문에 가우스 소거법을 그대로 적용해서 다항식 시간에 null space를 구할 수 있어요. 진짜 어려운 부분은 그 null space 안에서 모든 좌표가 -B와 B 사이에 있는 '짧은' 벡터를 찾는 겁니다. 이건 격자의 최단 벡터 문제, SVP와 관련된 문제로, 일반적으로 계산적으로 어렵다고 알려져 있습니다. 격자와의 정확한 대응관계는 4강, 5강에서 다룰 예정입니다.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해가 항상 존재할까요? 먼저 n이 m보다 크거나 같으면 해가 없습니다. 랜덤 행렬 A는 거의 항상 열이 전부 독립이라서, z가 0이 아니면 Az도 0이 될 수 없기 때문이죠. 그래서 이후로는 n이 m보다 작다고 가정합니다. 이 경우는 비둘기집 원리로 존재성을 보장할 수 있는데, 자세한 유도는 다음 슬라이드에서 이어가겠습니다.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z1, z2를 -B/2에서 B/2 사이에서 뽑는 이유는, 그 차이가 정확히 -B에서 B 사이에 들어오게 하기 위함입니다. 이 범위의 후보 개수가 (B+1)^m개인데, Az mod q의 가능한 출력은 q^n가지뿐이라서, (B+1)^m이 q^n보다 크면 반드시 두 후보가 같은 값으로 충돌합니다. 그 차이가 바로 SIS의 해가 되고, 이걸 파라미터 조건으로 정리하면 m이 (n log q)/log(B+1)보다 커야 한다는 조건이 나옵니다. 참고로 해가 유일하지도 않습니다. z가 해이면 -z도 항상 해가 되거든요.</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실제 숫자로 확인해보겠습니다. n=3, m=5, q=13, B=3인 경우입니다. 이 행렬 A를 mod 13으로 가우스 소거하면 기약행사다리꼴을 얻고, z4와 z5가 자유변수가 됩니다. 전체 해는 13의 제곱, 169개인데, 이 중에서 좌표가 전부 -3에서 3 사이에 들어오는 건 6개뿐입니다.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직접 대입해서 검산해보면 정확히 맞아떨어지는 걸 확인할 수 있습니다. 흥미로운 점은, 이 예제가 비둘기집 조건인 (B+1)^m &gt; q^n을 만족하지 않는데도 실제로는 해가 존재한다는 겁니다. 즉 비둘기집 조건은 충분조건이지 필요조건은 아니라는 거죠.</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SIS의 첫 번째 응용은 충돌 저항 해시 함수입니다. A를 m &gt; n log2 q가 되도록 고르면, H_A(z) = Az mod q라는 함수가 정의역이 공역보다 큰 진짜 압축 함수가 됩니다. 이 함수의 충돌, 즉 H_A(z1)=H_A(z2)인 서로 다른 z1, z2를 찾을 수 있다면, 그 차이 z=z1-z2가 정확히 SIS(n,m,q,1)의 해가 됩니다. 대우를 취하면, SIS가 어렵다는 가정 하에 이 해시함수는 충돌 저항적이라는 결론이 나옵니다.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SIS를 살짝 변형한 버전이 ISIS입니다. 방정식 우변이 0이 아니라 랜덤 벡터 b인 경우죠. SIS가 동차 방정식이라면 ISIS는 비동차 방정식입니다. 그런데 존재성 논증이 SIS와 다릅니다. SIS는 아무 값에서나 충돌하면 됐지만, ISIS는 특정 목표값 b에 도달해야 하기 때문에 비둘기집 원리가 그대로 적용되지 않아요. (2B+1)^m이 q^n보다 훨씬 크면 해가 존재할 가능성이 높다, 라는 휴리스틱한 평균 논증만 가능합니다.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그럼에도 SIS와 ISIS는 계산적으로 동치입니다. 두 방향을 보겠습니다. 먼저 SIS를 ISIS로 환원하는 건, A의 마지막 열을 분리해서 A=[A'|-b']로 쓰고, ISIS 오라클로 A'z'≡b'를 풀면, z=(z',1)을 붙여서 바로 SIS 해를 얻을 수 있습니다. 반대로 ISIS를 SIS로 환원할 때는, 임의의 위치와 목표값을 정해서 새로운 열을 삽입한 뒤 SIS 오라클을 돌리고, 운 좋게 그 위치의 성분이 우리가 정한 목표값과 일치하면 ISIS 해를 복원합니다. 확률적으로 성공하는 환원이죠. 두 방향 모두 다항식 시간이라 계산적으로 동치라고 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마지막으로 normal-form ISIS입니다. 계수행렬의 뒤쪽 n개 열이 이미 단위행렬로 정규화되어 있는 특수한 ISIS 형태입니다. 이것도 일반 ISIS와 동치인데, 가역행렬 C를 앞이나 뒤에 곱해서 서로 변환할 수 있기 때문입니다. 교재에서는 이 증명을 연습문제로 남기지만, 슬라이드에는 증명 스케치가 나와 있습니다. 이걸로 SIS 파트를 마치고, LWE로 넘어가겠습니다.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이제 두 번째 파트, LWE로 넘어가겠습니다.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LWE, Learning With Errors는 Regev가 2005년에 도입한 문제입니다. 비밀 벡터 s, 잡음 벡터 e, 그리고 균등 랜덤 행렬 A가 있을 때, b = As + e mod q를 계산합니다. (A, b)가 주어졌을 때 원래의 비밀 s를 찾는 것이 목표입니다. SIS와 비교하면 행렬 모양이 반대라는 점도 눈여겨보시면 좋겠습니다.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LWE가 왜 어려운지 볼까요. A는 행이 m개, 열이 n개인 행렬이고, m을 표본의 개수라고 부릅니다. 만약 잡음 e가 0이라면, As=b는 그냥 순수한 선형방정식이라서 가우스 소거법으로 바로 풀립니다. LWE의 어려움은 전적으로 이 잡음 벡터에서 나옵니다. b의 각 성분에 알려지지 않은 작은 오차가 섞여 있어서, 정확한 선형대수 문제가 아니라 잡음 섞인 선형대수 문제가 되는 거죠. 이 잡음이 다항식 시간 알고리즘의 적용을 막습니다.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SIS와 LWE를 나란히 놓고 비교해보면 이렇습니다. 행렬 크기는 정반대고, SIS는 짧은 벡터를 찾는 게 목표인 반면 LWE는 임의의 벡터를 찾는 게 목표입니다. 관계식도 동차냐 비동차와 잡음이냐로 다르고요. 하지만 실제로는 두 문제의 격자가 서로 쌍대 관계에 있다는 게 나중에 5강에서 밝혀집니다.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숫자 예제를 보겠습니다. m=5, n=3, q=31, B=2인 경우, 이 행렬 A와 벡터 b가 주어졌을 때 As+e≡b를 만족하는 s를 찾는 게 목표입니다.</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인스턴스는 실제로 3개의 서로 다른 해가 존재합니다. 화면에 보이는 세 쌍의 s와 e 전부 조건을 만족합니다. 이건 m을 일부러 작게 설정한 장난감 예제라서 그런 거고, 실전에서는 m을 n보다 훨씬 크게 잡아서 유일성을 보장합니다.</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잡음 크기 B를 고를 때 고려해야 할 세 가지 경계 사례가 있습니다. 첫째, B가 0이면 방정식이 그냥 선형방정식이 되어 쉽게 풀립니다. 둘째, B가 (q-1)/2면, 오차 범위가 Z_q 전체를 균등하게 덮어버려서 b가 s에 대한 어떤 정보도 담지 못하게 됩니다. 일회용 패드와 같은 논리로, 정보이론적으로 풀 수 없는 거죠.</a:t>
            </a:r>
          </a:p>
        </p:txBody>
      </p:sp>
      <p:sp>
        <p:nvSpPr>
          <p:cNvPr id="4" name="슬라이드 번호 개체 틀 3"/>
          <p:cNvSpPr>
            <a:spLocks noGrp="1"/>
          </p:cNvSpPr>
          <p:nvPr>
            <p:ph type="sldNum" sz="quarter" idx="5"/>
          </p:nvPr>
        </p:nvSpPr>
        <p:spPr/>
        <p:txBody>
          <a:bodyPr/>
          <a:lstStyle/>
          <a:p>
            <a:fld id="{513BC5EA-D886-4875-B891-B25A6CC49088}" type="slidenum">
              <a:rPr lang="ko-KR" altLang="en-US" smtClean="0"/>
              <a:t>21</a:t>
            </a:fld>
            <a:endParaRPr lang="ko-KR" altLang="en-US"/>
          </a:p>
        </p:txBody>
      </p:sp>
    </p:spTree>
    <p:extLst>
      <p:ext uri="{BB962C8B-B14F-4D97-AF65-F5344CB8AC3E}">
        <p14:creationId xmlns:p14="http://schemas.microsoft.com/office/powerpoint/2010/main" val="1620537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번째 경계 사례는, B가 n의 제곱근보다 점근적으로 작은 경우입니다. 이때는 Arora-Ge 공격이라는 걸로 준지수 시간에 풀립니다. 그래서 B는 작을수록 안전한 게 아니라, n에 비해 적당한 크기여야 한다는 게 핵심입니다.</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파라미터 m과 n은 해의 유일성에 영향을 줍니다. s를 As mod q로 보내는 사상을 생각하면, 각 후보 s마다 반지름 B짜리 잡음 구 T_s가 생깁니다. 이 구들이 서로 겹치지 않으면 관측된 b로부터 유일한 s를 특정할 수 있죠. 반대로 겹치면 아까 본 예제처럼 여러 개의 해가 나옵니다.</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이걸 정량적으로 유도하면, 두 구가 겹칠 확률의 상한이 이 union bound 식으로 나옵니다. Δs가 0이 아닌 어떤 값이든, AΔs mod q가 균등분포에 가깝다는 휴리스틱 가정을 쓰면 이 식이 유도됩니다. B가 q보다 훨씬 작고 n이 m보다 훨씬 작으면 이 값은 무시할 만큼 작아지기 때문에, 해는 압도적인 확률로 유일하다고 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LWE에는 결정 버전도 있습니다. 탐색 LWE는 s 전체를 복원해야 하지만, DLWE는 주어진 (A,c)가 진짜 LWE 표본인지 아니면 완전히 무작위인지만 구별하면 됩니다. 언뜻 더 쉬워 보이죠.</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그런데 이 둘도 계산적으로 동치입니다. 먼저 DLWE를 LWE로 환원하는 방향을 보면, (A,c)를 LWE 솔버에 그대로 넣습니다. c가 진짜 LWE 표본이면 유일한 해가 있을 테니 솔버가 답을 내놓고, c가 무작위면 해가 없을 테니 솔버가 실패합니다. 이 성공 여부로 c가 진짜인지 무작위인지 판별하는 거죠. 이 환원은 파라미터를 전혀 바꾸지 않는다는 것도 특징입니다.</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반대 방향, LWE를 DLWE로 환원하는 건 좀 더 정교합니다. 비밀 s의 좌표를 한 번에 하나씩 복원하는데, 특정 좌표가 어떤 값 d인지 테스트하기 위해 A의 해당 열에 무작위 벡터를 더해서 DLWE 솔버에 넣습니다. 추측이 맞으면 진짜 LWE 인스턴스처럼 보이고, 틀리면 완전히 무작위처럼 보이거든요. 이걸 모든 좌표, 모든 후보값에 최대 qn번 반복하면 s 전체를 복원할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이제 비밀 s까지 짧게 제한한 버전, ss-LWE를 보겠습니다. 일반 LWE에서는 s가 Z_q의 아무 원소나 될 수 있었지만, ss-LWE는 s도 e처럼 -B에서 B 사이로 제한합니다. 이렇게 제한하는 이유는, 일반 LWE는 유일성을 위해 m이 n보다 훨씬 커야 했는데, ss-LWE는 m=n인 정사각 행렬만으로도 유일성이 성립하기 때문입니다. 이게 나중에 볼 Lindner-Peikert 암호가 작은 정사각 공개키만으로 안전하게 동작하는 이유입니다. 이렇게 비밀을 제한해도 문제 자체가 쉬워지지는 않는다는 걸 뒤에서 양방향 환원으로 확인하겠습니다.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같은 파라미터를 두 공식에 대입해서 비교해보면 차이가 확실히 드러납니다. 일반 LWE라고 가정하면 유일성 확률이 전혀 보장되지 않는데, 실제 ss-LWE 공식으로 계산하면 겹칠 확률이 0.04도 안 되서 유일성이 사실상 보장됩니다. 이게 바로 다음에 볼 Lindner-Peikert 암호가 m=n인 정사각 공개키만으로도 동작하는 근거입니다.</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실제 숫자로 확인해보면, m=n=5, q=97인 이 인스턴스는 유일한 해 s와 e를 갖습니다. 일반 LWE의 유일성 조건인 m≫n을 전혀 만족하지 않는데도 유일한 이유는, s의 후보 범위가 훨씬 좁아져서 앞서 본 union bound 값이 충분히 작아지기 때문입니다.</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ss-LWE도 LWE와 계산적으로 동치입니다. 먼저 ss-LWE를 LWE로 환원하는 건 간단합니다. 임의의 이동량 d를 더해서 비밀을 s+d로 바꿔치기하면 일반 LWE 인스턴스가 되고, 그 해를 얻으면 d를 다시 빼서 원래 ss-LWE 해를 복원합니다. 파라미터는 그대로 유지됩니다.</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반대 방향은 행렬을 위아래로 쪼개는 트릭을 씁니다. 위쪽 n개 행으로 만든 정사각 행렬의 역행렬을 이용해서, 잡음 e1을 비밀로 하는 ss-LWE 인스턴스를 만들고, 그 해를 얻으면 원래 LWE의 비밀을 복원합니다. 대신 표본 개수가 n개만큼 줄어드는 대가를 치릅니다.</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이제 이 모든 걸 활용한 실제 암호 시스템, Lindner-Peikert 공개키 암호를 보겠습니다. 2011년에 나온 이 암호는 ss-DLWE의 어려움에 안전성이 기반합니다. 복호화에는 라운딩 함수가 필요한데, 대칭 mod로 값을 음수와 양수 대칭 범위로 옮긴 다음, 0 근방이면 0, 반대편이면 1로 반올림하는 Round_q 함수를 씁니다. 키 생성은 간단합니다. 비밀 s와 잡음 e를 짧게 뽑고, A는 n×n 정사각 행렬로 뽑아서 b=As+e를 공개키로 씁니다. A가 정사각행렬이어도 되는 게 바로 앞서 본 ss-DLWE 덕분입니다.</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평문 한 비트 m을 암호화할 때는, 랜덤 벡터 r, z, z'를 뽑아서 c1=A^T r+z, c2 = b^T r+z'+m*ceil(q/2)를 계산합니다. 복호화는 개인키 s만 있으면 c2에서 s^T c1을 뺀 값을 Round_q에 넣어서 평문을 복원합니다. 이 안전성 근거는 ss-DLWE의 어려움이고, 뒤에서 자세히 증명하겠습니다.</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실제 숫자로 전체 과정을 확인해보겠습니다. q=229, n=3, B=2인 도메인 파라미터를 씁니다. Alice가 비밀 s와 잡음 e를 뽑아서 공개키 b를 계산하고, Bob이 평문 1을 암호화해서 c1, c2를 계산합니다. Alice가 c2에서 s^T c1을 빼면 120이 나오고, 이걸 대칭 mod로 바꾸면 -109가 되는데, 이 값이 -229/4보다 작으니까 Round_229는 1을 출력합니다. 즉 원래 평문 1을 정확히 복원한 거죠.</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마지막으로 이 암호의 두 가지 이론적 성질을 보겠습니다. 먼저 복호화 정확성입니다. c2-s^Tc1을 전개하면 e^Tr - s^Tz + z' + m*ceil(q/2) 형태가 되는데, B가 이 부등식을 만족할 만큼 충분히 작으면 이 값이 항상 q/4보다 작아서 복호화가 항상 성공합니다.</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번째는 안전성, IND-CPA입니다. ss-DLWE 가정 하에 공개키와 암호문 앞부분이 균등 난수와 구별 불가능하기 때문에, 공격자는 평문에 대한 어떤 정보도 얻을 수 없습니다. 다만 이 암호는 한 번에 비트 하나만 암호화할 수 있고, 선택 평문 공격까지만 안전하다는 한계가 있는데, 각각 7강에서 배울 모듈-LWE 버전과 Fujisaki-Okamoto 변환으로 해결되고, 이게 바로 Kyber의 원형이 됩니다. 이상으로 발표를 마치겠습니다.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E38C119-E53F-2DA2-3F3A-62BF807009B3}"/>
              </a:ext>
            </a:extLst>
          </p:cNvPr>
          <p:cNvSpPr>
            <a:spLocks noGrp="1"/>
          </p:cNvSpPr>
          <p:nvPr>
            <p:ph type="ctrTitle"/>
          </p:nvPr>
        </p:nvSpPr>
        <p:spPr>
          <a:xfrm>
            <a:off x="1524000" y="1122363"/>
            <a:ext cx="9144000" cy="2387600"/>
          </a:xfrm>
        </p:spPr>
        <p:txBody>
          <a:bodyPr anchor="b">
            <a:normAutofit/>
          </a:bodyPr>
          <a:lstStyle>
            <a:lvl1pPr algn="ctr">
              <a:defRPr sz="4000"/>
            </a:lvl1pPr>
          </a:lstStyle>
          <a:p>
            <a:r>
              <a:rPr lang="ko-KR" altLang="en-US" dirty="0"/>
              <a:t>마스터 제목 스타일 편집</a:t>
            </a:r>
          </a:p>
        </p:txBody>
      </p:sp>
      <p:sp>
        <p:nvSpPr>
          <p:cNvPr id="3" name="부제목 2">
            <a:extLst>
              <a:ext uri="{FF2B5EF4-FFF2-40B4-BE49-F238E27FC236}">
                <a16:creationId xmlns:a16="http://schemas.microsoft.com/office/drawing/2014/main" id="{34BB6797-A87E-4BFE-C9F3-8C995A674402}"/>
              </a:ext>
            </a:extLst>
          </p:cNvPr>
          <p:cNvSpPr>
            <a:spLocks noGrp="1"/>
          </p:cNvSpPr>
          <p:nvPr>
            <p:ph type="subTitle" idx="1"/>
          </p:nvPr>
        </p:nvSpPr>
        <p:spPr>
          <a:xfrm>
            <a:off x="1524000" y="3602038"/>
            <a:ext cx="9144000" cy="1655762"/>
          </a:xfrm>
        </p:spPr>
        <p:txBody>
          <a:bodyPr>
            <a:normAutofit/>
          </a:bodyPr>
          <a:lstStyle>
            <a:lvl1pPr marL="0" indent="0" algn="ctr">
              <a:buNone/>
              <a:defRPr sz="28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ltLang="ko-KR" dirty="0"/>
          </a:p>
          <a:p>
            <a:r>
              <a:rPr lang="ko-KR" altLang="en-US" dirty="0"/>
              <a:t>클릭하여 마스터 부제목 스타일 편집</a:t>
            </a:r>
          </a:p>
        </p:txBody>
      </p:sp>
      <p:sp>
        <p:nvSpPr>
          <p:cNvPr id="4" name="날짜 개체 틀 3">
            <a:extLst>
              <a:ext uri="{FF2B5EF4-FFF2-40B4-BE49-F238E27FC236}">
                <a16:creationId xmlns:a16="http://schemas.microsoft.com/office/drawing/2014/main" id="{12FD1BD7-7E65-3772-3007-1F34DBA0FA4E}"/>
              </a:ext>
            </a:extLst>
          </p:cNvPr>
          <p:cNvSpPr>
            <a:spLocks noGrp="1"/>
          </p:cNvSpPr>
          <p:nvPr>
            <p:ph type="dt" sz="half" idx="10"/>
          </p:nvPr>
        </p:nvSpPr>
        <p:spPr/>
        <p:txBody>
          <a:bodyPr/>
          <a:lstStyle/>
          <a:p>
            <a:fld id="{2ADF637E-82D6-4563-BCF0-C9101F2B5148}" type="datetime1">
              <a:rPr lang="ko-KR" altLang="en-US" smtClean="0"/>
              <a:t>2026-07-14</a:t>
            </a:fld>
            <a:endParaRPr lang="ko-KR" altLang="en-US"/>
          </a:p>
        </p:txBody>
      </p:sp>
      <p:sp>
        <p:nvSpPr>
          <p:cNvPr id="5" name="바닥글 개체 틀 4">
            <a:extLst>
              <a:ext uri="{FF2B5EF4-FFF2-40B4-BE49-F238E27FC236}">
                <a16:creationId xmlns:a16="http://schemas.microsoft.com/office/drawing/2014/main" id="{28CF5ED1-6997-CD09-21BF-44F1DD23973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040E17D-D377-3A02-4E70-6AAE5C12D4A0}"/>
              </a:ext>
            </a:extLst>
          </p:cNvPr>
          <p:cNvSpPr>
            <a:spLocks noGrp="1"/>
          </p:cNvSpPr>
          <p:nvPr>
            <p:ph type="sldNum" sz="quarter" idx="12"/>
          </p:nvPr>
        </p:nvSpPr>
        <p:spPr/>
        <p:txBody>
          <a:bodyPr/>
          <a:lstStyle/>
          <a:p>
            <a:fld id="{4438A2D4-3867-488E-A04E-7BFFCAED45A6}" type="slidenum">
              <a:rPr lang="ko-KR" altLang="en-US" smtClean="0"/>
              <a:t>‹#›</a:t>
            </a:fld>
            <a:endParaRPr lang="ko-KR" altLang="en-US"/>
          </a:p>
        </p:txBody>
      </p:sp>
    </p:spTree>
    <p:extLst>
      <p:ext uri="{BB962C8B-B14F-4D97-AF65-F5344CB8AC3E}">
        <p14:creationId xmlns:p14="http://schemas.microsoft.com/office/powerpoint/2010/main" val="3867735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031FD09-61A8-64FE-609A-5BC9FD80E7C0}"/>
              </a:ext>
            </a:extLst>
          </p:cNvPr>
          <p:cNvSpPr>
            <a:spLocks noGrp="1"/>
          </p:cNvSpPr>
          <p:nvPr>
            <p:ph type="title"/>
          </p:nvPr>
        </p:nvSpPr>
        <p:spPr>
          <a:xfrm>
            <a:off x="838200" y="136525"/>
            <a:ext cx="10515600" cy="753141"/>
          </a:xfrm>
        </p:spPr>
        <p:txBody>
          <a:bodyPr>
            <a:normAutofit/>
          </a:bodyPr>
          <a:lstStyle>
            <a:lvl1pPr algn="ctr">
              <a:defRPr sz="3600"/>
            </a:lvl1pPr>
          </a:lstStyle>
          <a:p>
            <a:r>
              <a:rPr lang="ko-KR" altLang="en-US" dirty="0"/>
              <a:t>마스터 제목 스타일 편집</a:t>
            </a:r>
          </a:p>
        </p:txBody>
      </p:sp>
      <p:sp>
        <p:nvSpPr>
          <p:cNvPr id="3" name="내용 개체 틀 2">
            <a:extLst>
              <a:ext uri="{FF2B5EF4-FFF2-40B4-BE49-F238E27FC236}">
                <a16:creationId xmlns:a16="http://schemas.microsoft.com/office/drawing/2014/main" id="{2C7A10CA-AA0F-BD51-5B8E-5AE0726F06E5}"/>
              </a:ext>
            </a:extLst>
          </p:cNvPr>
          <p:cNvSpPr>
            <a:spLocks noGrp="1"/>
          </p:cNvSpPr>
          <p:nvPr>
            <p:ph idx="1"/>
          </p:nvPr>
        </p:nvSpPr>
        <p:spPr>
          <a:xfrm>
            <a:off x="838200" y="1295322"/>
            <a:ext cx="10515600" cy="4701089"/>
          </a:xfrm>
        </p:spPr>
        <p:txBody>
          <a:bodyPr anchor="t">
            <a:normAutofit/>
          </a:bodyPr>
          <a:lstStyle>
            <a:lvl1pPr>
              <a:lnSpc>
                <a:spcPct val="150000"/>
              </a:lnSpc>
              <a:defRPr sz="2000"/>
            </a:lvl1pPr>
            <a:lvl2pPr>
              <a:lnSpc>
                <a:spcPct val="150000"/>
              </a:lnSpc>
              <a:defRPr sz="1800"/>
            </a:lvl2pPr>
            <a:lvl3pPr>
              <a:lnSpc>
                <a:spcPct val="150000"/>
              </a:lnSpc>
              <a:defRPr sz="1600"/>
            </a:lvl3pPr>
            <a:lvl4pPr>
              <a:lnSpc>
                <a:spcPct val="150000"/>
              </a:lnSpc>
              <a:defRPr sz="1400"/>
            </a:lvl4pPr>
            <a:lvl5pPr>
              <a:lnSpc>
                <a:spcPct val="150000"/>
              </a:lnSpc>
              <a:defRPr sz="14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2444F1B2-7ED6-C36F-405B-74D10A466921}"/>
              </a:ext>
            </a:extLst>
          </p:cNvPr>
          <p:cNvSpPr>
            <a:spLocks noGrp="1"/>
          </p:cNvSpPr>
          <p:nvPr>
            <p:ph type="dt" sz="half" idx="10"/>
          </p:nvPr>
        </p:nvSpPr>
        <p:spPr/>
        <p:txBody>
          <a:bodyPr/>
          <a:lstStyle/>
          <a:p>
            <a:fld id="{D58CD677-7AD2-4A27-94BD-C65458D22428}" type="datetime1">
              <a:rPr lang="ko-KR" altLang="en-US" smtClean="0"/>
              <a:t>2026-07-14</a:t>
            </a:fld>
            <a:endParaRPr lang="ko-KR" altLang="en-US"/>
          </a:p>
        </p:txBody>
      </p:sp>
      <p:sp>
        <p:nvSpPr>
          <p:cNvPr id="5" name="바닥글 개체 틀 4">
            <a:extLst>
              <a:ext uri="{FF2B5EF4-FFF2-40B4-BE49-F238E27FC236}">
                <a16:creationId xmlns:a16="http://schemas.microsoft.com/office/drawing/2014/main" id="{75B54CE5-BA49-9B1F-44F6-BB68039676F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0CCEF06-AF2C-16E5-D994-94762FCED6F1}"/>
              </a:ext>
            </a:extLst>
          </p:cNvPr>
          <p:cNvSpPr>
            <a:spLocks noGrp="1"/>
          </p:cNvSpPr>
          <p:nvPr>
            <p:ph type="sldNum" sz="quarter" idx="12"/>
          </p:nvPr>
        </p:nvSpPr>
        <p:spPr/>
        <p:txBody>
          <a:bodyPr/>
          <a:lstStyle/>
          <a:p>
            <a:fld id="{4438A2D4-3867-488E-A04E-7BFFCAED45A6}" type="slidenum">
              <a:rPr lang="ko-KR" altLang="en-US" smtClean="0"/>
              <a:t>‹#›</a:t>
            </a:fld>
            <a:endParaRPr lang="ko-KR" altLang="en-US"/>
          </a:p>
        </p:txBody>
      </p:sp>
      <p:sp>
        <p:nvSpPr>
          <p:cNvPr id="7" name="직사각형 6">
            <a:extLst>
              <a:ext uri="{FF2B5EF4-FFF2-40B4-BE49-F238E27FC236}">
                <a16:creationId xmlns:a16="http://schemas.microsoft.com/office/drawing/2014/main" id="{5D5B8A52-06C2-8583-0C1B-A817C4737BF0}"/>
              </a:ext>
            </a:extLst>
          </p:cNvPr>
          <p:cNvSpPr/>
          <p:nvPr userDrawn="1"/>
        </p:nvSpPr>
        <p:spPr>
          <a:xfrm flipV="1">
            <a:off x="405063" y="889665"/>
            <a:ext cx="11381873" cy="45719"/>
          </a:xfrm>
          <a:prstGeom prst="rect">
            <a:avLst/>
          </a:prstGeom>
          <a:solidFill>
            <a:schemeClr val="tx1"/>
          </a:solidFill>
          <a:ln>
            <a:no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834974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21E2741-8F1E-BB08-8064-ABB3B517242A}"/>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9FE217DB-F68B-0B02-0EE9-FC6D375A39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76F4ECD6-4F10-FAB4-9EC7-0A9BDDBBF58F}"/>
              </a:ext>
            </a:extLst>
          </p:cNvPr>
          <p:cNvSpPr>
            <a:spLocks noGrp="1"/>
          </p:cNvSpPr>
          <p:nvPr>
            <p:ph type="dt" sz="half" idx="10"/>
          </p:nvPr>
        </p:nvSpPr>
        <p:spPr/>
        <p:txBody>
          <a:bodyPr/>
          <a:lstStyle/>
          <a:p>
            <a:fld id="{2BEF52EC-B397-4D0A-AE91-E0D6840C85A1}" type="datetime1">
              <a:rPr lang="ko-KR" altLang="en-US" smtClean="0"/>
              <a:t>2026-07-14</a:t>
            </a:fld>
            <a:endParaRPr lang="ko-KR" altLang="en-US"/>
          </a:p>
        </p:txBody>
      </p:sp>
      <p:sp>
        <p:nvSpPr>
          <p:cNvPr id="5" name="바닥글 개체 틀 4">
            <a:extLst>
              <a:ext uri="{FF2B5EF4-FFF2-40B4-BE49-F238E27FC236}">
                <a16:creationId xmlns:a16="http://schemas.microsoft.com/office/drawing/2014/main" id="{EB089ED4-E191-9BE2-6362-00E940AF749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F322432-D7EA-093F-001B-BC7E0D49E1F6}"/>
              </a:ext>
            </a:extLst>
          </p:cNvPr>
          <p:cNvSpPr>
            <a:spLocks noGrp="1"/>
          </p:cNvSpPr>
          <p:nvPr>
            <p:ph type="sldNum" sz="quarter" idx="12"/>
          </p:nvPr>
        </p:nvSpPr>
        <p:spPr/>
        <p:txBody>
          <a:bodyPr/>
          <a:lstStyle/>
          <a:p>
            <a:fld id="{4438A2D4-3867-488E-A04E-7BFFCAED45A6}" type="slidenum">
              <a:rPr lang="ko-KR" altLang="en-US" smtClean="0"/>
              <a:t>‹#›</a:t>
            </a:fld>
            <a:endParaRPr lang="ko-KR" altLang="en-US"/>
          </a:p>
        </p:txBody>
      </p:sp>
    </p:spTree>
    <p:extLst>
      <p:ext uri="{BB962C8B-B14F-4D97-AF65-F5344CB8AC3E}">
        <p14:creationId xmlns:p14="http://schemas.microsoft.com/office/powerpoint/2010/main" val="444730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62A7E8-82BA-7B6E-F6E9-A98D3ECFFBAE}"/>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6CAEFAB5-2BD5-B266-2B90-5DF6C6BE75FA}"/>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EDC97A80-9CA9-6C9D-98D1-D8A829894B9A}"/>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503A760F-4119-02E0-9047-FD4EFB030E0F}"/>
              </a:ext>
            </a:extLst>
          </p:cNvPr>
          <p:cNvSpPr>
            <a:spLocks noGrp="1"/>
          </p:cNvSpPr>
          <p:nvPr>
            <p:ph type="dt" sz="half" idx="10"/>
          </p:nvPr>
        </p:nvSpPr>
        <p:spPr/>
        <p:txBody>
          <a:bodyPr/>
          <a:lstStyle/>
          <a:p>
            <a:fld id="{32DD6007-6A42-4C9B-B218-6A32B3A38C67}" type="datetime1">
              <a:rPr lang="ko-KR" altLang="en-US" smtClean="0"/>
              <a:t>2026-07-14</a:t>
            </a:fld>
            <a:endParaRPr lang="ko-KR" altLang="en-US"/>
          </a:p>
        </p:txBody>
      </p:sp>
      <p:sp>
        <p:nvSpPr>
          <p:cNvPr id="6" name="바닥글 개체 틀 5">
            <a:extLst>
              <a:ext uri="{FF2B5EF4-FFF2-40B4-BE49-F238E27FC236}">
                <a16:creationId xmlns:a16="http://schemas.microsoft.com/office/drawing/2014/main" id="{699B3A7E-6DE5-9DF0-CCF3-4E150621678B}"/>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E6664016-7B2A-6313-FDC2-8FA33EAC9346}"/>
              </a:ext>
            </a:extLst>
          </p:cNvPr>
          <p:cNvSpPr>
            <a:spLocks noGrp="1"/>
          </p:cNvSpPr>
          <p:nvPr>
            <p:ph type="sldNum" sz="quarter" idx="12"/>
          </p:nvPr>
        </p:nvSpPr>
        <p:spPr/>
        <p:txBody>
          <a:bodyPr/>
          <a:lstStyle/>
          <a:p>
            <a:fld id="{4438A2D4-3867-488E-A04E-7BFFCAED45A6}" type="slidenum">
              <a:rPr lang="ko-KR" altLang="en-US" smtClean="0"/>
              <a:t>‹#›</a:t>
            </a:fld>
            <a:endParaRPr lang="ko-KR" altLang="en-US"/>
          </a:p>
        </p:txBody>
      </p:sp>
    </p:spTree>
    <p:extLst>
      <p:ext uri="{BB962C8B-B14F-4D97-AF65-F5344CB8AC3E}">
        <p14:creationId xmlns:p14="http://schemas.microsoft.com/office/powerpoint/2010/main" val="737087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6D54C69-8E55-E9AE-CBD6-A0F2276D9E9E}"/>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D0B86DB8-CC8D-914E-CEFA-5DF480196E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0B176446-C17B-7FD5-8DB2-B982801142E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F95D4D2A-9477-8669-492E-C33F3E9CD4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91BF0716-4A26-4EAB-6A93-C6203A807243}"/>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C0F37FBA-7D77-22F4-B534-1653B07ADBB4}"/>
              </a:ext>
            </a:extLst>
          </p:cNvPr>
          <p:cNvSpPr>
            <a:spLocks noGrp="1"/>
          </p:cNvSpPr>
          <p:nvPr>
            <p:ph type="dt" sz="half" idx="10"/>
          </p:nvPr>
        </p:nvSpPr>
        <p:spPr/>
        <p:txBody>
          <a:bodyPr/>
          <a:lstStyle/>
          <a:p>
            <a:fld id="{F66658DF-8B5F-4351-A42C-BF3495DE7ABE}" type="datetime1">
              <a:rPr lang="ko-KR" altLang="en-US" smtClean="0"/>
              <a:t>2026-07-14</a:t>
            </a:fld>
            <a:endParaRPr lang="ko-KR" altLang="en-US"/>
          </a:p>
        </p:txBody>
      </p:sp>
      <p:sp>
        <p:nvSpPr>
          <p:cNvPr id="8" name="바닥글 개체 틀 7">
            <a:extLst>
              <a:ext uri="{FF2B5EF4-FFF2-40B4-BE49-F238E27FC236}">
                <a16:creationId xmlns:a16="http://schemas.microsoft.com/office/drawing/2014/main" id="{E8DA361B-5E51-3A84-F540-036EB166C1A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DAD90B8D-AC97-0E06-ED03-C9645D4A46FE}"/>
              </a:ext>
            </a:extLst>
          </p:cNvPr>
          <p:cNvSpPr>
            <a:spLocks noGrp="1"/>
          </p:cNvSpPr>
          <p:nvPr>
            <p:ph type="sldNum" sz="quarter" idx="12"/>
          </p:nvPr>
        </p:nvSpPr>
        <p:spPr/>
        <p:txBody>
          <a:bodyPr/>
          <a:lstStyle/>
          <a:p>
            <a:fld id="{4438A2D4-3867-488E-A04E-7BFFCAED45A6}" type="slidenum">
              <a:rPr lang="ko-KR" altLang="en-US" smtClean="0"/>
              <a:t>‹#›</a:t>
            </a:fld>
            <a:endParaRPr lang="ko-KR" altLang="en-US"/>
          </a:p>
        </p:txBody>
      </p:sp>
    </p:spTree>
    <p:extLst>
      <p:ext uri="{BB962C8B-B14F-4D97-AF65-F5344CB8AC3E}">
        <p14:creationId xmlns:p14="http://schemas.microsoft.com/office/powerpoint/2010/main" val="2627877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AF5235F-156B-75D6-B91A-2D25D5F318AF}"/>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70398CE0-1B1D-EF93-936A-A286EA5776E3}"/>
              </a:ext>
            </a:extLst>
          </p:cNvPr>
          <p:cNvSpPr>
            <a:spLocks noGrp="1"/>
          </p:cNvSpPr>
          <p:nvPr>
            <p:ph type="dt" sz="half" idx="10"/>
          </p:nvPr>
        </p:nvSpPr>
        <p:spPr/>
        <p:txBody>
          <a:bodyPr/>
          <a:lstStyle/>
          <a:p>
            <a:fld id="{74359C48-8150-4FAB-8BEF-6AD61CFC9BBE}" type="datetime1">
              <a:rPr lang="ko-KR" altLang="en-US" smtClean="0"/>
              <a:t>2026-07-14</a:t>
            </a:fld>
            <a:endParaRPr lang="ko-KR" altLang="en-US"/>
          </a:p>
        </p:txBody>
      </p:sp>
      <p:sp>
        <p:nvSpPr>
          <p:cNvPr id="4" name="바닥글 개체 틀 3">
            <a:extLst>
              <a:ext uri="{FF2B5EF4-FFF2-40B4-BE49-F238E27FC236}">
                <a16:creationId xmlns:a16="http://schemas.microsoft.com/office/drawing/2014/main" id="{7F4DC0FF-921E-80C0-450A-7B405750E80B}"/>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A8CF709D-D3DC-4D1F-45FC-9F2F2C1808F2}"/>
              </a:ext>
            </a:extLst>
          </p:cNvPr>
          <p:cNvSpPr>
            <a:spLocks noGrp="1"/>
          </p:cNvSpPr>
          <p:nvPr>
            <p:ph type="sldNum" sz="quarter" idx="12"/>
          </p:nvPr>
        </p:nvSpPr>
        <p:spPr/>
        <p:txBody>
          <a:bodyPr/>
          <a:lstStyle/>
          <a:p>
            <a:fld id="{4438A2D4-3867-488E-A04E-7BFFCAED45A6}" type="slidenum">
              <a:rPr lang="ko-KR" altLang="en-US" smtClean="0"/>
              <a:t>‹#›</a:t>
            </a:fld>
            <a:endParaRPr lang="ko-KR" altLang="en-US"/>
          </a:p>
        </p:txBody>
      </p:sp>
    </p:spTree>
    <p:extLst>
      <p:ext uri="{BB962C8B-B14F-4D97-AF65-F5344CB8AC3E}">
        <p14:creationId xmlns:p14="http://schemas.microsoft.com/office/powerpoint/2010/main" val="7129880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1E4D47D0-9EAC-3C67-62F1-6CC1BEC6FCAD}"/>
              </a:ext>
            </a:extLst>
          </p:cNvPr>
          <p:cNvSpPr>
            <a:spLocks noGrp="1"/>
          </p:cNvSpPr>
          <p:nvPr>
            <p:ph type="dt" sz="half" idx="10"/>
          </p:nvPr>
        </p:nvSpPr>
        <p:spPr/>
        <p:txBody>
          <a:bodyPr/>
          <a:lstStyle/>
          <a:p>
            <a:fld id="{2D41DBCF-1091-470D-AC72-5CF3D00280AC}" type="datetime1">
              <a:rPr lang="ko-KR" altLang="en-US" smtClean="0"/>
              <a:t>2026-07-14</a:t>
            </a:fld>
            <a:endParaRPr lang="ko-KR" altLang="en-US"/>
          </a:p>
        </p:txBody>
      </p:sp>
      <p:sp>
        <p:nvSpPr>
          <p:cNvPr id="3" name="바닥글 개체 틀 2">
            <a:extLst>
              <a:ext uri="{FF2B5EF4-FFF2-40B4-BE49-F238E27FC236}">
                <a16:creationId xmlns:a16="http://schemas.microsoft.com/office/drawing/2014/main" id="{AA75CACA-850A-EA99-2A04-D33838FCCA84}"/>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F504249E-807B-C0AC-5C11-E3AD439D7F88}"/>
              </a:ext>
            </a:extLst>
          </p:cNvPr>
          <p:cNvSpPr>
            <a:spLocks noGrp="1"/>
          </p:cNvSpPr>
          <p:nvPr>
            <p:ph type="sldNum" sz="quarter" idx="12"/>
          </p:nvPr>
        </p:nvSpPr>
        <p:spPr/>
        <p:txBody>
          <a:bodyPr/>
          <a:lstStyle/>
          <a:p>
            <a:fld id="{4438A2D4-3867-488E-A04E-7BFFCAED45A6}" type="slidenum">
              <a:rPr lang="ko-KR" altLang="en-US" smtClean="0"/>
              <a:t>‹#›</a:t>
            </a:fld>
            <a:endParaRPr lang="ko-KR" altLang="en-US"/>
          </a:p>
        </p:txBody>
      </p:sp>
    </p:spTree>
    <p:extLst>
      <p:ext uri="{BB962C8B-B14F-4D97-AF65-F5344CB8AC3E}">
        <p14:creationId xmlns:p14="http://schemas.microsoft.com/office/powerpoint/2010/main" val="1969095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AEF82BF-B27F-0EAB-B809-971BA3CE89FA}"/>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1C4868F8-4EB2-B804-3AD6-7256AF1C68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4C3E5F92-B2C2-8AB1-01C1-ED72DF18A6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0243173C-11BF-A2F6-F013-59378849A4C5}"/>
              </a:ext>
            </a:extLst>
          </p:cNvPr>
          <p:cNvSpPr>
            <a:spLocks noGrp="1"/>
          </p:cNvSpPr>
          <p:nvPr>
            <p:ph type="dt" sz="half" idx="10"/>
          </p:nvPr>
        </p:nvSpPr>
        <p:spPr/>
        <p:txBody>
          <a:bodyPr/>
          <a:lstStyle/>
          <a:p>
            <a:fld id="{4024AE7C-57FB-4DBB-B90C-59145D637BF6}" type="datetime1">
              <a:rPr lang="ko-KR" altLang="en-US" smtClean="0"/>
              <a:t>2026-07-14</a:t>
            </a:fld>
            <a:endParaRPr lang="ko-KR" altLang="en-US"/>
          </a:p>
        </p:txBody>
      </p:sp>
      <p:sp>
        <p:nvSpPr>
          <p:cNvPr id="6" name="바닥글 개체 틀 5">
            <a:extLst>
              <a:ext uri="{FF2B5EF4-FFF2-40B4-BE49-F238E27FC236}">
                <a16:creationId xmlns:a16="http://schemas.microsoft.com/office/drawing/2014/main" id="{13D47E49-717B-A5BA-FB22-E4F74A03BD9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6C7ED0F3-0EAE-43B7-F5D2-9F776B23F7B7}"/>
              </a:ext>
            </a:extLst>
          </p:cNvPr>
          <p:cNvSpPr>
            <a:spLocks noGrp="1"/>
          </p:cNvSpPr>
          <p:nvPr>
            <p:ph type="sldNum" sz="quarter" idx="12"/>
          </p:nvPr>
        </p:nvSpPr>
        <p:spPr/>
        <p:txBody>
          <a:bodyPr/>
          <a:lstStyle/>
          <a:p>
            <a:fld id="{4438A2D4-3867-488E-A04E-7BFFCAED45A6}" type="slidenum">
              <a:rPr lang="ko-KR" altLang="en-US" smtClean="0"/>
              <a:t>‹#›</a:t>
            </a:fld>
            <a:endParaRPr lang="ko-KR" altLang="en-US"/>
          </a:p>
        </p:txBody>
      </p:sp>
    </p:spTree>
    <p:extLst>
      <p:ext uri="{BB962C8B-B14F-4D97-AF65-F5344CB8AC3E}">
        <p14:creationId xmlns:p14="http://schemas.microsoft.com/office/powerpoint/2010/main" val="2392319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C3DE7BB-65A1-98A0-61B2-9BA86EB8B444}"/>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3393FC40-79A0-A826-1CA9-EE7B1B8BF9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BEB9879E-8AC3-D682-707C-4CCA3AC04C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1C97A2B9-9192-6241-C6C5-2D7D678EEC17}"/>
              </a:ext>
            </a:extLst>
          </p:cNvPr>
          <p:cNvSpPr>
            <a:spLocks noGrp="1"/>
          </p:cNvSpPr>
          <p:nvPr>
            <p:ph type="dt" sz="half" idx="10"/>
          </p:nvPr>
        </p:nvSpPr>
        <p:spPr/>
        <p:txBody>
          <a:bodyPr/>
          <a:lstStyle/>
          <a:p>
            <a:fld id="{17D92253-43A0-46E3-918E-3929407A8C01}" type="datetime1">
              <a:rPr lang="ko-KR" altLang="en-US" smtClean="0"/>
              <a:t>2026-07-14</a:t>
            </a:fld>
            <a:endParaRPr lang="ko-KR" altLang="en-US"/>
          </a:p>
        </p:txBody>
      </p:sp>
      <p:sp>
        <p:nvSpPr>
          <p:cNvPr id="6" name="바닥글 개체 틀 5">
            <a:extLst>
              <a:ext uri="{FF2B5EF4-FFF2-40B4-BE49-F238E27FC236}">
                <a16:creationId xmlns:a16="http://schemas.microsoft.com/office/drawing/2014/main" id="{6B7311CB-F5C2-2F43-5CDB-47B621DB118C}"/>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B7E252D-5421-B82E-B9DC-97D8A4F11897}"/>
              </a:ext>
            </a:extLst>
          </p:cNvPr>
          <p:cNvSpPr>
            <a:spLocks noGrp="1"/>
          </p:cNvSpPr>
          <p:nvPr>
            <p:ph type="sldNum" sz="quarter" idx="12"/>
          </p:nvPr>
        </p:nvSpPr>
        <p:spPr/>
        <p:txBody>
          <a:bodyPr/>
          <a:lstStyle/>
          <a:p>
            <a:fld id="{4438A2D4-3867-488E-A04E-7BFFCAED45A6}" type="slidenum">
              <a:rPr lang="ko-KR" altLang="en-US" smtClean="0"/>
              <a:t>‹#›</a:t>
            </a:fld>
            <a:endParaRPr lang="ko-KR" altLang="en-US"/>
          </a:p>
        </p:txBody>
      </p:sp>
    </p:spTree>
    <p:extLst>
      <p:ext uri="{BB962C8B-B14F-4D97-AF65-F5344CB8AC3E}">
        <p14:creationId xmlns:p14="http://schemas.microsoft.com/office/powerpoint/2010/main" val="1274345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CA5921C-217D-706E-B4C1-8C4B415A85B4}"/>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0FA49194-22FD-90CC-72D7-93BB89EBF3C2}"/>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E3072F4-8B76-D6AF-7D51-73F346613726}"/>
              </a:ext>
            </a:extLst>
          </p:cNvPr>
          <p:cNvSpPr>
            <a:spLocks noGrp="1"/>
          </p:cNvSpPr>
          <p:nvPr>
            <p:ph type="dt" sz="half" idx="10"/>
          </p:nvPr>
        </p:nvSpPr>
        <p:spPr/>
        <p:txBody>
          <a:bodyPr/>
          <a:lstStyle/>
          <a:p>
            <a:fld id="{C9178607-39E6-4CB2-B3CB-AB428B3B6195}" type="datetime1">
              <a:rPr lang="ko-KR" altLang="en-US" smtClean="0"/>
              <a:t>2026-07-14</a:t>
            </a:fld>
            <a:endParaRPr lang="ko-KR" altLang="en-US"/>
          </a:p>
        </p:txBody>
      </p:sp>
      <p:sp>
        <p:nvSpPr>
          <p:cNvPr id="5" name="바닥글 개체 틀 4">
            <a:extLst>
              <a:ext uri="{FF2B5EF4-FFF2-40B4-BE49-F238E27FC236}">
                <a16:creationId xmlns:a16="http://schemas.microsoft.com/office/drawing/2014/main" id="{4903EEA5-CFF1-3A25-3757-289E51F2702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0CA5D0D-C1A0-3A92-3E15-E7442EE12DC3}"/>
              </a:ext>
            </a:extLst>
          </p:cNvPr>
          <p:cNvSpPr>
            <a:spLocks noGrp="1"/>
          </p:cNvSpPr>
          <p:nvPr>
            <p:ph type="sldNum" sz="quarter" idx="12"/>
          </p:nvPr>
        </p:nvSpPr>
        <p:spPr/>
        <p:txBody>
          <a:bodyPr/>
          <a:lstStyle/>
          <a:p>
            <a:fld id="{4438A2D4-3867-488E-A04E-7BFFCAED45A6}" type="slidenum">
              <a:rPr lang="ko-KR" altLang="en-US" smtClean="0"/>
              <a:t>‹#›</a:t>
            </a:fld>
            <a:endParaRPr lang="ko-KR" altLang="en-US"/>
          </a:p>
        </p:txBody>
      </p:sp>
    </p:spTree>
    <p:extLst>
      <p:ext uri="{BB962C8B-B14F-4D97-AF65-F5344CB8AC3E}">
        <p14:creationId xmlns:p14="http://schemas.microsoft.com/office/powerpoint/2010/main" val="1719845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544A25BF-197E-B63E-7A73-089055E7BC94}"/>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A1D6C20F-2716-6230-FC15-8E28D820B1B3}"/>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32C15CE-BE12-96E8-58E3-B89CE71B76DF}"/>
              </a:ext>
            </a:extLst>
          </p:cNvPr>
          <p:cNvSpPr>
            <a:spLocks noGrp="1"/>
          </p:cNvSpPr>
          <p:nvPr>
            <p:ph type="dt" sz="half" idx="10"/>
          </p:nvPr>
        </p:nvSpPr>
        <p:spPr/>
        <p:txBody>
          <a:bodyPr/>
          <a:lstStyle/>
          <a:p>
            <a:fld id="{F578A2F2-325F-46A6-8956-F2A49A35BAF8}" type="datetime1">
              <a:rPr lang="ko-KR" altLang="en-US" smtClean="0"/>
              <a:t>2026-07-14</a:t>
            </a:fld>
            <a:endParaRPr lang="ko-KR" altLang="en-US"/>
          </a:p>
        </p:txBody>
      </p:sp>
      <p:sp>
        <p:nvSpPr>
          <p:cNvPr id="5" name="바닥글 개체 틀 4">
            <a:extLst>
              <a:ext uri="{FF2B5EF4-FFF2-40B4-BE49-F238E27FC236}">
                <a16:creationId xmlns:a16="http://schemas.microsoft.com/office/drawing/2014/main" id="{483C669E-1E2D-2737-7F44-4EF88AEE2EA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5F1D9548-61EF-5EA9-3163-3C25E9287A20}"/>
              </a:ext>
            </a:extLst>
          </p:cNvPr>
          <p:cNvSpPr>
            <a:spLocks noGrp="1"/>
          </p:cNvSpPr>
          <p:nvPr>
            <p:ph type="sldNum" sz="quarter" idx="12"/>
          </p:nvPr>
        </p:nvSpPr>
        <p:spPr/>
        <p:txBody>
          <a:bodyPr/>
          <a:lstStyle/>
          <a:p>
            <a:fld id="{4438A2D4-3867-488E-A04E-7BFFCAED45A6}" type="slidenum">
              <a:rPr lang="ko-KR" altLang="en-US" smtClean="0"/>
              <a:t>‹#›</a:t>
            </a:fld>
            <a:endParaRPr lang="ko-KR" altLang="en-US"/>
          </a:p>
        </p:txBody>
      </p:sp>
    </p:spTree>
    <p:extLst>
      <p:ext uri="{BB962C8B-B14F-4D97-AF65-F5344CB8AC3E}">
        <p14:creationId xmlns:p14="http://schemas.microsoft.com/office/powerpoint/2010/main" val="3299790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33AFC0F6-4140-2489-D0A3-0A632697E478}"/>
              </a:ext>
            </a:extLst>
          </p:cNvPr>
          <p:cNvSpPr>
            <a:spLocks noGrp="1"/>
          </p:cNvSpPr>
          <p:nvPr>
            <p:ph type="title"/>
          </p:nvPr>
        </p:nvSpPr>
        <p:spPr>
          <a:xfrm>
            <a:off x="838200" y="226866"/>
            <a:ext cx="10515600" cy="662800"/>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a:extLst>
              <a:ext uri="{FF2B5EF4-FFF2-40B4-BE49-F238E27FC236}">
                <a16:creationId xmlns:a16="http://schemas.microsoft.com/office/drawing/2014/main" id="{A5E886E5-5DD8-BA48-583F-AAA217E8DD22}"/>
              </a:ext>
            </a:extLst>
          </p:cNvPr>
          <p:cNvSpPr>
            <a:spLocks noGrp="1"/>
          </p:cNvSpPr>
          <p:nvPr>
            <p:ph type="body" idx="1"/>
          </p:nvPr>
        </p:nvSpPr>
        <p:spPr>
          <a:xfrm>
            <a:off x="838200" y="1423922"/>
            <a:ext cx="10515600" cy="4753042"/>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269862E1-2ECD-F622-0F74-FDC2E7199A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D61A29-800E-482A-B0FD-5A04401ECD92}" type="datetime1">
              <a:rPr lang="ko-KR" altLang="en-US" smtClean="0"/>
              <a:t>2026-07-14</a:t>
            </a:fld>
            <a:endParaRPr lang="ko-KR" altLang="en-US"/>
          </a:p>
        </p:txBody>
      </p:sp>
      <p:sp>
        <p:nvSpPr>
          <p:cNvPr id="5" name="바닥글 개체 틀 4">
            <a:extLst>
              <a:ext uri="{FF2B5EF4-FFF2-40B4-BE49-F238E27FC236}">
                <a16:creationId xmlns:a16="http://schemas.microsoft.com/office/drawing/2014/main" id="{0F2E1796-7D1E-1254-446E-8BAA61680C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4EB692A8-3D04-14CA-0956-516C70492A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38A2D4-3867-488E-A04E-7BFFCAED45A6}" type="slidenum">
              <a:rPr lang="ko-KR" altLang="en-US" smtClean="0"/>
              <a:t>‹#›</a:t>
            </a:fld>
            <a:endParaRPr lang="ko-KR" altLang="en-US"/>
          </a:p>
        </p:txBody>
      </p:sp>
    </p:spTree>
    <p:extLst>
      <p:ext uri="{BB962C8B-B14F-4D97-AF65-F5344CB8AC3E}">
        <p14:creationId xmlns:p14="http://schemas.microsoft.com/office/powerpoint/2010/main" val="3746133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1" hangingPunct="1">
        <a:lnSpc>
          <a:spcPct val="9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1F5C70B-7871-D2F3-E49B-85D4BEBAD71C}"/>
              </a:ext>
            </a:extLst>
          </p:cNvPr>
          <p:cNvSpPr>
            <a:spLocks noGrp="1"/>
          </p:cNvSpPr>
          <p:nvPr>
            <p:ph type="ctrTitle"/>
          </p:nvPr>
        </p:nvSpPr>
        <p:spPr/>
        <p:txBody>
          <a:bodyPr>
            <a:normAutofit/>
          </a:bodyPr>
          <a:lstStyle/>
          <a:p>
            <a:r>
              <a:rPr lang="en-US" altLang="ko-KR" sz="4000" dirty="0">
                <a:solidFill>
                  <a:srgbClr val="000000"/>
                </a:solidFill>
                <a:latin typeface="맑은 고딕"/>
              </a:rPr>
              <a:t>Post-Quantum Cryptography</a:t>
            </a:r>
            <a:endParaRPr lang="ko-KR" altLang="en-US" dirty="0"/>
          </a:p>
        </p:txBody>
      </p:sp>
      <p:sp>
        <p:nvSpPr>
          <p:cNvPr id="3" name="부제목 2">
            <a:extLst>
              <a:ext uri="{FF2B5EF4-FFF2-40B4-BE49-F238E27FC236}">
                <a16:creationId xmlns:a16="http://schemas.microsoft.com/office/drawing/2014/main" id="{8EA4BB57-D4CA-4972-9722-922AA1C0259F}"/>
              </a:ext>
            </a:extLst>
          </p:cNvPr>
          <p:cNvSpPr>
            <a:spLocks noGrp="1"/>
          </p:cNvSpPr>
          <p:nvPr>
            <p:ph type="subTitle" idx="1"/>
          </p:nvPr>
        </p:nvSpPr>
        <p:spPr/>
        <p:txBody>
          <a:bodyPr>
            <a:normAutofit/>
          </a:bodyPr>
          <a:lstStyle/>
          <a:p>
            <a:endParaRPr lang="en-US" altLang="ko-KR" sz="2800" dirty="0"/>
          </a:p>
          <a:p>
            <a:r>
              <a:rPr lang="en-US" altLang="ko-KR" sz="1800" b="0" dirty="0">
                <a:latin typeface="맑은 고딕"/>
              </a:rPr>
              <a:t>SIS &amp; LWE</a:t>
            </a:r>
            <a:endParaRPr lang="ko-KR" altLang="en-US" sz="2800" dirty="0"/>
          </a:p>
        </p:txBody>
      </p:sp>
    </p:spTree>
    <p:extLst>
      <p:ext uri="{BB962C8B-B14F-4D97-AF65-F5344CB8AC3E}">
        <p14:creationId xmlns:p14="http://schemas.microsoft.com/office/powerpoint/2010/main" val="1841275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0DB61-F834-D9E7-299E-9100B8F34670}"/>
            </a:ext>
          </a:extLst>
        </p:cNvPr>
        <p:cNvGrpSpPr/>
        <p:nvPr/>
      </p:nvGrpSpPr>
      <p:grpSpPr>
        <a:xfrm>
          <a:off x="0" y="0"/>
          <a:ext cx="0" cy="0"/>
          <a:chOff x="0" y="0"/>
          <a:chExt cx="0" cy="0"/>
        </a:xfrm>
      </p:grpSpPr>
      <p:sp>
        <p:nvSpPr>
          <p:cNvPr id="3" name="내용 개체 틀 2">
            <a:extLst>
              <a:ext uri="{FF2B5EF4-FFF2-40B4-BE49-F238E27FC236}">
                <a16:creationId xmlns:a16="http://schemas.microsoft.com/office/drawing/2014/main" id="{8962A060-71A6-5EA2-F906-1524933F5B85}"/>
              </a:ext>
            </a:extLst>
          </p:cNvPr>
          <p:cNvSpPr>
            <a:spLocks noGrp="1"/>
          </p:cNvSpPr>
          <p:nvPr>
            <p:ph idx="1"/>
          </p:nvPr>
        </p:nvSpPr>
        <p:spPr>
          <a:xfrm>
            <a:off x="838200" y="1318962"/>
            <a:ext cx="10515600" cy="5037388"/>
          </a:xfrm>
        </p:spPr>
        <p:txBody>
          <a:bodyPr anchor="t">
            <a:normAutofit/>
          </a:bodyPr>
          <a:lstStyle/>
          <a:p>
            <a:pPr marL="342900" indent="-342900">
              <a:lnSpc>
                <a:spcPct val="200000"/>
              </a:lnSpc>
              <a:buFont typeface="+mj-lt"/>
              <a:buAutoNum type="arabicPeriod"/>
            </a:pPr>
            <a:r>
              <a:rPr lang="en-US" altLang="ko-KR" sz="1800" b="0" dirty="0">
                <a:solidFill>
                  <a:srgbClr val="000000"/>
                </a:solidFill>
                <a:latin typeface="맑은 고딕"/>
              </a:rPr>
              <a:t>SIS (Short Integer Solutions)</a:t>
            </a:r>
          </a:p>
          <a:p>
            <a:pPr marL="342900" indent="-342900">
              <a:lnSpc>
                <a:spcPct val="200000"/>
              </a:lnSpc>
              <a:buFont typeface="+mj-lt"/>
              <a:buAutoNum type="arabicPeriod"/>
            </a:pPr>
            <a:r>
              <a:rPr lang="en-US" altLang="ko-KR" sz="1800" b="0" dirty="0">
                <a:solidFill>
                  <a:srgbClr val="000000"/>
                </a:solidFill>
                <a:latin typeface="맑은 고딕"/>
              </a:rPr>
              <a:t>LWE (Learning With Errors)</a:t>
            </a:r>
          </a:p>
        </p:txBody>
      </p:sp>
      <p:sp>
        <p:nvSpPr>
          <p:cNvPr id="4" name="슬라이드 번호 개체 틀 3">
            <a:extLst>
              <a:ext uri="{FF2B5EF4-FFF2-40B4-BE49-F238E27FC236}">
                <a16:creationId xmlns:a16="http://schemas.microsoft.com/office/drawing/2014/main" id="{F9BAA46B-FCCE-8A34-657F-EEC8E88D022A}"/>
              </a:ext>
            </a:extLst>
          </p:cNvPr>
          <p:cNvSpPr>
            <a:spLocks noGrp="1"/>
          </p:cNvSpPr>
          <p:nvPr>
            <p:ph type="sldNum" sz="quarter" idx="12"/>
          </p:nvPr>
        </p:nvSpPr>
        <p:spPr/>
        <p:txBody>
          <a:bodyPr/>
          <a:lstStyle/>
          <a:p>
            <a:fld id="{4438A2D4-3867-488E-A04E-7BFFCAED45A6}" type="slidenum">
              <a:rPr lang="ko-KR" altLang="en-US" smtClean="0"/>
              <a:t>2</a:t>
            </a:fld>
            <a:endParaRPr lang="ko-KR" altLang="en-US"/>
          </a:p>
        </p:txBody>
      </p:sp>
      <p:sp>
        <p:nvSpPr>
          <p:cNvPr id="9" name="제목 1">
            <a:extLst>
              <a:ext uri="{FF2B5EF4-FFF2-40B4-BE49-F238E27FC236}">
                <a16:creationId xmlns:a16="http://schemas.microsoft.com/office/drawing/2014/main" id="{56756302-4A72-F2DD-A7FF-B2186F876104}"/>
              </a:ext>
            </a:extLst>
          </p:cNvPr>
          <p:cNvSpPr>
            <a:spLocks noGrp="1"/>
          </p:cNvSpPr>
          <p:nvPr>
            <p:ph type="title"/>
          </p:nvPr>
        </p:nvSpPr>
        <p:spPr>
          <a:xfrm>
            <a:off x="838200" y="136525"/>
            <a:ext cx="10515600" cy="753141"/>
          </a:xfrm>
        </p:spPr>
        <p:txBody>
          <a:bodyPr>
            <a:normAutofit/>
          </a:bodyPr>
          <a:lstStyle/>
          <a:p>
            <a:r>
              <a:rPr lang="en-US" altLang="ko-KR" sz="2800" b="1" dirty="0">
                <a:solidFill>
                  <a:srgbClr val="000000"/>
                </a:solidFill>
                <a:latin typeface="맑은 고딕"/>
              </a:rPr>
              <a:t>Plan</a:t>
            </a:r>
            <a:endParaRPr lang="ko-KR" altLang="en-US" sz="3600" dirty="0"/>
          </a:p>
        </p:txBody>
      </p:sp>
    </p:spTree>
    <p:extLst>
      <p:ext uri="{BB962C8B-B14F-4D97-AF65-F5344CB8AC3E}">
        <p14:creationId xmlns:p14="http://schemas.microsoft.com/office/powerpoint/2010/main" val="2225716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a:extLst>
              <a:ext uri="{FF2B5EF4-FFF2-40B4-BE49-F238E27FC236}">
                <a16:creationId xmlns:a16="http://schemas.microsoft.com/office/drawing/2014/main" id="{BCFF48DC-9378-BF57-F71A-ECF08ACCC77C}"/>
              </a:ext>
            </a:extLst>
          </p:cNvPr>
          <p:cNvSpPr>
            <a:spLocks noGrp="1"/>
          </p:cNvSpPr>
          <p:nvPr>
            <p:ph type="ctrTitle"/>
          </p:nvPr>
        </p:nvSpPr>
        <p:spPr>
          <a:xfrm>
            <a:off x="1524000" y="3063874"/>
            <a:ext cx="9144000" cy="770773"/>
          </a:xfrm>
        </p:spPr>
        <p:txBody>
          <a:bodyPr>
            <a:normAutofit/>
          </a:bodyPr>
          <a:lstStyle/>
          <a:p>
            <a:r>
              <a:rPr lang="en-US" altLang="ko-KR" sz="4000" b="1" dirty="0">
                <a:solidFill>
                  <a:srgbClr val="000000"/>
                </a:solidFill>
                <a:latin typeface="맑은 고딕"/>
              </a:rPr>
              <a:t>SIS</a:t>
            </a:r>
            <a:endParaRPr lang="ko-KR" altLang="en-US" sz="4000" dirty="0"/>
          </a:p>
        </p:txBody>
      </p:sp>
      <p:sp>
        <p:nvSpPr>
          <p:cNvPr id="4" name="슬라이드 번호 개체 틀 3">
            <a:extLst>
              <a:ext uri="{FF2B5EF4-FFF2-40B4-BE49-F238E27FC236}">
                <a16:creationId xmlns:a16="http://schemas.microsoft.com/office/drawing/2014/main" id="{4C258BD9-1548-D6B8-2F08-EC85EDA46910}"/>
              </a:ext>
            </a:extLst>
          </p:cNvPr>
          <p:cNvSpPr>
            <a:spLocks noGrp="1"/>
          </p:cNvSpPr>
          <p:nvPr>
            <p:ph type="sldNum" sz="quarter" idx="12"/>
          </p:nvPr>
        </p:nvSpPr>
        <p:spPr/>
        <p:txBody>
          <a:bodyPr/>
          <a:lstStyle/>
          <a:p>
            <a:fld id="{4438A2D4-3867-488E-A04E-7BFFCAED45A6}" type="slidenum">
              <a:rPr lang="ko-KR" altLang="en-US" smtClean="0"/>
              <a:t>3</a:t>
            </a:fld>
            <a:endParaRPr lang="ko-KR" altLang="en-US"/>
          </a:p>
        </p:txBody>
      </p:sp>
    </p:spTree>
    <p:extLst>
      <p:ext uri="{BB962C8B-B14F-4D97-AF65-F5344CB8AC3E}">
        <p14:creationId xmlns:p14="http://schemas.microsoft.com/office/powerpoint/2010/main" val="3779381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8B644F1-D8A2-550A-BFA4-E5DBE575F3CA}"/>
              </a:ext>
            </a:extLst>
          </p:cNvPr>
          <p:cNvSpPr>
            <a:spLocks noGrp="1"/>
          </p:cNvSpPr>
          <p:nvPr>
            <p:ph type="title"/>
          </p:nvPr>
        </p:nvSpPr>
        <p:spPr/>
        <p:txBody>
          <a:bodyPr/>
          <a:lstStyle/>
          <a:p>
            <a:r>
              <a:rPr lang="ko-KR" altLang="en-US" sz="2800" b="1" dirty="0">
                <a:solidFill>
                  <a:srgbClr val="000000"/>
                </a:solidFill>
                <a:latin typeface="맑은 고딕"/>
              </a:rPr>
              <a:t>표기법</a:t>
            </a:r>
          </a:p>
        </p:txBody>
      </p:sp>
      <p:sp>
        <p:nvSpPr>
          <p:cNvPr id="4" name="슬라이드 번호 개체 틀 3">
            <a:extLst>
              <a:ext uri="{FF2B5EF4-FFF2-40B4-BE49-F238E27FC236}">
                <a16:creationId xmlns:a16="http://schemas.microsoft.com/office/drawing/2014/main" id="{647C09B0-6AF1-A794-0F85-8AEC98C21D3F}"/>
              </a:ext>
            </a:extLst>
          </p:cNvPr>
          <p:cNvSpPr>
            <a:spLocks noGrp="1"/>
          </p:cNvSpPr>
          <p:nvPr>
            <p:ph type="sldNum" sz="quarter" idx="12"/>
          </p:nvPr>
        </p:nvSpPr>
        <p:spPr/>
        <p:txBody>
          <a:bodyPr/>
          <a:lstStyle/>
          <a:p>
            <a:fld id="{4438A2D4-3867-488E-A04E-7BFFCAED45A6}" type="slidenum">
              <a:rPr lang="ko-KR" altLang="en-US" smtClean="0"/>
              <a:t>4</a:t>
            </a:fld>
            <a:endParaRPr lang="ko-KR" altLang="en-US"/>
          </a:p>
        </p:txBody>
      </p:sp>
      <p:sp>
        <p:nvSpPr>
          <p:cNvPr id="5" name="TextBox 4"/>
          <p:cNvSpPr txBox="1"/>
          <p:nvPr/>
        </p:nvSpPr>
        <p:spPr>
          <a:xfrm>
            <a:off x="603504" y="1298448"/>
            <a:ext cx="10607040" cy="4846320"/>
          </a:xfrm>
          <a:prstGeom prst="rect">
            <a:avLst/>
          </a:prstGeom>
          <a:noFill/>
        </p:spPr>
        <p:txBody>
          <a:bodyPr wrap="square">
            <a:spAutoFit/>
          </a:bodyPr>
          <a:lstStyle/>
          <a:p>
            <a:pPr>
              <a:spcAft>
                <a:spcPts val="800"/>
              </a:spcAft>
              <a:buNone/>
            </a:pPr>
            <a:r>
              <a:rPr sz="1800" b="0">
                <a:solidFill>
                  <a:srgbClr val="000000"/>
                </a:solidFill>
                <a:latin typeface="맑은 고딕"/>
              </a:rPr>
              <a:t>• q 는 소수(prime)</a:t>
            </a:r>
          </a:p>
          <a:p>
            <a:pPr>
              <a:spcAft>
                <a:spcPts val="800"/>
              </a:spcAft>
              <a:buNone/>
            </a:pPr>
            <a:r>
              <a:rPr sz="1800" b="0">
                <a:solidFill>
                  <a:srgbClr val="000000"/>
                </a:solidFill>
                <a:latin typeface="맑은 고딕"/>
              </a:rPr>
              <a:t>• ℤ_q = {0, 1, 2, …, q−1}</a:t>
            </a:r>
          </a:p>
          <a:p>
            <a:pPr>
              <a:spcAft>
                <a:spcPts val="800"/>
              </a:spcAft>
              <a:buNone/>
            </a:pPr>
            <a:r>
              <a:rPr sz="1800" b="0">
                <a:solidFill>
                  <a:srgbClr val="000000"/>
                </a:solidFill>
                <a:latin typeface="맑은 고딕"/>
              </a:rPr>
              <a:t>• ℤ_q^m : 성분이 ℤ_q에 속하는 길이 m 열벡터의 집합</a:t>
            </a:r>
          </a:p>
          <a:p>
            <a:pPr>
              <a:spcAft>
                <a:spcPts val="800"/>
              </a:spcAft>
              <a:buNone/>
            </a:pPr>
            <a:r>
              <a:rPr sz="1800" b="0">
                <a:solidFill>
                  <a:srgbClr val="000000"/>
                </a:solidFill>
                <a:latin typeface="맑은 고딕"/>
              </a:rPr>
              <a:t>• ℤ_q^{n×m} : n×m 행렬 (성분 ∈ ℤ_q)의 집합</a:t>
            </a:r>
          </a:p>
          <a:p>
            <a:pPr>
              <a:spcAft>
                <a:spcPts val="800"/>
              </a:spcAft>
              <a:buNone/>
            </a:pPr>
            <a:r>
              <a:rPr sz="1800" b="0">
                <a:solidFill>
                  <a:srgbClr val="000000"/>
                </a:solidFill>
                <a:latin typeface="맑은 고딕"/>
              </a:rPr>
              <a:t>• [−B, B]^m : 성분이 정수 구간 [−B,B]에 속하는 길이 m 열벡터의 집합</a:t>
            </a:r>
          </a:p>
          <a:p>
            <a:pPr>
              <a:spcAft>
                <a:spcPts val="800"/>
              </a:spcAft>
              <a:buNone/>
            </a:pPr>
            <a:r>
              <a:rPr sz="1800" b="0">
                <a:solidFill>
                  <a:srgbClr val="000000"/>
                </a:solidFill>
                <a:latin typeface="맑은 고딕"/>
              </a:rPr>
              <a:t>• x ∈_R S : x를 집합 S에서 균등·독립적으로 무작위 선택</a:t>
            </a:r>
          </a:p>
          <a:p>
            <a:pPr>
              <a:spcAft>
                <a:spcPts val="800"/>
              </a:spcAft>
              <a:buNone/>
            </a:pPr>
            <a:r>
              <a:rPr sz="1800" b="0">
                <a:solidFill>
                  <a:srgbClr val="000000"/>
                </a:solidFill>
                <a:latin typeface="맑은 고딕"/>
              </a:rPr>
              <a:t>• 모든 벡터는 열벡터(column vector)로 취급</a:t>
            </a:r>
          </a:p>
        </p:txBody>
      </p:sp>
    </p:spTree>
    <p:extLst>
      <p:ext uri="{BB962C8B-B14F-4D97-AF65-F5344CB8AC3E}">
        <p14:creationId xmlns:p14="http://schemas.microsoft.com/office/powerpoint/2010/main" val="3860791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C4205A2-F8D8-1A6E-AD9E-0A254494D256}"/>
              </a:ext>
            </a:extLst>
          </p:cNvPr>
          <p:cNvSpPr>
            <a:spLocks noGrp="1"/>
          </p:cNvSpPr>
          <p:nvPr>
            <p:ph type="title"/>
          </p:nvPr>
        </p:nvSpPr>
        <p:spPr/>
        <p:txBody>
          <a:bodyPr/>
          <a:lstStyle/>
          <a:p>
            <a:r>
              <a:rPr lang="en-US" altLang="ko-KR" sz="2800" b="1" dirty="0">
                <a:solidFill>
                  <a:srgbClr val="000000"/>
                </a:solidFill>
                <a:latin typeface="맑은 고딕"/>
              </a:rPr>
              <a:t>SIS </a:t>
            </a:r>
            <a:r>
              <a:rPr lang="ko-KR" altLang="en-US" sz="2800" b="1" dirty="0">
                <a:solidFill>
                  <a:srgbClr val="000000"/>
                </a:solidFill>
                <a:latin typeface="맑은 고딕"/>
              </a:rPr>
              <a:t>정의</a:t>
            </a:r>
          </a:p>
        </p:txBody>
      </p:sp>
      <p:sp>
        <p:nvSpPr>
          <p:cNvPr id="4" name="슬라이드 번호 개체 틀 3">
            <a:extLst>
              <a:ext uri="{FF2B5EF4-FFF2-40B4-BE49-F238E27FC236}">
                <a16:creationId xmlns:a16="http://schemas.microsoft.com/office/drawing/2014/main" id="{7DCD2915-92DE-7BD8-C22A-BE6189026186}"/>
              </a:ext>
            </a:extLst>
          </p:cNvPr>
          <p:cNvSpPr>
            <a:spLocks noGrp="1"/>
          </p:cNvSpPr>
          <p:nvPr>
            <p:ph type="sldNum" sz="quarter" idx="12"/>
          </p:nvPr>
        </p:nvSpPr>
        <p:spPr/>
        <p:txBody>
          <a:bodyPr/>
          <a:lstStyle/>
          <a:p>
            <a:fld id="{4438A2D4-3867-488E-A04E-7BFFCAED45A6}" type="slidenum">
              <a:rPr lang="ko-KR" altLang="en-US" smtClean="0"/>
              <a:t>5</a:t>
            </a:fld>
            <a:endParaRPr lang="ko-KR" altLang="en-US"/>
          </a:p>
        </p:txBody>
      </p:sp>
      <p:sp>
        <p:nvSpPr>
          <p:cNvPr id="5" name="Rectangle 5">
            <a:extLst>
              <a:ext uri="{FF2B5EF4-FFF2-40B4-BE49-F238E27FC236}">
                <a16:creationId xmlns:a16="http://schemas.microsoft.com/office/drawing/2014/main" id="{C904F364-0246-4B61-3550-6E38ECFB4AEC}"/>
              </a:ext>
            </a:extLst>
          </p:cNvPr>
          <p:cNvSpPr/>
          <p:nvPr/>
        </p:nvSpPr>
        <p:spPr>
          <a:xfrm>
            <a:off x="3327044" y="4473344"/>
            <a:ext cx="1247241" cy="1097280"/>
          </a:xfrm>
          <a:prstGeom prst="rect">
            <a:avLst/>
          </a:prstGeom>
          <a:solidFill>
            <a:srgbClr val="F4F5F7"/>
          </a:solidFill>
          <a:ln w="15875">
            <a:solidFill>
              <a:srgbClr val="C7CBD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0" i="1">
                <a:solidFill>
                  <a:srgbClr val="000000"/>
                </a:solidFill>
                <a:latin typeface="맑은 고딕"/>
              </a:rPr>
              <a:t>A</a:t>
            </a:r>
          </a:p>
        </p:txBody>
      </p:sp>
      <p:sp>
        <p:nvSpPr>
          <p:cNvPr id="6" name="TextBox 5">
            <a:extLst>
              <a:ext uri="{FF2B5EF4-FFF2-40B4-BE49-F238E27FC236}">
                <a16:creationId xmlns:a16="http://schemas.microsoft.com/office/drawing/2014/main" id="{015052CA-1561-4CDB-DB43-8F4E971CC28C}"/>
              </a:ext>
            </a:extLst>
          </p:cNvPr>
          <p:cNvSpPr txBox="1"/>
          <p:nvPr/>
        </p:nvSpPr>
        <p:spPr>
          <a:xfrm>
            <a:off x="3007004" y="5598057"/>
            <a:ext cx="1887321" cy="274320"/>
          </a:xfrm>
          <a:prstGeom prst="rect">
            <a:avLst/>
          </a:prstGeom>
          <a:noFill/>
        </p:spPr>
        <p:txBody>
          <a:bodyPr wrap="none" lIns="0" tIns="0" rIns="0" bIns="0" anchor="t">
            <a:spAutoFit/>
          </a:bodyPr>
          <a:lstStyle/>
          <a:p>
            <a:pPr algn="ctr">
              <a:lnSpc>
                <a:spcPct val="115000"/>
              </a:lnSpc>
            </a:pPr>
            <a:r>
              <a:rPr sz="1200" b="0" i="1">
                <a:solidFill>
                  <a:srgbClr val="000000"/>
                </a:solidFill>
                <a:latin typeface="맑은 고딕"/>
              </a:rPr>
              <a:t>n × m</a:t>
            </a:r>
          </a:p>
        </p:txBody>
      </p:sp>
      <p:sp>
        <p:nvSpPr>
          <p:cNvPr id="7" name="TextBox 6">
            <a:extLst>
              <a:ext uri="{FF2B5EF4-FFF2-40B4-BE49-F238E27FC236}">
                <a16:creationId xmlns:a16="http://schemas.microsoft.com/office/drawing/2014/main" id="{0E017DFC-BBDE-7BB4-76D3-56DD1DA97878}"/>
              </a:ext>
            </a:extLst>
          </p:cNvPr>
          <p:cNvSpPr txBox="1"/>
          <p:nvPr/>
        </p:nvSpPr>
        <p:spPr>
          <a:xfrm>
            <a:off x="4775454" y="4473344"/>
            <a:ext cx="457200" cy="1097280"/>
          </a:xfrm>
          <a:prstGeom prst="rect">
            <a:avLst/>
          </a:prstGeom>
          <a:noFill/>
        </p:spPr>
        <p:txBody>
          <a:bodyPr wrap="square" lIns="0" tIns="0" rIns="0" bIns="0" anchor="ctr">
            <a:spAutoFit/>
          </a:bodyPr>
          <a:lstStyle/>
          <a:p>
            <a:pPr algn="ctr">
              <a:lnSpc>
                <a:spcPct val="115000"/>
              </a:lnSpc>
            </a:pPr>
            <a:endParaRPr/>
          </a:p>
        </p:txBody>
      </p:sp>
      <p:sp>
        <p:nvSpPr>
          <p:cNvPr id="8" name="Rectangle 8">
            <a:extLst>
              <a:ext uri="{FF2B5EF4-FFF2-40B4-BE49-F238E27FC236}">
                <a16:creationId xmlns:a16="http://schemas.microsoft.com/office/drawing/2014/main" id="{17CA8D02-E2F3-D66A-9FDE-2A539E0A2E3E}"/>
              </a:ext>
            </a:extLst>
          </p:cNvPr>
          <p:cNvSpPr/>
          <p:nvPr/>
        </p:nvSpPr>
        <p:spPr>
          <a:xfrm>
            <a:off x="5479542" y="4473344"/>
            <a:ext cx="453542" cy="1097280"/>
          </a:xfrm>
          <a:prstGeom prst="rect">
            <a:avLst/>
          </a:prstGeom>
          <a:solidFill>
            <a:srgbClr val="F4F5F7"/>
          </a:solidFill>
          <a:ln w="15875">
            <a:solidFill>
              <a:srgbClr val="C7CBD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0" i="1">
                <a:solidFill>
                  <a:srgbClr val="000000"/>
                </a:solidFill>
                <a:latin typeface="맑은 고딕"/>
              </a:rPr>
              <a:t>z</a:t>
            </a:r>
          </a:p>
        </p:txBody>
      </p:sp>
      <p:sp>
        <p:nvSpPr>
          <p:cNvPr id="9" name="TextBox 8">
            <a:extLst>
              <a:ext uri="{FF2B5EF4-FFF2-40B4-BE49-F238E27FC236}">
                <a16:creationId xmlns:a16="http://schemas.microsoft.com/office/drawing/2014/main" id="{13892CB6-82D2-1E1D-0FD7-5974145E642B}"/>
              </a:ext>
            </a:extLst>
          </p:cNvPr>
          <p:cNvSpPr txBox="1"/>
          <p:nvPr/>
        </p:nvSpPr>
        <p:spPr>
          <a:xfrm>
            <a:off x="5159502" y="5598057"/>
            <a:ext cx="1093622" cy="274320"/>
          </a:xfrm>
          <a:prstGeom prst="rect">
            <a:avLst/>
          </a:prstGeom>
          <a:noFill/>
        </p:spPr>
        <p:txBody>
          <a:bodyPr wrap="none" lIns="0" tIns="0" rIns="0" bIns="0" anchor="t">
            <a:spAutoFit/>
          </a:bodyPr>
          <a:lstStyle/>
          <a:p>
            <a:pPr algn="ctr">
              <a:lnSpc>
                <a:spcPct val="115000"/>
              </a:lnSpc>
            </a:pPr>
            <a:r>
              <a:rPr sz="1200" b="0" i="1">
                <a:solidFill>
                  <a:srgbClr val="000000"/>
                </a:solidFill>
                <a:latin typeface="맑은 고딕"/>
              </a:rPr>
              <a:t>m × 1</a:t>
            </a:r>
          </a:p>
        </p:txBody>
      </p:sp>
      <p:sp>
        <p:nvSpPr>
          <p:cNvPr id="10" name="TextBox 9">
            <a:extLst>
              <a:ext uri="{FF2B5EF4-FFF2-40B4-BE49-F238E27FC236}">
                <a16:creationId xmlns:a16="http://schemas.microsoft.com/office/drawing/2014/main" id="{75C1F1CE-13EF-CAA4-BECB-1467B7572FE9}"/>
              </a:ext>
            </a:extLst>
          </p:cNvPr>
          <p:cNvSpPr txBox="1"/>
          <p:nvPr/>
        </p:nvSpPr>
        <p:spPr>
          <a:xfrm>
            <a:off x="6134252" y="4473344"/>
            <a:ext cx="457200" cy="1097280"/>
          </a:xfrm>
          <a:prstGeom prst="rect">
            <a:avLst/>
          </a:prstGeom>
          <a:noFill/>
        </p:spPr>
        <p:txBody>
          <a:bodyPr wrap="square" lIns="0" tIns="0" rIns="0" bIns="0" anchor="ctr">
            <a:spAutoFit/>
          </a:bodyPr>
          <a:lstStyle/>
          <a:p>
            <a:pPr algn="ctr">
              <a:lnSpc>
                <a:spcPct val="115000"/>
              </a:lnSpc>
            </a:pPr>
            <a:r>
              <a:rPr sz="3200" b="0" i="0">
                <a:solidFill>
                  <a:srgbClr val="000000"/>
                </a:solidFill>
                <a:latin typeface="맑은 고딕"/>
              </a:rPr>
              <a:t>=</a:t>
            </a:r>
          </a:p>
        </p:txBody>
      </p:sp>
      <p:sp>
        <p:nvSpPr>
          <p:cNvPr id="11" name="Rectangle 11">
            <a:extLst>
              <a:ext uri="{FF2B5EF4-FFF2-40B4-BE49-F238E27FC236}">
                <a16:creationId xmlns:a16="http://schemas.microsoft.com/office/drawing/2014/main" id="{52933199-A772-91D6-BF25-5BE3029C3267}"/>
              </a:ext>
            </a:extLst>
          </p:cNvPr>
          <p:cNvSpPr/>
          <p:nvPr/>
        </p:nvSpPr>
        <p:spPr>
          <a:xfrm>
            <a:off x="6838340" y="4473344"/>
            <a:ext cx="453542" cy="1097280"/>
          </a:xfrm>
          <a:prstGeom prst="rect">
            <a:avLst/>
          </a:prstGeom>
          <a:solidFill>
            <a:srgbClr val="F4F5F7"/>
          </a:solidFill>
          <a:ln w="15875">
            <a:solidFill>
              <a:srgbClr val="C7CBD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0" i="1">
                <a:solidFill>
                  <a:srgbClr val="000000"/>
                </a:solidFill>
                <a:latin typeface="맑은 고딕"/>
              </a:rPr>
              <a:t>0</a:t>
            </a:r>
          </a:p>
        </p:txBody>
      </p:sp>
      <p:sp>
        <p:nvSpPr>
          <p:cNvPr id="12" name="TextBox 11">
            <a:extLst>
              <a:ext uri="{FF2B5EF4-FFF2-40B4-BE49-F238E27FC236}">
                <a16:creationId xmlns:a16="http://schemas.microsoft.com/office/drawing/2014/main" id="{F8E911A1-FDFC-916B-56DD-2F7346E9CC9D}"/>
              </a:ext>
            </a:extLst>
          </p:cNvPr>
          <p:cNvSpPr txBox="1"/>
          <p:nvPr/>
        </p:nvSpPr>
        <p:spPr>
          <a:xfrm>
            <a:off x="6518300" y="5598057"/>
            <a:ext cx="1093622" cy="274320"/>
          </a:xfrm>
          <a:prstGeom prst="rect">
            <a:avLst/>
          </a:prstGeom>
          <a:noFill/>
        </p:spPr>
        <p:txBody>
          <a:bodyPr wrap="none" lIns="0" tIns="0" rIns="0" bIns="0" anchor="t">
            <a:spAutoFit/>
          </a:bodyPr>
          <a:lstStyle/>
          <a:p>
            <a:pPr algn="ctr">
              <a:lnSpc>
                <a:spcPct val="115000"/>
              </a:lnSpc>
            </a:pPr>
            <a:r>
              <a:rPr sz="1200" b="0" i="1">
                <a:solidFill>
                  <a:srgbClr val="000000"/>
                </a:solidFill>
                <a:latin typeface="맑은 고딕"/>
              </a:rPr>
              <a:t>n × 1</a:t>
            </a:r>
          </a:p>
        </p:txBody>
      </p:sp>
      <p:sp>
        <p:nvSpPr>
          <p:cNvPr id="13" name="TextBox 12">
            <a:extLst>
              <a:ext uri="{FF2B5EF4-FFF2-40B4-BE49-F238E27FC236}">
                <a16:creationId xmlns:a16="http://schemas.microsoft.com/office/drawing/2014/main" id="{457C9727-62A7-1364-C2C4-ED767C53EFA1}"/>
              </a:ext>
            </a:extLst>
          </p:cNvPr>
          <p:cNvSpPr txBox="1"/>
          <p:nvPr/>
        </p:nvSpPr>
        <p:spPr>
          <a:xfrm>
            <a:off x="7493050" y="4473344"/>
            <a:ext cx="1371600" cy="1097280"/>
          </a:xfrm>
          <a:prstGeom prst="rect">
            <a:avLst/>
          </a:prstGeom>
          <a:noFill/>
        </p:spPr>
        <p:txBody>
          <a:bodyPr wrap="square" lIns="0" tIns="0" rIns="0" bIns="0" anchor="ctr">
            <a:spAutoFit/>
          </a:bodyPr>
          <a:lstStyle/>
          <a:p>
            <a:pPr algn="ctr">
              <a:lnSpc>
                <a:spcPct val="115000"/>
              </a:lnSpc>
            </a:pPr>
            <a:r>
              <a:rPr sz="2000" b="0" i="0">
                <a:solidFill>
                  <a:srgbClr val="000000"/>
                </a:solidFill>
                <a:latin typeface="맑은 고딕"/>
              </a:rPr>
              <a:t>(mod q)</a:t>
            </a:r>
          </a:p>
        </p:txBody>
      </p:sp>
      <p:sp>
        <p:nvSpPr>
          <p:cNvPr id="14" name="TextBox 13"/>
          <p:cNvSpPr txBox="1"/>
          <p:nvPr/>
        </p:nvSpPr>
        <p:spPr>
          <a:xfrm>
            <a:off x="603504" y="1280160"/>
            <a:ext cx="10607040" cy="3017520"/>
          </a:xfrm>
          <a:prstGeom prst="rect">
            <a:avLst/>
          </a:prstGeom>
          <a:noFill/>
        </p:spPr>
        <p:txBody>
          <a:bodyPr wrap="square">
            <a:spAutoFit/>
          </a:bodyPr>
          <a:lstStyle/>
          <a:p>
            <a:pPr>
              <a:spcAft>
                <a:spcPts val="800"/>
              </a:spcAft>
              <a:buNone/>
            </a:pPr>
            <a:r>
              <a:rPr sz="1800" b="0">
                <a:solidFill>
                  <a:srgbClr val="000000"/>
                </a:solidFill>
                <a:latin typeface="맑은 고딕"/>
              </a:rPr>
              <a:t>• SIS(n, m, q, B): 균등 랜덤 행렬 A ∈_R ℤ_q^{n×m} 가 주어졌을 때</a:t>
            </a:r>
          </a:p>
          <a:p>
            <a:pPr>
              <a:spcAft>
                <a:spcPts val="400"/>
              </a:spcAft>
              <a:buNone/>
            </a:pPr>
            <a:r>
              <a:rPr sz="1800" b="0">
                <a:solidFill>
                  <a:srgbClr val="000000"/>
                </a:solidFill>
                <a:latin typeface="맑은 고딕"/>
              </a:rPr>
              <a:t>• Az ≡ 0 (mod q),  z ≠ 0,  z ∈ [−B,B]^m 을 만족하는 z ∈ ℤ^m 을 찾아라</a:t>
            </a:r>
          </a:p>
          <a:p>
            <a:pPr>
              <a:spcAft>
                <a:spcPts val="800"/>
              </a:spcAft>
              <a:buNone/>
            </a:pPr>
            <a:r>
              <a:rPr sz="1800" b="0">
                <a:solidFill>
                  <a:srgbClr val="000000"/>
                </a:solidFill>
                <a:latin typeface="맑은 고딕"/>
              </a:rPr>
              <a:t>• Ajtai가 1996년 도입. 파라미터 조건: n ≪ m, B ≪ q/2</a:t>
            </a:r>
          </a:p>
          <a:p>
            <a:pPr>
              <a:spcAft>
                <a:spcPts val="800"/>
              </a:spcAft>
              <a:buNone/>
            </a:pPr>
            <a:r>
              <a:rPr sz="1800" b="0">
                <a:solidFill>
                  <a:srgbClr val="000000"/>
                </a:solidFill>
                <a:latin typeface="맑은 고딕"/>
              </a:rPr>
              <a:t>• (Az)_i = Σ_j A_ij z_j — A의 i번째 행과 z의 내적(inner product)</a:t>
            </a:r>
          </a:p>
          <a:p>
            <a:pPr>
              <a:spcAft>
                <a:spcPts val="800"/>
              </a:spcAft>
              <a:buNone/>
            </a:pPr>
            <a:r>
              <a:rPr sz="1800" b="0">
                <a:solidFill>
                  <a:srgbClr val="000000"/>
                </a:solidFill>
                <a:latin typeface="맑은 고딕"/>
              </a:rPr>
              <a:t>• "Homogeneous"는 방정식 우변이 0벡터라는 뜻 — 뒤에 나올 비동차(ISIS) 버전과 대조됨</a:t>
            </a:r>
          </a:p>
        </p:txBody>
      </p:sp>
    </p:spTree>
    <p:extLst>
      <p:ext uri="{BB962C8B-B14F-4D97-AF65-F5344CB8AC3E}">
        <p14:creationId xmlns:p14="http://schemas.microsoft.com/office/powerpoint/2010/main" val="4223489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11F9710-26C5-B63E-5EB9-97521EF26F47}"/>
              </a:ext>
            </a:extLst>
          </p:cNvPr>
          <p:cNvSpPr>
            <a:spLocks noGrp="1"/>
          </p:cNvSpPr>
          <p:nvPr>
            <p:ph type="title"/>
          </p:nvPr>
        </p:nvSpPr>
        <p:spPr/>
        <p:txBody>
          <a:bodyPr/>
          <a:lstStyle/>
          <a:p>
            <a:r>
              <a:rPr lang="en-US" altLang="ko-KR" sz="2800" b="1" dirty="0">
                <a:solidFill>
                  <a:srgbClr val="000000"/>
                </a:solidFill>
                <a:latin typeface="맑은 고딕"/>
              </a:rPr>
              <a:t>SIS</a:t>
            </a:r>
            <a:r>
              <a:rPr lang="ko-KR" altLang="en-US" sz="2800" b="1" dirty="0">
                <a:solidFill>
                  <a:srgbClr val="000000"/>
                </a:solidFill>
                <a:latin typeface="맑은 고딕"/>
              </a:rPr>
              <a:t>가 어려운 이유</a:t>
            </a:r>
          </a:p>
        </p:txBody>
      </p:sp>
      <p:sp>
        <p:nvSpPr>
          <p:cNvPr id="3" name="내용 개체 틀 2">
            <a:extLst>
              <a:ext uri="{FF2B5EF4-FFF2-40B4-BE49-F238E27FC236}">
                <a16:creationId xmlns:a16="http://schemas.microsoft.com/office/drawing/2014/main" id="{68EAB05B-59AD-3B62-0B1B-5A6ED7D34754}"/>
              </a:ext>
            </a:extLst>
          </p:cNvPr>
          <p:cNvSpPr>
            <a:spLocks noGrp="1"/>
          </p:cNvSpPr>
          <p:nvPr>
            <p:ph idx="1"/>
          </p:nvPr>
        </p:nvSpPr>
        <p:spPr/>
        <p:txBody>
          <a:bodyPr>
            <a:normAutofit/>
          </a:bodyPr>
          <a:lstStyle/>
          <a:p>
            <a:pPr>
              <a:buFont typeface="Arial"/>
              <a:buChar char="•"/>
            </a:pPr>
            <a:r>
              <a:rPr lang="en-US" altLang="ko-KR" sz="1800" b="0" dirty="0">
                <a:solidFill>
                  <a:srgbClr val="000000"/>
                </a:solidFill>
                <a:latin typeface="맑은 고딕"/>
              </a:rPr>
              <a:t>Az ≡ 0 (mod q) </a:t>
            </a:r>
            <a:r>
              <a:rPr lang="ko-KR" altLang="en-US" sz="1800" b="0" dirty="0">
                <a:solidFill>
                  <a:srgbClr val="000000"/>
                </a:solidFill>
                <a:latin typeface="맑은 고딕"/>
              </a:rPr>
              <a:t>자체 </a:t>
            </a:r>
            <a:r>
              <a:rPr lang="en-US" altLang="ko-KR" sz="1800" b="0" dirty="0">
                <a:solidFill>
                  <a:srgbClr val="000000"/>
                </a:solidFill>
                <a:latin typeface="맑은 고딕"/>
              </a:rPr>
              <a:t>(A</a:t>
            </a:r>
            <a:r>
              <a:rPr lang="ko-KR" altLang="en-US" sz="1800" b="0" dirty="0">
                <a:solidFill>
                  <a:srgbClr val="000000"/>
                </a:solidFill>
                <a:latin typeface="맑은 고딕"/>
              </a:rPr>
              <a:t>의 </a:t>
            </a:r>
            <a:r>
              <a:rPr lang="en-US" altLang="ko-KR" sz="1800" b="0" dirty="0">
                <a:solidFill>
                  <a:srgbClr val="000000"/>
                </a:solidFill>
                <a:latin typeface="맑은 고딕"/>
              </a:rPr>
              <a:t>null space)</a:t>
            </a:r>
            <a:r>
              <a:rPr lang="ko-KR" altLang="en-US" sz="1800" b="0" dirty="0">
                <a:solidFill>
                  <a:srgbClr val="000000"/>
                </a:solidFill>
                <a:latin typeface="맑은 고딕"/>
              </a:rPr>
              <a:t>를 구하는 것은 쉽다</a:t>
            </a:r>
          </a:p>
          <a:p>
            <a:pPr lvl="1">
              <a:spcAft>
                <a:spcPts val="400"/>
              </a:spcAft>
              <a:buFont typeface="Arial"/>
              <a:buChar char="•"/>
            </a:pPr>
            <a:r>
              <a:rPr lang="en-US" altLang="ko-KR" sz="1600" b="0" dirty="0">
                <a:solidFill>
                  <a:srgbClr val="000000"/>
                </a:solidFill>
                <a:latin typeface="맑은 고딕"/>
              </a:rPr>
              <a:t>q</a:t>
            </a:r>
            <a:r>
              <a:rPr lang="ko-KR" altLang="en-US" sz="1600" b="0" dirty="0">
                <a:solidFill>
                  <a:srgbClr val="000000"/>
                </a:solidFill>
                <a:latin typeface="맑은 고딕"/>
              </a:rPr>
              <a:t>가 소수 → </a:t>
            </a:r>
            <a:r>
              <a:rPr lang="en-US" altLang="ko-KR" sz="1600" b="0" dirty="0" err="1">
                <a:solidFill>
                  <a:srgbClr val="000000"/>
                </a:solidFill>
                <a:latin typeface="맑은 고딕"/>
              </a:rPr>
              <a:t>ℤ_q</a:t>
            </a:r>
            <a:r>
              <a:rPr lang="ko-KR" altLang="en-US" sz="1600" b="0" dirty="0">
                <a:solidFill>
                  <a:srgbClr val="000000"/>
                </a:solidFill>
                <a:latin typeface="맑은 고딕"/>
              </a:rPr>
              <a:t>는 체</a:t>
            </a:r>
            <a:r>
              <a:rPr lang="en-US" altLang="ko-KR" sz="1600" b="0" dirty="0">
                <a:solidFill>
                  <a:srgbClr val="000000"/>
                </a:solidFill>
                <a:latin typeface="맑은 고딕"/>
              </a:rPr>
              <a:t>(field) → </a:t>
            </a:r>
            <a:r>
              <a:rPr lang="ko-KR" altLang="en-US" sz="1600" b="0" dirty="0">
                <a:solidFill>
                  <a:srgbClr val="000000"/>
                </a:solidFill>
                <a:latin typeface="맑은 고딕"/>
              </a:rPr>
              <a:t>가우스 소거법이 그대로 적용</a:t>
            </a:r>
          </a:p>
          <a:p>
            <a:pPr lvl="1">
              <a:spcAft>
                <a:spcPts val="400"/>
              </a:spcAft>
              <a:buFont typeface="Arial"/>
              <a:buChar char="•"/>
            </a:pPr>
            <a:r>
              <a:rPr lang="ko-KR" altLang="en-US" sz="1600" b="0" dirty="0">
                <a:solidFill>
                  <a:srgbClr val="000000"/>
                </a:solidFill>
                <a:latin typeface="맑은 고딕"/>
              </a:rPr>
              <a:t>다항식 시간에 </a:t>
            </a:r>
            <a:r>
              <a:rPr lang="en-US" altLang="ko-KR" sz="1600" b="0" dirty="0">
                <a:solidFill>
                  <a:srgbClr val="000000"/>
                </a:solidFill>
                <a:latin typeface="맑은 고딕"/>
              </a:rPr>
              <a:t>null space </a:t>
            </a:r>
            <a:r>
              <a:rPr lang="ko-KR" altLang="en-US" sz="1600" b="0" dirty="0">
                <a:solidFill>
                  <a:srgbClr val="000000"/>
                </a:solidFill>
                <a:latin typeface="맑은 고딕"/>
              </a:rPr>
              <a:t>전체를 </a:t>
            </a:r>
            <a:r>
              <a:rPr lang="en-US" altLang="ko-KR" sz="1600" b="0" dirty="0">
                <a:solidFill>
                  <a:srgbClr val="000000"/>
                </a:solidFill>
                <a:latin typeface="맑은 고딕"/>
              </a:rPr>
              <a:t>(</a:t>
            </a:r>
            <a:r>
              <a:rPr lang="ko-KR" altLang="en-US" sz="1600" b="0" dirty="0">
                <a:solidFill>
                  <a:srgbClr val="000000"/>
                </a:solidFill>
                <a:latin typeface="맑은 고딕"/>
              </a:rPr>
              <a:t>자유변수로 </a:t>
            </a:r>
            <a:r>
              <a:rPr lang="ko-KR" altLang="en-US" sz="1600" b="0" dirty="0" err="1">
                <a:solidFill>
                  <a:srgbClr val="000000"/>
                </a:solidFill>
                <a:latin typeface="맑은 고딕"/>
              </a:rPr>
              <a:t>매개변수화하여</a:t>
            </a:r>
            <a:r>
              <a:rPr lang="en-US" altLang="ko-KR" sz="1600" b="0" dirty="0">
                <a:solidFill>
                  <a:srgbClr val="000000"/>
                </a:solidFill>
                <a:latin typeface="맑은 고딕"/>
              </a:rPr>
              <a:t>) </a:t>
            </a:r>
            <a:r>
              <a:rPr lang="ko-KR" altLang="en-US" sz="1600" b="0" dirty="0">
                <a:solidFill>
                  <a:srgbClr val="000000"/>
                </a:solidFill>
                <a:latin typeface="맑은 고딕"/>
              </a:rPr>
              <a:t>구할 수 있음</a:t>
            </a:r>
          </a:p>
          <a:p>
            <a:pPr>
              <a:spcAft>
                <a:spcPts val="800"/>
              </a:spcAft>
              <a:buFont typeface="Arial"/>
              <a:buChar char="•"/>
            </a:pPr>
            <a:r>
              <a:rPr lang="ko-KR" altLang="en-US" sz="1800" b="0" dirty="0">
                <a:solidFill>
                  <a:srgbClr val="000000"/>
                </a:solidFill>
                <a:latin typeface="맑은 고딕"/>
              </a:rPr>
              <a:t>진짜 어려움</a:t>
            </a:r>
            <a:r>
              <a:rPr lang="en-US" altLang="ko-KR" sz="1800" b="0" dirty="0">
                <a:solidFill>
                  <a:srgbClr val="000000"/>
                </a:solidFill>
                <a:latin typeface="맑은 고딕"/>
              </a:rPr>
              <a:t>: null space </a:t>
            </a:r>
            <a:r>
              <a:rPr lang="ko-KR" altLang="en-US" sz="1800" b="0" dirty="0">
                <a:solidFill>
                  <a:srgbClr val="000000"/>
                </a:solidFill>
                <a:latin typeface="맑은 고딕"/>
              </a:rPr>
              <a:t>안에서 모든 좌표가 </a:t>
            </a:r>
            <a:r>
              <a:rPr lang="en-US" altLang="ko-KR" sz="1800" b="0" dirty="0">
                <a:solidFill>
                  <a:srgbClr val="000000"/>
                </a:solidFill>
                <a:latin typeface="맑은 고딕"/>
              </a:rPr>
              <a:t>[−B,B] </a:t>
            </a:r>
            <a:r>
              <a:rPr lang="ko-KR" altLang="en-US" sz="1800" b="0" dirty="0">
                <a:solidFill>
                  <a:srgbClr val="000000"/>
                </a:solidFill>
                <a:latin typeface="맑은 고딕"/>
              </a:rPr>
              <a:t>안에 있는 벡터를 찾는 것</a:t>
            </a:r>
          </a:p>
          <a:p>
            <a:pPr lvl="1">
              <a:spcAft>
                <a:spcPts val="400"/>
              </a:spcAft>
              <a:buFont typeface="Arial"/>
              <a:buChar char="•"/>
            </a:pPr>
            <a:r>
              <a:rPr lang="ko-KR" altLang="en-US" sz="1600" b="0" dirty="0">
                <a:solidFill>
                  <a:srgbClr val="000000"/>
                </a:solidFill>
                <a:latin typeface="맑은 고딕"/>
              </a:rPr>
              <a:t>격자의 </a:t>
            </a:r>
            <a:r>
              <a:rPr lang="en-US" altLang="ko-KR" sz="1600" b="0" dirty="0">
                <a:solidFill>
                  <a:srgbClr val="000000"/>
                </a:solidFill>
                <a:latin typeface="맑은 고딕"/>
              </a:rPr>
              <a:t>(</a:t>
            </a:r>
            <a:r>
              <a:rPr lang="ko-KR" altLang="en-US" sz="1600" b="0" dirty="0">
                <a:solidFill>
                  <a:srgbClr val="000000"/>
                </a:solidFill>
                <a:latin typeface="맑은 고딕"/>
              </a:rPr>
              <a:t>근사</a:t>
            </a:r>
            <a:r>
              <a:rPr lang="en-US" altLang="ko-KR" sz="1600" b="0" dirty="0">
                <a:solidFill>
                  <a:srgbClr val="000000"/>
                </a:solidFill>
                <a:latin typeface="맑은 고딕"/>
              </a:rPr>
              <a:t>) </a:t>
            </a:r>
            <a:r>
              <a:rPr lang="ko-KR" altLang="en-US" sz="1600" b="0" dirty="0">
                <a:solidFill>
                  <a:srgbClr val="000000"/>
                </a:solidFill>
                <a:latin typeface="맑은 고딕"/>
              </a:rPr>
              <a:t>최단 벡터 문제</a:t>
            </a:r>
            <a:r>
              <a:rPr lang="en-US" altLang="ko-KR" sz="1600" b="0" dirty="0">
                <a:solidFill>
                  <a:srgbClr val="000000"/>
                </a:solidFill>
                <a:latin typeface="맑은 고딕"/>
              </a:rPr>
              <a:t>(Shortest Vector Problem, SVP)</a:t>
            </a:r>
            <a:r>
              <a:rPr lang="ko-KR" altLang="en-US" sz="1600" b="0" dirty="0">
                <a:solidFill>
                  <a:srgbClr val="000000"/>
                </a:solidFill>
                <a:latin typeface="맑은 고딕"/>
              </a:rPr>
              <a:t>류에 해당</a:t>
            </a:r>
          </a:p>
          <a:p>
            <a:pPr lvl="1">
              <a:spcAft>
                <a:spcPts val="400"/>
              </a:spcAft>
              <a:buFont typeface="Arial"/>
              <a:buChar char="•"/>
            </a:pPr>
            <a:r>
              <a:rPr lang="ko-KR" altLang="en-US" sz="1600" b="0" dirty="0">
                <a:solidFill>
                  <a:srgbClr val="000000"/>
                </a:solidFill>
                <a:latin typeface="맑은 고딕"/>
              </a:rPr>
              <a:t>일반적으로 계산적으로 어렵다고 알려짐</a:t>
            </a:r>
          </a:p>
        </p:txBody>
      </p:sp>
      <p:sp>
        <p:nvSpPr>
          <p:cNvPr id="4" name="슬라이드 번호 개체 틀 3">
            <a:extLst>
              <a:ext uri="{FF2B5EF4-FFF2-40B4-BE49-F238E27FC236}">
                <a16:creationId xmlns:a16="http://schemas.microsoft.com/office/drawing/2014/main" id="{5A97BFBC-BB77-DE36-4C9C-4639F00E33D7}"/>
              </a:ext>
            </a:extLst>
          </p:cNvPr>
          <p:cNvSpPr>
            <a:spLocks noGrp="1"/>
          </p:cNvSpPr>
          <p:nvPr>
            <p:ph type="sldNum" sz="quarter" idx="12"/>
          </p:nvPr>
        </p:nvSpPr>
        <p:spPr/>
        <p:txBody>
          <a:bodyPr/>
          <a:lstStyle/>
          <a:p>
            <a:fld id="{4438A2D4-3867-488E-A04E-7BFFCAED45A6}" type="slidenum">
              <a:rPr lang="ko-KR" altLang="en-US" smtClean="0"/>
              <a:t>6</a:t>
            </a:fld>
            <a:endParaRPr lang="ko-KR" altLang="en-US"/>
          </a:p>
        </p:txBody>
      </p:sp>
    </p:spTree>
    <p:extLst>
      <p:ext uri="{BB962C8B-B14F-4D97-AF65-F5344CB8AC3E}">
        <p14:creationId xmlns:p14="http://schemas.microsoft.com/office/powerpoint/2010/main" val="495334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5463CAD-204E-8D56-D3C6-61B1B266F6AA}"/>
              </a:ext>
            </a:extLst>
          </p:cNvPr>
          <p:cNvSpPr>
            <a:spLocks noGrp="1"/>
          </p:cNvSpPr>
          <p:nvPr>
            <p:ph type="title"/>
          </p:nvPr>
        </p:nvSpPr>
        <p:spPr/>
        <p:txBody>
          <a:bodyPr/>
          <a:lstStyle/>
          <a:p>
            <a:r>
              <a:rPr sz="2800" b="1">
                <a:solidFill>
                  <a:srgbClr val="000000"/>
                </a:solidFill>
                <a:latin typeface="맑은 고딕"/>
              </a:rPr>
              <a:t>해의 존재성과 비유일성 (1/2)</a:t>
            </a:r>
          </a:p>
        </p:txBody>
      </p:sp>
      <p:sp>
        <p:nvSpPr>
          <p:cNvPr id="3" name="내용 개체 틀 2">
            <a:extLst>
              <a:ext uri="{FF2B5EF4-FFF2-40B4-BE49-F238E27FC236}">
                <a16:creationId xmlns:a16="http://schemas.microsoft.com/office/drawing/2014/main" id="{21F06D80-F876-5D15-505C-01604062D6F0}"/>
              </a:ext>
            </a:extLst>
          </p:cNvPr>
          <p:cNvSpPr>
            <a:spLocks noGrp="1"/>
          </p:cNvSpPr>
          <p:nvPr>
            <p:ph idx="1"/>
          </p:nvPr>
        </p:nvSpPr>
        <p:spPr/>
        <p:txBody>
          <a:bodyPr wrap="square"/>
          <a:lstStyle/>
          <a:p>
            <a:pPr>
              <a:spcAft>
                <a:spcPts val="800"/>
              </a:spcAft>
            </a:pPr>
            <a:r>
              <a:rPr sz="1800" dirty="0">
                <a:solidFill>
                  <a:srgbClr val="000000"/>
                </a:solidFill>
                <a:latin typeface="맑은 고딕"/>
              </a:rPr>
              <a:t>n ≥ m </a:t>
            </a:r>
            <a:r>
              <a:rPr sz="1800" dirty="0" err="1">
                <a:solidFill>
                  <a:srgbClr val="000000"/>
                </a:solidFill>
                <a:latin typeface="맑은 고딕"/>
              </a:rPr>
              <a:t>이면</a:t>
            </a:r>
            <a:r>
              <a:rPr sz="1800" dirty="0">
                <a:solidFill>
                  <a:srgbClr val="000000"/>
                </a:solidFill>
                <a:latin typeface="맑은 고딕"/>
              </a:rPr>
              <a:t> </a:t>
            </a:r>
            <a:r>
              <a:rPr sz="1800" dirty="0" err="1">
                <a:solidFill>
                  <a:srgbClr val="000000"/>
                </a:solidFill>
                <a:latin typeface="맑은 고딕"/>
              </a:rPr>
              <a:t>해가</a:t>
            </a:r>
            <a:r>
              <a:rPr sz="1800" dirty="0">
                <a:solidFill>
                  <a:srgbClr val="000000"/>
                </a:solidFill>
                <a:latin typeface="맑은 고딕"/>
              </a:rPr>
              <a:t> </a:t>
            </a:r>
            <a:r>
              <a:rPr sz="1800" dirty="0" err="1">
                <a:solidFill>
                  <a:srgbClr val="000000"/>
                </a:solidFill>
                <a:latin typeface="맑은 고딕"/>
              </a:rPr>
              <a:t>없다</a:t>
            </a:r>
            <a:endParaRPr sz="1800" dirty="0">
              <a:solidFill>
                <a:srgbClr val="000000"/>
              </a:solidFill>
              <a:latin typeface="맑은 고딕"/>
            </a:endParaRPr>
          </a:p>
          <a:p>
            <a:pPr lvl="1"/>
            <a:r>
              <a:rPr sz="1600" dirty="0" err="1">
                <a:solidFill>
                  <a:srgbClr val="000000"/>
                </a:solidFill>
                <a:latin typeface="맑은 고딕"/>
              </a:rPr>
              <a:t>랜덤</a:t>
            </a:r>
            <a:r>
              <a:rPr sz="1600" dirty="0">
                <a:solidFill>
                  <a:srgbClr val="000000"/>
                </a:solidFill>
                <a:latin typeface="맑은 고딕"/>
              </a:rPr>
              <a:t> </a:t>
            </a:r>
            <a:r>
              <a:rPr sz="1600" dirty="0" err="1">
                <a:solidFill>
                  <a:srgbClr val="000000"/>
                </a:solidFill>
                <a:latin typeface="맑은 고딕"/>
              </a:rPr>
              <a:t>A는</a:t>
            </a:r>
            <a:r>
              <a:rPr sz="1600" dirty="0">
                <a:solidFill>
                  <a:srgbClr val="000000"/>
                </a:solidFill>
                <a:latin typeface="맑은 고딕"/>
              </a:rPr>
              <a:t> (</a:t>
            </a:r>
            <a:r>
              <a:rPr sz="1600" dirty="0" err="1">
                <a:solidFill>
                  <a:srgbClr val="000000"/>
                </a:solidFill>
                <a:latin typeface="맑은 고딕"/>
              </a:rPr>
              <a:t>압도적</a:t>
            </a:r>
            <a:r>
              <a:rPr sz="1600" dirty="0">
                <a:solidFill>
                  <a:srgbClr val="000000"/>
                </a:solidFill>
                <a:latin typeface="맑은 고딕"/>
              </a:rPr>
              <a:t> </a:t>
            </a:r>
            <a:r>
              <a:rPr sz="1600" dirty="0" err="1">
                <a:solidFill>
                  <a:srgbClr val="000000"/>
                </a:solidFill>
                <a:latin typeface="맑은 고딕"/>
              </a:rPr>
              <a:t>확률로</a:t>
            </a:r>
            <a:r>
              <a:rPr sz="1600" dirty="0">
                <a:solidFill>
                  <a:srgbClr val="000000"/>
                </a:solidFill>
                <a:latin typeface="맑은 고딕"/>
              </a:rPr>
              <a:t>) full column rank = m → z ↦ Az 가 </a:t>
            </a:r>
            <a:r>
              <a:rPr sz="1600" dirty="0" err="1">
                <a:solidFill>
                  <a:srgbClr val="000000"/>
                </a:solidFill>
                <a:latin typeface="맑은 고딕"/>
              </a:rPr>
              <a:t>단사</a:t>
            </a:r>
            <a:r>
              <a:rPr sz="1600" dirty="0">
                <a:solidFill>
                  <a:srgbClr val="000000"/>
                </a:solidFill>
                <a:latin typeface="맑은 고딕"/>
              </a:rPr>
              <a:t>(injective)</a:t>
            </a:r>
          </a:p>
          <a:p>
            <a:pPr lvl="1"/>
            <a:r>
              <a:rPr sz="1600" dirty="0">
                <a:solidFill>
                  <a:srgbClr val="000000"/>
                </a:solidFill>
                <a:latin typeface="맑은 고딕"/>
              </a:rPr>
              <a:t>Az ≡ 0의 </a:t>
            </a:r>
            <a:r>
              <a:rPr sz="1600" dirty="0" err="1">
                <a:solidFill>
                  <a:srgbClr val="000000"/>
                </a:solidFill>
                <a:latin typeface="맑은 고딕"/>
              </a:rPr>
              <a:t>해는</a:t>
            </a:r>
            <a:r>
              <a:rPr sz="1600" dirty="0">
                <a:solidFill>
                  <a:srgbClr val="000000"/>
                </a:solidFill>
                <a:latin typeface="맑은 고딕"/>
              </a:rPr>
              <a:t> z = 0 뿐 → z ≠ 0 </a:t>
            </a:r>
            <a:r>
              <a:rPr sz="1600" dirty="0" err="1">
                <a:solidFill>
                  <a:srgbClr val="000000"/>
                </a:solidFill>
                <a:latin typeface="맑은 고딕"/>
              </a:rPr>
              <a:t>조건</a:t>
            </a:r>
            <a:r>
              <a:rPr sz="1600" dirty="0">
                <a:solidFill>
                  <a:srgbClr val="000000"/>
                </a:solidFill>
                <a:latin typeface="맑은 고딕"/>
              </a:rPr>
              <a:t> </a:t>
            </a:r>
            <a:r>
              <a:rPr sz="1600" dirty="0" err="1">
                <a:solidFill>
                  <a:srgbClr val="000000"/>
                </a:solidFill>
                <a:latin typeface="맑은 고딕"/>
              </a:rPr>
              <a:t>위배</a:t>
            </a:r>
            <a:r>
              <a:rPr sz="1600" dirty="0">
                <a:solidFill>
                  <a:srgbClr val="000000"/>
                </a:solidFill>
                <a:latin typeface="맑은 고딕"/>
              </a:rPr>
              <a:t>. </a:t>
            </a:r>
            <a:r>
              <a:rPr sz="1600" dirty="0" err="1">
                <a:solidFill>
                  <a:srgbClr val="000000"/>
                </a:solidFill>
                <a:latin typeface="맑은 고딕"/>
              </a:rPr>
              <a:t>이후</a:t>
            </a:r>
            <a:r>
              <a:rPr sz="1600" dirty="0">
                <a:solidFill>
                  <a:srgbClr val="000000"/>
                </a:solidFill>
                <a:latin typeface="맑은 고딕"/>
              </a:rPr>
              <a:t> n &lt; m </a:t>
            </a:r>
            <a:r>
              <a:rPr sz="1600" dirty="0" err="1">
                <a:solidFill>
                  <a:srgbClr val="000000"/>
                </a:solidFill>
                <a:latin typeface="맑은 고딕"/>
              </a:rPr>
              <a:t>가정</a:t>
            </a:r>
            <a:endParaRPr sz="1600" dirty="0">
              <a:solidFill>
                <a:srgbClr val="000000"/>
              </a:solidFill>
              <a:latin typeface="맑은 고딕"/>
            </a:endParaRPr>
          </a:p>
          <a:p>
            <a:r>
              <a:rPr sz="1800" dirty="0">
                <a:solidFill>
                  <a:srgbClr val="000000"/>
                </a:solidFill>
                <a:latin typeface="맑은 고딕"/>
              </a:rPr>
              <a:t>n &lt; m </a:t>
            </a:r>
            <a:r>
              <a:rPr sz="1800" dirty="0" err="1">
                <a:solidFill>
                  <a:srgbClr val="000000"/>
                </a:solidFill>
                <a:latin typeface="맑은 고딕"/>
              </a:rPr>
              <a:t>이면</a:t>
            </a:r>
            <a:r>
              <a:rPr sz="1800" dirty="0">
                <a:solidFill>
                  <a:srgbClr val="000000"/>
                </a:solidFill>
                <a:latin typeface="맑은 고딕"/>
              </a:rPr>
              <a:t> </a:t>
            </a:r>
            <a:r>
              <a:rPr sz="1800" dirty="0" err="1">
                <a:solidFill>
                  <a:srgbClr val="000000"/>
                </a:solidFill>
                <a:latin typeface="맑은 고딕"/>
              </a:rPr>
              <a:t>비둘기집</a:t>
            </a:r>
            <a:r>
              <a:rPr sz="1800" dirty="0">
                <a:solidFill>
                  <a:srgbClr val="000000"/>
                </a:solidFill>
                <a:latin typeface="맑은 고딕"/>
              </a:rPr>
              <a:t> </a:t>
            </a:r>
            <a:r>
              <a:rPr sz="1800" dirty="0" err="1">
                <a:solidFill>
                  <a:srgbClr val="000000"/>
                </a:solidFill>
                <a:latin typeface="맑은 고딕"/>
              </a:rPr>
              <a:t>원리로</a:t>
            </a:r>
            <a:r>
              <a:rPr sz="1800" dirty="0">
                <a:solidFill>
                  <a:srgbClr val="000000"/>
                </a:solidFill>
                <a:latin typeface="맑은 고딕"/>
              </a:rPr>
              <a:t> </a:t>
            </a:r>
            <a:r>
              <a:rPr sz="1800" dirty="0" err="1">
                <a:solidFill>
                  <a:srgbClr val="000000"/>
                </a:solidFill>
                <a:latin typeface="맑은 고딕"/>
              </a:rPr>
              <a:t>존재성</a:t>
            </a:r>
            <a:r>
              <a:rPr sz="1800" dirty="0">
                <a:solidFill>
                  <a:srgbClr val="000000"/>
                </a:solidFill>
                <a:latin typeface="맑은 고딕"/>
              </a:rPr>
              <a:t> </a:t>
            </a:r>
            <a:r>
              <a:rPr sz="1800" dirty="0" err="1">
                <a:solidFill>
                  <a:srgbClr val="000000"/>
                </a:solidFill>
                <a:latin typeface="맑은 고딕"/>
              </a:rPr>
              <a:t>보장</a:t>
            </a:r>
            <a:endParaRPr sz="1800" dirty="0">
              <a:solidFill>
                <a:srgbClr val="000000"/>
              </a:solidFill>
              <a:latin typeface="맑은 고딕"/>
            </a:endParaRPr>
          </a:p>
        </p:txBody>
      </p:sp>
      <p:sp>
        <p:nvSpPr>
          <p:cNvPr id="4" name="슬라이드 번호 개체 틀 3">
            <a:extLst>
              <a:ext uri="{FF2B5EF4-FFF2-40B4-BE49-F238E27FC236}">
                <a16:creationId xmlns:a16="http://schemas.microsoft.com/office/drawing/2014/main" id="{999289E7-EF67-BBCB-E506-BE82A60B30CD}"/>
              </a:ext>
            </a:extLst>
          </p:cNvPr>
          <p:cNvSpPr>
            <a:spLocks noGrp="1"/>
          </p:cNvSpPr>
          <p:nvPr>
            <p:ph type="sldNum" sz="quarter" idx="12"/>
          </p:nvPr>
        </p:nvSpPr>
        <p:spPr/>
        <p:txBody>
          <a:bodyPr/>
          <a:lstStyle/>
          <a:p>
            <a:fld id="{4438A2D4-3867-488E-A04E-7BFFCAED45A6}" type="slidenum">
              <a:rPr lang="ko-KR" altLang="en-US" smtClean="0"/>
              <a:t>7</a:t>
            </a:fld>
            <a:endParaRPr lang="ko-KR" altLang="en-US"/>
          </a:p>
        </p:txBody>
      </p:sp>
    </p:spTree>
    <p:extLst>
      <p:ext uri="{BB962C8B-B14F-4D97-AF65-F5344CB8AC3E}">
        <p14:creationId xmlns:p14="http://schemas.microsoft.com/office/powerpoint/2010/main" val="292528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000000"/>
                </a:solidFill>
                <a:latin typeface="맑은 고딕"/>
              </a:rPr>
              <a:t>해의 존재성과 비유일성 (2/2)</a:t>
            </a:r>
          </a:p>
        </p:txBody>
      </p:sp>
      <p:sp>
        <p:nvSpPr>
          <p:cNvPr id="4" name="TextBox 3"/>
          <p:cNvSpPr txBox="1"/>
          <p:nvPr/>
        </p:nvSpPr>
        <p:spPr>
          <a:xfrm>
            <a:off x="838200" y="1471111"/>
            <a:ext cx="10515600" cy="2738763"/>
          </a:xfrm>
          <a:prstGeom prst="rect">
            <a:avLst/>
          </a:prstGeom>
          <a:noFill/>
        </p:spPr>
        <p:txBody>
          <a:bodyPr wrap="square">
            <a:spAutoFit/>
          </a:bodyPr>
          <a:lstStyle/>
          <a:p>
            <a:pPr>
              <a:lnSpc>
                <a:spcPct val="150000"/>
              </a:lnSpc>
              <a:spcAft>
                <a:spcPts val="400"/>
              </a:spcAft>
              <a:buNone/>
            </a:pPr>
            <a:r>
              <a:rPr sz="1800" b="0" dirty="0">
                <a:solidFill>
                  <a:srgbClr val="000000"/>
                </a:solidFill>
                <a:latin typeface="맑은 고딕"/>
              </a:rPr>
              <a:t>• </a:t>
            </a:r>
            <a:r>
              <a:rPr sz="1800" b="0" dirty="0" err="1">
                <a:solidFill>
                  <a:srgbClr val="000000"/>
                </a:solidFill>
                <a:latin typeface="맑은 고딕"/>
              </a:rPr>
              <a:t>z₁,z</a:t>
            </a:r>
            <a:r>
              <a:rPr sz="1800" b="0" dirty="0">
                <a:solidFill>
                  <a:srgbClr val="000000"/>
                </a:solidFill>
                <a:latin typeface="맑은 고딕"/>
              </a:rPr>
              <a:t>₂ ∈ [−B/2,B/2]^m </a:t>
            </a:r>
            <a:r>
              <a:rPr sz="1800" b="0" dirty="0" err="1">
                <a:solidFill>
                  <a:srgbClr val="000000"/>
                </a:solidFill>
                <a:latin typeface="맑은 고딕"/>
              </a:rPr>
              <a:t>에서</a:t>
            </a:r>
            <a:r>
              <a:rPr sz="1800" b="0" dirty="0">
                <a:solidFill>
                  <a:srgbClr val="000000"/>
                </a:solidFill>
                <a:latin typeface="맑은 고딕"/>
              </a:rPr>
              <a:t> </a:t>
            </a:r>
            <a:r>
              <a:rPr sz="1800" b="0" dirty="0" err="1">
                <a:solidFill>
                  <a:srgbClr val="000000"/>
                </a:solidFill>
                <a:latin typeface="맑은 고딕"/>
              </a:rPr>
              <a:t>후보를</a:t>
            </a:r>
            <a:r>
              <a:rPr sz="1800" b="0" dirty="0">
                <a:solidFill>
                  <a:srgbClr val="000000"/>
                </a:solidFill>
                <a:latin typeface="맑은 고딕"/>
              </a:rPr>
              <a:t> </a:t>
            </a:r>
            <a:r>
              <a:rPr sz="1800" b="0" dirty="0" err="1">
                <a:solidFill>
                  <a:srgbClr val="000000"/>
                </a:solidFill>
                <a:latin typeface="맑은 고딕"/>
              </a:rPr>
              <a:t>뽑는</a:t>
            </a:r>
            <a:r>
              <a:rPr sz="1800" b="0" dirty="0">
                <a:solidFill>
                  <a:srgbClr val="000000"/>
                </a:solidFill>
                <a:latin typeface="맑은 고딕"/>
              </a:rPr>
              <a:t> </a:t>
            </a:r>
            <a:r>
              <a:rPr sz="1800" b="0" dirty="0" err="1">
                <a:solidFill>
                  <a:srgbClr val="000000"/>
                </a:solidFill>
                <a:latin typeface="맑은 고딕"/>
              </a:rPr>
              <a:t>이유</a:t>
            </a:r>
            <a:r>
              <a:rPr sz="1800" b="0" dirty="0">
                <a:solidFill>
                  <a:srgbClr val="000000"/>
                </a:solidFill>
                <a:latin typeface="맑은 고딕"/>
              </a:rPr>
              <a:t>: 차 z=z₁−</a:t>
            </a:r>
            <a:r>
              <a:rPr sz="1800" b="0" dirty="0" err="1">
                <a:solidFill>
                  <a:srgbClr val="000000"/>
                </a:solidFill>
                <a:latin typeface="맑은 고딕"/>
              </a:rPr>
              <a:t>z₂가</a:t>
            </a:r>
            <a:r>
              <a:rPr sz="1800" b="0" dirty="0">
                <a:solidFill>
                  <a:srgbClr val="000000"/>
                </a:solidFill>
                <a:latin typeface="맑은 고딕"/>
              </a:rPr>
              <a:t> </a:t>
            </a:r>
            <a:r>
              <a:rPr sz="1800" b="0" dirty="0" err="1">
                <a:solidFill>
                  <a:srgbClr val="000000"/>
                </a:solidFill>
                <a:latin typeface="맑은 고딕"/>
              </a:rPr>
              <a:t>정확히</a:t>
            </a:r>
            <a:r>
              <a:rPr sz="1800" b="0" dirty="0">
                <a:solidFill>
                  <a:srgbClr val="000000"/>
                </a:solidFill>
                <a:latin typeface="맑은 고딕"/>
              </a:rPr>
              <a:t> [−B,B]^m </a:t>
            </a:r>
            <a:r>
              <a:rPr sz="1800" b="0" dirty="0" err="1">
                <a:solidFill>
                  <a:srgbClr val="000000"/>
                </a:solidFill>
                <a:latin typeface="맑은 고딕"/>
              </a:rPr>
              <a:t>안에</a:t>
            </a:r>
            <a:r>
              <a:rPr sz="1800" b="0" dirty="0">
                <a:solidFill>
                  <a:srgbClr val="000000"/>
                </a:solidFill>
                <a:latin typeface="맑은 고딕"/>
              </a:rPr>
              <a:t> </a:t>
            </a:r>
            <a:r>
              <a:rPr sz="1800" b="0" dirty="0" err="1">
                <a:solidFill>
                  <a:srgbClr val="000000"/>
                </a:solidFill>
                <a:latin typeface="맑은 고딕"/>
              </a:rPr>
              <a:t>들어오게</a:t>
            </a:r>
            <a:r>
              <a:rPr sz="1800" b="0" dirty="0">
                <a:solidFill>
                  <a:srgbClr val="000000"/>
                </a:solidFill>
                <a:latin typeface="맑은 고딕"/>
              </a:rPr>
              <a:t> </a:t>
            </a:r>
            <a:r>
              <a:rPr sz="1800" b="0" dirty="0" err="1">
                <a:solidFill>
                  <a:srgbClr val="000000"/>
                </a:solidFill>
                <a:latin typeface="맑은 고딕"/>
              </a:rPr>
              <a:t>하기</a:t>
            </a:r>
            <a:r>
              <a:rPr sz="1800" b="0" dirty="0">
                <a:solidFill>
                  <a:srgbClr val="000000"/>
                </a:solidFill>
                <a:latin typeface="맑은 고딕"/>
              </a:rPr>
              <a:t> </a:t>
            </a:r>
            <a:r>
              <a:rPr sz="1800" b="0" dirty="0" err="1">
                <a:solidFill>
                  <a:srgbClr val="000000"/>
                </a:solidFill>
                <a:latin typeface="맑은 고딕"/>
              </a:rPr>
              <a:t>위함</a:t>
            </a:r>
            <a:endParaRPr sz="1800" b="0" dirty="0">
              <a:solidFill>
                <a:srgbClr val="222222"/>
              </a:solidFill>
              <a:latin typeface="맑은 고딕"/>
            </a:endParaRPr>
          </a:p>
          <a:p>
            <a:pPr>
              <a:lnSpc>
                <a:spcPct val="150000"/>
              </a:lnSpc>
              <a:spcAft>
                <a:spcPts val="400"/>
              </a:spcAft>
              <a:buNone/>
            </a:pPr>
            <a:r>
              <a:rPr sz="1800" b="0" dirty="0">
                <a:solidFill>
                  <a:srgbClr val="000000"/>
                </a:solidFill>
                <a:latin typeface="맑은 고딕"/>
              </a:rPr>
              <a:t>• 이 </a:t>
            </a:r>
            <a:r>
              <a:rPr sz="1800" b="0" dirty="0" err="1">
                <a:solidFill>
                  <a:srgbClr val="000000"/>
                </a:solidFill>
                <a:latin typeface="맑은 고딕"/>
              </a:rPr>
              <a:t>범위의</a:t>
            </a:r>
            <a:r>
              <a:rPr sz="1800" b="0" dirty="0">
                <a:solidFill>
                  <a:srgbClr val="000000"/>
                </a:solidFill>
                <a:latin typeface="맑은 고딕"/>
              </a:rPr>
              <a:t> </a:t>
            </a:r>
            <a:r>
              <a:rPr sz="1800" b="0" dirty="0" err="1">
                <a:solidFill>
                  <a:srgbClr val="000000"/>
                </a:solidFill>
                <a:latin typeface="맑은 고딕"/>
              </a:rPr>
              <a:t>후보는</a:t>
            </a:r>
            <a:r>
              <a:rPr sz="1800" b="0" dirty="0">
                <a:solidFill>
                  <a:srgbClr val="000000"/>
                </a:solidFill>
                <a:latin typeface="맑은 고딕"/>
              </a:rPr>
              <a:t> (B+1)^</a:t>
            </a:r>
            <a:r>
              <a:rPr sz="1800" b="0" dirty="0" err="1">
                <a:solidFill>
                  <a:srgbClr val="000000"/>
                </a:solidFill>
                <a:latin typeface="맑은 고딕"/>
              </a:rPr>
              <a:t>m개</a:t>
            </a:r>
            <a:r>
              <a:rPr sz="1800" b="0" dirty="0">
                <a:solidFill>
                  <a:srgbClr val="000000"/>
                </a:solidFill>
                <a:latin typeface="맑은 고딕"/>
              </a:rPr>
              <a:t>, Az mod </a:t>
            </a:r>
            <a:r>
              <a:rPr sz="1800" b="0" dirty="0" err="1">
                <a:solidFill>
                  <a:srgbClr val="000000"/>
                </a:solidFill>
                <a:latin typeface="맑은 고딕"/>
              </a:rPr>
              <a:t>q의</a:t>
            </a:r>
            <a:r>
              <a:rPr sz="1800" b="0" dirty="0">
                <a:solidFill>
                  <a:srgbClr val="000000"/>
                </a:solidFill>
                <a:latin typeface="맑은 고딕"/>
              </a:rPr>
              <a:t> </a:t>
            </a:r>
            <a:r>
              <a:rPr sz="1800" b="0" dirty="0" err="1">
                <a:solidFill>
                  <a:srgbClr val="000000"/>
                </a:solidFill>
                <a:latin typeface="맑은 고딕"/>
              </a:rPr>
              <a:t>가능한</a:t>
            </a:r>
            <a:r>
              <a:rPr sz="1800" b="0" dirty="0">
                <a:solidFill>
                  <a:srgbClr val="000000"/>
                </a:solidFill>
                <a:latin typeface="맑은 고딕"/>
              </a:rPr>
              <a:t> </a:t>
            </a:r>
            <a:r>
              <a:rPr sz="1800" b="0" dirty="0" err="1">
                <a:solidFill>
                  <a:srgbClr val="000000"/>
                </a:solidFill>
                <a:latin typeface="맑은 고딕"/>
              </a:rPr>
              <a:t>출력은</a:t>
            </a:r>
            <a:r>
              <a:rPr sz="1800" b="0" dirty="0">
                <a:solidFill>
                  <a:srgbClr val="000000"/>
                </a:solidFill>
                <a:latin typeface="맑은 고딕"/>
              </a:rPr>
              <a:t> </a:t>
            </a:r>
            <a:r>
              <a:rPr sz="1800" b="0" dirty="0" err="1">
                <a:solidFill>
                  <a:srgbClr val="000000"/>
                </a:solidFill>
                <a:latin typeface="맑은 고딕"/>
              </a:rPr>
              <a:t>q^n가지</a:t>
            </a:r>
            <a:endParaRPr sz="1800" b="0" dirty="0">
              <a:solidFill>
                <a:srgbClr val="222222"/>
              </a:solidFill>
              <a:latin typeface="맑은 고딕"/>
            </a:endParaRPr>
          </a:p>
          <a:p>
            <a:pPr>
              <a:lnSpc>
                <a:spcPct val="150000"/>
              </a:lnSpc>
              <a:spcAft>
                <a:spcPts val="400"/>
              </a:spcAft>
              <a:buNone/>
            </a:pPr>
            <a:r>
              <a:rPr sz="1800" b="0" dirty="0">
                <a:solidFill>
                  <a:srgbClr val="000000"/>
                </a:solidFill>
                <a:latin typeface="맑은 고딕"/>
              </a:rPr>
              <a:t>• (B+1)^m &gt; </a:t>
            </a:r>
            <a:r>
              <a:rPr sz="1800" b="0" dirty="0" err="1">
                <a:solidFill>
                  <a:srgbClr val="000000"/>
                </a:solidFill>
                <a:latin typeface="맑은 고딕"/>
              </a:rPr>
              <a:t>q^n</a:t>
            </a:r>
            <a:r>
              <a:rPr sz="1800" b="0" dirty="0">
                <a:solidFill>
                  <a:srgbClr val="000000"/>
                </a:solidFill>
                <a:latin typeface="맑은 고딕"/>
              </a:rPr>
              <a:t> </a:t>
            </a:r>
            <a:r>
              <a:rPr sz="1800" b="0" dirty="0" err="1">
                <a:solidFill>
                  <a:srgbClr val="000000"/>
                </a:solidFill>
                <a:latin typeface="맑은 고딕"/>
              </a:rPr>
              <a:t>이면</a:t>
            </a:r>
            <a:r>
              <a:rPr sz="1800" b="0" dirty="0">
                <a:solidFill>
                  <a:srgbClr val="000000"/>
                </a:solidFill>
                <a:latin typeface="맑은 고딕"/>
              </a:rPr>
              <a:t> Az₁≡</a:t>
            </a:r>
            <a:r>
              <a:rPr sz="1800" b="0" dirty="0" err="1">
                <a:solidFill>
                  <a:srgbClr val="000000"/>
                </a:solidFill>
                <a:latin typeface="맑은 고딕"/>
              </a:rPr>
              <a:t>Az₂인</a:t>
            </a:r>
            <a:r>
              <a:rPr sz="1800" b="0" dirty="0">
                <a:solidFill>
                  <a:srgbClr val="000000"/>
                </a:solidFill>
                <a:latin typeface="맑은 고딕"/>
              </a:rPr>
              <a:t> z₁≠z₂ </a:t>
            </a:r>
            <a:r>
              <a:rPr sz="1800" b="0" dirty="0" err="1">
                <a:solidFill>
                  <a:srgbClr val="000000"/>
                </a:solidFill>
                <a:latin typeface="맑은 고딕"/>
              </a:rPr>
              <a:t>존재</a:t>
            </a:r>
            <a:r>
              <a:rPr sz="1800" b="0" dirty="0">
                <a:solidFill>
                  <a:srgbClr val="000000"/>
                </a:solidFill>
                <a:latin typeface="맑은 고딕"/>
              </a:rPr>
              <a:t> → z=z₁−z₂≠0이 SIS 해</a:t>
            </a:r>
          </a:p>
          <a:p>
            <a:pPr>
              <a:lnSpc>
                <a:spcPct val="150000"/>
              </a:lnSpc>
              <a:spcAft>
                <a:spcPts val="400"/>
              </a:spcAft>
              <a:buNone/>
            </a:pPr>
            <a:r>
              <a:rPr sz="1800" b="0" dirty="0">
                <a:solidFill>
                  <a:srgbClr val="000000"/>
                </a:solidFill>
                <a:latin typeface="맑은 고딕"/>
              </a:rPr>
              <a:t>• </a:t>
            </a:r>
            <a:r>
              <a:rPr sz="1800" b="0" dirty="0" err="1">
                <a:solidFill>
                  <a:srgbClr val="000000"/>
                </a:solidFill>
                <a:latin typeface="맑은 고딕"/>
              </a:rPr>
              <a:t>파라미터</a:t>
            </a:r>
            <a:r>
              <a:rPr sz="1800" b="0" dirty="0">
                <a:solidFill>
                  <a:srgbClr val="000000"/>
                </a:solidFill>
                <a:latin typeface="맑은 고딕"/>
              </a:rPr>
              <a:t> </a:t>
            </a:r>
            <a:r>
              <a:rPr sz="1800" b="0" dirty="0" err="1">
                <a:solidFill>
                  <a:srgbClr val="000000"/>
                </a:solidFill>
                <a:latin typeface="맑은 고딕"/>
              </a:rPr>
              <a:t>조건</a:t>
            </a:r>
            <a:r>
              <a:rPr sz="1800" b="0" dirty="0">
                <a:solidFill>
                  <a:srgbClr val="000000"/>
                </a:solidFill>
                <a:latin typeface="맑은 고딕"/>
              </a:rPr>
              <a:t>: m &gt; (n log q) / log(B+1)</a:t>
            </a:r>
          </a:p>
          <a:p>
            <a:pPr>
              <a:lnSpc>
                <a:spcPct val="150000"/>
              </a:lnSpc>
              <a:spcAft>
                <a:spcPts val="800"/>
              </a:spcAft>
              <a:buNone/>
            </a:pPr>
            <a:r>
              <a:rPr sz="1800" b="0" dirty="0">
                <a:solidFill>
                  <a:srgbClr val="000000"/>
                </a:solidFill>
                <a:latin typeface="맑은 고딕"/>
              </a:rPr>
              <a:t>• </a:t>
            </a:r>
            <a:r>
              <a:rPr sz="1800" b="0" dirty="0" err="1">
                <a:solidFill>
                  <a:srgbClr val="000000"/>
                </a:solidFill>
                <a:latin typeface="맑은 고딕"/>
              </a:rPr>
              <a:t>해는</a:t>
            </a:r>
            <a:r>
              <a:rPr sz="1800" b="0" dirty="0">
                <a:solidFill>
                  <a:srgbClr val="000000"/>
                </a:solidFill>
                <a:latin typeface="맑은 고딕"/>
              </a:rPr>
              <a:t> </a:t>
            </a:r>
            <a:r>
              <a:rPr sz="1800" b="0" dirty="0" err="1">
                <a:solidFill>
                  <a:srgbClr val="000000"/>
                </a:solidFill>
                <a:latin typeface="맑은 고딕"/>
              </a:rPr>
              <a:t>유일하지</a:t>
            </a:r>
            <a:r>
              <a:rPr sz="1800" b="0" dirty="0">
                <a:solidFill>
                  <a:srgbClr val="000000"/>
                </a:solidFill>
                <a:latin typeface="맑은 고딕"/>
              </a:rPr>
              <a:t> </a:t>
            </a:r>
            <a:r>
              <a:rPr sz="1800" b="0" dirty="0" err="1">
                <a:solidFill>
                  <a:srgbClr val="000000"/>
                </a:solidFill>
                <a:latin typeface="맑은 고딕"/>
              </a:rPr>
              <a:t>않다</a:t>
            </a:r>
            <a:r>
              <a:rPr sz="1800" b="0" dirty="0">
                <a:solidFill>
                  <a:srgbClr val="000000"/>
                </a:solidFill>
                <a:latin typeface="맑은 고딕"/>
              </a:rPr>
              <a:t>: </a:t>
            </a:r>
            <a:r>
              <a:rPr sz="1800" b="0" dirty="0" err="1">
                <a:solidFill>
                  <a:srgbClr val="000000"/>
                </a:solidFill>
                <a:latin typeface="맑은 고딕"/>
              </a:rPr>
              <a:t>z가</a:t>
            </a:r>
            <a:r>
              <a:rPr sz="1800" b="0" dirty="0">
                <a:solidFill>
                  <a:srgbClr val="000000"/>
                </a:solidFill>
                <a:latin typeface="맑은 고딕"/>
              </a:rPr>
              <a:t> </a:t>
            </a:r>
            <a:r>
              <a:rPr sz="1800" b="0" dirty="0" err="1">
                <a:solidFill>
                  <a:srgbClr val="000000"/>
                </a:solidFill>
                <a:latin typeface="맑은 고딕"/>
              </a:rPr>
              <a:t>해이면</a:t>
            </a:r>
            <a:r>
              <a:rPr sz="1800" b="0" dirty="0">
                <a:solidFill>
                  <a:srgbClr val="000000"/>
                </a:solidFill>
                <a:latin typeface="맑은 고딕"/>
              </a:rPr>
              <a:t> −</a:t>
            </a:r>
            <a:r>
              <a:rPr sz="1800" b="0" dirty="0" err="1">
                <a:solidFill>
                  <a:srgbClr val="000000"/>
                </a:solidFill>
                <a:latin typeface="맑은 고딕"/>
              </a:rPr>
              <a:t>z도</a:t>
            </a:r>
            <a:r>
              <a:rPr sz="1800" b="0" dirty="0">
                <a:solidFill>
                  <a:srgbClr val="000000"/>
                </a:solidFill>
                <a:latin typeface="맑은 고딕"/>
              </a:rPr>
              <a:t> 해 (A(−z) = −Az ≡ 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FC9E9-BCA0-C7F9-43BF-385F4B5615A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4C7D9E4-82AE-6609-CEBF-086C06F445DF}"/>
              </a:ext>
            </a:extLst>
          </p:cNvPr>
          <p:cNvSpPr>
            <a:spLocks noGrp="1"/>
          </p:cNvSpPr>
          <p:nvPr>
            <p:ph type="title"/>
          </p:nvPr>
        </p:nvSpPr>
        <p:spPr/>
        <p:txBody>
          <a:bodyPr/>
          <a:lstStyle/>
          <a:p>
            <a:r>
              <a:rPr sz="2800" b="1">
                <a:solidFill>
                  <a:srgbClr val="000000"/>
                </a:solidFill>
                <a:latin typeface="맑은 고딕"/>
              </a:rPr>
              <a:t>예제1 (1/2)</a:t>
            </a:r>
          </a:p>
        </p:txBody>
      </p:sp>
      <p:sp>
        <p:nvSpPr>
          <p:cNvPr id="3" name="내용 개체 틀 2">
            <a:extLst>
              <a:ext uri="{FF2B5EF4-FFF2-40B4-BE49-F238E27FC236}">
                <a16:creationId xmlns:a16="http://schemas.microsoft.com/office/drawing/2014/main" id="{F2381E48-B60B-9467-9B05-72B5D6D84F6C}"/>
              </a:ext>
            </a:extLst>
          </p:cNvPr>
          <p:cNvSpPr>
            <a:spLocks noGrp="1"/>
          </p:cNvSpPr>
          <p:nvPr>
            <p:ph idx="1"/>
          </p:nvPr>
        </p:nvSpPr>
        <p:spPr/>
        <p:txBody>
          <a:bodyPr wrap="square">
            <a:normAutofit/>
          </a:bodyPr>
          <a:lstStyle/>
          <a:p>
            <a:pPr>
              <a:spcAft>
                <a:spcPts val="800"/>
              </a:spcAft>
            </a:pPr>
            <a:r>
              <a:rPr sz="1800" dirty="0">
                <a:solidFill>
                  <a:srgbClr val="000000"/>
                </a:solidFill>
                <a:latin typeface="맑은 고딕"/>
              </a:rPr>
              <a:t>n = 3, m = 5, q = 13, B = 3</a:t>
            </a:r>
          </a:p>
          <a:p>
            <a:r>
              <a:rPr sz="1800" dirty="0" err="1">
                <a:solidFill>
                  <a:srgbClr val="000000"/>
                </a:solidFill>
                <a:latin typeface="맑은 고딕"/>
              </a:rPr>
              <a:t>행렬</a:t>
            </a:r>
            <a:r>
              <a:rPr sz="1800" dirty="0">
                <a:solidFill>
                  <a:srgbClr val="000000"/>
                </a:solidFill>
                <a:latin typeface="맑은 고딕"/>
              </a:rPr>
              <a:t> A (mod 13):</a:t>
            </a:r>
          </a:p>
          <a:p>
            <a:pPr lvl="1"/>
            <a:r>
              <a:rPr dirty="0" err="1">
                <a:solidFill>
                  <a:srgbClr val="000000"/>
                </a:solidFill>
                <a:latin typeface="맑은 고딕"/>
              </a:rPr>
              <a:t>가우스</a:t>
            </a:r>
            <a:r>
              <a:rPr dirty="0">
                <a:solidFill>
                  <a:srgbClr val="000000"/>
                </a:solidFill>
                <a:latin typeface="맑은 고딕"/>
              </a:rPr>
              <a:t> </a:t>
            </a:r>
            <a:r>
              <a:rPr dirty="0" err="1">
                <a:solidFill>
                  <a:srgbClr val="000000"/>
                </a:solidFill>
                <a:latin typeface="맑은 고딕"/>
              </a:rPr>
              <a:t>소거</a:t>
            </a:r>
            <a:r>
              <a:rPr dirty="0">
                <a:solidFill>
                  <a:srgbClr val="000000"/>
                </a:solidFill>
                <a:latin typeface="맑은 고딕"/>
              </a:rPr>
              <a:t> → </a:t>
            </a:r>
            <a:r>
              <a:rPr dirty="0" err="1">
                <a:solidFill>
                  <a:srgbClr val="000000"/>
                </a:solidFill>
                <a:latin typeface="맑은 고딕"/>
              </a:rPr>
              <a:t>기약행사다리꼴</a:t>
            </a:r>
            <a:r>
              <a:rPr dirty="0">
                <a:solidFill>
                  <a:srgbClr val="000000"/>
                </a:solidFill>
                <a:latin typeface="맑은 고딕"/>
              </a:rPr>
              <a:t>(RREF), </a:t>
            </a:r>
            <a:r>
              <a:rPr dirty="0" err="1">
                <a:solidFill>
                  <a:srgbClr val="000000"/>
                </a:solidFill>
                <a:latin typeface="맑은 고딕"/>
              </a:rPr>
              <a:t>자유변수</a:t>
            </a:r>
            <a:r>
              <a:rPr dirty="0">
                <a:solidFill>
                  <a:srgbClr val="000000"/>
                </a:solidFill>
                <a:latin typeface="맑은 고딕"/>
              </a:rPr>
              <a:t> z₄, z₅</a:t>
            </a:r>
          </a:p>
          <a:p>
            <a:pPr lvl="1"/>
            <a:r>
              <a:rPr dirty="0" err="1">
                <a:solidFill>
                  <a:srgbClr val="000000"/>
                </a:solidFill>
                <a:latin typeface="맑은 고딕"/>
              </a:rPr>
              <a:t>전체</a:t>
            </a:r>
            <a:r>
              <a:rPr dirty="0">
                <a:solidFill>
                  <a:srgbClr val="000000"/>
                </a:solidFill>
                <a:latin typeface="맑은 고딕"/>
              </a:rPr>
              <a:t> </a:t>
            </a:r>
            <a:r>
              <a:rPr dirty="0" err="1">
                <a:solidFill>
                  <a:srgbClr val="000000"/>
                </a:solidFill>
                <a:latin typeface="맑은 고딕"/>
              </a:rPr>
              <a:t>해는</a:t>
            </a:r>
            <a:r>
              <a:rPr dirty="0">
                <a:solidFill>
                  <a:srgbClr val="000000"/>
                </a:solidFill>
                <a:latin typeface="맑은 고딕"/>
              </a:rPr>
              <a:t> 13² = 169개, 이 중 [−3,3]⁵ </a:t>
            </a:r>
            <a:r>
              <a:rPr dirty="0" err="1">
                <a:solidFill>
                  <a:srgbClr val="000000"/>
                </a:solidFill>
                <a:latin typeface="맑은 고딕"/>
              </a:rPr>
              <a:t>안에</a:t>
            </a:r>
            <a:r>
              <a:rPr dirty="0">
                <a:solidFill>
                  <a:srgbClr val="000000"/>
                </a:solidFill>
                <a:latin typeface="맑은 고딕"/>
              </a:rPr>
              <a:t> </a:t>
            </a:r>
            <a:r>
              <a:rPr dirty="0" err="1">
                <a:solidFill>
                  <a:srgbClr val="000000"/>
                </a:solidFill>
                <a:latin typeface="맑은 고딕"/>
              </a:rPr>
              <a:t>드는</a:t>
            </a:r>
            <a:r>
              <a:rPr dirty="0">
                <a:solidFill>
                  <a:srgbClr val="000000"/>
                </a:solidFill>
                <a:latin typeface="맑은 고딕"/>
              </a:rPr>
              <a:t> 6개가 SIS 해:</a:t>
            </a:r>
          </a:p>
          <a:p>
            <a:pPr lvl="2"/>
            <a:r>
              <a:rPr sz="1800" dirty="0">
                <a:solidFill>
                  <a:srgbClr val="000000"/>
                </a:solidFill>
                <a:latin typeface="맑은 고딕"/>
              </a:rPr>
              <a:t>z = ±(3,1,−1,0,1), ±(1,0,−2,−1,3), ±(2,1,1,1,−2)</a:t>
            </a:r>
          </a:p>
        </p:txBody>
      </p:sp>
      <p:sp>
        <p:nvSpPr>
          <p:cNvPr id="4" name="슬라이드 번호 개체 틀 3">
            <a:extLst>
              <a:ext uri="{FF2B5EF4-FFF2-40B4-BE49-F238E27FC236}">
                <a16:creationId xmlns:a16="http://schemas.microsoft.com/office/drawing/2014/main" id="{334F91F2-3A55-96D6-91BF-6684E4A5FC95}"/>
              </a:ext>
            </a:extLst>
          </p:cNvPr>
          <p:cNvSpPr>
            <a:spLocks noGrp="1"/>
          </p:cNvSpPr>
          <p:nvPr>
            <p:ph type="sldNum" sz="quarter" idx="12"/>
          </p:nvPr>
        </p:nvSpPr>
        <p:spPr/>
        <p:txBody>
          <a:bodyPr/>
          <a:lstStyle/>
          <a:p>
            <a:fld id="{4438A2D4-3867-488E-A04E-7BFFCAED45A6}" type="slidenum">
              <a:rPr lang="ko-KR" altLang="en-US" smtClean="0"/>
              <a:t>9</a:t>
            </a:fld>
            <a:endParaRPr lang="ko-KR" altLang="en-US"/>
          </a:p>
        </p:txBody>
      </p:sp>
      <p:pic>
        <p:nvPicPr>
          <p:cNvPr id="5" name="Picture 3" descr="mat_4.png">
            <a:extLst>
              <a:ext uri="{FF2B5EF4-FFF2-40B4-BE49-F238E27FC236}">
                <a16:creationId xmlns:a16="http://schemas.microsoft.com/office/drawing/2014/main" id="{B5E10FE7-4464-C0CD-676E-BD3C8ECFB6C2}"/>
              </a:ext>
            </a:extLst>
          </p:cNvPr>
          <p:cNvPicPr>
            <a:picLocks noChangeAspect="1"/>
          </p:cNvPicPr>
          <p:nvPr/>
        </p:nvPicPr>
        <p:blipFill>
          <a:blip r:embed="rId3"/>
          <a:stretch>
            <a:fillRect/>
          </a:stretch>
        </p:blipFill>
        <p:spPr>
          <a:xfrm>
            <a:off x="7659414" y="935383"/>
            <a:ext cx="3694386" cy="1737360"/>
          </a:xfrm>
          <a:prstGeom prst="rect">
            <a:avLst/>
          </a:prstGeom>
        </p:spPr>
      </p:pic>
    </p:spTree>
    <p:extLst>
      <p:ext uri="{BB962C8B-B14F-4D97-AF65-F5344CB8AC3E}">
        <p14:creationId xmlns:p14="http://schemas.microsoft.com/office/powerpoint/2010/main" val="2229420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000000"/>
                </a:solidFill>
                <a:latin typeface="맑은 고딕"/>
              </a:rPr>
              <a:t>예제1 (2/2)</a:t>
            </a:r>
          </a:p>
        </p:txBody>
      </p:sp>
      <p:sp>
        <p:nvSpPr>
          <p:cNvPr id="4" name="TextBox 3"/>
          <p:cNvSpPr txBox="1"/>
          <p:nvPr/>
        </p:nvSpPr>
        <p:spPr>
          <a:xfrm>
            <a:off x="838200" y="1342947"/>
            <a:ext cx="9235220" cy="1439177"/>
          </a:xfrm>
          <a:prstGeom prst="rect">
            <a:avLst/>
          </a:prstGeom>
          <a:noFill/>
        </p:spPr>
        <p:txBody>
          <a:bodyPr wrap="none">
            <a:spAutoFit/>
          </a:bodyPr>
          <a:lstStyle/>
          <a:p>
            <a:pPr>
              <a:lnSpc>
                <a:spcPct val="150000"/>
              </a:lnSpc>
              <a:spcAft>
                <a:spcPts val="400"/>
              </a:spcAft>
              <a:buNone/>
            </a:pPr>
            <a:r>
              <a:rPr sz="1800" b="0" dirty="0">
                <a:solidFill>
                  <a:srgbClr val="000000"/>
                </a:solidFill>
                <a:latin typeface="맑은 고딕"/>
              </a:rPr>
              <a:t>• </a:t>
            </a:r>
            <a:r>
              <a:rPr sz="1800" b="0" dirty="0" err="1">
                <a:solidFill>
                  <a:srgbClr val="000000"/>
                </a:solidFill>
                <a:latin typeface="맑은 고딕"/>
              </a:rPr>
              <a:t>검산</a:t>
            </a:r>
            <a:r>
              <a:rPr sz="1800" b="0" dirty="0">
                <a:solidFill>
                  <a:srgbClr val="000000"/>
                </a:solidFill>
                <a:latin typeface="맑은 고딕"/>
              </a:rPr>
              <a:t>: z=(3,1,−1,0,1) → z₄=0,z₅=1 → z₁=3,z₂=1,z₃≡−1 (mod 13), Az≡0 </a:t>
            </a:r>
            <a:r>
              <a:rPr sz="1800" b="0" dirty="0" err="1">
                <a:solidFill>
                  <a:srgbClr val="000000"/>
                </a:solidFill>
                <a:latin typeface="맑은 고딕"/>
              </a:rPr>
              <a:t>성립</a:t>
            </a:r>
            <a:endParaRPr sz="1800" b="0" dirty="0">
              <a:solidFill>
                <a:srgbClr val="000000"/>
              </a:solidFill>
              <a:latin typeface="맑은 고딕"/>
            </a:endParaRPr>
          </a:p>
          <a:p>
            <a:pPr>
              <a:lnSpc>
                <a:spcPct val="150000"/>
              </a:lnSpc>
              <a:spcAft>
                <a:spcPts val="800"/>
              </a:spcAft>
              <a:buNone/>
            </a:pPr>
            <a:r>
              <a:rPr sz="1800" b="0" dirty="0">
                <a:solidFill>
                  <a:srgbClr val="000000"/>
                </a:solidFill>
                <a:latin typeface="맑은 고딕"/>
              </a:rPr>
              <a:t>• </a:t>
            </a:r>
            <a:r>
              <a:rPr sz="1800" b="0" dirty="0" err="1">
                <a:solidFill>
                  <a:srgbClr val="000000"/>
                </a:solidFill>
                <a:latin typeface="맑은 고딕"/>
              </a:rPr>
              <a:t>참고</a:t>
            </a:r>
            <a:r>
              <a:rPr sz="1800" b="0" dirty="0">
                <a:solidFill>
                  <a:srgbClr val="000000"/>
                </a:solidFill>
                <a:latin typeface="맑은 고딕"/>
              </a:rPr>
              <a:t>: 이 </a:t>
            </a:r>
            <a:r>
              <a:rPr sz="1800" b="0" dirty="0" err="1">
                <a:solidFill>
                  <a:srgbClr val="000000"/>
                </a:solidFill>
                <a:latin typeface="맑은 고딕"/>
              </a:rPr>
              <a:t>예제는</a:t>
            </a:r>
            <a:r>
              <a:rPr sz="1800" b="0" dirty="0">
                <a:solidFill>
                  <a:srgbClr val="000000"/>
                </a:solidFill>
                <a:latin typeface="맑은 고딕"/>
              </a:rPr>
              <a:t> </a:t>
            </a:r>
            <a:r>
              <a:rPr sz="1800" b="0" dirty="0" err="1">
                <a:solidFill>
                  <a:srgbClr val="000000"/>
                </a:solidFill>
                <a:latin typeface="맑은 고딕"/>
              </a:rPr>
              <a:t>비둘기집</a:t>
            </a:r>
            <a:r>
              <a:rPr sz="1800" b="0" dirty="0">
                <a:solidFill>
                  <a:srgbClr val="000000"/>
                </a:solidFill>
                <a:latin typeface="맑은 고딕"/>
              </a:rPr>
              <a:t> </a:t>
            </a:r>
            <a:r>
              <a:rPr sz="1800" b="0" dirty="0" err="1">
                <a:solidFill>
                  <a:srgbClr val="000000"/>
                </a:solidFill>
                <a:latin typeface="맑은 고딕"/>
              </a:rPr>
              <a:t>조건</a:t>
            </a:r>
            <a:r>
              <a:rPr sz="1800" b="0" dirty="0">
                <a:solidFill>
                  <a:srgbClr val="000000"/>
                </a:solidFill>
                <a:latin typeface="맑은 고딕"/>
              </a:rPr>
              <a:t> (B+1)^m &gt; </a:t>
            </a:r>
            <a:r>
              <a:rPr sz="1800" b="0" dirty="0" err="1">
                <a:solidFill>
                  <a:srgbClr val="000000"/>
                </a:solidFill>
                <a:latin typeface="맑은 고딕"/>
              </a:rPr>
              <a:t>q^n</a:t>
            </a:r>
            <a:r>
              <a:rPr sz="1800" b="0" dirty="0">
                <a:solidFill>
                  <a:srgbClr val="000000"/>
                </a:solidFill>
                <a:latin typeface="맑은 고딕"/>
              </a:rPr>
              <a:t> 을 </a:t>
            </a:r>
            <a:r>
              <a:rPr sz="1800" b="0" dirty="0" err="1">
                <a:solidFill>
                  <a:srgbClr val="000000"/>
                </a:solidFill>
                <a:latin typeface="맑은 고딕"/>
              </a:rPr>
              <a:t>만족하지</a:t>
            </a:r>
            <a:r>
              <a:rPr sz="1800" b="0" dirty="0">
                <a:solidFill>
                  <a:srgbClr val="000000"/>
                </a:solidFill>
                <a:latin typeface="맑은 고딕"/>
              </a:rPr>
              <a:t> </a:t>
            </a:r>
            <a:r>
              <a:rPr sz="1800" b="0" dirty="0" err="1">
                <a:solidFill>
                  <a:srgbClr val="000000"/>
                </a:solidFill>
                <a:latin typeface="맑은 고딕"/>
              </a:rPr>
              <a:t>않지만</a:t>
            </a:r>
            <a:r>
              <a:rPr sz="1800" b="0" dirty="0">
                <a:solidFill>
                  <a:srgbClr val="000000"/>
                </a:solidFill>
                <a:latin typeface="맑은 고딕"/>
              </a:rPr>
              <a:t> </a:t>
            </a:r>
            <a:r>
              <a:rPr sz="1800" b="0" dirty="0" err="1">
                <a:solidFill>
                  <a:srgbClr val="000000"/>
                </a:solidFill>
                <a:latin typeface="맑은 고딕"/>
              </a:rPr>
              <a:t>실제로</a:t>
            </a:r>
            <a:r>
              <a:rPr sz="1800" b="0" dirty="0">
                <a:solidFill>
                  <a:srgbClr val="000000"/>
                </a:solidFill>
                <a:latin typeface="맑은 고딕"/>
              </a:rPr>
              <a:t> </a:t>
            </a:r>
            <a:r>
              <a:rPr sz="1800" b="0" dirty="0" err="1">
                <a:solidFill>
                  <a:srgbClr val="000000"/>
                </a:solidFill>
                <a:latin typeface="맑은 고딕"/>
              </a:rPr>
              <a:t>해가</a:t>
            </a:r>
            <a:r>
              <a:rPr sz="1800" b="0" dirty="0">
                <a:solidFill>
                  <a:srgbClr val="000000"/>
                </a:solidFill>
                <a:latin typeface="맑은 고딕"/>
              </a:rPr>
              <a:t> </a:t>
            </a:r>
            <a:r>
              <a:rPr sz="1800" b="0" dirty="0" err="1">
                <a:solidFill>
                  <a:srgbClr val="000000"/>
                </a:solidFill>
                <a:latin typeface="맑은 고딕"/>
              </a:rPr>
              <a:t>존재</a:t>
            </a:r>
            <a:endParaRPr sz="1800" b="0" dirty="0">
              <a:solidFill>
                <a:srgbClr val="000000"/>
              </a:solidFill>
              <a:latin typeface="맑은 고딕"/>
            </a:endParaRPr>
          </a:p>
          <a:p>
            <a:pPr>
              <a:lnSpc>
                <a:spcPct val="150000"/>
              </a:lnSpc>
              <a:spcAft>
                <a:spcPts val="400"/>
              </a:spcAft>
              <a:buNone/>
            </a:pPr>
            <a:r>
              <a:rPr sz="1800" b="0" dirty="0">
                <a:solidFill>
                  <a:srgbClr val="000000"/>
                </a:solidFill>
                <a:latin typeface="맑은 고딕"/>
              </a:rPr>
              <a:t>• → </a:t>
            </a:r>
            <a:r>
              <a:rPr sz="1800" b="0" dirty="0" err="1">
                <a:solidFill>
                  <a:srgbClr val="000000"/>
                </a:solidFill>
                <a:latin typeface="맑은 고딕"/>
              </a:rPr>
              <a:t>비둘기집</a:t>
            </a:r>
            <a:r>
              <a:rPr sz="1800" b="0" dirty="0">
                <a:solidFill>
                  <a:srgbClr val="000000"/>
                </a:solidFill>
                <a:latin typeface="맑은 고딕"/>
              </a:rPr>
              <a:t> </a:t>
            </a:r>
            <a:r>
              <a:rPr sz="1800" b="0" dirty="0" err="1">
                <a:solidFill>
                  <a:srgbClr val="000000"/>
                </a:solidFill>
                <a:latin typeface="맑은 고딕"/>
              </a:rPr>
              <a:t>조건은</a:t>
            </a:r>
            <a:r>
              <a:rPr sz="1800" b="0" dirty="0">
                <a:solidFill>
                  <a:srgbClr val="000000"/>
                </a:solidFill>
                <a:latin typeface="맑은 고딕"/>
              </a:rPr>
              <a:t> </a:t>
            </a:r>
            <a:r>
              <a:rPr sz="1800" b="0" dirty="0" err="1">
                <a:solidFill>
                  <a:srgbClr val="000000"/>
                </a:solidFill>
                <a:latin typeface="맑은 고딕"/>
              </a:rPr>
              <a:t>충분조건이지</a:t>
            </a:r>
            <a:r>
              <a:rPr sz="1800" b="0" dirty="0">
                <a:solidFill>
                  <a:srgbClr val="000000"/>
                </a:solidFill>
                <a:latin typeface="맑은 고딕"/>
              </a:rPr>
              <a:t> </a:t>
            </a:r>
            <a:r>
              <a:rPr sz="1800" b="0" dirty="0" err="1">
                <a:solidFill>
                  <a:srgbClr val="000000"/>
                </a:solidFill>
                <a:latin typeface="맑은 고딕"/>
              </a:rPr>
              <a:t>필요조건이</a:t>
            </a:r>
            <a:r>
              <a:rPr sz="1800" b="0" dirty="0">
                <a:solidFill>
                  <a:srgbClr val="000000"/>
                </a:solidFill>
                <a:latin typeface="맑은 고딕"/>
              </a:rPr>
              <a:t> </a:t>
            </a:r>
            <a:r>
              <a:rPr sz="1800" b="0" dirty="0" err="1">
                <a:solidFill>
                  <a:srgbClr val="000000"/>
                </a:solidFill>
                <a:latin typeface="맑은 고딕"/>
              </a:rPr>
              <a:t>아님을</a:t>
            </a:r>
            <a:r>
              <a:rPr sz="1800" b="0" dirty="0">
                <a:solidFill>
                  <a:srgbClr val="000000"/>
                </a:solidFill>
                <a:latin typeface="맑은 고딕"/>
              </a:rPr>
              <a:t> </a:t>
            </a:r>
            <a:r>
              <a:rPr sz="1800" b="0" dirty="0" err="1">
                <a:solidFill>
                  <a:srgbClr val="000000"/>
                </a:solidFill>
                <a:latin typeface="맑은 고딕"/>
              </a:rPr>
              <a:t>보여줌</a:t>
            </a:r>
            <a:endParaRPr sz="1800" b="0" dirty="0">
              <a:solidFill>
                <a:srgbClr val="000000"/>
              </a:solidFill>
              <a:latin typeface="맑은 고딕"/>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06318-7DE9-72A2-2CE1-25C7FDE04001}"/>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DC984CC8-9080-4E12-D0F8-70FF9705CB4E}"/>
              </a:ext>
            </a:extLst>
          </p:cNvPr>
          <p:cNvSpPr>
            <a:spLocks noGrp="1"/>
          </p:cNvSpPr>
          <p:nvPr>
            <p:ph type="title"/>
          </p:nvPr>
        </p:nvSpPr>
        <p:spPr/>
        <p:txBody>
          <a:bodyPr/>
          <a:lstStyle/>
          <a:p>
            <a:r>
              <a:rPr lang="ko-KR" altLang="en-US" sz="2800" b="1" dirty="0">
                <a:solidFill>
                  <a:srgbClr val="000000"/>
                </a:solidFill>
                <a:latin typeface="맑은 고딕"/>
              </a:rPr>
              <a:t>충돌 저항 해시 함수</a:t>
            </a:r>
          </a:p>
        </p:txBody>
      </p:sp>
      <p:sp>
        <p:nvSpPr>
          <p:cNvPr id="3" name="내용 개체 틀 2">
            <a:extLst>
              <a:ext uri="{FF2B5EF4-FFF2-40B4-BE49-F238E27FC236}">
                <a16:creationId xmlns:a16="http://schemas.microsoft.com/office/drawing/2014/main" id="{32068E4B-0A01-904D-5B4F-F98870F317E8}"/>
              </a:ext>
            </a:extLst>
          </p:cNvPr>
          <p:cNvSpPr>
            <a:spLocks noGrp="1"/>
          </p:cNvSpPr>
          <p:nvPr>
            <p:ph idx="1"/>
          </p:nvPr>
        </p:nvSpPr>
        <p:spPr>
          <a:xfrm>
            <a:off x="838200" y="2281892"/>
            <a:ext cx="10515600" cy="3757941"/>
          </a:xfrm>
        </p:spPr>
        <p:txBody>
          <a:bodyPr>
            <a:normAutofit/>
          </a:bodyPr>
          <a:lstStyle/>
          <a:p>
            <a:pPr>
              <a:spcAft>
                <a:spcPts val="800"/>
              </a:spcAft>
              <a:buFont typeface="Arial"/>
              <a:buChar char="•"/>
            </a:pPr>
            <a:r>
              <a:rPr lang="en-US" altLang="ko-KR" sz="1800" b="0" dirty="0">
                <a:solidFill>
                  <a:srgbClr val="000000"/>
                </a:solidFill>
                <a:latin typeface="맑은 고딕"/>
              </a:rPr>
              <a:t>A ∈_R </a:t>
            </a:r>
            <a:r>
              <a:rPr lang="en-US" altLang="ko-KR" sz="1800" b="0" dirty="0" err="1">
                <a:solidFill>
                  <a:srgbClr val="000000"/>
                </a:solidFill>
                <a:latin typeface="맑은 고딕"/>
              </a:rPr>
              <a:t>ℤ_q</a:t>
            </a:r>
            <a:r>
              <a:rPr lang="en-US" altLang="ko-KR" sz="1800" b="0" dirty="0">
                <a:solidFill>
                  <a:srgbClr val="000000"/>
                </a:solidFill>
                <a:latin typeface="맑은 고딕"/>
              </a:rPr>
              <a:t>^{</a:t>
            </a:r>
            <a:r>
              <a:rPr lang="en-US" altLang="ko-KR" sz="1800" b="0" dirty="0" err="1">
                <a:solidFill>
                  <a:srgbClr val="000000"/>
                </a:solidFill>
                <a:latin typeface="맑은 고딕"/>
              </a:rPr>
              <a:t>n×m</a:t>
            </a:r>
            <a:r>
              <a:rPr lang="en-US" altLang="ko-KR" sz="1800" b="0" dirty="0">
                <a:solidFill>
                  <a:srgbClr val="000000"/>
                </a:solidFill>
                <a:latin typeface="맑은 고딕"/>
              </a:rPr>
              <a:t>}, m &gt; n log₂ q </a:t>
            </a:r>
            <a:r>
              <a:rPr lang="ko-KR" altLang="en-US" sz="1800" b="0" dirty="0">
                <a:solidFill>
                  <a:srgbClr val="000000"/>
                </a:solidFill>
                <a:latin typeface="맑은 고딕"/>
              </a:rPr>
              <a:t>가 되도록 선택</a:t>
            </a:r>
          </a:p>
          <a:p>
            <a:pPr>
              <a:spcAft>
                <a:spcPts val="800"/>
              </a:spcAft>
              <a:buFont typeface="Arial"/>
              <a:buChar char="•"/>
            </a:pPr>
            <a:r>
              <a:rPr lang="ko-KR" altLang="en-US" sz="1800" b="0" dirty="0" err="1">
                <a:solidFill>
                  <a:srgbClr val="000000"/>
                </a:solidFill>
                <a:latin typeface="맑은 고딕"/>
              </a:rPr>
              <a:t>압축성</a:t>
            </a:r>
            <a:r>
              <a:rPr lang="en-US" altLang="ko-KR" sz="1800" b="0" dirty="0">
                <a:solidFill>
                  <a:srgbClr val="000000"/>
                </a:solidFill>
                <a:latin typeface="맑은 고딕"/>
              </a:rPr>
              <a:t>: m &gt; n log₂ q ⇒ 2^m &gt; </a:t>
            </a:r>
            <a:r>
              <a:rPr lang="en-US" altLang="ko-KR" sz="1800" b="0" dirty="0" err="1">
                <a:solidFill>
                  <a:srgbClr val="000000"/>
                </a:solidFill>
                <a:latin typeface="맑은 고딕"/>
              </a:rPr>
              <a:t>q^n</a:t>
            </a:r>
            <a:r>
              <a:rPr lang="ko-KR" altLang="en-US" sz="1800" b="0" dirty="0">
                <a:solidFill>
                  <a:srgbClr val="000000"/>
                </a:solidFill>
                <a:latin typeface="맑은 고딕"/>
              </a:rPr>
              <a:t> → 정의역이 공역보다 큰 진짜 압축 함수</a:t>
            </a:r>
          </a:p>
          <a:p>
            <a:pPr>
              <a:spcAft>
                <a:spcPts val="800"/>
              </a:spcAft>
              <a:buFont typeface="Arial"/>
              <a:buChar char="•"/>
            </a:pPr>
            <a:r>
              <a:rPr lang="ko-KR" altLang="en-US" sz="1800" b="0" dirty="0">
                <a:solidFill>
                  <a:srgbClr val="000000"/>
                </a:solidFill>
                <a:latin typeface="맑은 고딕"/>
              </a:rPr>
              <a:t>충돌 저항성 증명</a:t>
            </a:r>
          </a:p>
          <a:p>
            <a:pPr lvl="1">
              <a:spcAft>
                <a:spcPts val="400"/>
              </a:spcAft>
              <a:buFont typeface="Arial"/>
              <a:buChar char="•"/>
            </a:pPr>
            <a:r>
              <a:rPr lang="ko-KR" altLang="en-US" b="0" dirty="0">
                <a:solidFill>
                  <a:srgbClr val="000000"/>
                </a:solidFill>
                <a:latin typeface="맑은 고딕"/>
              </a:rPr>
              <a:t>충돌 </a:t>
            </a:r>
            <a:r>
              <a:rPr lang="en-US" altLang="ko-KR" b="0" dirty="0">
                <a:solidFill>
                  <a:srgbClr val="000000"/>
                </a:solidFill>
                <a:latin typeface="맑은 고딕"/>
              </a:rPr>
              <a:t>z₁≠z₂∈{0,1}^m</a:t>
            </a:r>
            <a:r>
              <a:rPr lang="ko-KR" altLang="en-US" b="0" dirty="0">
                <a:solidFill>
                  <a:srgbClr val="000000"/>
                </a:solidFill>
                <a:latin typeface="맑은 고딕"/>
              </a:rPr>
              <a:t>을 찾을 수 있다고 가정 → </a:t>
            </a:r>
            <a:r>
              <a:rPr lang="en-US" altLang="ko-KR" b="0" dirty="0">
                <a:solidFill>
                  <a:srgbClr val="000000"/>
                </a:solidFill>
                <a:latin typeface="맑은 고딕"/>
              </a:rPr>
              <a:t>H_A(z₁)=H_A(z₂)</a:t>
            </a:r>
          </a:p>
          <a:p>
            <a:pPr lvl="1">
              <a:spcAft>
                <a:spcPts val="400"/>
              </a:spcAft>
              <a:buFont typeface="Arial"/>
              <a:buChar char="•"/>
            </a:pPr>
            <a:r>
              <a:rPr lang="en-US" altLang="ko-KR" b="0" dirty="0">
                <a:solidFill>
                  <a:srgbClr val="000000"/>
                </a:solidFill>
                <a:latin typeface="맑은 고딕"/>
              </a:rPr>
              <a:t>z=z₁−z₂ </a:t>
            </a:r>
            <a:r>
              <a:rPr lang="ko-KR" altLang="en-US" b="0" dirty="0">
                <a:solidFill>
                  <a:srgbClr val="000000"/>
                </a:solidFill>
                <a:latin typeface="맑은 고딕"/>
              </a:rPr>
              <a:t>라 하면 </a:t>
            </a:r>
            <a:r>
              <a:rPr lang="en-US" altLang="ko-KR" b="0" dirty="0">
                <a:solidFill>
                  <a:srgbClr val="000000"/>
                </a:solidFill>
                <a:latin typeface="맑은 고딕"/>
              </a:rPr>
              <a:t>Az≡0, z≠0, z∈[−1,1]^m → SIS(n,m,q,1)</a:t>
            </a:r>
            <a:r>
              <a:rPr lang="ko-KR" altLang="en-US" b="0" dirty="0">
                <a:solidFill>
                  <a:srgbClr val="000000"/>
                </a:solidFill>
                <a:latin typeface="맑은 고딕"/>
              </a:rPr>
              <a:t>의 해</a:t>
            </a:r>
          </a:p>
          <a:p>
            <a:pPr lvl="1">
              <a:spcAft>
                <a:spcPts val="400"/>
              </a:spcAft>
              <a:buFont typeface="Arial"/>
              <a:buChar char="•"/>
            </a:pPr>
            <a:r>
              <a:rPr lang="ko-KR" altLang="en-US" b="0" dirty="0">
                <a:solidFill>
                  <a:srgbClr val="000000"/>
                </a:solidFill>
                <a:latin typeface="맑은 고딕"/>
              </a:rPr>
              <a:t>대우</a:t>
            </a:r>
            <a:r>
              <a:rPr lang="en-US" altLang="ko-KR" b="0" dirty="0">
                <a:solidFill>
                  <a:srgbClr val="000000"/>
                </a:solidFill>
                <a:latin typeface="맑은 고딕"/>
              </a:rPr>
              <a:t>: SIS</a:t>
            </a:r>
            <a:r>
              <a:rPr lang="ko-KR" altLang="en-US" b="0" dirty="0">
                <a:solidFill>
                  <a:srgbClr val="000000"/>
                </a:solidFill>
                <a:latin typeface="맑은 고딕"/>
              </a:rPr>
              <a:t>가 어렵다 ⇒ </a:t>
            </a:r>
            <a:r>
              <a:rPr lang="en-US" altLang="ko-KR" b="0" dirty="0">
                <a:solidFill>
                  <a:srgbClr val="000000"/>
                </a:solidFill>
                <a:latin typeface="맑은 고딕"/>
              </a:rPr>
              <a:t>H_A</a:t>
            </a:r>
            <a:r>
              <a:rPr lang="ko-KR" altLang="en-US" b="0" dirty="0">
                <a:solidFill>
                  <a:srgbClr val="000000"/>
                </a:solidFill>
                <a:latin typeface="맑은 고딕"/>
              </a:rPr>
              <a:t>는 충돌 저항적</a:t>
            </a:r>
          </a:p>
        </p:txBody>
      </p:sp>
      <p:sp>
        <p:nvSpPr>
          <p:cNvPr id="4" name="슬라이드 번호 개체 틀 3">
            <a:extLst>
              <a:ext uri="{FF2B5EF4-FFF2-40B4-BE49-F238E27FC236}">
                <a16:creationId xmlns:a16="http://schemas.microsoft.com/office/drawing/2014/main" id="{7F6FF317-CABE-8101-FC4A-22FA515A878A}"/>
              </a:ext>
            </a:extLst>
          </p:cNvPr>
          <p:cNvSpPr>
            <a:spLocks noGrp="1"/>
          </p:cNvSpPr>
          <p:nvPr>
            <p:ph type="sldNum" sz="quarter" idx="12"/>
          </p:nvPr>
        </p:nvSpPr>
        <p:spPr/>
        <p:txBody>
          <a:bodyPr/>
          <a:lstStyle/>
          <a:p>
            <a:fld id="{4438A2D4-3867-488E-A04E-7BFFCAED45A6}" type="slidenum">
              <a:rPr lang="ko-KR" altLang="en-US" smtClean="0"/>
              <a:t>11</a:t>
            </a:fld>
            <a:endParaRPr lang="ko-KR" altLang="en-US"/>
          </a:p>
        </p:txBody>
      </p:sp>
      <p:pic>
        <p:nvPicPr>
          <p:cNvPr id="6" name="Picture 5" descr="m_s8_def.png">
            <a:extLst>
              <a:ext uri="{FF2B5EF4-FFF2-40B4-BE49-F238E27FC236}">
                <a16:creationId xmlns:a16="http://schemas.microsoft.com/office/drawing/2014/main" id="{2956CA72-379A-045E-25C4-119B3BB423F7}"/>
              </a:ext>
            </a:extLst>
          </p:cNvPr>
          <p:cNvPicPr>
            <a:picLocks noChangeAspect="1"/>
          </p:cNvPicPr>
          <p:nvPr/>
        </p:nvPicPr>
        <p:blipFill>
          <a:blip r:embed="rId3"/>
          <a:stretch>
            <a:fillRect/>
          </a:stretch>
        </p:blipFill>
        <p:spPr>
          <a:xfrm>
            <a:off x="2209800" y="1337521"/>
            <a:ext cx="7772400" cy="627854"/>
          </a:xfrm>
          <a:prstGeom prst="rect">
            <a:avLst/>
          </a:prstGeom>
        </p:spPr>
      </p:pic>
    </p:spTree>
    <p:extLst>
      <p:ext uri="{BB962C8B-B14F-4D97-AF65-F5344CB8AC3E}">
        <p14:creationId xmlns:p14="http://schemas.microsoft.com/office/powerpoint/2010/main" val="1846674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BF403-F630-278F-4B66-C19D51484539}"/>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3038BDC7-01DA-49B5-009C-30DDB72A1AC9}"/>
              </a:ext>
            </a:extLst>
          </p:cNvPr>
          <p:cNvSpPr>
            <a:spLocks noGrp="1"/>
          </p:cNvSpPr>
          <p:nvPr>
            <p:ph type="title"/>
          </p:nvPr>
        </p:nvSpPr>
        <p:spPr/>
        <p:txBody>
          <a:bodyPr/>
          <a:lstStyle/>
          <a:p>
            <a:r>
              <a:rPr lang="en-US" altLang="ko-KR" sz="2800" b="1" dirty="0">
                <a:solidFill>
                  <a:srgbClr val="000000"/>
                </a:solidFill>
                <a:latin typeface="맑은 고딕"/>
              </a:rPr>
              <a:t>ISIS</a:t>
            </a:r>
            <a:r>
              <a:rPr lang="ko-KR" altLang="en-US" sz="2800" b="1" dirty="0">
                <a:solidFill>
                  <a:srgbClr val="000000"/>
                </a:solidFill>
                <a:latin typeface="맑은 고딕"/>
              </a:rPr>
              <a:t> </a:t>
            </a:r>
            <a:r>
              <a:rPr lang="en-US" altLang="ko-KR" sz="2800" b="1" dirty="0">
                <a:solidFill>
                  <a:srgbClr val="000000"/>
                </a:solidFill>
                <a:latin typeface="맑은 고딕"/>
              </a:rPr>
              <a:t>(Inhomogeneous SIS)</a:t>
            </a:r>
            <a:endParaRPr lang="ko-KR" altLang="en-US" dirty="0"/>
          </a:p>
        </p:txBody>
      </p:sp>
      <p:sp>
        <p:nvSpPr>
          <p:cNvPr id="3" name="내용 개체 틀 2">
            <a:extLst>
              <a:ext uri="{FF2B5EF4-FFF2-40B4-BE49-F238E27FC236}">
                <a16:creationId xmlns:a16="http://schemas.microsoft.com/office/drawing/2014/main" id="{1C68BA10-A14E-DA96-B949-37F8EF3B495D}"/>
              </a:ext>
            </a:extLst>
          </p:cNvPr>
          <p:cNvSpPr>
            <a:spLocks noGrp="1"/>
          </p:cNvSpPr>
          <p:nvPr>
            <p:ph idx="1"/>
          </p:nvPr>
        </p:nvSpPr>
        <p:spPr>
          <a:xfrm>
            <a:off x="838200" y="2678619"/>
            <a:ext cx="10515600" cy="3677731"/>
          </a:xfrm>
        </p:spPr>
        <p:txBody>
          <a:bodyPr>
            <a:normAutofit/>
          </a:bodyPr>
          <a:lstStyle/>
          <a:p>
            <a:pPr>
              <a:spcAft>
                <a:spcPts val="800"/>
              </a:spcAft>
              <a:buFont typeface="Arial"/>
              <a:buChar char="•"/>
            </a:pPr>
            <a:r>
              <a:rPr lang="en-US" altLang="ko-KR" sz="1800" b="0" dirty="0">
                <a:solidFill>
                  <a:srgbClr val="000000"/>
                </a:solidFill>
                <a:latin typeface="맑은 고딕"/>
              </a:rPr>
              <a:t>ISIS(</a:t>
            </a:r>
            <a:r>
              <a:rPr lang="en-US" altLang="ko-KR" sz="1800" b="0" dirty="0" err="1">
                <a:solidFill>
                  <a:srgbClr val="000000"/>
                </a:solidFill>
                <a:latin typeface="맑은 고딕"/>
              </a:rPr>
              <a:t>n,m,q,B</a:t>
            </a:r>
            <a:r>
              <a:rPr lang="en-US" altLang="ko-KR" sz="1800" b="0" dirty="0">
                <a:solidFill>
                  <a:srgbClr val="000000"/>
                </a:solidFill>
                <a:latin typeface="맑은 고딕"/>
              </a:rPr>
              <a:t>): A ∈_R </a:t>
            </a:r>
            <a:r>
              <a:rPr lang="en-US" altLang="ko-KR" sz="1800" b="0" dirty="0" err="1">
                <a:solidFill>
                  <a:srgbClr val="000000"/>
                </a:solidFill>
                <a:latin typeface="맑은 고딕"/>
              </a:rPr>
              <a:t>ℤ_q</a:t>
            </a:r>
            <a:r>
              <a:rPr lang="en-US" altLang="ko-KR" sz="1800" b="0" dirty="0">
                <a:solidFill>
                  <a:srgbClr val="000000"/>
                </a:solidFill>
                <a:latin typeface="맑은 고딕"/>
              </a:rPr>
              <a:t>^{</a:t>
            </a:r>
            <a:r>
              <a:rPr lang="en-US" altLang="ko-KR" sz="1800" b="0" dirty="0" err="1">
                <a:solidFill>
                  <a:srgbClr val="000000"/>
                </a:solidFill>
                <a:latin typeface="맑은 고딕"/>
              </a:rPr>
              <a:t>n×m</a:t>
            </a:r>
            <a:r>
              <a:rPr lang="en-US" altLang="ko-KR" sz="1800" b="0" dirty="0">
                <a:solidFill>
                  <a:srgbClr val="000000"/>
                </a:solidFill>
                <a:latin typeface="맑은 고딕"/>
              </a:rPr>
              <a:t>}, b ∈_R </a:t>
            </a:r>
            <a:r>
              <a:rPr lang="en-US" altLang="ko-KR" sz="1800" b="0" dirty="0" err="1">
                <a:solidFill>
                  <a:srgbClr val="000000"/>
                </a:solidFill>
                <a:latin typeface="맑은 고딕"/>
              </a:rPr>
              <a:t>ℤ_q^n</a:t>
            </a:r>
            <a:r>
              <a:rPr lang="ko-KR" altLang="en-US" sz="1800" b="0" dirty="0">
                <a:solidFill>
                  <a:srgbClr val="000000"/>
                </a:solidFill>
                <a:latin typeface="맑은 고딕"/>
              </a:rPr>
              <a:t> 가 주어졌을 때 위 조건의 </a:t>
            </a:r>
            <a:r>
              <a:rPr lang="en-US" altLang="ko-KR" sz="1800" b="0" dirty="0">
                <a:solidFill>
                  <a:srgbClr val="000000"/>
                </a:solidFill>
                <a:latin typeface="맑은 고딕"/>
              </a:rPr>
              <a:t>z ∈ </a:t>
            </a:r>
            <a:r>
              <a:rPr lang="en-US" altLang="ko-KR" sz="1800" b="0" dirty="0" err="1">
                <a:solidFill>
                  <a:srgbClr val="000000"/>
                </a:solidFill>
                <a:latin typeface="맑은 고딕"/>
              </a:rPr>
              <a:t>ℤ^m</a:t>
            </a:r>
            <a:r>
              <a:rPr lang="ko-KR" altLang="en-US" sz="1800" b="0" dirty="0">
                <a:solidFill>
                  <a:srgbClr val="000000"/>
                </a:solidFill>
                <a:latin typeface="맑은 고딕"/>
              </a:rPr>
              <a:t> 을 찾아라 </a:t>
            </a:r>
            <a:r>
              <a:rPr lang="en-US" altLang="ko-KR" sz="1800" b="0" dirty="0">
                <a:solidFill>
                  <a:srgbClr val="000000"/>
                </a:solidFill>
                <a:latin typeface="맑은 고딕"/>
              </a:rPr>
              <a:t>(n&lt;m, </a:t>
            </a:r>
            <a:r>
              <a:rPr lang="en-US" altLang="ko-KR" sz="1800" b="0" dirty="0" err="1">
                <a:solidFill>
                  <a:srgbClr val="000000"/>
                </a:solidFill>
                <a:latin typeface="맑은 고딕"/>
              </a:rPr>
              <a:t>B≪q</a:t>
            </a:r>
            <a:r>
              <a:rPr lang="en-US" altLang="ko-KR" sz="1800" b="0" dirty="0">
                <a:solidFill>
                  <a:srgbClr val="000000"/>
                </a:solidFill>
                <a:latin typeface="맑은 고딕"/>
              </a:rPr>
              <a:t>/2)</a:t>
            </a:r>
          </a:p>
          <a:p>
            <a:pPr>
              <a:spcAft>
                <a:spcPts val="800"/>
              </a:spcAft>
              <a:buFont typeface="Arial"/>
              <a:buChar char="•"/>
            </a:pPr>
            <a:r>
              <a:rPr lang="en-US" altLang="ko-KR" sz="1800" b="0" dirty="0">
                <a:solidFill>
                  <a:srgbClr val="000000"/>
                </a:solidFill>
                <a:latin typeface="맑은 고딕"/>
              </a:rPr>
              <a:t>SIS(</a:t>
            </a:r>
            <a:r>
              <a:rPr lang="ko-KR" altLang="en-US" sz="1800" b="0" dirty="0">
                <a:solidFill>
                  <a:srgbClr val="000000"/>
                </a:solidFill>
                <a:latin typeface="맑은 고딕"/>
              </a:rPr>
              <a:t>우변 </a:t>
            </a:r>
            <a:r>
              <a:rPr lang="en-US" altLang="ko-KR" sz="1800" b="0" dirty="0">
                <a:solidFill>
                  <a:srgbClr val="000000"/>
                </a:solidFill>
                <a:latin typeface="맑은 고딕"/>
              </a:rPr>
              <a:t>0, </a:t>
            </a:r>
            <a:r>
              <a:rPr lang="ko-KR" altLang="en-US" sz="1800" b="0" dirty="0">
                <a:solidFill>
                  <a:srgbClr val="000000"/>
                </a:solidFill>
                <a:latin typeface="맑은 고딕"/>
              </a:rPr>
              <a:t>동차</a:t>
            </a:r>
            <a:r>
              <a:rPr lang="en-US" altLang="ko-KR" sz="1800" b="0" dirty="0">
                <a:solidFill>
                  <a:srgbClr val="000000"/>
                </a:solidFill>
                <a:latin typeface="맑은 고딕"/>
              </a:rPr>
              <a:t>) vs ISIS(</a:t>
            </a:r>
            <a:r>
              <a:rPr lang="ko-KR" altLang="en-US" sz="1800" b="0" dirty="0">
                <a:solidFill>
                  <a:srgbClr val="000000"/>
                </a:solidFill>
                <a:latin typeface="맑은 고딕"/>
              </a:rPr>
              <a:t>우변 랜덤 </a:t>
            </a:r>
            <a:r>
              <a:rPr lang="en-US" altLang="ko-KR" sz="1800" b="0" dirty="0">
                <a:solidFill>
                  <a:srgbClr val="000000"/>
                </a:solidFill>
                <a:latin typeface="맑은 고딕"/>
              </a:rPr>
              <a:t>b, </a:t>
            </a:r>
            <a:r>
              <a:rPr lang="ko-KR" altLang="en-US" sz="1800" b="0" dirty="0" err="1">
                <a:solidFill>
                  <a:srgbClr val="000000"/>
                </a:solidFill>
                <a:latin typeface="맑은 고딕"/>
              </a:rPr>
              <a:t>비동차</a:t>
            </a:r>
            <a:r>
              <a:rPr lang="en-US" altLang="ko-KR" sz="1800" b="0" dirty="0">
                <a:solidFill>
                  <a:srgbClr val="000000"/>
                </a:solidFill>
                <a:latin typeface="맑은 고딕"/>
              </a:rPr>
              <a:t>)</a:t>
            </a:r>
          </a:p>
          <a:p>
            <a:pPr>
              <a:spcAft>
                <a:spcPts val="800"/>
              </a:spcAft>
              <a:buFont typeface="Arial"/>
              <a:buChar char="•"/>
            </a:pPr>
            <a:r>
              <a:rPr lang="ko-KR" altLang="en-US" sz="1800" b="0" dirty="0">
                <a:solidFill>
                  <a:srgbClr val="000000"/>
                </a:solidFill>
                <a:latin typeface="맑은 고딕"/>
              </a:rPr>
              <a:t>존재성은 </a:t>
            </a:r>
            <a:r>
              <a:rPr lang="en-US" altLang="ko-KR" sz="1800" b="0" dirty="0">
                <a:solidFill>
                  <a:srgbClr val="000000"/>
                </a:solidFill>
                <a:latin typeface="맑은 고딕"/>
              </a:rPr>
              <a:t>"</a:t>
            </a:r>
            <a:r>
              <a:rPr lang="ko-KR" altLang="en-US" sz="1800" b="0" dirty="0">
                <a:solidFill>
                  <a:srgbClr val="000000"/>
                </a:solidFill>
                <a:latin typeface="맑은 고딕"/>
              </a:rPr>
              <a:t>보장</a:t>
            </a:r>
            <a:r>
              <a:rPr lang="en-US" altLang="ko-KR" sz="1800" b="0" dirty="0">
                <a:solidFill>
                  <a:srgbClr val="000000"/>
                </a:solidFill>
                <a:latin typeface="맑은 고딕"/>
              </a:rPr>
              <a:t>"</a:t>
            </a:r>
            <a:r>
              <a:rPr lang="ko-KR" altLang="en-US" sz="1800" b="0" dirty="0">
                <a:solidFill>
                  <a:srgbClr val="000000"/>
                </a:solidFill>
                <a:latin typeface="맑은 고딕"/>
              </a:rPr>
              <a:t>이 아니라 </a:t>
            </a:r>
            <a:r>
              <a:rPr lang="en-US" altLang="ko-KR" sz="1800" b="0" dirty="0">
                <a:solidFill>
                  <a:srgbClr val="000000"/>
                </a:solidFill>
                <a:latin typeface="맑은 고딕"/>
              </a:rPr>
              <a:t>"</a:t>
            </a:r>
            <a:r>
              <a:rPr lang="ko-KR" altLang="en-US" sz="1800" b="0" dirty="0">
                <a:solidFill>
                  <a:srgbClr val="000000"/>
                </a:solidFill>
                <a:latin typeface="맑은 고딕"/>
              </a:rPr>
              <a:t>가능성이 높다</a:t>
            </a:r>
            <a:r>
              <a:rPr lang="en-US" altLang="ko-KR" sz="1800" b="0" dirty="0">
                <a:solidFill>
                  <a:srgbClr val="000000"/>
                </a:solidFill>
                <a:latin typeface="맑은 고딕"/>
              </a:rPr>
              <a:t>"</a:t>
            </a:r>
            <a:r>
              <a:rPr lang="ko-KR" altLang="en-US" sz="1800" b="0" dirty="0">
                <a:solidFill>
                  <a:srgbClr val="000000"/>
                </a:solidFill>
                <a:latin typeface="맑은 고딕"/>
              </a:rPr>
              <a:t>에 그침</a:t>
            </a:r>
          </a:p>
          <a:p>
            <a:pPr lvl="1">
              <a:spcAft>
                <a:spcPts val="400"/>
              </a:spcAft>
              <a:buFont typeface="Arial"/>
              <a:buChar char="•"/>
            </a:pPr>
            <a:r>
              <a:rPr lang="ko-KR" altLang="en-US" b="0" dirty="0">
                <a:solidFill>
                  <a:srgbClr val="000000"/>
                </a:solidFill>
                <a:latin typeface="맑은 고딕"/>
              </a:rPr>
              <a:t>특정 </a:t>
            </a:r>
            <a:r>
              <a:rPr lang="ko-KR" altLang="en-US" b="0" dirty="0" err="1">
                <a:solidFill>
                  <a:srgbClr val="000000"/>
                </a:solidFill>
                <a:latin typeface="맑은 고딕"/>
              </a:rPr>
              <a:t>목표값</a:t>
            </a:r>
            <a:r>
              <a:rPr lang="ko-KR" altLang="en-US" b="0" dirty="0">
                <a:solidFill>
                  <a:srgbClr val="000000"/>
                </a:solidFill>
                <a:latin typeface="맑은 고딕"/>
              </a:rPr>
              <a:t> </a:t>
            </a:r>
            <a:r>
              <a:rPr lang="en-US" altLang="ko-KR" b="0" dirty="0">
                <a:solidFill>
                  <a:srgbClr val="000000"/>
                </a:solidFill>
                <a:latin typeface="맑은 고딕"/>
              </a:rPr>
              <a:t>b</a:t>
            </a:r>
            <a:r>
              <a:rPr lang="ko-KR" altLang="en-US" b="0" dirty="0">
                <a:solidFill>
                  <a:srgbClr val="000000"/>
                </a:solidFill>
                <a:latin typeface="맑은 고딕"/>
              </a:rPr>
              <a:t>에 도달해야 하므로 비둘기집 원리가 그대로 적용되지 않음</a:t>
            </a:r>
          </a:p>
          <a:p>
            <a:pPr lvl="1">
              <a:spcAft>
                <a:spcPts val="400"/>
              </a:spcAft>
              <a:buFont typeface="Arial"/>
              <a:buChar char="•"/>
            </a:pPr>
            <a:r>
              <a:rPr lang="en-US" altLang="ko-KR" b="0" dirty="0">
                <a:solidFill>
                  <a:srgbClr val="000000"/>
                </a:solidFill>
                <a:latin typeface="맑은 고딕"/>
              </a:rPr>
              <a:t>(2B+1)^m ≫ </a:t>
            </a:r>
            <a:r>
              <a:rPr lang="en-US" altLang="ko-KR" b="0" dirty="0" err="1">
                <a:solidFill>
                  <a:srgbClr val="000000"/>
                </a:solidFill>
                <a:latin typeface="맑은 고딕"/>
              </a:rPr>
              <a:t>q^n</a:t>
            </a:r>
            <a:r>
              <a:rPr lang="ko-KR" altLang="en-US" b="0" dirty="0">
                <a:solidFill>
                  <a:srgbClr val="000000"/>
                </a:solidFill>
                <a:latin typeface="맑은 고딕"/>
              </a:rPr>
              <a:t> 이면 해가 존재할 가능성이 높다 </a:t>
            </a:r>
            <a:r>
              <a:rPr lang="en-US" altLang="ko-KR" b="0" dirty="0">
                <a:solidFill>
                  <a:srgbClr val="000000"/>
                </a:solidFill>
                <a:latin typeface="맑은 고딕"/>
              </a:rPr>
              <a:t>(</a:t>
            </a:r>
            <a:r>
              <a:rPr lang="ko-KR" altLang="en-US" b="0" dirty="0">
                <a:solidFill>
                  <a:srgbClr val="000000"/>
                </a:solidFill>
                <a:latin typeface="맑은 고딕"/>
              </a:rPr>
              <a:t>평균 논증</a:t>
            </a:r>
            <a:r>
              <a:rPr lang="en-US" altLang="ko-KR" b="0" dirty="0">
                <a:solidFill>
                  <a:srgbClr val="000000"/>
                </a:solidFill>
                <a:latin typeface="맑은 고딕"/>
              </a:rPr>
              <a:t>, </a:t>
            </a:r>
            <a:r>
              <a:rPr lang="ko-KR" altLang="en-US" b="0" dirty="0">
                <a:solidFill>
                  <a:srgbClr val="000000"/>
                </a:solidFill>
                <a:latin typeface="맑은 고딕"/>
              </a:rPr>
              <a:t>휴리스틱</a:t>
            </a:r>
            <a:r>
              <a:rPr lang="en-US" altLang="ko-KR" b="0" dirty="0">
                <a:solidFill>
                  <a:srgbClr val="000000"/>
                </a:solidFill>
                <a:latin typeface="맑은 고딕"/>
              </a:rPr>
              <a:t>)</a:t>
            </a:r>
          </a:p>
        </p:txBody>
      </p:sp>
      <p:sp>
        <p:nvSpPr>
          <p:cNvPr id="4" name="슬라이드 번호 개체 틀 3">
            <a:extLst>
              <a:ext uri="{FF2B5EF4-FFF2-40B4-BE49-F238E27FC236}">
                <a16:creationId xmlns:a16="http://schemas.microsoft.com/office/drawing/2014/main" id="{68D77D37-B14A-9269-9BC3-F14CA8CE9A09}"/>
              </a:ext>
            </a:extLst>
          </p:cNvPr>
          <p:cNvSpPr>
            <a:spLocks noGrp="1"/>
          </p:cNvSpPr>
          <p:nvPr>
            <p:ph type="sldNum" sz="quarter" idx="12"/>
          </p:nvPr>
        </p:nvSpPr>
        <p:spPr/>
        <p:txBody>
          <a:bodyPr/>
          <a:lstStyle/>
          <a:p>
            <a:fld id="{4438A2D4-3867-488E-A04E-7BFFCAED45A6}" type="slidenum">
              <a:rPr lang="ko-KR" altLang="en-US" smtClean="0"/>
              <a:t>12</a:t>
            </a:fld>
            <a:endParaRPr lang="ko-KR" altLang="en-US"/>
          </a:p>
        </p:txBody>
      </p:sp>
      <p:sp>
        <p:nvSpPr>
          <p:cNvPr id="6" name="Rectangle 5">
            <a:extLst>
              <a:ext uri="{FF2B5EF4-FFF2-40B4-BE49-F238E27FC236}">
                <a16:creationId xmlns:a16="http://schemas.microsoft.com/office/drawing/2014/main" id="{86523815-A64A-70D6-954E-331BE0351D13}"/>
              </a:ext>
            </a:extLst>
          </p:cNvPr>
          <p:cNvSpPr/>
          <p:nvPr/>
        </p:nvSpPr>
        <p:spPr>
          <a:xfrm>
            <a:off x="3327044" y="1203162"/>
            <a:ext cx="1247241" cy="1097280"/>
          </a:xfrm>
          <a:prstGeom prst="rect">
            <a:avLst/>
          </a:prstGeom>
          <a:solidFill>
            <a:srgbClr val="F4F5F7"/>
          </a:solidFill>
          <a:ln w="15875">
            <a:solidFill>
              <a:srgbClr val="C7CBD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0" i="1">
                <a:solidFill>
                  <a:srgbClr val="000000"/>
                </a:solidFill>
                <a:latin typeface="맑은 고딕"/>
              </a:rPr>
              <a:t>A</a:t>
            </a:r>
          </a:p>
        </p:txBody>
      </p:sp>
      <p:sp>
        <p:nvSpPr>
          <p:cNvPr id="7" name="TextBox 6">
            <a:extLst>
              <a:ext uri="{FF2B5EF4-FFF2-40B4-BE49-F238E27FC236}">
                <a16:creationId xmlns:a16="http://schemas.microsoft.com/office/drawing/2014/main" id="{39ECAC6A-741A-E737-4AD2-14137284E9E8}"/>
              </a:ext>
            </a:extLst>
          </p:cNvPr>
          <p:cNvSpPr txBox="1"/>
          <p:nvPr/>
        </p:nvSpPr>
        <p:spPr>
          <a:xfrm>
            <a:off x="3007004" y="2327874"/>
            <a:ext cx="1887321" cy="274320"/>
          </a:xfrm>
          <a:prstGeom prst="rect">
            <a:avLst/>
          </a:prstGeom>
          <a:noFill/>
        </p:spPr>
        <p:txBody>
          <a:bodyPr wrap="none" lIns="0" tIns="0" rIns="0" bIns="0" anchor="t">
            <a:spAutoFit/>
          </a:bodyPr>
          <a:lstStyle/>
          <a:p>
            <a:pPr algn="ctr">
              <a:lnSpc>
                <a:spcPct val="115000"/>
              </a:lnSpc>
            </a:pPr>
            <a:r>
              <a:rPr sz="1200" b="0" i="1">
                <a:solidFill>
                  <a:srgbClr val="000000"/>
                </a:solidFill>
                <a:latin typeface="맑은 고딕"/>
              </a:rPr>
              <a:t>n × m</a:t>
            </a:r>
          </a:p>
        </p:txBody>
      </p:sp>
      <p:sp>
        <p:nvSpPr>
          <p:cNvPr id="8" name="TextBox 7">
            <a:extLst>
              <a:ext uri="{FF2B5EF4-FFF2-40B4-BE49-F238E27FC236}">
                <a16:creationId xmlns:a16="http://schemas.microsoft.com/office/drawing/2014/main" id="{3FC6D525-8A27-63BA-394F-A028994414B3}"/>
              </a:ext>
            </a:extLst>
          </p:cNvPr>
          <p:cNvSpPr txBox="1"/>
          <p:nvPr/>
        </p:nvSpPr>
        <p:spPr>
          <a:xfrm>
            <a:off x="4775454" y="1203162"/>
            <a:ext cx="457200" cy="1097280"/>
          </a:xfrm>
          <a:prstGeom prst="rect">
            <a:avLst/>
          </a:prstGeom>
          <a:noFill/>
        </p:spPr>
        <p:txBody>
          <a:bodyPr wrap="square" lIns="0" tIns="0" rIns="0" bIns="0" anchor="ctr">
            <a:spAutoFit/>
          </a:bodyPr>
          <a:lstStyle/>
          <a:p>
            <a:pPr algn="ctr">
              <a:lnSpc>
                <a:spcPct val="115000"/>
              </a:lnSpc>
            </a:pPr>
            <a:endParaRPr/>
          </a:p>
        </p:txBody>
      </p:sp>
      <p:sp>
        <p:nvSpPr>
          <p:cNvPr id="9" name="Rectangle 8">
            <a:extLst>
              <a:ext uri="{FF2B5EF4-FFF2-40B4-BE49-F238E27FC236}">
                <a16:creationId xmlns:a16="http://schemas.microsoft.com/office/drawing/2014/main" id="{77BA8FFB-0BD0-29FE-393A-FF73B4C243D2}"/>
              </a:ext>
            </a:extLst>
          </p:cNvPr>
          <p:cNvSpPr/>
          <p:nvPr/>
        </p:nvSpPr>
        <p:spPr>
          <a:xfrm>
            <a:off x="5479542" y="1203162"/>
            <a:ext cx="453542" cy="1097280"/>
          </a:xfrm>
          <a:prstGeom prst="rect">
            <a:avLst/>
          </a:prstGeom>
          <a:solidFill>
            <a:srgbClr val="F4F5F7"/>
          </a:solidFill>
          <a:ln w="15875">
            <a:solidFill>
              <a:srgbClr val="C7CBD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0" i="1">
                <a:solidFill>
                  <a:srgbClr val="000000"/>
                </a:solidFill>
                <a:latin typeface="맑은 고딕"/>
              </a:rPr>
              <a:t>z</a:t>
            </a:r>
          </a:p>
        </p:txBody>
      </p:sp>
      <p:sp>
        <p:nvSpPr>
          <p:cNvPr id="10" name="TextBox 9">
            <a:extLst>
              <a:ext uri="{FF2B5EF4-FFF2-40B4-BE49-F238E27FC236}">
                <a16:creationId xmlns:a16="http://schemas.microsoft.com/office/drawing/2014/main" id="{AE67420E-AA59-2C41-D6B4-4DB7E6F84261}"/>
              </a:ext>
            </a:extLst>
          </p:cNvPr>
          <p:cNvSpPr txBox="1"/>
          <p:nvPr/>
        </p:nvSpPr>
        <p:spPr>
          <a:xfrm>
            <a:off x="5159502" y="2327874"/>
            <a:ext cx="1093622" cy="274320"/>
          </a:xfrm>
          <a:prstGeom prst="rect">
            <a:avLst/>
          </a:prstGeom>
          <a:noFill/>
        </p:spPr>
        <p:txBody>
          <a:bodyPr wrap="none" lIns="0" tIns="0" rIns="0" bIns="0" anchor="t">
            <a:spAutoFit/>
          </a:bodyPr>
          <a:lstStyle/>
          <a:p>
            <a:pPr algn="ctr">
              <a:lnSpc>
                <a:spcPct val="115000"/>
              </a:lnSpc>
            </a:pPr>
            <a:r>
              <a:rPr sz="1200" b="0" i="1">
                <a:solidFill>
                  <a:srgbClr val="000000"/>
                </a:solidFill>
                <a:latin typeface="맑은 고딕"/>
              </a:rPr>
              <a:t>m × 1</a:t>
            </a:r>
          </a:p>
        </p:txBody>
      </p:sp>
      <p:sp>
        <p:nvSpPr>
          <p:cNvPr id="11" name="TextBox 10">
            <a:extLst>
              <a:ext uri="{FF2B5EF4-FFF2-40B4-BE49-F238E27FC236}">
                <a16:creationId xmlns:a16="http://schemas.microsoft.com/office/drawing/2014/main" id="{AD5A0EA7-1FD5-5230-6034-1A3AA0F2A65E}"/>
              </a:ext>
            </a:extLst>
          </p:cNvPr>
          <p:cNvSpPr txBox="1"/>
          <p:nvPr/>
        </p:nvSpPr>
        <p:spPr>
          <a:xfrm>
            <a:off x="6134252" y="1203162"/>
            <a:ext cx="457200" cy="1097280"/>
          </a:xfrm>
          <a:prstGeom prst="rect">
            <a:avLst/>
          </a:prstGeom>
          <a:noFill/>
        </p:spPr>
        <p:txBody>
          <a:bodyPr wrap="square" lIns="0" tIns="0" rIns="0" bIns="0" anchor="ctr">
            <a:spAutoFit/>
          </a:bodyPr>
          <a:lstStyle/>
          <a:p>
            <a:pPr algn="ctr">
              <a:lnSpc>
                <a:spcPct val="115000"/>
              </a:lnSpc>
            </a:pPr>
            <a:r>
              <a:rPr sz="3200" b="0" i="0">
                <a:solidFill>
                  <a:srgbClr val="000000"/>
                </a:solidFill>
                <a:latin typeface="맑은 고딕"/>
              </a:rPr>
              <a:t>=</a:t>
            </a:r>
          </a:p>
        </p:txBody>
      </p:sp>
      <p:sp>
        <p:nvSpPr>
          <p:cNvPr id="12" name="Rectangle 11">
            <a:extLst>
              <a:ext uri="{FF2B5EF4-FFF2-40B4-BE49-F238E27FC236}">
                <a16:creationId xmlns:a16="http://schemas.microsoft.com/office/drawing/2014/main" id="{CA5C5412-5CF6-F770-1F57-14264CB01876}"/>
              </a:ext>
            </a:extLst>
          </p:cNvPr>
          <p:cNvSpPr/>
          <p:nvPr/>
        </p:nvSpPr>
        <p:spPr>
          <a:xfrm>
            <a:off x="6838340" y="1203162"/>
            <a:ext cx="453542" cy="1097280"/>
          </a:xfrm>
          <a:prstGeom prst="rect">
            <a:avLst/>
          </a:prstGeom>
          <a:solidFill>
            <a:srgbClr val="FBE7D4"/>
          </a:solidFill>
          <a:ln w="15875">
            <a:solidFill>
              <a:srgbClr val="C7CBD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0" i="1">
                <a:solidFill>
                  <a:srgbClr val="000000"/>
                </a:solidFill>
                <a:latin typeface="맑은 고딕"/>
              </a:rPr>
              <a:t>b</a:t>
            </a:r>
          </a:p>
        </p:txBody>
      </p:sp>
      <p:sp>
        <p:nvSpPr>
          <p:cNvPr id="13" name="TextBox 12">
            <a:extLst>
              <a:ext uri="{FF2B5EF4-FFF2-40B4-BE49-F238E27FC236}">
                <a16:creationId xmlns:a16="http://schemas.microsoft.com/office/drawing/2014/main" id="{22BBACF6-D515-CF7F-F0AA-765133534D05}"/>
              </a:ext>
            </a:extLst>
          </p:cNvPr>
          <p:cNvSpPr txBox="1"/>
          <p:nvPr/>
        </p:nvSpPr>
        <p:spPr>
          <a:xfrm>
            <a:off x="6518300" y="2327874"/>
            <a:ext cx="1093622" cy="274320"/>
          </a:xfrm>
          <a:prstGeom prst="rect">
            <a:avLst/>
          </a:prstGeom>
          <a:noFill/>
        </p:spPr>
        <p:txBody>
          <a:bodyPr wrap="none" lIns="0" tIns="0" rIns="0" bIns="0" anchor="t">
            <a:spAutoFit/>
          </a:bodyPr>
          <a:lstStyle/>
          <a:p>
            <a:pPr algn="ctr">
              <a:lnSpc>
                <a:spcPct val="115000"/>
              </a:lnSpc>
            </a:pPr>
            <a:r>
              <a:rPr sz="1200" b="0" i="1">
                <a:solidFill>
                  <a:srgbClr val="000000"/>
                </a:solidFill>
                <a:latin typeface="맑은 고딕"/>
              </a:rPr>
              <a:t>n × 1</a:t>
            </a:r>
          </a:p>
        </p:txBody>
      </p:sp>
      <p:sp>
        <p:nvSpPr>
          <p:cNvPr id="14" name="TextBox 13">
            <a:extLst>
              <a:ext uri="{FF2B5EF4-FFF2-40B4-BE49-F238E27FC236}">
                <a16:creationId xmlns:a16="http://schemas.microsoft.com/office/drawing/2014/main" id="{62485CD9-0D95-DB20-8F78-ABC6EA66BB97}"/>
              </a:ext>
            </a:extLst>
          </p:cNvPr>
          <p:cNvSpPr txBox="1"/>
          <p:nvPr/>
        </p:nvSpPr>
        <p:spPr>
          <a:xfrm>
            <a:off x="7493050" y="1203162"/>
            <a:ext cx="1371600" cy="1097280"/>
          </a:xfrm>
          <a:prstGeom prst="rect">
            <a:avLst/>
          </a:prstGeom>
          <a:noFill/>
        </p:spPr>
        <p:txBody>
          <a:bodyPr wrap="square" lIns="0" tIns="0" rIns="0" bIns="0" anchor="ctr">
            <a:spAutoFit/>
          </a:bodyPr>
          <a:lstStyle/>
          <a:p>
            <a:pPr algn="ctr">
              <a:lnSpc>
                <a:spcPct val="115000"/>
              </a:lnSpc>
            </a:pPr>
            <a:r>
              <a:rPr sz="2000" b="0" i="0">
                <a:solidFill>
                  <a:srgbClr val="000000"/>
                </a:solidFill>
                <a:latin typeface="맑은 고딕"/>
              </a:rPr>
              <a:t>(mod q)</a:t>
            </a:r>
          </a:p>
        </p:txBody>
      </p:sp>
    </p:spTree>
    <p:extLst>
      <p:ext uri="{BB962C8B-B14F-4D97-AF65-F5344CB8AC3E}">
        <p14:creationId xmlns:p14="http://schemas.microsoft.com/office/powerpoint/2010/main" val="3230365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C1B3E-79C0-92E2-81F4-B333E29CF4BA}"/>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D1E053EA-4039-B6D8-D25A-E675925A1904}"/>
              </a:ext>
            </a:extLst>
          </p:cNvPr>
          <p:cNvSpPr>
            <a:spLocks noGrp="1"/>
          </p:cNvSpPr>
          <p:nvPr>
            <p:ph type="title"/>
          </p:nvPr>
        </p:nvSpPr>
        <p:spPr/>
        <p:txBody>
          <a:bodyPr/>
          <a:lstStyle/>
          <a:p>
            <a:r>
              <a:rPr lang="en-US" altLang="ko-KR" sz="2800" b="1" dirty="0">
                <a:solidFill>
                  <a:srgbClr val="000000"/>
                </a:solidFill>
                <a:latin typeface="맑은 고딕"/>
              </a:rPr>
              <a:t>SIS</a:t>
            </a:r>
            <a:r>
              <a:rPr lang="ko-KR" altLang="en-US" sz="2800" b="1" dirty="0">
                <a:solidFill>
                  <a:srgbClr val="000000"/>
                </a:solidFill>
                <a:latin typeface="맑은 고딕"/>
              </a:rPr>
              <a:t>와</a:t>
            </a:r>
            <a:r>
              <a:rPr lang="en-US" altLang="ko-KR" sz="2800" b="1" dirty="0">
                <a:solidFill>
                  <a:srgbClr val="000000"/>
                </a:solidFill>
                <a:latin typeface="맑은 고딕"/>
              </a:rPr>
              <a:t> ISIS</a:t>
            </a:r>
            <a:r>
              <a:rPr lang="ko-KR" altLang="en-US" sz="2800" b="1" dirty="0">
                <a:solidFill>
                  <a:srgbClr val="000000"/>
                </a:solidFill>
                <a:latin typeface="맑은 고딕"/>
              </a:rPr>
              <a:t>의 계산적 </a:t>
            </a:r>
            <a:r>
              <a:rPr lang="ko-KR" altLang="en-US" sz="2800" b="1" dirty="0" err="1">
                <a:solidFill>
                  <a:srgbClr val="000000"/>
                </a:solidFill>
                <a:latin typeface="맑은 고딕"/>
              </a:rPr>
              <a:t>동치성</a:t>
            </a:r>
            <a:endParaRPr lang="ko-KR" altLang="en-US" dirty="0"/>
          </a:p>
        </p:txBody>
      </p:sp>
      <p:sp>
        <p:nvSpPr>
          <p:cNvPr id="3" name="내용 개체 틀 2">
            <a:extLst>
              <a:ext uri="{FF2B5EF4-FFF2-40B4-BE49-F238E27FC236}">
                <a16:creationId xmlns:a16="http://schemas.microsoft.com/office/drawing/2014/main" id="{1880E8FE-0A4D-3613-E18C-3BC16F98D9B6}"/>
              </a:ext>
            </a:extLst>
          </p:cNvPr>
          <p:cNvSpPr>
            <a:spLocks noGrp="1"/>
          </p:cNvSpPr>
          <p:nvPr>
            <p:ph idx="1"/>
          </p:nvPr>
        </p:nvSpPr>
        <p:spPr>
          <a:xfrm>
            <a:off x="960120" y="2073744"/>
            <a:ext cx="10515600" cy="4287331"/>
          </a:xfrm>
        </p:spPr>
        <p:txBody>
          <a:bodyPr>
            <a:normAutofit/>
          </a:bodyPr>
          <a:lstStyle/>
          <a:p>
            <a:pPr marL="457200" indent="-457200">
              <a:spcAft>
                <a:spcPts val="800"/>
              </a:spcAft>
              <a:buFont typeface="Arial"/>
              <a:buChar char="•"/>
            </a:pPr>
            <a:r>
              <a:rPr lang="en-US" altLang="ko-KR" sz="1800" b="0" dirty="0">
                <a:solidFill>
                  <a:srgbClr val="000000"/>
                </a:solidFill>
                <a:latin typeface="맑은 고딕"/>
              </a:rPr>
              <a:t>SIS ≤ ISIS</a:t>
            </a:r>
          </a:p>
          <a:p>
            <a:pPr lvl="1">
              <a:spcAft>
                <a:spcPts val="400"/>
              </a:spcAft>
              <a:buFont typeface="Arial"/>
              <a:buChar char="•"/>
            </a:pPr>
            <a:r>
              <a:rPr lang="en-US" altLang="ko-KR" b="0" dirty="0">
                <a:solidFill>
                  <a:srgbClr val="000000"/>
                </a:solidFill>
                <a:latin typeface="맑은 고딕"/>
              </a:rPr>
              <a:t>A</a:t>
            </a:r>
            <a:r>
              <a:rPr lang="ko-KR" altLang="en-US" b="0" dirty="0">
                <a:solidFill>
                  <a:srgbClr val="000000"/>
                </a:solidFill>
                <a:latin typeface="맑은 고딕"/>
              </a:rPr>
              <a:t>의 마지막 열을 분리 </a:t>
            </a:r>
            <a:r>
              <a:rPr lang="en-US" altLang="ko-KR" b="0" dirty="0">
                <a:solidFill>
                  <a:srgbClr val="000000"/>
                </a:solidFill>
                <a:latin typeface="맑은 고딕"/>
              </a:rPr>
              <a:t>A = [A′ | −b′]</a:t>
            </a:r>
          </a:p>
          <a:p>
            <a:pPr lvl="1">
              <a:spcAft>
                <a:spcPts val="400"/>
              </a:spcAft>
              <a:buFont typeface="Arial"/>
              <a:buChar char="•"/>
            </a:pPr>
            <a:r>
              <a:rPr lang="en-US" altLang="ko-KR" b="0" dirty="0">
                <a:solidFill>
                  <a:srgbClr val="000000"/>
                </a:solidFill>
                <a:latin typeface="맑은 고딕"/>
              </a:rPr>
              <a:t>ISIS </a:t>
            </a:r>
            <a:r>
              <a:rPr lang="ko-KR" altLang="en-US" b="0" dirty="0">
                <a:solidFill>
                  <a:srgbClr val="000000"/>
                </a:solidFill>
                <a:latin typeface="맑은 고딕"/>
              </a:rPr>
              <a:t>오라클로 </a:t>
            </a:r>
            <a:r>
              <a:rPr lang="en-US" altLang="ko-KR" b="0" dirty="0" err="1">
                <a:solidFill>
                  <a:srgbClr val="000000"/>
                </a:solidFill>
                <a:latin typeface="맑은 고딕"/>
              </a:rPr>
              <a:t>A′z</a:t>
            </a:r>
            <a:r>
              <a:rPr lang="en-US" altLang="ko-KR" b="0" dirty="0">
                <a:solidFill>
                  <a:srgbClr val="000000"/>
                </a:solidFill>
                <a:latin typeface="맑은 고딕"/>
              </a:rPr>
              <a:t>′ ≡ b′ </a:t>
            </a:r>
            <a:r>
              <a:rPr lang="ko-KR" altLang="en-US" b="0" dirty="0">
                <a:solidFill>
                  <a:srgbClr val="000000"/>
                </a:solidFill>
                <a:latin typeface="맑은 고딕"/>
              </a:rPr>
              <a:t>을 풀고</a:t>
            </a:r>
            <a:r>
              <a:rPr lang="en-US" altLang="ko-KR" b="0" dirty="0">
                <a:solidFill>
                  <a:srgbClr val="000000"/>
                </a:solidFill>
                <a:latin typeface="맑은 고딕"/>
              </a:rPr>
              <a:t>, z=(z′,1)ᵀ</a:t>
            </a:r>
            <a:r>
              <a:rPr lang="ko-KR" altLang="en-US" b="0" dirty="0">
                <a:solidFill>
                  <a:srgbClr val="000000"/>
                </a:solidFill>
                <a:latin typeface="맑은 고딕"/>
              </a:rPr>
              <a:t>로 조립하면 </a:t>
            </a:r>
            <a:r>
              <a:rPr lang="en-US" altLang="ko-KR" b="0" dirty="0">
                <a:solidFill>
                  <a:srgbClr val="000000"/>
                </a:solidFill>
                <a:latin typeface="맑은 고딕"/>
              </a:rPr>
              <a:t>SIS </a:t>
            </a:r>
            <a:r>
              <a:rPr lang="ko-KR" altLang="en-US" b="0" dirty="0">
                <a:solidFill>
                  <a:srgbClr val="000000"/>
                </a:solidFill>
                <a:latin typeface="맑은 고딕"/>
              </a:rPr>
              <a:t>해</a:t>
            </a:r>
          </a:p>
          <a:p>
            <a:pPr marL="457200" indent="-457200">
              <a:spcAft>
                <a:spcPts val="800"/>
              </a:spcAft>
              <a:buFont typeface="Arial"/>
              <a:buChar char="•"/>
            </a:pPr>
            <a:r>
              <a:rPr lang="en-US" altLang="ko-KR" sz="1800" b="0" dirty="0">
                <a:solidFill>
                  <a:srgbClr val="000000"/>
                </a:solidFill>
                <a:latin typeface="맑은 고딕"/>
              </a:rPr>
              <a:t>ISIS ≤ SIS</a:t>
            </a:r>
          </a:p>
          <a:p>
            <a:pPr lvl="1">
              <a:spcAft>
                <a:spcPts val="400"/>
              </a:spcAft>
              <a:buFont typeface="Arial"/>
              <a:buChar char="•"/>
            </a:pPr>
            <a:r>
              <a:rPr lang="ko-KR" altLang="en-US" b="0" dirty="0">
                <a:solidFill>
                  <a:srgbClr val="000000"/>
                </a:solidFill>
                <a:latin typeface="맑은 고딕"/>
              </a:rPr>
              <a:t>위치 </a:t>
            </a:r>
            <a:r>
              <a:rPr lang="en-US" altLang="ko-KR" b="0" dirty="0">
                <a:solidFill>
                  <a:srgbClr val="000000"/>
                </a:solidFill>
                <a:latin typeface="맑은 고딕"/>
              </a:rPr>
              <a:t>j, </a:t>
            </a:r>
            <a:r>
              <a:rPr lang="ko-KR" altLang="en-US" b="0" dirty="0" err="1">
                <a:solidFill>
                  <a:srgbClr val="000000"/>
                </a:solidFill>
                <a:latin typeface="맑은 고딕"/>
              </a:rPr>
              <a:t>목표값</a:t>
            </a:r>
            <a:r>
              <a:rPr lang="ko-KR" altLang="en-US" b="0" dirty="0">
                <a:solidFill>
                  <a:srgbClr val="000000"/>
                </a:solidFill>
                <a:latin typeface="맑은 고딕"/>
              </a:rPr>
              <a:t> </a:t>
            </a:r>
            <a:r>
              <a:rPr lang="en-US" altLang="ko-KR" b="0" dirty="0">
                <a:solidFill>
                  <a:srgbClr val="000000"/>
                </a:solidFill>
                <a:latin typeface="맑은 고딕"/>
              </a:rPr>
              <a:t>c</a:t>
            </a:r>
            <a:r>
              <a:rPr lang="ko-KR" altLang="en-US" b="0" dirty="0">
                <a:solidFill>
                  <a:srgbClr val="000000"/>
                </a:solidFill>
                <a:latin typeface="맑은 고딕"/>
              </a:rPr>
              <a:t>를 골라 새 열 −</a:t>
            </a:r>
            <a:r>
              <a:rPr lang="en-US" altLang="ko-KR" b="0" dirty="0">
                <a:solidFill>
                  <a:srgbClr val="000000"/>
                </a:solidFill>
                <a:latin typeface="맑은 고딕"/>
              </a:rPr>
              <a:t>c⁻¹b </a:t>
            </a:r>
            <a:r>
              <a:rPr lang="ko-KR" altLang="en-US" b="0" dirty="0">
                <a:solidFill>
                  <a:srgbClr val="000000"/>
                </a:solidFill>
                <a:latin typeface="맑은 고딕"/>
              </a:rPr>
              <a:t>를 </a:t>
            </a:r>
            <a:r>
              <a:rPr lang="en-US" altLang="ko-KR" b="0" dirty="0">
                <a:solidFill>
                  <a:srgbClr val="000000"/>
                </a:solidFill>
                <a:latin typeface="맑은 고딕"/>
              </a:rPr>
              <a:t>A</a:t>
            </a:r>
            <a:r>
              <a:rPr lang="ko-KR" altLang="en-US" b="0" dirty="0">
                <a:solidFill>
                  <a:srgbClr val="000000"/>
                </a:solidFill>
                <a:latin typeface="맑은 고딕"/>
              </a:rPr>
              <a:t>의 </a:t>
            </a:r>
            <a:r>
              <a:rPr lang="en-US" altLang="ko-KR" b="0" dirty="0">
                <a:solidFill>
                  <a:srgbClr val="000000"/>
                </a:solidFill>
                <a:latin typeface="맑은 고딕"/>
              </a:rPr>
              <a:t>j</a:t>
            </a:r>
            <a:r>
              <a:rPr lang="ko-KR" altLang="en-US" b="0" dirty="0" err="1">
                <a:solidFill>
                  <a:srgbClr val="000000"/>
                </a:solidFill>
                <a:latin typeface="맑은 고딕"/>
              </a:rPr>
              <a:t>번째에</a:t>
            </a:r>
            <a:r>
              <a:rPr lang="ko-KR" altLang="en-US" b="0" dirty="0">
                <a:solidFill>
                  <a:srgbClr val="000000"/>
                </a:solidFill>
                <a:latin typeface="맑은 고딕"/>
              </a:rPr>
              <a:t> 삽입</a:t>
            </a:r>
          </a:p>
          <a:p>
            <a:pPr lvl="1">
              <a:spcAft>
                <a:spcPts val="400"/>
              </a:spcAft>
              <a:buFont typeface="Arial"/>
              <a:buChar char="•"/>
            </a:pPr>
            <a:r>
              <a:rPr lang="en-US" altLang="ko-KR" b="0" dirty="0">
                <a:solidFill>
                  <a:srgbClr val="000000"/>
                </a:solidFill>
                <a:latin typeface="맑은 고딕"/>
              </a:rPr>
              <a:t>SIS </a:t>
            </a:r>
            <a:r>
              <a:rPr lang="ko-KR" altLang="en-US" b="0" dirty="0">
                <a:solidFill>
                  <a:srgbClr val="000000"/>
                </a:solidFill>
                <a:latin typeface="맑은 고딕"/>
              </a:rPr>
              <a:t>해의 </a:t>
            </a:r>
            <a:r>
              <a:rPr lang="en-US" altLang="ko-KR" b="0" dirty="0">
                <a:solidFill>
                  <a:srgbClr val="000000"/>
                </a:solidFill>
                <a:latin typeface="맑은 고딕"/>
              </a:rPr>
              <a:t>j</a:t>
            </a:r>
            <a:r>
              <a:rPr lang="ko-KR" altLang="en-US" b="0" dirty="0">
                <a:solidFill>
                  <a:srgbClr val="000000"/>
                </a:solidFill>
                <a:latin typeface="맑은 고딕"/>
              </a:rPr>
              <a:t>번째 성분이 </a:t>
            </a:r>
            <a:r>
              <a:rPr lang="en-US" altLang="ko-KR" b="0" dirty="0">
                <a:solidFill>
                  <a:srgbClr val="000000"/>
                </a:solidFill>
                <a:latin typeface="맑은 고딕"/>
              </a:rPr>
              <a:t>c</a:t>
            </a:r>
            <a:r>
              <a:rPr lang="ko-KR" altLang="en-US" b="0" dirty="0">
                <a:solidFill>
                  <a:srgbClr val="000000"/>
                </a:solidFill>
                <a:latin typeface="맑은 고딕"/>
              </a:rPr>
              <a:t>와 일치하면 나머지 성분이 </a:t>
            </a:r>
            <a:r>
              <a:rPr lang="en-US" altLang="ko-KR" b="0" dirty="0">
                <a:solidFill>
                  <a:srgbClr val="000000"/>
                </a:solidFill>
                <a:latin typeface="맑은 고딕"/>
              </a:rPr>
              <a:t>ISIS </a:t>
            </a:r>
            <a:r>
              <a:rPr lang="ko-KR" altLang="en-US" b="0" dirty="0">
                <a:solidFill>
                  <a:srgbClr val="000000"/>
                </a:solidFill>
                <a:latin typeface="맑은 고딕"/>
              </a:rPr>
              <a:t>해 </a:t>
            </a:r>
            <a:r>
              <a:rPr lang="en-US" altLang="ko-KR" b="0" dirty="0">
                <a:solidFill>
                  <a:srgbClr val="000000"/>
                </a:solidFill>
                <a:latin typeface="맑은 고딕"/>
              </a:rPr>
              <a:t>(</a:t>
            </a:r>
            <a:r>
              <a:rPr lang="ko-KR" altLang="en-US" b="0" dirty="0">
                <a:solidFill>
                  <a:srgbClr val="000000"/>
                </a:solidFill>
                <a:latin typeface="맑은 고딕"/>
              </a:rPr>
              <a:t>성공확률 ≈ </a:t>
            </a:r>
            <a:r>
              <a:rPr lang="en-US" altLang="ko-KR" b="0" dirty="0">
                <a:solidFill>
                  <a:srgbClr val="000000"/>
                </a:solidFill>
                <a:latin typeface="맑은 고딕"/>
              </a:rPr>
              <a:t>1/(2Bm))</a:t>
            </a:r>
          </a:p>
          <a:p>
            <a:pPr>
              <a:spcAft>
                <a:spcPts val="800"/>
              </a:spcAft>
              <a:buFont typeface="Arial"/>
              <a:buChar char="•"/>
            </a:pPr>
            <a:r>
              <a:rPr lang="ko-KR" altLang="en-US" sz="1800" b="0" dirty="0">
                <a:solidFill>
                  <a:srgbClr val="000000"/>
                </a:solidFill>
                <a:latin typeface="맑은 고딕"/>
              </a:rPr>
              <a:t>두 문제는 다항식 시간에 서로 환원 가능 → 계산적으로 동치</a:t>
            </a:r>
          </a:p>
        </p:txBody>
      </p:sp>
      <p:sp>
        <p:nvSpPr>
          <p:cNvPr id="4" name="슬라이드 번호 개체 틀 3">
            <a:extLst>
              <a:ext uri="{FF2B5EF4-FFF2-40B4-BE49-F238E27FC236}">
                <a16:creationId xmlns:a16="http://schemas.microsoft.com/office/drawing/2014/main" id="{35ABDC9C-0930-C143-6C07-E7E4D541578C}"/>
              </a:ext>
            </a:extLst>
          </p:cNvPr>
          <p:cNvSpPr>
            <a:spLocks noGrp="1"/>
          </p:cNvSpPr>
          <p:nvPr>
            <p:ph type="sldNum" sz="quarter" idx="12"/>
          </p:nvPr>
        </p:nvSpPr>
        <p:spPr/>
        <p:txBody>
          <a:bodyPr/>
          <a:lstStyle/>
          <a:p>
            <a:fld id="{4438A2D4-3867-488E-A04E-7BFFCAED45A6}" type="slidenum">
              <a:rPr lang="ko-KR" altLang="en-US" smtClean="0"/>
              <a:t>13</a:t>
            </a:fld>
            <a:endParaRPr lang="ko-KR" altLang="en-US"/>
          </a:p>
        </p:txBody>
      </p:sp>
      <p:pic>
        <p:nvPicPr>
          <p:cNvPr id="5" name="Picture 3" descr="m_7.png">
            <a:extLst>
              <a:ext uri="{FF2B5EF4-FFF2-40B4-BE49-F238E27FC236}">
                <a16:creationId xmlns:a16="http://schemas.microsoft.com/office/drawing/2014/main" id="{558F2D6C-D8C1-9AC2-9E96-98AFD019FBF7}"/>
              </a:ext>
            </a:extLst>
          </p:cNvPr>
          <p:cNvPicPr>
            <a:picLocks noChangeAspect="1"/>
          </p:cNvPicPr>
          <p:nvPr/>
        </p:nvPicPr>
        <p:blipFill>
          <a:blip r:embed="rId3"/>
          <a:stretch>
            <a:fillRect/>
          </a:stretch>
        </p:blipFill>
        <p:spPr>
          <a:xfrm>
            <a:off x="4114800" y="1242570"/>
            <a:ext cx="4206240" cy="478269"/>
          </a:xfrm>
          <a:prstGeom prst="rect">
            <a:avLst/>
          </a:prstGeom>
        </p:spPr>
      </p:pic>
    </p:spTree>
    <p:extLst>
      <p:ext uri="{BB962C8B-B14F-4D97-AF65-F5344CB8AC3E}">
        <p14:creationId xmlns:p14="http://schemas.microsoft.com/office/powerpoint/2010/main" val="575804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5B518-2780-1E2E-6142-866F7EA856E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3817DE9D-541F-71FB-655D-B5FDAB84B570}"/>
              </a:ext>
            </a:extLst>
          </p:cNvPr>
          <p:cNvSpPr>
            <a:spLocks noGrp="1"/>
          </p:cNvSpPr>
          <p:nvPr>
            <p:ph type="title"/>
          </p:nvPr>
        </p:nvSpPr>
        <p:spPr/>
        <p:txBody>
          <a:bodyPr/>
          <a:lstStyle/>
          <a:p>
            <a:r>
              <a:rPr lang="en-US" altLang="ko-KR" sz="2800" b="1" dirty="0">
                <a:solidFill>
                  <a:srgbClr val="000000"/>
                </a:solidFill>
                <a:latin typeface="맑은 고딕"/>
              </a:rPr>
              <a:t>Normal-form ISIS</a:t>
            </a:r>
            <a:endParaRPr lang="ko-KR" altLang="en-US" dirty="0"/>
          </a:p>
        </p:txBody>
      </p:sp>
      <p:sp>
        <p:nvSpPr>
          <p:cNvPr id="3" name="내용 개체 틀 2">
            <a:extLst>
              <a:ext uri="{FF2B5EF4-FFF2-40B4-BE49-F238E27FC236}">
                <a16:creationId xmlns:a16="http://schemas.microsoft.com/office/drawing/2014/main" id="{93DA54EB-17F6-627B-E6F9-857345058DFC}"/>
              </a:ext>
            </a:extLst>
          </p:cNvPr>
          <p:cNvSpPr>
            <a:spLocks noGrp="1"/>
          </p:cNvSpPr>
          <p:nvPr>
            <p:ph idx="1"/>
          </p:nvPr>
        </p:nvSpPr>
        <p:spPr>
          <a:xfrm>
            <a:off x="838200" y="3196987"/>
            <a:ext cx="10515600" cy="3241913"/>
          </a:xfrm>
        </p:spPr>
        <p:txBody>
          <a:bodyPr wrap="square">
            <a:noAutofit/>
          </a:bodyPr>
          <a:lstStyle/>
          <a:p>
            <a:pPr>
              <a:spcAft>
                <a:spcPts val="800"/>
              </a:spcAft>
              <a:buFont typeface="Arial"/>
              <a:buChar char="•"/>
            </a:pPr>
            <a:r>
              <a:rPr sz="1800" dirty="0" err="1">
                <a:solidFill>
                  <a:srgbClr val="000000"/>
                </a:solidFill>
                <a:latin typeface="맑은 고딕"/>
              </a:rPr>
              <a:t>nf</a:t>
            </a:r>
            <a:r>
              <a:rPr sz="1800" dirty="0">
                <a:solidFill>
                  <a:srgbClr val="000000"/>
                </a:solidFill>
                <a:latin typeface="맑은 고딕"/>
              </a:rPr>
              <a:t>-ISIS(</a:t>
            </a:r>
            <a:r>
              <a:rPr sz="1800" dirty="0" err="1">
                <a:solidFill>
                  <a:srgbClr val="000000"/>
                </a:solidFill>
                <a:latin typeface="맑은 고딕"/>
              </a:rPr>
              <a:t>n,m,q,B</a:t>
            </a:r>
            <a:r>
              <a:rPr sz="1800" dirty="0">
                <a:solidFill>
                  <a:srgbClr val="000000"/>
                </a:solidFill>
                <a:latin typeface="맑은 고딕"/>
              </a:rPr>
              <a:t>): [</a:t>
            </a:r>
            <a:r>
              <a:rPr sz="1800" dirty="0" err="1">
                <a:solidFill>
                  <a:srgbClr val="000000"/>
                </a:solidFill>
                <a:latin typeface="맑은 고딕"/>
              </a:rPr>
              <a:t>A|I_n</a:t>
            </a:r>
            <a:r>
              <a:rPr sz="1800" dirty="0">
                <a:solidFill>
                  <a:srgbClr val="000000"/>
                </a:solidFill>
                <a:latin typeface="맑은 고딕"/>
              </a:rPr>
              <a:t>] z ≡ b (mod q), z∈[−B,B]^{</a:t>
            </a:r>
            <a:r>
              <a:rPr sz="1800" dirty="0" err="1">
                <a:solidFill>
                  <a:srgbClr val="000000"/>
                </a:solidFill>
                <a:latin typeface="맑은 고딕"/>
              </a:rPr>
              <a:t>m+n</a:t>
            </a:r>
            <a:r>
              <a:rPr sz="1800" dirty="0">
                <a:solidFill>
                  <a:srgbClr val="000000"/>
                </a:solidFill>
                <a:latin typeface="맑은 고딕"/>
              </a:rPr>
              <a:t>}</a:t>
            </a:r>
          </a:p>
          <a:p>
            <a:pPr lvl="1">
              <a:buFont typeface="Arial"/>
              <a:buChar char="•"/>
            </a:pPr>
            <a:r>
              <a:rPr dirty="0" err="1">
                <a:solidFill>
                  <a:srgbClr val="000000"/>
                </a:solidFill>
                <a:latin typeface="맑은 고딕"/>
              </a:rPr>
              <a:t>계수행렬의</a:t>
            </a:r>
            <a:r>
              <a:rPr dirty="0">
                <a:solidFill>
                  <a:srgbClr val="000000"/>
                </a:solidFill>
                <a:latin typeface="맑은 고딕"/>
              </a:rPr>
              <a:t> </a:t>
            </a:r>
            <a:r>
              <a:rPr dirty="0" err="1">
                <a:solidFill>
                  <a:srgbClr val="000000"/>
                </a:solidFill>
                <a:latin typeface="맑은 고딕"/>
              </a:rPr>
              <a:t>뒤쪽</a:t>
            </a:r>
            <a:r>
              <a:rPr dirty="0">
                <a:solidFill>
                  <a:srgbClr val="000000"/>
                </a:solidFill>
                <a:latin typeface="맑은 고딕"/>
              </a:rPr>
              <a:t> </a:t>
            </a:r>
            <a:r>
              <a:rPr dirty="0" err="1">
                <a:solidFill>
                  <a:srgbClr val="000000"/>
                </a:solidFill>
                <a:latin typeface="맑은 고딕"/>
              </a:rPr>
              <a:t>n개</a:t>
            </a:r>
            <a:r>
              <a:rPr dirty="0">
                <a:solidFill>
                  <a:srgbClr val="000000"/>
                </a:solidFill>
                <a:latin typeface="맑은 고딕"/>
              </a:rPr>
              <a:t> </a:t>
            </a:r>
            <a:r>
              <a:rPr dirty="0" err="1">
                <a:solidFill>
                  <a:srgbClr val="000000"/>
                </a:solidFill>
                <a:latin typeface="맑은 고딕"/>
              </a:rPr>
              <a:t>열이</a:t>
            </a:r>
            <a:r>
              <a:rPr dirty="0">
                <a:solidFill>
                  <a:srgbClr val="000000"/>
                </a:solidFill>
                <a:latin typeface="맑은 고딕"/>
              </a:rPr>
              <a:t> </a:t>
            </a:r>
            <a:r>
              <a:rPr dirty="0" err="1">
                <a:solidFill>
                  <a:srgbClr val="000000"/>
                </a:solidFill>
                <a:latin typeface="맑은 고딕"/>
              </a:rPr>
              <a:t>단위행렬</a:t>
            </a:r>
            <a:r>
              <a:rPr dirty="0">
                <a:solidFill>
                  <a:srgbClr val="000000"/>
                </a:solidFill>
                <a:latin typeface="맑은 고딕"/>
              </a:rPr>
              <a:t> </a:t>
            </a:r>
            <a:r>
              <a:rPr dirty="0" err="1">
                <a:solidFill>
                  <a:srgbClr val="000000"/>
                </a:solidFill>
                <a:latin typeface="맑은 고딕"/>
              </a:rPr>
              <a:t>I_n으로</a:t>
            </a:r>
            <a:r>
              <a:rPr dirty="0">
                <a:solidFill>
                  <a:srgbClr val="000000"/>
                </a:solidFill>
                <a:latin typeface="맑은 고딕"/>
              </a:rPr>
              <a:t> "</a:t>
            </a:r>
            <a:r>
              <a:rPr dirty="0" err="1">
                <a:solidFill>
                  <a:srgbClr val="000000"/>
                </a:solidFill>
                <a:latin typeface="맑은 고딕"/>
              </a:rPr>
              <a:t>정규화"된</a:t>
            </a:r>
            <a:r>
              <a:rPr dirty="0">
                <a:solidFill>
                  <a:srgbClr val="000000"/>
                </a:solidFill>
                <a:latin typeface="맑은 고딕"/>
              </a:rPr>
              <a:t> </a:t>
            </a:r>
            <a:r>
              <a:rPr dirty="0" err="1">
                <a:solidFill>
                  <a:srgbClr val="000000"/>
                </a:solidFill>
                <a:latin typeface="맑은 고딕"/>
              </a:rPr>
              <a:t>특수한</a:t>
            </a:r>
            <a:r>
              <a:rPr dirty="0">
                <a:solidFill>
                  <a:srgbClr val="000000"/>
                </a:solidFill>
                <a:latin typeface="맑은 고딕"/>
              </a:rPr>
              <a:t> </a:t>
            </a:r>
            <a:r>
              <a:rPr dirty="0" err="1">
                <a:solidFill>
                  <a:srgbClr val="000000"/>
                </a:solidFill>
                <a:latin typeface="맑은 고딕"/>
              </a:rPr>
              <a:t>형태의</a:t>
            </a:r>
            <a:r>
              <a:rPr dirty="0">
                <a:solidFill>
                  <a:srgbClr val="000000"/>
                </a:solidFill>
                <a:latin typeface="맑은 고딕"/>
              </a:rPr>
              <a:t> ISIS</a:t>
            </a:r>
          </a:p>
          <a:p>
            <a:pPr>
              <a:buFont typeface="Arial"/>
              <a:buChar char="•"/>
            </a:pPr>
            <a:r>
              <a:rPr sz="1800" dirty="0">
                <a:solidFill>
                  <a:srgbClr val="000000"/>
                </a:solidFill>
                <a:latin typeface="맑은 고딕"/>
              </a:rPr>
              <a:t>Claim: </a:t>
            </a:r>
            <a:r>
              <a:rPr sz="1800" dirty="0" err="1">
                <a:solidFill>
                  <a:srgbClr val="000000"/>
                </a:solidFill>
                <a:latin typeface="맑은 고딕"/>
              </a:rPr>
              <a:t>nf</a:t>
            </a:r>
            <a:r>
              <a:rPr sz="1800" dirty="0">
                <a:solidFill>
                  <a:srgbClr val="000000"/>
                </a:solidFill>
                <a:latin typeface="맑은 고딕"/>
              </a:rPr>
              <a:t>-ISIS(</a:t>
            </a:r>
            <a:r>
              <a:rPr sz="1800" dirty="0" err="1">
                <a:solidFill>
                  <a:srgbClr val="000000"/>
                </a:solidFill>
                <a:latin typeface="맑은 고딕"/>
              </a:rPr>
              <a:t>n,m,q,B</a:t>
            </a:r>
            <a:r>
              <a:rPr sz="1800" dirty="0">
                <a:solidFill>
                  <a:srgbClr val="000000"/>
                </a:solidFill>
                <a:latin typeface="맑은 고딕"/>
              </a:rPr>
              <a:t>) ≡ ISIS(</a:t>
            </a:r>
            <a:r>
              <a:rPr sz="1800" dirty="0" err="1">
                <a:solidFill>
                  <a:srgbClr val="000000"/>
                </a:solidFill>
                <a:latin typeface="맑은 고딕"/>
              </a:rPr>
              <a:t>n,m+n,q,B</a:t>
            </a:r>
            <a:r>
              <a:rPr sz="1800" dirty="0">
                <a:solidFill>
                  <a:srgbClr val="000000"/>
                </a:solidFill>
                <a:latin typeface="맑은 고딕"/>
              </a:rPr>
              <a:t>) — </a:t>
            </a:r>
            <a:r>
              <a:rPr sz="1800" dirty="0" err="1">
                <a:solidFill>
                  <a:srgbClr val="000000"/>
                </a:solidFill>
                <a:latin typeface="맑은 고딕"/>
              </a:rPr>
              <a:t>계산적으로</a:t>
            </a:r>
            <a:r>
              <a:rPr sz="1800" dirty="0">
                <a:solidFill>
                  <a:srgbClr val="000000"/>
                </a:solidFill>
                <a:latin typeface="맑은 고딕"/>
              </a:rPr>
              <a:t> </a:t>
            </a:r>
            <a:r>
              <a:rPr sz="1800" dirty="0" err="1">
                <a:solidFill>
                  <a:srgbClr val="000000"/>
                </a:solidFill>
                <a:latin typeface="맑은 고딕"/>
              </a:rPr>
              <a:t>동치</a:t>
            </a:r>
            <a:endParaRPr sz="1800" dirty="0">
              <a:solidFill>
                <a:srgbClr val="000000"/>
              </a:solidFill>
              <a:latin typeface="맑은 고딕"/>
            </a:endParaRPr>
          </a:p>
          <a:p>
            <a:pPr lvl="1">
              <a:buFont typeface="Arial"/>
              <a:buChar char="•"/>
            </a:pPr>
            <a:r>
              <a:rPr dirty="0" err="1">
                <a:solidFill>
                  <a:srgbClr val="000000"/>
                </a:solidFill>
                <a:latin typeface="맑은 고딕"/>
              </a:rPr>
              <a:t>가역행렬</a:t>
            </a:r>
            <a:r>
              <a:rPr dirty="0">
                <a:solidFill>
                  <a:srgbClr val="000000"/>
                </a:solidFill>
                <a:latin typeface="맑은 고딕"/>
              </a:rPr>
              <a:t> C ∈_R </a:t>
            </a:r>
            <a:r>
              <a:rPr dirty="0" err="1">
                <a:solidFill>
                  <a:srgbClr val="000000"/>
                </a:solidFill>
                <a:latin typeface="맑은 고딕"/>
              </a:rPr>
              <a:t>ℤ_q</a:t>
            </a:r>
            <a:r>
              <a:rPr dirty="0">
                <a:solidFill>
                  <a:srgbClr val="000000"/>
                </a:solidFill>
                <a:latin typeface="맑은 고딕"/>
              </a:rPr>
              <a:t>^{</a:t>
            </a:r>
            <a:r>
              <a:rPr dirty="0" err="1">
                <a:solidFill>
                  <a:srgbClr val="000000"/>
                </a:solidFill>
                <a:latin typeface="맑은 고딕"/>
              </a:rPr>
              <a:t>n×n</a:t>
            </a:r>
            <a:r>
              <a:rPr dirty="0">
                <a:solidFill>
                  <a:srgbClr val="000000"/>
                </a:solidFill>
                <a:latin typeface="맑은 고딕"/>
              </a:rPr>
              <a:t>} 을 </a:t>
            </a:r>
            <a:r>
              <a:rPr dirty="0" err="1">
                <a:solidFill>
                  <a:srgbClr val="000000"/>
                </a:solidFill>
                <a:latin typeface="맑은 고딕"/>
              </a:rPr>
              <a:t>곱해</a:t>
            </a:r>
            <a:r>
              <a:rPr dirty="0">
                <a:solidFill>
                  <a:srgbClr val="000000"/>
                </a:solidFill>
                <a:latin typeface="맑은 고딕"/>
              </a:rPr>
              <a:t> </a:t>
            </a:r>
            <a:r>
              <a:rPr dirty="0" err="1">
                <a:solidFill>
                  <a:srgbClr val="000000"/>
                </a:solidFill>
                <a:latin typeface="맑은 고딕"/>
              </a:rPr>
              <a:t>서로</a:t>
            </a:r>
            <a:r>
              <a:rPr dirty="0">
                <a:solidFill>
                  <a:srgbClr val="000000"/>
                </a:solidFill>
                <a:latin typeface="맑은 고딕"/>
              </a:rPr>
              <a:t> </a:t>
            </a:r>
            <a:r>
              <a:rPr dirty="0" err="1">
                <a:solidFill>
                  <a:srgbClr val="000000"/>
                </a:solidFill>
                <a:latin typeface="맑은 고딕"/>
              </a:rPr>
              <a:t>변환</a:t>
            </a:r>
            <a:r>
              <a:rPr dirty="0">
                <a:solidFill>
                  <a:srgbClr val="000000"/>
                </a:solidFill>
                <a:latin typeface="맑은 고딕"/>
              </a:rPr>
              <a:t> (</a:t>
            </a:r>
            <a:r>
              <a:rPr dirty="0" err="1">
                <a:solidFill>
                  <a:srgbClr val="000000"/>
                </a:solidFill>
                <a:latin typeface="맑은 고딕"/>
              </a:rPr>
              <a:t>확률</a:t>
            </a:r>
            <a:r>
              <a:rPr dirty="0">
                <a:solidFill>
                  <a:srgbClr val="000000"/>
                </a:solidFill>
                <a:latin typeface="맑은 고딕"/>
              </a:rPr>
              <a:t> ≈ (q−1)/q 로 </a:t>
            </a:r>
            <a:r>
              <a:rPr dirty="0" err="1">
                <a:solidFill>
                  <a:srgbClr val="000000"/>
                </a:solidFill>
                <a:latin typeface="맑은 고딕"/>
              </a:rPr>
              <a:t>가역</a:t>
            </a:r>
            <a:r>
              <a:rPr dirty="0">
                <a:solidFill>
                  <a:srgbClr val="000000"/>
                </a:solidFill>
                <a:latin typeface="맑은 고딕"/>
              </a:rPr>
              <a:t>)</a:t>
            </a:r>
          </a:p>
          <a:p>
            <a:pPr lvl="1">
              <a:buFont typeface="Arial"/>
              <a:buChar char="•"/>
            </a:pPr>
            <a:r>
              <a:rPr dirty="0">
                <a:solidFill>
                  <a:srgbClr val="000000"/>
                </a:solidFill>
                <a:latin typeface="맑은 고딕"/>
              </a:rPr>
              <a:t>[</a:t>
            </a:r>
            <a:r>
              <a:rPr dirty="0" err="1">
                <a:solidFill>
                  <a:srgbClr val="000000"/>
                </a:solidFill>
                <a:latin typeface="맑은 고딕"/>
              </a:rPr>
              <a:t>A|I_n</a:t>
            </a:r>
            <a:r>
              <a:rPr dirty="0">
                <a:solidFill>
                  <a:srgbClr val="000000"/>
                </a:solidFill>
                <a:latin typeface="맑은 고딕"/>
              </a:rPr>
              <a:t>]z=b ⇔ [CA|C]z=</a:t>
            </a:r>
            <a:r>
              <a:rPr dirty="0" err="1">
                <a:solidFill>
                  <a:srgbClr val="000000"/>
                </a:solidFill>
                <a:latin typeface="맑은 고딕"/>
              </a:rPr>
              <a:t>Cb</a:t>
            </a:r>
            <a:r>
              <a:rPr dirty="0">
                <a:solidFill>
                  <a:srgbClr val="000000"/>
                </a:solidFill>
                <a:latin typeface="맑은 고딕"/>
              </a:rPr>
              <a:t> (</a:t>
            </a:r>
            <a:r>
              <a:rPr dirty="0" err="1">
                <a:solidFill>
                  <a:srgbClr val="000000"/>
                </a:solidFill>
                <a:latin typeface="맑은 고딕"/>
              </a:rPr>
              <a:t>C가</a:t>
            </a:r>
            <a:r>
              <a:rPr dirty="0">
                <a:solidFill>
                  <a:srgbClr val="000000"/>
                </a:solidFill>
                <a:latin typeface="맑은 고딕"/>
              </a:rPr>
              <a:t> </a:t>
            </a:r>
            <a:r>
              <a:rPr dirty="0" err="1">
                <a:solidFill>
                  <a:srgbClr val="000000"/>
                </a:solidFill>
                <a:latin typeface="맑은 고딕"/>
              </a:rPr>
              <a:t>가역이므로</a:t>
            </a:r>
            <a:r>
              <a:rPr dirty="0">
                <a:solidFill>
                  <a:srgbClr val="000000"/>
                </a:solidFill>
                <a:latin typeface="맑은 고딕"/>
              </a:rPr>
              <a:t> </a:t>
            </a:r>
            <a:r>
              <a:rPr dirty="0" err="1">
                <a:solidFill>
                  <a:srgbClr val="000000"/>
                </a:solidFill>
                <a:latin typeface="맑은 고딕"/>
              </a:rPr>
              <a:t>양방향</a:t>
            </a:r>
            <a:r>
              <a:rPr dirty="0">
                <a:solidFill>
                  <a:srgbClr val="000000"/>
                </a:solidFill>
                <a:latin typeface="맑은 고딕"/>
              </a:rPr>
              <a:t> </a:t>
            </a:r>
            <a:r>
              <a:rPr dirty="0" err="1">
                <a:solidFill>
                  <a:srgbClr val="000000"/>
                </a:solidFill>
                <a:latin typeface="맑은 고딕"/>
              </a:rPr>
              <a:t>동치</a:t>
            </a:r>
            <a:r>
              <a:rPr dirty="0">
                <a:solidFill>
                  <a:srgbClr val="000000"/>
                </a:solidFill>
                <a:latin typeface="맑은 고딕"/>
              </a:rPr>
              <a:t>)</a:t>
            </a:r>
          </a:p>
          <a:p>
            <a:pPr lvl="1">
              <a:buFont typeface="Arial"/>
              <a:buChar char="•"/>
            </a:pPr>
            <a:r>
              <a:rPr dirty="0" err="1">
                <a:solidFill>
                  <a:srgbClr val="000000"/>
                </a:solidFill>
                <a:latin typeface="맑은 고딕"/>
              </a:rPr>
              <a:t>역방향</a:t>
            </a:r>
            <a:r>
              <a:rPr dirty="0">
                <a:solidFill>
                  <a:srgbClr val="000000"/>
                </a:solidFill>
                <a:latin typeface="맑은 고딕"/>
              </a:rPr>
              <a:t>(</a:t>
            </a:r>
            <a:r>
              <a:rPr dirty="0" err="1">
                <a:solidFill>
                  <a:srgbClr val="000000"/>
                </a:solidFill>
                <a:latin typeface="맑은 고딕"/>
              </a:rPr>
              <a:t>ISIS→nf-ISIS</a:t>
            </a:r>
            <a:r>
              <a:rPr dirty="0">
                <a:solidFill>
                  <a:srgbClr val="000000"/>
                </a:solidFill>
                <a:latin typeface="맑은 고딕"/>
              </a:rPr>
              <a:t>)도 A=[A′|C]로 </a:t>
            </a:r>
            <a:r>
              <a:rPr dirty="0" err="1">
                <a:solidFill>
                  <a:srgbClr val="000000"/>
                </a:solidFill>
                <a:latin typeface="맑은 고딕"/>
              </a:rPr>
              <a:t>쪼갠</a:t>
            </a:r>
            <a:r>
              <a:rPr dirty="0">
                <a:solidFill>
                  <a:srgbClr val="000000"/>
                </a:solidFill>
                <a:latin typeface="맑은 고딕"/>
              </a:rPr>
              <a:t> 뒤 C⁻¹을 </a:t>
            </a:r>
            <a:r>
              <a:rPr dirty="0" err="1">
                <a:solidFill>
                  <a:srgbClr val="000000"/>
                </a:solidFill>
                <a:latin typeface="맑은 고딕"/>
              </a:rPr>
              <a:t>곱해</a:t>
            </a:r>
            <a:r>
              <a:rPr dirty="0">
                <a:solidFill>
                  <a:srgbClr val="000000"/>
                </a:solidFill>
                <a:latin typeface="맑은 고딕"/>
              </a:rPr>
              <a:t> </a:t>
            </a:r>
            <a:r>
              <a:rPr dirty="0" err="1">
                <a:solidFill>
                  <a:srgbClr val="000000"/>
                </a:solidFill>
                <a:latin typeface="맑은 고딕"/>
              </a:rPr>
              <a:t>동일한</a:t>
            </a:r>
            <a:r>
              <a:rPr dirty="0">
                <a:solidFill>
                  <a:srgbClr val="000000"/>
                </a:solidFill>
                <a:latin typeface="맑은 고딕"/>
              </a:rPr>
              <a:t> </a:t>
            </a:r>
            <a:r>
              <a:rPr dirty="0" err="1">
                <a:solidFill>
                  <a:srgbClr val="000000"/>
                </a:solidFill>
                <a:latin typeface="맑은 고딕"/>
              </a:rPr>
              <a:t>논리로</a:t>
            </a:r>
            <a:r>
              <a:rPr dirty="0">
                <a:solidFill>
                  <a:srgbClr val="000000"/>
                </a:solidFill>
                <a:latin typeface="맑은 고딕"/>
              </a:rPr>
              <a:t> </a:t>
            </a:r>
            <a:r>
              <a:rPr dirty="0" err="1">
                <a:solidFill>
                  <a:srgbClr val="000000"/>
                </a:solidFill>
                <a:latin typeface="맑은 고딕"/>
              </a:rPr>
              <a:t>성립</a:t>
            </a:r>
            <a:endParaRPr dirty="0">
              <a:solidFill>
                <a:srgbClr val="000000"/>
              </a:solidFill>
              <a:latin typeface="맑은 고딕"/>
            </a:endParaRPr>
          </a:p>
        </p:txBody>
      </p:sp>
      <p:sp>
        <p:nvSpPr>
          <p:cNvPr id="4" name="슬라이드 번호 개체 틀 3">
            <a:extLst>
              <a:ext uri="{FF2B5EF4-FFF2-40B4-BE49-F238E27FC236}">
                <a16:creationId xmlns:a16="http://schemas.microsoft.com/office/drawing/2014/main" id="{BD7F77AB-87BE-1613-F4B7-C43010B0AA6C}"/>
              </a:ext>
            </a:extLst>
          </p:cNvPr>
          <p:cNvSpPr>
            <a:spLocks noGrp="1"/>
          </p:cNvSpPr>
          <p:nvPr>
            <p:ph type="sldNum" sz="quarter" idx="12"/>
          </p:nvPr>
        </p:nvSpPr>
        <p:spPr/>
        <p:txBody>
          <a:bodyPr/>
          <a:lstStyle/>
          <a:p>
            <a:fld id="{4438A2D4-3867-488E-A04E-7BFFCAED45A6}" type="slidenum">
              <a:rPr lang="ko-KR" altLang="en-US" smtClean="0"/>
              <a:t>14</a:t>
            </a:fld>
            <a:endParaRPr lang="ko-KR" altLang="en-US"/>
          </a:p>
        </p:txBody>
      </p:sp>
      <p:pic>
        <p:nvPicPr>
          <p:cNvPr id="5" name="Picture 3" descr="m_8.png">
            <a:extLst>
              <a:ext uri="{FF2B5EF4-FFF2-40B4-BE49-F238E27FC236}">
                <a16:creationId xmlns:a16="http://schemas.microsoft.com/office/drawing/2014/main" id="{83A38B11-2374-B473-D1A4-34F79C0B9BD7}"/>
              </a:ext>
            </a:extLst>
          </p:cNvPr>
          <p:cNvPicPr>
            <a:picLocks noChangeAspect="1"/>
          </p:cNvPicPr>
          <p:nvPr/>
        </p:nvPicPr>
        <p:blipFill>
          <a:blip r:embed="rId3"/>
          <a:stretch>
            <a:fillRect/>
          </a:stretch>
        </p:blipFill>
        <p:spPr>
          <a:xfrm>
            <a:off x="3992880" y="1514238"/>
            <a:ext cx="4206240" cy="357344"/>
          </a:xfrm>
          <a:prstGeom prst="rect">
            <a:avLst/>
          </a:prstGeom>
        </p:spPr>
      </p:pic>
      <p:pic>
        <p:nvPicPr>
          <p:cNvPr id="6" name="Picture 4" descr="m_9.png">
            <a:extLst>
              <a:ext uri="{FF2B5EF4-FFF2-40B4-BE49-F238E27FC236}">
                <a16:creationId xmlns:a16="http://schemas.microsoft.com/office/drawing/2014/main" id="{41863484-895A-A882-B563-2D828E4547B2}"/>
              </a:ext>
            </a:extLst>
          </p:cNvPr>
          <p:cNvPicPr>
            <a:picLocks noChangeAspect="1"/>
          </p:cNvPicPr>
          <p:nvPr/>
        </p:nvPicPr>
        <p:blipFill>
          <a:blip r:embed="rId4"/>
          <a:stretch>
            <a:fillRect/>
          </a:stretch>
        </p:blipFill>
        <p:spPr>
          <a:xfrm>
            <a:off x="3992880" y="2100182"/>
            <a:ext cx="4206240" cy="472232"/>
          </a:xfrm>
          <a:prstGeom prst="rect">
            <a:avLst/>
          </a:prstGeom>
        </p:spPr>
      </p:pic>
    </p:spTree>
    <p:extLst>
      <p:ext uri="{BB962C8B-B14F-4D97-AF65-F5344CB8AC3E}">
        <p14:creationId xmlns:p14="http://schemas.microsoft.com/office/powerpoint/2010/main" val="1822839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547D7-5576-6C7E-BC8D-B97E21E429B7}"/>
            </a:ext>
          </a:extLst>
        </p:cNvPr>
        <p:cNvGrpSpPr/>
        <p:nvPr/>
      </p:nvGrpSpPr>
      <p:grpSpPr>
        <a:xfrm>
          <a:off x="0" y="0"/>
          <a:ext cx="0" cy="0"/>
          <a:chOff x="0" y="0"/>
          <a:chExt cx="0" cy="0"/>
        </a:xfrm>
      </p:grpSpPr>
      <p:sp>
        <p:nvSpPr>
          <p:cNvPr id="5" name="제목 4">
            <a:extLst>
              <a:ext uri="{FF2B5EF4-FFF2-40B4-BE49-F238E27FC236}">
                <a16:creationId xmlns:a16="http://schemas.microsoft.com/office/drawing/2014/main" id="{70482BFB-1C0A-7836-A642-F44D98D0DFCF}"/>
              </a:ext>
            </a:extLst>
          </p:cNvPr>
          <p:cNvSpPr>
            <a:spLocks noGrp="1"/>
          </p:cNvSpPr>
          <p:nvPr>
            <p:ph type="ctrTitle"/>
          </p:nvPr>
        </p:nvSpPr>
        <p:spPr>
          <a:xfrm>
            <a:off x="1524000" y="3063874"/>
            <a:ext cx="9144000" cy="770773"/>
          </a:xfrm>
        </p:spPr>
        <p:txBody>
          <a:bodyPr>
            <a:normAutofit/>
          </a:bodyPr>
          <a:lstStyle/>
          <a:p>
            <a:r>
              <a:rPr lang="en-US" altLang="ko-KR" sz="4000" b="1" dirty="0">
                <a:solidFill>
                  <a:srgbClr val="000000"/>
                </a:solidFill>
                <a:latin typeface="맑은 고딕"/>
              </a:rPr>
              <a:t>LWE</a:t>
            </a:r>
            <a:endParaRPr lang="ko-KR" altLang="en-US" sz="4000" dirty="0"/>
          </a:p>
        </p:txBody>
      </p:sp>
      <p:sp>
        <p:nvSpPr>
          <p:cNvPr id="4" name="슬라이드 번호 개체 틀 3">
            <a:extLst>
              <a:ext uri="{FF2B5EF4-FFF2-40B4-BE49-F238E27FC236}">
                <a16:creationId xmlns:a16="http://schemas.microsoft.com/office/drawing/2014/main" id="{1794D883-1FED-D6BC-AB7E-4ADB804E04C7}"/>
              </a:ext>
            </a:extLst>
          </p:cNvPr>
          <p:cNvSpPr>
            <a:spLocks noGrp="1"/>
          </p:cNvSpPr>
          <p:nvPr>
            <p:ph type="sldNum" sz="quarter" idx="12"/>
          </p:nvPr>
        </p:nvSpPr>
        <p:spPr/>
        <p:txBody>
          <a:bodyPr/>
          <a:lstStyle/>
          <a:p>
            <a:fld id="{4438A2D4-3867-488E-A04E-7BFFCAED45A6}" type="slidenum">
              <a:rPr lang="ko-KR" altLang="en-US" smtClean="0"/>
              <a:t>15</a:t>
            </a:fld>
            <a:endParaRPr lang="ko-KR" altLang="en-US"/>
          </a:p>
        </p:txBody>
      </p:sp>
    </p:spTree>
    <p:extLst>
      <p:ext uri="{BB962C8B-B14F-4D97-AF65-F5344CB8AC3E}">
        <p14:creationId xmlns:p14="http://schemas.microsoft.com/office/powerpoint/2010/main" val="448612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CA910-4729-195C-D1DA-72F2D1D0E4E1}"/>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96FE69E-62E1-2D95-9712-3188B935F531}"/>
              </a:ext>
            </a:extLst>
          </p:cNvPr>
          <p:cNvSpPr>
            <a:spLocks noGrp="1"/>
          </p:cNvSpPr>
          <p:nvPr>
            <p:ph type="title"/>
          </p:nvPr>
        </p:nvSpPr>
        <p:spPr/>
        <p:txBody>
          <a:bodyPr/>
          <a:lstStyle/>
          <a:p>
            <a:r>
              <a:rPr lang="ko-KR" altLang="en-US" sz="2800" b="1" dirty="0">
                <a:solidFill>
                  <a:srgbClr val="000000"/>
                </a:solidFill>
                <a:latin typeface="맑은 고딕"/>
              </a:rPr>
              <a:t>표기법과 정의</a:t>
            </a:r>
          </a:p>
        </p:txBody>
      </p:sp>
      <p:sp>
        <p:nvSpPr>
          <p:cNvPr id="3" name="내용 개체 틀 2">
            <a:extLst>
              <a:ext uri="{FF2B5EF4-FFF2-40B4-BE49-F238E27FC236}">
                <a16:creationId xmlns:a16="http://schemas.microsoft.com/office/drawing/2014/main" id="{925FA0EE-4ADE-26AE-C53A-1D4E709FBEDC}"/>
              </a:ext>
            </a:extLst>
          </p:cNvPr>
          <p:cNvSpPr>
            <a:spLocks noGrp="1"/>
          </p:cNvSpPr>
          <p:nvPr>
            <p:ph idx="1"/>
          </p:nvPr>
        </p:nvSpPr>
        <p:spPr>
          <a:xfrm>
            <a:off x="1042873" y="3429000"/>
            <a:ext cx="10515600" cy="2804032"/>
          </a:xfrm>
        </p:spPr>
        <p:txBody>
          <a:bodyPr>
            <a:normAutofit/>
          </a:bodyPr>
          <a:lstStyle/>
          <a:p>
            <a:pPr>
              <a:spcAft>
                <a:spcPts val="800"/>
              </a:spcAft>
              <a:buFont typeface="Arial"/>
              <a:buChar char="•"/>
            </a:pPr>
            <a:r>
              <a:rPr lang="en-US" altLang="ko-KR" sz="1800" b="0" dirty="0" err="1">
                <a:solidFill>
                  <a:srgbClr val="000000"/>
                </a:solidFill>
                <a:latin typeface="맑은 고딕"/>
              </a:rPr>
              <a:t>ℤ_q</a:t>
            </a:r>
            <a:r>
              <a:rPr lang="ko-KR" altLang="en-US" sz="1800" b="0" dirty="0">
                <a:solidFill>
                  <a:srgbClr val="000000"/>
                </a:solidFill>
                <a:latin typeface="맑은 고딕"/>
              </a:rPr>
              <a:t> </a:t>
            </a:r>
            <a:r>
              <a:rPr lang="en-US" altLang="ko-KR" sz="1800" b="0" dirty="0">
                <a:solidFill>
                  <a:srgbClr val="000000"/>
                </a:solidFill>
                <a:latin typeface="맑은 고딕"/>
              </a:rPr>
              <a:t>= {0,1,…,q−1}, x ∈_R S </a:t>
            </a:r>
            <a:r>
              <a:rPr lang="ko-KR" altLang="en-US" sz="1800" b="0" dirty="0">
                <a:solidFill>
                  <a:srgbClr val="000000"/>
                </a:solidFill>
                <a:latin typeface="맑은 고딕"/>
              </a:rPr>
              <a:t>는 균등</a:t>
            </a:r>
            <a:r>
              <a:rPr lang="en-US" altLang="ko-KR" sz="1800" b="0" dirty="0">
                <a:solidFill>
                  <a:srgbClr val="000000"/>
                </a:solidFill>
                <a:latin typeface="맑은 고딕"/>
              </a:rPr>
              <a:t>·</a:t>
            </a:r>
            <a:r>
              <a:rPr lang="ko-KR" altLang="en-US" sz="1800" b="0" dirty="0">
                <a:solidFill>
                  <a:srgbClr val="000000"/>
                </a:solidFill>
                <a:latin typeface="맑은 고딕"/>
              </a:rPr>
              <a:t>독립 무작위 선택</a:t>
            </a:r>
            <a:r>
              <a:rPr lang="en-US" altLang="ko-KR" sz="1800" b="0" dirty="0">
                <a:solidFill>
                  <a:srgbClr val="000000"/>
                </a:solidFill>
                <a:latin typeface="맑은 고딕"/>
              </a:rPr>
              <a:t>, </a:t>
            </a:r>
            <a:r>
              <a:rPr lang="ko-KR" altLang="en-US" sz="1800" b="0" dirty="0">
                <a:solidFill>
                  <a:srgbClr val="000000"/>
                </a:solidFill>
                <a:latin typeface="맑은 고딕"/>
              </a:rPr>
              <a:t>모든 벡터는 </a:t>
            </a:r>
            <a:r>
              <a:rPr lang="ko-KR" altLang="en-US" sz="1800" b="0" dirty="0" err="1">
                <a:solidFill>
                  <a:srgbClr val="000000"/>
                </a:solidFill>
                <a:latin typeface="맑은 고딕"/>
              </a:rPr>
              <a:t>열벡터</a:t>
            </a:r>
            <a:endParaRPr lang="ko-KR" altLang="en-US" sz="1800" dirty="0"/>
          </a:p>
          <a:p>
            <a:pPr>
              <a:spcAft>
                <a:spcPts val="800"/>
              </a:spcAft>
              <a:buFont typeface="Arial"/>
              <a:buChar char="•"/>
            </a:pPr>
            <a:r>
              <a:rPr lang="en-US" altLang="ko-KR" sz="1800" b="0" dirty="0">
                <a:solidFill>
                  <a:srgbClr val="000000"/>
                </a:solidFill>
                <a:latin typeface="맑은 고딕"/>
              </a:rPr>
              <a:t>LWE(</a:t>
            </a:r>
            <a:r>
              <a:rPr lang="en-US" altLang="ko-KR" sz="1800" b="0" dirty="0" err="1">
                <a:solidFill>
                  <a:srgbClr val="000000"/>
                </a:solidFill>
                <a:latin typeface="맑은 고딕"/>
              </a:rPr>
              <a:t>m,n,q,B</a:t>
            </a:r>
            <a:r>
              <a:rPr lang="en-US" altLang="ko-KR" sz="1800" b="0" dirty="0">
                <a:solidFill>
                  <a:srgbClr val="000000"/>
                </a:solidFill>
                <a:latin typeface="맑은 고딕"/>
              </a:rPr>
              <a:t>): </a:t>
            </a:r>
            <a:r>
              <a:rPr lang="ko-KR" altLang="en-US" sz="1800" b="0" dirty="0">
                <a:solidFill>
                  <a:srgbClr val="000000"/>
                </a:solidFill>
                <a:latin typeface="맑은 고딕"/>
              </a:rPr>
              <a:t>양의 정수 </a:t>
            </a:r>
            <a:r>
              <a:rPr lang="en-US" altLang="ko-KR" sz="1800" b="0" dirty="0" err="1">
                <a:solidFill>
                  <a:srgbClr val="000000"/>
                </a:solidFill>
                <a:latin typeface="맑은 고딕"/>
              </a:rPr>
              <a:t>m,n</a:t>
            </a:r>
            <a:r>
              <a:rPr lang="ko-KR" altLang="en-US" sz="1800" b="0" dirty="0">
                <a:solidFill>
                  <a:srgbClr val="000000"/>
                </a:solidFill>
                <a:latin typeface="맑은 고딕"/>
              </a:rPr>
              <a:t> </a:t>
            </a:r>
            <a:r>
              <a:rPr lang="en-US" altLang="ko-KR" sz="1800" b="0" dirty="0">
                <a:solidFill>
                  <a:srgbClr val="000000"/>
                </a:solidFill>
                <a:latin typeface="맑은 고딕"/>
              </a:rPr>
              <a:t>(</a:t>
            </a:r>
            <a:r>
              <a:rPr lang="en-US" altLang="ko-KR" sz="1800" b="0" dirty="0" err="1">
                <a:solidFill>
                  <a:srgbClr val="000000"/>
                </a:solidFill>
                <a:latin typeface="맑은 고딕"/>
              </a:rPr>
              <a:t>m≫n</a:t>
            </a:r>
            <a:r>
              <a:rPr lang="en-US" altLang="ko-KR" sz="1800" b="0" dirty="0">
                <a:solidFill>
                  <a:srgbClr val="000000"/>
                </a:solidFill>
                <a:latin typeface="맑은 고딕"/>
              </a:rPr>
              <a:t>), </a:t>
            </a:r>
            <a:r>
              <a:rPr lang="ko-KR" altLang="en-US" sz="1800" b="0" dirty="0">
                <a:solidFill>
                  <a:srgbClr val="000000"/>
                </a:solidFill>
                <a:latin typeface="맑은 고딕"/>
              </a:rPr>
              <a:t>소수 </a:t>
            </a:r>
            <a:r>
              <a:rPr lang="en-US" altLang="ko-KR" sz="1800" b="0" dirty="0">
                <a:solidFill>
                  <a:srgbClr val="000000"/>
                </a:solidFill>
                <a:latin typeface="맑은 고딕"/>
              </a:rPr>
              <a:t>modulus q, </a:t>
            </a:r>
            <a:r>
              <a:rPr lang="ko-KR" altLang="en-US" sz="1800" b="0" dirty="0">
                <a:solidFill>
                  <a:srgbClr val="000000"/>
                </a:solidFill>
                <a:latin typeface="맑은 고딕"/>
              </a:rPr>
              <a:t>잡음 한계 </a:t>
            </a:r>
            <a:r>
              <a:rPr lang="en-US" altLang="ko-KR" sz="1800" b="0" dirty="0">
                <a:solidFill>
                  <a:srgbClr val="000000"/>
                </a:solidFill>
                <a:latin typeface="맑은 고딕"/>
              </a:rPr>
              <a:t>B (</a:t>
            </a:r>
            <a:r>
              <a:rPr lang="en-US" altLang="ko-KR" sz="1800" b="0" dirty="0" err="1">
                <a:solidFill>
                  <a:srgbClr val="000000"/>
                </a:solidFill>
                <a:latin typeface="맑은 고딕"/>
              </a:rPr>
              <a:t>B≪q</a:t>
            </a:r>
            <a:r>
              <a:rPr lang="en-US" altLang="ko-KR" sz="1800" b="0" dirty="0">
                <a:solidFill>
                  <a:srgbClr val="000000"/>
                </a:solidFill>
                <a:latin typeface="맑은 고딕"/>
              </a:rPr>
              <a:t>/2)</a:t>
            </a:r>
          </a:p>
          <a:p>
            <a:pPr>
              <a:spcAft>
                <a:spcPts val="800"/>
              </a:spcAft>
              <a:buFont typeface="Arial"/>
              <a:buChar char="•"/>
            </a:pPr>
            <a:r>
              <a:rPr lang="en-US" altLang="ko-KR" sz="1800" b="0" dirty="0">
                <a:solidFill>
                  <a:srgbClr val="000000"/>
                </a:solidFill>
                <a:latin typeface="맑은 고딕"/>
              </a:rPr>
              <a:t>(A, b) </a:t>
            </a:r>
            <a:r>
              <a:rPr lang="ko-KR" altLang="en-US" sz="1800" b="0" dirty="0">
                <a:solidFill>
                  <a:srgbClr val="000000"/>
                </a:solidFill>
                <a:latin typeface="맑은 고딕"/>
              </a:rPr>
              <a:t>가 주어졌을 때 </a:t>
            </a:r>
            <a:r>
              <a:rPr lang="en-US" altLang="ko-KR" sz="1800" b="0" dirty="0">
                <a:solidFill>
                  <a:srgbClr val="000000"/>
                </a:solidFill>
                <a:latin typeface="맑은 고딕"/>
              </a:rPr>
              <a:t>s </a:t>
            </a:r>
            <a:r>
              <a:rPr lang="ko-KR" altLang="en-US" sz="1800" b="0" dirty="0">
                <a:solidFill>
                  <a:srgbClr val="000000"/>
                </a:solidFill>
                <a:latin typeface="맑은 고딕"/>
              </a:rPr>
              <a:t>를 찾아라</a:t>
            </a:r>
          </a:p>
          <a:p>
            <a:pPr>
              <a:spcAft>
                <a:spcPts val="800"/>
              </a:spcAft>
              <a:buFont typeface="Arial"/>
              <a:buChar char="•"/>
            </a:pPr>
            <a:r>
              <a:rPr lang="en-US" altLang="ko-KR" sz="1800" b="0" dirty="0">
                <a:solidFill>
                  <a:srgbClr val="000000"/>
                </a:solidFill>
                <a:latin typeface="맑은 고딕"/>
              </a:rPr>
              <a:t>Regev</a:t>
            </a:r>
            <a:r>
              <a:rPr lang="ko-KR" altLang="en-US" sz="1800" b="0" dirty="0">
                <a:solidFill>
                  <a:srgbClr val="000000"/>
                </a:solidFill>
                <a:latin typeface="맑은 고딕"/>
              </a:rPr>
              <a:t>가 </a:t>
            </a:r>
            <a:r>
              <a:rPr lang="en-US" altLang="ko-KR" sz="1800" b="0" dirty="0">
                <a:solidFill>
                  <a:srgbClr val="000000"/>
                </a:solidFill>
                <a:latin typeface="맑은 고딕"/>
              </a:rPr>
              <a:t>2005</a:t>
            </a:r>
            <a:r>
              <a:rPr lang="ko-KR" altLang="en-US" sz="1800" b="0" dirty="0">
                <a:solidFill>
                  <a:srgbClr val="000000"/>
                </a:solidFill>
                <a:latin typeface="맑은 고딕"/>
              </a:rPr>
              <a:t>년 도입</a:t>
            </a:r>
          </a:p>
        </p:txBody>
      </p:sp>
      <p:sp>
        <p:nvSpPr>
          <p:cNvPr id="4" name="슬라이드 번호 개체 틀 3">
            <a:extLst>
              <a:ext uri="{FF2B5EF4-FFF2-40B4-BE49-F238E27FC236}">
                <a16:creationId xmlns:a16="http://schemas.microsoft.com/office/drawing/2014/main" id="{755B59D0-A6E2-FD3C-43E0-E783686F1041}"/>
              </a:ext>
            </a:extLst>
          </p:cNvPr>
          <p:cNvSpPr>
            <a:spLocks noGrp="1"/>
          </p:cNvSpPr>
          <p:nvPr>
            <p:ph type="sldNum" sz="quarter" idx="12"/>
          </p:nvPr>
        </p:nvSpPr>
        <p:spPr/>
        <p:txBody>
          <a:bodyPr/>
          <a:lstStyle/>
          <a:p>
            <a:fld id="{4438A2D4-3867-488E-A04E-7BFFCAED45A6}" type="slidenum">
              <a:rPr lang="ko-KR" altLang="en-US" smtClean="0"/>
              <a:t>16</a:t>
            </a:fld>
            <a:endParaRPr lang="ko-KR" altLang="en-US"/>
          </a:p>
        </p:txBody>
      </p:sp>
      <p:sp>
        <p:nvSpPr>
          <p:cNvPr id="6" name="Rectangle 5">
            <a:extLst>
              <a:ext uri="{FF2B5EF4-FFF2-40B4-BE49-F238E27FC236}">
                <a16:creationId xmlns:a16="http://schemas.microsoft.com/office/drawing/2014/main" id="{9F46E7DD-2BDD-5222-CE81-3777D5EB761C}"/>
              </a:ext>
            </a:extLst>
          </p:cNvPr>
          <p:cNvSpPr/>
          <p:nvPr/>
        </p:nvSpPr>
        <p:spPr>
          <a:xfrm>
            <a:off x="2732684" y="1196341"/>
            <a:ext cx="1077163" cy="1051560"/>
          </a:xfrm>
          <a:prstGeom prst="rect">
            <a:avLst/>
          </a:prstGeom>
          <a:solidFill>
            <a:srgbClr val="F4F5F7"/>
          </a:solidFill>
          <a:ln w="15875">
            <a:solidFill>
              <a:srgbClr val="C7CBD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0" i="1">
                <a:solidFill>
                  <a:srgbClr val="000000"/>
                </a:solidFill>
                <a:latin typeface="맑은 고딕"/>
              </a:rPr>
              <a:t>A</a:t>
            </a:r>
          </a:p>
        </p:txBody>
      </p:sp>
      <p:sp>
        <p:nvSpPr>
          <p:cNvPr id="7" name="TextBox 6">
            <a:extLst>
              <a:ext uri="{FF2B5EF4-FFF2-40B4-BE49-F238E27FC236}">
                <a16:creationId xmlns:a16="http://schemas.microsoft.com/office/drawing/2014/main" id="{09CEEB9E-6458-3E7E-4825-31974C768FA0}"/>
              </a:ext>
            </a:extLst>
          </p:cNvPr>
          <p:cNvSpPr txBox="1"/>
          <p:nvPr/>
        </p:nvSpPr>
        <p:spPr>
          <a:xfrm>
            <a:off x="2412644" y="2275334"/>
            <a:ext cx="1717243" cy="274320"/>
          </a:xfrm>
          <a:prstGeom prst="rect">
            <a:avLst/>
          </a:prstGeom>
          <a:noFill/>
        </p:spPr>
        <p:txBody>
          <a:bodyPr wrap="none" lIns="0" tIns="0" rIns="0" bIns="0" anchor="t">
            <a:spAutoFit/>
          </a:bodyPr>
          <a:lstStyle/>
          <a:p>
            <a:pPr algn="ctr">
              <a:lnSpc>
                <a:spcPct val="115000"/>
              </a:lnSpc>
            </a:pPr>
            <a:r>
              <a:rPr sz="1200" b="0" i="1">
                <a:solidFill>
                  <a:srgbClr val="000000"/>
                </a:solidFill>
                <a:latin typeface="맑은 고딕"/>
              </a:rPr>
              <a:t>m × n</a:t>
            </a:r>
          </a:p>
        </p:txBody>
      </p:sp>
      <p:sp>
        <p:nvSpPr>
          <p:cNvPr id="8" name="TextBox 7">
            <a:extLst>
              <a:ext uri="{FF2B5EF4-FFF2-40B4-BE49-F238E27FC236}">
                <a16:creationId xmlns:a16="http://schemas.microsoft.com/office/drawing/2014/main" id="{667A26E1-3F9E-0926-F95C-E9AAE60BF14A}"/>
              </a:ext>
            </a:extLst>
          </p:cNvPr>
          <p:cNvSpPr txBox="1"/>
          <p:nvPr/>
        </p:nvSpPr>
        <p:spPr>
          <a:xfrm>
            <a:off x="4011015" y="1196341"/>
            <a:ext cx="457200" cy="1051560"/>
          </a:xfrm>
          <a:prstGeom prst="rect">
            <a:avLst/>
          </a:prstGeom>
          <a:noFill/>
        </p:spPr>
        <p:txBody>
          <a:bodyPr wrap="square" lIns="0" tIns="0" rIns="0" bIns="0" anchor="ctr">
            <a:spAutoFit/>
          </a:bodyPr>
          <a:lstStyle/>
          <a:p>
            <a:pPr algn="ctr">
              <a:lnSpc>
                <a:spcPct val="115000"/>
              </a:lnSpc>
            </a:pPr>
            <a:endParaRPr/>
          </a:p>
        </p:txBody>
      </p:sp>
      <p:sp>
        <p:nvSpPr>
          <p:cNvPr id="9" name="Rectangle 8">
            <a:extLst>
              <a:ext uri="{FF2B5EF4-FFF2-40B4-BE49-F238E27FC236}">
                <a16:creationId xmlns:a16="http://schemas.microsoft.com/office/drawing/2014/main" id="{BCD90EA3-F6F6-1A98-48F3-3EEC046B6DE7}"/>
              </a:ext>
            </a:extLst>
          </p:cNvPr>
          <p:cNvSpPr/>
          <p:nvPr/>
        </p:nvSpPr>
        <p:spPr>
          <a:xfrm>
            <a:off x="4715103" y="1196341"/>
            <a:ext cx="453542" cy="1051560"/>
          </a:xfrm>
          <a:prstGeom prst="rect">
            <a:avLst/>
          </a:prstGeom>
          <a:solidFill>
            <a:srgbClr val="F4F5F7"/>
          </a:solidFill>
          <a:ln w="15875">
            <a:solidFill>
              <a:srgbClr val="C7CBD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0" i="1">
                <a:solidFill>
                  <a:srgbClr val="000000"/>
                </a:solidFill>
                <a:latin typeface="맑은 고딕"/>
              </a:rPr>
              <a:t>s</a:t>
            </a:r>
          </a:p>
        </p:txBody>
      </p:sp>
      <p:sp>
        <p:nvSpPr>
          <p:cNvPr id="10" name="TextBox 9">
            <a:extLst>
              <a:ext uri="{FF2B5EF4-FFF2-40B4-BE49-F238E27FC236}">
                <a16:creationId xmlns:a16="http://schemas.microsoft.com/office/drawing/2014/main" id="{ECDB4C74-5061-99D9-47CE-D867DE7B6D81}"/>
              </a:ext>
            </a:extLst>
          </p:cNvPr>
          <p:cNvSpPr txBox="1"/>
          <p:nvPr/>
        </p:nvSpPr>
        <p:spPr>
          <a:xfrm>
            <a:off x="4395063" y="2275334"/>
            <a:ext cx="1093622" cy="274320"/>
          </a:xfrm>
          <a:prstGeom prst="rect">
            <a:avLst/>
          </a:prstGeom>
          <a:noFill/>
        </p:spPr>
        <p:txBody>
          <a:bodyPr wrap="none" lIns="0" tIns="0" rIns="0" bIns="0" anchor="t">
            <a:spAutoFit/>
          </a:bodyPr>
          <a:lstStyle/>
          <a:p>
            <a:pPr algn="ctr">
              <a:lnSpc>
                <a:spcPct val="115000"/>
              </a:lnSpc>
            </a:pPr>
            <a:r>
              <a:rPr sz="1200" b="0" i="1">
                <a:solidFill>
                  <a:srgbClr val="000000"/>
                </a:solidFill>
                <a:latin typeface="맑은 고딕"/>
              </a:rPr>
              <a:t>n × 1</a:t>
            </a:r>
          </a:p>
        </p:txBody>
      </p:sp>
      <p:sp>
        <p:nvSpPr>
          <p:cNvPr id="11" name="TextBox 10">
            <a:extLst>
              <a:ext uri="{FF2B5EF4-FFF2-40B4-BE49-F238E27FC236}">
                <a16:creationId xmlns:a16="http://schemas.microsoft.com/office/drawing/2014/main" id="{6B2178A6-721D-9961-7121-CEEE3718CA06}"/>
              </a:ext>
            </a:extLst>
          </p:cNvPr>
          <p:cNvSpPr txBox="1"/>
          <p:nvPr/>
        </p:nvSpPr>
        <p:spPr>
          <a:xfrm>
            <a:off x="5369814" y="1196341"/>
            <a:ext cx="457200" cy="1051560"/>
          </a:xfrm>
          <a:prstGeom prst="rect">
            <a:avLst/>
          </a:prstGeom>
          <a:noFill/>
        </p:spPr>
        <p:txBody>
          <a:bodyPr wrap="square" lIns="0" tIns="0" rIns="0" bIns="0" anchor="ctr">
            <a:spAutoFit/>
          </a:bodyPr>
          <a:lstStyle/>
          <a:p>
            <a:pPr algn="ctr">
              <a:lnSpc>
                <a:spcPct val="115000"/>
              </a:lnSpc>
            </a:pPr>
            <a:r>
              <a:rPr sz="3200" b="0" i="0">
                <a:solidFill>
                  <a:srgbClr val="000000"/>
                </a:solidFill>
                <a:latin typeface="맑은 고딕"/>
              </a:rPr>
              <a:t>+</a:t>
            </a:r>
          </a:p>
        </p:txBody>
      </p:sp>
      <p:sp>
        <p:nvSpPr>
          <p:cNvPr id="12" name="Rectangle 11">
            <a:extLst>
              <a:ext uri="{FF2B5EF4-FFF2-40B4-BE49-F238E27FC236}">
                <a16:creationId xmlns:a16="http://schemas.microsoft.com/office/drawing/2014/main" id="{FEF2F75C-C662-7D23-FD28-6D2588683A52}"/>
              </a:ext>
            </a:extLst>
          </p:cNvPr>
          <p:cNvSpPr/>
          <p:nvPr/>
        </p:nvSpPr>
        <p:spPr>
          <a:xfrm>
            <a:off x="6073902" y="1196341"/>
            <a:ext cx="453542" cy="1051560"/>
          </a:xfrm>
          <a:prstGeom prst="rect">
            <a:avLst/>
          </a:prstGeom>
          <a:solidFill>
            <a:srgbClr val="E3F1EF"/>
          </a:solidFill>
          <a:ln w="15875">
            <a:solidFill>
              <a:srgbClr val="C7CBD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0" i="1">
                <a:solidFill>
                  <a:srgbClr val="000000"/>
                </a:solidFill>
                <a:latin typeface="맑은 고딕"/>
              </a:rPr>
              <a:t>e</a:t>
            </a:r>
          </a:p>
        </p:txBody>
      </p:sp>
      <p:sp>
        <p:nvSpPr>
          <p:cNvPr id="13" name="TextBox 12">
            <a:extLst>
              <a:ext uri="{FF2B5EF4-FFF2-40B4-BE49-F238E27FC236}">
                <a16:creationId xmlns:a16="http://schemas.microsoft.com/office/drawing/2014/main" id="{E2F154A8-A80D-80EC-E7D2-DD2BD5250022}"/>
              </a:ext>
            </a:extLst>
          </p:cNvPr>
          <p:cNvSpPr txBox="1"/>
          <p:nvPr/>
        </p:nvSpPr>
        <p:spPr>
          <a:xfrm>
            <a:off x="5753862" y="2275334"/>
            <a:ext cx="1093622" cy="274320"/>
          </a:xfrm>
          <a:prstGeom prst="rect">
            <a:avLst/>
          </a:prstGeom>
          <a:noFill/>
        </p:spPr>
        <p:txBody>
          <a:bodyPr wrap="none" lIns="0" tIns="0" rIns="0" bIns="0" anchor="t">
            <a:spAutoFit/>
          </a:bodyPr>
          <a:lstStyle/>
          <a:p>
            <a:pPr algn="ctr">
              <a:lnSpc>
                <a:spcPct val="115000"/>
              </a:lnSpc>
            </a:pPr>
            <a:r>
              <a:rPr sz="1200" b="0" i="1">
                <a:solidFill>
                  <a:srgbClr val="000000"/>
                </a:solidFill>
                <a:latin typeface="맑은 고딕"/>
              </a:rPr>
              <a:t>m × 1</a:t>
            </a:r>
          </a:p>
        </p:txBody>
      </p:sp>
      <p:sp>
        <p:nvSpPr>
          <p:cNvPr id="14" name="TextBox 13">
            <a:extLst>
              <a:ext uri="{FF2B5EF4-FFF2-40B4-BE49-F238E27FC236}">
                <a16:creationId xmlns:a16="http://schemas.microsoft.com/office/drawing/2014/main" id="{73B76B1D-AA2E-B308-9673-186338E39D15}"/>
              </a:ext>
            </a:extLst>
          </p:cNvPr>
          <p:cNvSpPr txBox="1"/>
          <p:nvPr/>
        </p:nvSpPr>
        <p:spPr>
          <a:xfrm>
            <a:off x="6728612" y="1196341"/>
            <a:ext cx="457200" cy="1051560"/>
          </a:xfrm>
          <a:prstGeom prst="rect">
            <a:avLst/>
          </a:prstGeom>
          <a:noFill/>
        </p:spPr>
        <p:txBody>
          <a:bodyPr wrap="square" lIns="0" tIns="0" rIns="0" bIns="0" anchor="ctr">
            <a:spAutoFit/>
          </a:bodyPr>
          <a:lstStyle/>
          <a:p>
            <a:pPr algn="ctr">
              <a:lnSpc>
                <a:spcPct val="115000"/>
              </a:lnSpc>
            </a:pPr>
            <a:r>
              <a:rPr sz="3200" b="0" i="0">
                <a:solidFill>
                  <a:srgbClr val="000000"/>
                </a:solidFill>
                <a:latin typeface="맑은 고딕"/>
              </a:rPr>
              <a:t>=</a:t>
            </a:r>
          </a:p>
        </p:txBody>
      </p:sp>
      <p:sp>
        <p:nvSpPr>
          <p:cNvPr id="15" name="Rectangle 14">
            <a:extLst>
              <a:ext uri="{FF2B5EF4-FFF2-40B4-BE49-F238E27FC236}">
                <a16:creationId xmlns:a16="http://schemas.microsoft.com/office/drawing/2014/main" id="{DF0C11CA-A30B-291E-1619-BB30E3C3AB47}"/>
              </a:ext>
            </a:extLst>
          </p:cNvPr>
          <p:cNvSpPr/>
          <p:nvPr/>
        </p:nvSpPr>
        <p:spPr>
          <a:xfrm>
            <a:off x="7432700" y="1196341"/>
            <a:ext cx="453542" cy="1051560"/>
          </a:xfrm>
          <a:prstGeom prst="rect">
            <a:avLst/>
          </a:prstGeom>
          <a:solidFill>
            <a:srgbClr val="FBE7D4"/>
          </a:solidFill>
          <a:ln w="15875">
            <a:solidFill>
              <a:srgbClr val="C7CBD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600" b="0" i="1">
                <a:solidFill>
                  <a:srgbClr val="000000"/>
                </a:solidFill>
                <a:latin typeface="맑은 고딕"/>
              </a:rPr>
              <a:t>b</a:t>
            </a:r>
          </a:p>
        </p:txBody>
      </p:sp>
      <p:sp>
        <p:nvSpPr>
          <p:cNvPr id="16" name="TextBox 15">
            <a:extLst>
              <a:ext uri="{FF2B5EF4-FFF2-40B4-BE49-F238E27FC236}">
                <a16:creationId xmlns:a16="http://schemas.microsoft.com/office/drawing/2014/main" id="{06B58EEA-E7F5-126E-A9B7-445351183DB3}"/>
              </a:ext>
            </a:extLst>
          </p:cNvPr>
          <p:cNvSpPr txBox="1"/>
          <p:nvPr/>
        </p:nvSpPr>
        <p:spPr>
          <a:xfrm>
            <a:off x="7112660" y="2275334"/>
            <a:ext cx="1093622" cy="274320"/>
          </a:xfrm>
          <a:prstGeom prst="rect">
            <a:avLst/>
          </a:prstGeom>
          <a:noFill/>
        </p:spPr>
        <p:txBody>
          <a:bodyPr wrap="none" lIns="0" tIns="0" rIns="0" bIns="0" anchor="t">
            <a:spAutoFit/>
          </a:bodyPr>
          <a:lstStyle/>
          <a:p>
            <a:pPr algn="ctr">
              <a:lnSpc>
                <a:spcPct val="115000"/>
              </a:lnSpc>
            </a:pPr>
            <a:r>
              <a:rPr sz="1200" b="0" i="1">
                <a:solidFill>
                  <a:srgbClr val="000000"/>
                </a:solidFill>
                <a:latin typeface="맑은 고딕"/>
              </a:rPr>
              <a:t>m × 1</a:t>
            </a:r>
          </a:p>
        </p:txBody>
      </p:sp>
      <p:sp>
        <p:nvSpPr>
          <p:cNvPr id="17" name="TextBox 16">
            <a:extLst>
              <a:ext uri="{FF2B5EF4-FFF2-40B4-BE49-F238E27FC236}">
                <a16:creationId xmlns:a16="http://schemas.microsoft.com/office/drawing/2014/main" id="{82F3BC0A-8186-549E-0CB5-9B0865F461F8}"/>
              </a:ext>
            </a:extLst>
          </p:cNvPr>
          <p:cNvSpPr txBox="1"/>
          <p:nvPr/>
        </p:nvSpPr>
        <p:spPr>
          <a:xfrm>
            <a:off x="8087410" y="1196341"/>
            <a:ext cx="1371600" cy="1051560"/>
          </a:xfrm>
          <a:prstGeom prst="rect">
            <a:avLst/>
          </a:prstGeom>
          <a:noFill/>
        </p:spPr>
        <p:txBody>
          <a:bodyPr wrap="square" lIns="0" tIns="0" rIns="0" bIns="0" anchor="ctr">
            <a:spAutoFit/>
          </a:bodyPr>
          <a:lstStyle/>
          <a:p>
            <a:pPr algn="ctr">
              <a:lnSpc>
                <a:spcPct val="115000"/>
              </a:lnSpc>
            </a:pPr>
            <a:r>
              <a:rPr sz="2000" b="0" i="0">
                <a:solidFill>
                  <a:srgbClr val="000000"/>
                </a:solidFill>
                <a:latin typeface="맑은 고딕"/>
              </a:rPr>
              <a:t>(mod q)</a:t>
            </a:r>
          </a:p>
        </p:txBody>
      </p:sp>
      <p:cxnSp>
        <p:nvCxnSpPr>
          <p:cNvPr id="18" name="Connector 17">
            <a:extLst>
              <a:ext uri="{FF2B5EF4-FFF2-40B4-BE49-F238E27FC236}">
                <a16:creationId xmlns:a16="http://schemas.microsoft.com/office/drawing/2014/main" id="{A54BF2C6-8132-A2ED-BF04-56115A9E9050}"/>
              </a:ext>
            </a:extLst>
          </p:cNvPr>
          <p:cNvCxnSpPr/>
          <p:nvPr/>
        </p:nvCxnSpPr>
        <p:spPr>
          <a:xfrm>
            <a:off x="3108960" y="2796542"/>
            <a:ext cx="5943600" cy="0"/>
          </a:xfrm>
          <a:prstGeom prst="line">
            <a:avLst/>
          </a:prstGeom>
          <a:ln w="19050">
            <a:solidFill>
              <a:srgbClr val="C7CBD3"/>
            </a:solidFill>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2A99D15E-452F-3EAA-B85C-853A9DD4FA0E}"/>
              </a:ext>
            </a:extLst>
          </p:cNvPr>
          <p:cNvSpPr/>
          <p:nvPr/>
        </p:nvSpPr>
        <p:spPr>
          <a:xfrm>
            <a:off x="5605272" y="2714246"/>
            <a:ext cx="950976" cy="164592"/>
          </a:xfrm>
          <a:prstGeom prst="rect">
            <a:avLst/>
          </a:prstGeom>
          <a:solidFill>
            <a:srgbClr val="B33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48F5F363-5FAC-3B06-94F4-D8465A40B864}"/>
              </a:ext>
            </a:extLst>
          </p:cNvPr>
          <p:cNvSpPr txBox="1"/>
          <p:nvPr/>
        </p:nvSpPr>
        <p:spPr>
          <a:xfrm>
            <a:off x="5605272" y="2933702"/>
            <a:ext cx="950976" cy="320040"/>
          </a:xfrm>
          <a:prstGeom prst="rect">
            <a:avLst/>
          </a:prstGeom>
          <a:noFill/>
        </p:spPr>
        <p:txBody>
          <a:bodyPr wrap="square" lIns="0" tIns="0" rIns="0" bIns="0" anchor="t">
            <a:spAutoFit/>
          </a:bodyPr>
          <a:lstStyle/>
          <a:p>
            <a:pPr algn="ctr">
              <a:lnSpc>
                <a:spcPct val="115000"/>
              </a:lnSpc>
            </a:pPr>
            <a:r>
              <a:rPr sz="1300" b="0" i="0">
                <a:solidFill>
                  <a:srgbClr val="000000"/>
                </a:solidFill>
                <a:latin typeface="맑은 고딕"/>
              </a:rPr>
              <a:t>eᵢ ∈ [-B,B]</a:t>
            </a:r>
          </a:p>
        </p:txBody>
      </p:sp>
      <p:sp>
        <p:nvSpPr>
          <p:cNvPr id="21" name="TextBox 20">
            <a:extLst>
              <a:ext uri="{FF2B5EF4-FFF2-40B4-BE49-F238E27FC236}">
                <a16:creationId xmlns:a16="http://schemas.microsoft.com/office/drawing/2014/main" id="{267E145C-1741-0A65-CE09-8B161BCCE3A1}"/>
              </a:ext>
            </a:extLst>
          </p:cNvPr>
          <p:cNvSpPr txBox="1"/>
          <p:nvPr/>
        </p:nvSpPr>
        <p:spPr>
          <a:xfrm>
            <a:off x="2971800" y="2545082"/>
            <a:ext cx="822960" cy="274320"/>
          </a:xfrm>
          <a:prstGeom prst="rect">
            <a:avLst/>
          </a:prstGeom>
          <a:noFill/>
        </p:spPr>
        <p:txBody>
          <a:bodyPr wrap="square" lIns="0" tIns="0" rIns="0" bIns="0" anchor="t">
            <a:spAutoFit/>
          </a:bodyPr>
          <a:lstStyle/>
          <a:p>
            <a:pPr algn="l">
              <a:lnSpc>
                <a:spcPct val="115000"/>
              </a:lnSpc>
            </a:pPr>
            <a:r>
              <a:rPr sz="1400" b="0" i="1">
                <a:solidFill>
                  <a:srgbClr val="000000"/>
                </a:solidFill>
                <a:latin typeface="맑은 고딕"/>
              </a:rPr>
              <a:t>-q</a:t>
            </a:r>
          </a:p>
        </p:txBody>
      </p:sp>
      <p:sp>
        <p:nvSpPr>
          <p:cNvPr id="22" name="TextBox 21">
            <a:extLst>
              <a:ext uri="{FF2B5EF4-FFF2-40B4-BE49-F238E27FC236}">
                <a16:creationId xmlns:a16="http://schemas.microsoft.com/office/drawing/2014/main" id="{1DF09F7A-DCFF-6DB4-97C1-516BA4602B35}"/>
              </a:ext>
            </a:extLst>
          </p:cNvPr>
          <p:cNvSpPr txBox="1"/>
          <p:nvPr/>
        </p:nvSpPr>
        <p:spPr>
          <a:xfrm>
            <a:off x="8366760" y="2545082"/>
            <a:ext cx="822960" cy="274320"/>
          </a:xfrm>
          <a:prstGeom prst="rect">
            <a:avLst/>
          </a:prstGeom>
          <a:noFill/>
        </p:spPr>
        <p:txBody>
          <a:bodyPr wrap="square" lIns="0" tIns="0" rIns="0" bIns="0" anchor="t">
            <a:spAutoFit/>
          </a:bodyPr>
          <a:lstStyle/>
          <a:p>
            <a:pPr algn="r">
              <a:lnSpc>
                <a:spcPct val="115000"/>
              </a:lnSpc>
            </a:pPr>
            <a:r>
              <a:rPr sz="1400" b="0" i="1">
                <a:solidFill>
                  <a:srgbClr val="000000"/>
                </a:solidFill>
                <a:latin typeface="맑은 고딕"/>
              </a:rPr>
              <a:t>q</a:t>
            </a:r>
          </a:p>
        </p:txBody>
      </p:sp>
    </p:spTree>
    <p:extLst>
      <p:ext uri="{BB962C8B-B14F-4D97-AF65-F5344CB8AC3E}">
        <p14:creationId xmlns:p14="http://schemas.microsoft.com/office/powerpoint/2010/main" val="3781274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DFDD8-230E-E739-CA6D-17F80EAFEAA0}"/>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E70E4D60-6D17-70B7-BACC-E37C65BA7663}"/>
              </a:ext>
            </a:extLst>
          </p:cNvPr>
          <p:cNvSpPr>
            <a:spLocks noGrp="1"/>
          </p:cNvSpPr>
          <p:nvPr>
            <p:ph type="title"/>
          </p:nvPr>
        </p:nvSpPr>
        <p:spPr/>
        <p:txBody>
          <a:bodyPr/>
          <a:lstStyle/>
          <a:p>
            <a:r>
              <a:rPr lang="en-US" altLang="ko-KR" sz="2800" b="1" dirty="0">
                <a:solidFill>
                  <a:srgbClr val="000000"/>
                </a:solidFill>
                <a:latin typeface="맑은 고딕"/>
              </a:rPr>
              <a:t>LWE</a:t>
            </a:r>
            <a:r>
              <a:rPr lang="ko-KR" altLang="en-US" sz="2800" b="1" dirty="0">
                <a:solidFill>
                  <a:srgbClr val="000000"/>
                </a:solidFill>
                <a:latin typeface="맑은 고딕"/>
              </a:rPr>
              <a:t>가 어려운 이유</a:t>
            </a:r>
          </a:p>
        </p:txBody>
      </p:sp>
      <p:sp>
        <p:nvSpPr>
          <p:cNvPr id="3" name="내용 개체 틀 2">
            <a:extLst>
              <a:ext uri="{FF2B5EF4-FFF2-40B4-BE49-F238E27FC236}">
                <a16:creationId xmlns:a16="http://schemas.microsoft.com/office/drawing/2014/main" id="{BDDB956E-1D30-EE36-776A-F8C5194AD2DA}"/>
              </a:ext>
            </a:extLst>
          </p:cNvPr>
          <p:cNvSpPr>
            <a:spLocks noGrp="1"/>
          </p:cNvSpPr>
          <p:nvPr>
            <p:ph idx="1"/>
          </p:nvPr>
        </p:nvSpPr>
        <p:spPr/>
        <p:txBody>
          <a:bodyPr>
            <a:normAutofit/>
          </a:bodyPr>
          <a:lstStyle/>
          <a:p>
            <a:pPr>
              <a:spcAft>
                <a:spcPts val="800"/>
              </a:spcAft>
              <a:buFont typeface="Arial"/>
              <a:buChar char="•"/>
            </a:pPr>
            <a:r>
              <a:rPr lang="en-US" altLang="ko-KR" sz="1800" b="0" dirty="0">
                <a:solidFill>
                  <a:srgbClr val="000000"/>
                </a:solidFill>
                <a:latin typeface="맑은 고딕"/>
              </a:rPr>
              <a:t>A ∈ </a:t>
            </a:r>
            <a:r>
              <a:rPr lang="en-US" altLang="ko-KR" sz="1800" b="0" dirty="0" err="1">
                <a:solidFill>
                  <a:srgbClr val="000000"/>
                </a:solidFill>
                <a:latin typeface="맑은 고딕"/>
              </a:rPr>
              <a:t>ℤ_q</a:t>
            </a:r>
            <a:r>
              <a:rPr lang="en-US" altLang="ko-KR" sz="1800" b="0" dirty="0">
                <a:solidFill>
                  <a:srgbClr val="000000"/>
                </a:solidFill>
                <a:latin typeface="맑은 고딕"/>
              </a:rPr>
              <a:t>^{</a:t>
            </a:r>
            <a:r>
              <a:rPr lang="en-US" altLang="ko-KR" sz="1800" b="0" dirty="0" err="1">
                <a:solidFill>
                  <a:srgbClr val="000000"/>
                </a:solidFill>
                <a:latin typeface="맑은 고딕"/>
              </a:rPr>
              <a:t>m×n</a:t>
            </a:r>
            <a:r>
              <a:rPr lang="en-US" altLang="ko-KR" sz="1800" b="0" dirty="0">
                <a:solidFill>
                  <a:srgbClr val="000000"/>
                </a:solidFill>
                <a:latin typeface="맑은 고딕"/>
              </a:rPr>
              <a:t>} : </a:t>
            </a:r>
            <a:r>
              <a:rPr lang="ko-KR" altLang="en-US" sz="1800" b="0" dirty="0">
                <a:solidFill>
                  <a:srgbClr val="000000"/>
                </a:solidFill>
                <a:latin typeface="맑은 고딕"/>
              </a:rPr>
              <a:t>행 </a:t>
            </a:r>
            <a:r>
              <a:rPr lang="en-US" altLang="ko-KR" sz="1800" b="0" dirty="0">
                <a:solidFill>
                  <a:srgbClr val="000000"/>
                </a:solidFill>
                <a:latin typeface="맑은 고딕"/>
              </a:rPr>
              <a:t>m</a:t>
            </a:r>
            <a:r>
              <a:rPr lang="ko-KR" altLang="en-US" sz="1800" b="0" dirty="0">
                <a:solidFill>
                  <a:srgbClr val="000000"/>
                </a:solidFill>
                <a:latin typeface="맑은 고딕"/>
              </a:rPr>
              <a:t>개</a:t>
            </a:r>
            <a:r>
              <a:rPr lang="en-US" altLang="ko-KR" sz="1800" b="0" dirty="0">
                <a:solidFill>
                  <a:srgbClr val="000000"/>
                </a:solidFill>
                <a:latin typeface="맑은 고딕"/>
              </a:rPr>
              <a:t>, </a:t>
            </a:r>
            <a:r>
              <a:rPr lang="ko-KR" altLang="en-US" sz="1800" b="0" dirty="0">
                <a:solidFill>
                  <a:srgbClr val="000000"/>
                </a:solidFill>
                <a:latin typeface="맑은 고딕"/>
              </a:rPr>
              <a:t>열 </a:t>
            </a:r>
            <a:r>
              <a:rPr lang="en-US" altLang="ko-KR" sz="1800" b="0" dirty="0">
                <a:solidFill>
                  <a:srgbClr val="000000"/>
                </a:solidFill>
                <a:latin typeface="맑은 고딕"/>
              </a:rPr>
              <a:t>n</a:t>
            </a:r>
            <a:r>
              <a:rPr lang="ko-KR" altLang="en-US" sz="1800" b="0" dirty="0">
                <a:solidFill>
                  <a:srgbClr val="000000"/>
                </a:solidFill>
                <a:latin typeface="맑은 고딕"/>
              </a:rPr>
              <a:t>개</a:t>
            </a:r>
          </a:p>
          <a:p>
            <a:pPr>
              <a:spcAft>
                <a:spcPts val="800"/>
              </a:spcAft>
              <a:buFont typeface="Arial"/>
              <a:buChar char="•"/>
            </a:pPr>
            <a:r>
              <a:rPr lang="en-US" altLang="ko-KR" sz="1800" b="0" dirty="0">
                <a:solidFill>
                  <a:srgbClr val="000000"/>
                </a:solidFill>
                <a:latin typeface="맑은 고딕"/>
              </a:rPr>
              <a:t>m</a:t>
            </a:r>
            <a:r>
              <a:rPr lang="ko-KR" altLang="en-US" sz="1800" b="0" dirty="0">
                <a:solidFill>
                  <a:srgbClr val="000000"/>
                </a:solidFill>
                <a:latin typeface="맑은 고딕"/>
              </a:rPr>
              <a:t>은 </a:t>
            </a:r>
            <a:r>
              <a:rPr lang="en-US" altLang="ko-KR" sz="1800" b="0" dirty="0">
                <a:solidFill>
                  <a:srgbClr val="000000"/>
                </a:solidFill>
                <a:latin typeface="맑은 고딕"/>
              </a:rPr>
              <a:t>"LWE </a:t>
            </a:r>
            <a:r>
              <a:rPr lang="ko-KR" altLang="en-US" sz="1800" b="0" dirty="0">
                <a:solidFill>
                  <a:srgbClr val="000000"/>
                </a:solidFill>
                <a:latin typeface="맑은 고딕"/>
              </a:rPr>
              <a:t>표본</a:t>
            </a:r>
            <a:r>
              <a:rPr lang="en-US" altLang="ko-KR" sz="1800" b="0" dirty="0">
                <a:solidFill>
                  <a:srgbClr val="000000"/>
                </a:solidFill>
                <a:latin typeface="맑은 고딕"/>
              </a:rPr>
              <a:t>(sample)</a:t>
            </a:r>
            <a:r>
              <a:rPr lang="ko-KR" altLang="en-US" sz="1800" b="0" dirty="0">
                <a:solidFill>
                  <a:srgbClr val="000000"/>
                </a:solidFill>
                <a:latin typeface="맑은 고딕"/>
              </a:rPr>
              <a:t>의 개수</a:t>
            </a:r>
            <a:r>
              <a:rPr lang="en-US" altLang="ko-KR" sz="1800" b="0" dirty="0">
                <a:solidFill>
                  <a:srgbClr val="000000"/>
                </a:solidFill>
                <a:latin typeface="맑은 고딕"/>
              </a:rPr>
              <a:t>" — </a:t>
            </a:r>
            <a:r>
              <a:rPr lang="ko-KR" altLang="en-US" sz="1800" b="0" dirty="0">
                <a:solidFill>
                  <a:srgbClr val="000000"/>
                </a:solidFill>
                <a:latin typeface="맑은 고딕"/>
              </a:rPr>
              <a:t>각 행 </a:t>
            </a:r>
            <a:r>
              <a:rPr lang="en-US" altLang="ko-KR" sz="1800" b="0" dirty="0" err="1">
                <a:solidFill>
                  <a:srgbClr val="000000"/>
                </a:solidFill>
                <a:latin typeface="맑은 고딕"/>
              </a:rPr>
              <a:t>a_i^T</a:t>
            </a:r>
            <a:r>
              <a:rPr lang="ko-KR" altLang="en-US" sz="1800" b="0" dirty="0">
                <a:solidFill>
                  <a:srgbClr val="000000"/>
                </a:solidFill>
                <a:latin typeface="맑은 고딕"/>
              </a:rPr>
              <a:t>와 </a:t>
            </a:r>
            <a:r>
              <a:rPr lang="en-US" altLang="ko-KR" sz="1800" b="0" dirty="0" err="1">
                <a:solidFill>
                  <a:srgbClr val="000000"/>
                </a:solidFill>
                <a:latin typeface="맑은 고딕"/>
              </a:rPr>
              <a:t>b_i</a:t>
            </a:r>
            <a:r>
              <a:rPr lang="en-US" altLang="ko-KR" sz="1800" b="0" dirty="0">
                <a:solidFill>
                  <a:srgbClr val="000000"/>
                </a:solidFill>
                <a:latin typeface="맑은 고딕"/>
              </a:rPr>
              <a:t>=</a:t>
            </a:r>
            <a:r>
              <a:rPr lang="en-US" altLang="ko-KR" sz="1800" b="0" dirty="0" err="1">
                <a:solidFill>
                  <a:srgbClr val="000000"/>
                </a:solidFill>
                <a:latin typeface="맑은 고딕"/>
              </a:rPr>
              <a:t>a_i^Ts+e_i</a:t>
            </a:r>
            <a:r>
              <a:rPr lang="ko-KR" altLang="en-US" sz="1800" b="0" dirty="0">
                <a:solidFill>
                  <a:srgbClr val="000000"/>
                </a:solidFill>
                <a:latin typeface="맑은 고딕"/>
              </a:rPr>
              <a:t>가 한 쌍의 표본</a:t>
            </a:r>
          </a:p>
          <a:p>
            <a:pPr>
              <a:spcAft>
                <a:spcPts val="800"/>
              </a:spcAft>
              <a:buFont typeface="Arial"/>
              <a:buChar char="•"/>
            </a:pPr>
            <a:r>
              <a:rPr lang="en-US" altLang="ko-KR" sz="1800" b="0" dirty="0">
                <a:solidFill>
                  <a:srgbClr val="000000"/>
                </a:solidFill>
                <a:latin typeface="맑은 고딕"/>
              </a:rPr>
              <a:t>e = 0 </a:t>
            </a:r>
            <a:r>
              <a:rPr lang="ko-KR" altLang="en-US" sz="1800" b="0" dirty="0">
                <a:solidFill>
                  <a:srgbClr val="000000"/>
                </a:solidFill>
                <a:latin typeface="맑은 고딕"/>
              </a:rPr>
              <a:t>이면 </a:t>
            </a:r>
            <a:r>
              <a:rPr lang="en-US" altLang="ko-KR" sz="1800" b="0" dirty="0">
                <a:solidFill>
                  <a:srgbClr val="000000"/>
                </a:solidFill>
                <a:latin typeface="맑은 고딕"/>
              </a:rPr>
              <a:t>As = b </a:t>
            </a:r>
            <a:r>
              <a:rPr lang="ko-KR" altLang="en-US" sz="1800" b="0" dirty="0">
                <a:solidFill>
                  <a:srgbClr val="000000"/>
                </a:solidFill>
                <a:latin typeface="맑은 고딕"/>
              </a:rPr>
              <a:t>는 순수 선형방정식 → 가우스 소거법으로 다항식 시간에 풀림</a:t>
            </a:r>
          </a:p>
          <a:p>
            <a:pPr>
              <a:spcAft>
                <a:spcPts val="800"/>
              </a:spcAft>
              <a:buFont typeface="Arial"/>
              <a:buChar char="•"/>
            </a:pPr>
            <a:r>
              <a:rPr lang="en-US" altLang="ko-KR" sz="1800" b="0" dirty="0">
                <a:solidFill>
                  <a:srgbClr val="000000"/>
                </a:solidFill>
                <a:latin typeface="맑은 고딕"/>
              </a:rPr>
              <a:t>LWE</a:t>
            </a:r>
            <a:r>
              <a:rPr lang="ko-KR" altLang="en-US" sz="1800" b="0" dirty="0">
                <a:solidFill>
                  <a:srgbClr val="000000"/>
                </a:solidFill>
                <a:latin typeface="맑은 고딕"/>
              </a:rPr>
              <a:t>의 어려움은 전적으로 잡음 벡터 </a:t>
            </a:r>
            <a:r>
              <a:rPr lang="en-US" altLang="ko-KR" sz="1800" b="0" dirty="0">
                <a:solidFill>
                  <a:srgbClr val="000000"/>
                </a:solidFill>
                <a:latin typeface="맑은 고딕"/>
              </a:rPr>
              <a:t>e </a:t>
            </a:r>
            <a:r>
              <a:rPr lang="ko-KR" altLang="en-US" sz="1800" b="0" dirty="0">
                <a:solidFill>
                  <a:srgbClr val="000000"/>
                </a:solidFill>
                <a:latin typeface="맑은 고딕"/>
              </a:rPr>
              <a:t>에서 나온다</a:t>
            </a:r>
          </a:p>
          <a:p>
            <a:pPr lvl="1">
              <a:spcAft>
                <a:spcPts val="400"/>
              </a:spcAft>
              <a:buFont typeface="Arial"/>
              <a:buChar char="•"/>
            </a:pPr>
            <a:r>
              <a:rPr lang="en-US" altLang="ko-KR" b="0" dirty="0">
                <a:solidFill>
                  <a:srgbClr val="000000"/>
                </a:solidFill>
                <a:latin typeface="맑은 고딕"/>
              </a:rPr>
              <a:t>b</a:t>
            </a:r>
            <a:r>
              <a:rPr lang="ko-KR" altLang="en-US" b="0" dirty="0">
                <a:solidFill>
                  <a:srgbClr val="000000"/>
                </a:solidFill>
                <a:latin typeface="맑은 고딕"/>
              </a:rPr>
              <a:t>의 각 성분에 알려지지 않은 작은 오차가 섞여 있어 정확한 등식이 성립하지 않음</a:t>
            </a:r>
          </a:p>
          <a:p>
            <a:pPr lvl="1">
              <a:spcAft>
                <a:spcPts val="400"/>
              </a:spcAft>
              <a:buFont typeface="Arial"/>
              <a:buChar char="•"/>
            </a:pPr>
            <a:r>
              <a:rPr lang="ko-KR" altLang="en-US" b="0" dirty="0">
                <a:solidFill>
                  <a:srgbClr val="000000"/>
                </a:solidFill>
                <a:latin typeface="맑은 고딕"/>
              </a:rPr>
              <a:t>→ </a:t>
            </a:r>
            <a:r>
              <a:rPr lang="en-US" altLang="ko-KR" b="0" dirty="0">
                <a:solidFill>
                  <a:srgbClr val="000000"/>
                </a:solidFill>
                <a:latin typeface="맑은 고딕"/>
              </a:rPr>
              <a:t>"</a:t>
            </a:r>
            <a:r>
              <a:rPr lang="ko-KR" altLang="en-US" b="0" dirty="0">
                <a:solidFill>
                  <a:srgbClr val="000000"/>
                </a:solidFill>
                <a:latin typeface="맑은 고딕"/>
              </a:rPr>
              <a:t>잡음 섞인 선형대수 문제</a:t>
            </a:r>
            <a:r>
              <a:rPr lang="en-US" altLang="ko-KR" b="0" dirty="0">
                <a:solidFill>
                  <a:srgbClr val="000000"/>
                </a:solidFill>
                <a:latin typeface="맑은 고딕"/>
              </a:rPr>
              <a:t>"</a:t>
            </a:r>
            <a:r>
              <a:rPr lang="ko-KR" altLang="en-US" b="0" dirty="0">
                <a:solidFill>
                  <a:srgbClr val="000000"/>
                </a:solidFill>
                <a:latin typeface="맑은 고딕"/>
              </a:rPr>
              <a:t>이며</a:t>
            </a:r>
            <a:r>
              <a:rPr lang="en-US" altLang="ko-KR" b="0" dirty="0">
                <a:solidFill>
                  <a:srgbClr val="000000"/>
                </a:solidFill>
                <a:latin typeface="맑은 고딕"/>
              </a:rPr>
              <a:t>, </a:t>
            </a:r>
            <a:r>
              <a:rPr lang="ko-KR" altLang="en-US" b="0" dirty="0">
                <a:solidFill>
                  <a:srgbClr val="000000"/>
                </a:solidFill>
                <a:latin typeface="맑은 고딕"/>
              </a:rPr>
              <a:t>이 잡음이 다항식 시간 알고리즘을 막음</a:t>
            </a:r>
          </a:p>
          <a:p>
            <a:pPr>
              <a:buFont typeface="Arial"/>
              <a:buChar char="•"/>
            </a:pPr>
            <a:endParaRPr lang="ko-KR" altLang="en-US" sz="1800" dirty="0"/>
          </a:p>
        </p:txBody>
      </p:sp>
      <p:sp>
        <p:nvSpPr>
          <p:cNvPr id="4" name="슬라이드 번호 개체 틀 3">
            <a:extLst>
              <a:ext uri="{FF2B5EF4-FFF2-40B4-BE49-F238E27FC236}">
                <a16:creationId xmlns:a16="http://schemas.microsoft.com/office/drawing/2014/main" id="{4047B14E-2AD7-DB1F-771D-D86CC8CA29CD}"/>
              </a:ext>
            </a:extLst>
          </p:cNvPr>
          <p:cNvSpPr>
            <a:spLocks noGrp="1"/>
          </p:cNvSpPr>
          <p:nvPr>
            <p:ph type="sldNum" sz="quarter" idx="12"/>
          </p:nvPr>
        </p:nvSpPr>
        <p:spPr/>
        <p:txBody>
          <a:bodyPr/>
          <a:lstStyle/>
          <a:p>
            <a:fld id="{4438A2D4-3867-488E-A04E-7BFFCAED45A6}" type="slidenum">
              <a:rPr lang="ko-KR" altLang="en-US" smtClean="0"/>
              <a:t>17</a:t>
            </a:fld>
            <a:endParaRPr lang="ko-KR" altLang="en-US"/>
          </a:p>
        </p:txBody>
      </p:sp>
    </p:spTree>
    <p:extLst>
      <p:ext uri="{BB962C8B-B14F-4D97-AF65-F5344CB8AC3E}">
        <p14:creationId xmlns:p14="http://schemas.microsoft.com/office/powerpoint/2010/main" val="26509347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44CCE-C339-4B56-32F5-888139B25135}"/>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BDDCAFB3-1233-F866-D79D-2769743FFF2B}"/>
              </a:ext>
            </a:extLst>
          </p:cNvPr>
          <p:cNvSpPr>
            <a:spLocks noGrp="1"/>
          </p:cNvSpPr>
          <p:nvPr>
            <p:ph type="title"/>
          </p:nvPr>
        </p:nvSpPr>
        <p:spPr/>
        <p:txBody>
          <a:bodyPr/>
          <a:lstStyle/>
          <a:p>
            <a:r>
              <a:rPr lang="en-US" altLang="ko-KR" sz="2800" b="1" dirty="0">
                <a:solidFill>
                  <a:srgbClr val="000000"/>
                </a:solidFill>
                <a:latin typeface="맑은 고딕"/>
              </a:rPr>
              <a:t>SIS</a:t>
            </a:r>
            <a:r>
              <a:rPr lang="ko-KR" altLang="en-US" sz="2800" b="1" dirty="0">
                <a:solidFill>
                  <a:srgbClr val="000000"/>
                </a:solidFill>
                <a:latin typeface="맑은 고딕"/>
              </a:rPr>
              <a:t>와의 구조적 대응</a:t>
            </a:r>
          </a:p>
        </p:txBody>
      </p:sp>
      <p:sp>
        <p:nvSpPr>
          <p:cNvPr id="4" name="슬라이드 번호 개체 틀 3">
            <a:extLst>
              <a:ext uri="{FF2B5EF4-FFF2-40B4-BE49-F238E27FC236}">
                <a16:creationId xmlns:a16="http://schemas.microsoft.com/office/drawing/2014/main" id="{578BC4D8-2131-87D9-4745-409A25821CB7}"/>
              </a:ext>
            </a:extLst>
          </p:cNvPr>
          <p:cNvSpPr>
            <a:spLocks noGrp="1"/>
          </p:cNvSpPr>
          <p:nvPr>
            <p:ph type="sldNum" sz="quarter" idx="12"/>
          </p:nvPr>
        </p:nvSpPr>
        <p:spPr/>
        <p:txBody>
          <a:bodyPr/>
          <a:lstStyle/>
          <a:p>
            <a:fld id="{4438A2D4-3867-488E-A04E-7BFFCAED45A6}" type="slidenum">
              <a:rPr lang="ko-KR" altLang="en-US" smtClean="0"/>
              <a:t>18</a:t>
            </a:fld>
            <a:endParaRPr lang="ko-KR" altLang="en-US"/>
          </a:p>
        </p:txBody>
      </p:sp>
      <p:graphicFrame>
        <p:nvGraphicFramePr>
          <p:cNvPr id="5" name="Table 2">
            <a:extLst>
              <a:ext uri="{FF2B5EF4-FFF2-40B4-BE49-F238E27FC236}">
                <a16:creationId xmlns:a16="http://schemas.microsoft.com/office/drawing/2014/main" id="{3486C560-9F68-1FB4-5B98-10B25A94FAE6}"/>
              </a:ext>
            </a:extLst>
          </p:cNvPr>
          <p:cNvGraphicFramePr>
            <a:graphicFrameLocks noGrp="1"/>
          </p:cNvGraphicFramePr>
          <p:nvPr>
            <p:extLst>
              <p:ext uri="{D42A27DB-BD31-4B8C-83A1-F6EECF244321}">
                <p14:modId xmlns:p14="http://schemas.microsoft.com/office/powerpoint/2010/main" val="3960528702"/>
              </p:ext>
            </p:extLst>
          </p:nvPr>
        </p:nvGraphicFramePr>
        <p:xfrm>
          <a:off x="731520" y="1737360"/>
          <a:ext cx="10698480" cy="2971800"/>
        </p:xfrm>
        <a:graphic>
          <a:graphicData uri="http://schemas.openxmlformats.org/drawingml/2006/table">
            <a:tbl>
              <a:tblPr firstRow="1" bandRow="1">
                <a:tableStyleId>{5C22544A-7EE6-4342-B048-85BDC9FD1C3A}</a:tableStyleId>
              </a:tblPr>
              <a:tblGrid>
                <a:gridCol w="356616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594360">
                <a:tc>
                  <a:txBody>
                    <a:bodyPr/>
                    <a:lstStyle/>
                    <a:p>
                      <a:pPr algn="ctr"/>
                      <a:r>
                        <a:rPr sz="1400" b="1" dirty="0" err="1">
                          <a:solidFill>
                            <a:srgbClr val="000000"/>
                          </a:solidFill>
                          <a:latin typeface="맑은 고딕"/>
                        </a:rPr>
                        <a:t>구분</a:t>
                      </a:r>
                      <a:endParaRPr sz="1400" b="1" dirty="0">
                        <a:solidFill>
                          <a:srgbClr val="000000"/>
                        </a:solidFill>
                        <a:latin typeface="맑은 고딕"/>
                      </a:endParaRPr>
                    </a:p>
                  </a:txBody>
                  <a:tcPr anchor="ctr">
                    <a:solidFill>
                      <a:srgbClr val="DCE6F0"/>
                    </a:solidFill>
                  </a:tcPr>
                </a:tc>
                <a:tc>
                  <a:txBody>
                    <a:bodyPr/>
                    <a:lstStyle/>
                    <a:p>
                      <a:pPr algn="ctr"/>
                      <a:r>
                        <a:rPr sz="1400" b="1">
                          <a:solidFill>
                            <a:srgbClr val="000000"/>
                          </a:solidFill>
                          <a:latin typeface="맑은 고딕"/>
                        </a:rPr>
                        <a:t>SIS</a:t>
                      </a:r>
                    </a:p>
                  </a:txBody>
                  <a:tcPr anchor="ctr">
                    <a:solidFill>
                      <a:srgbClr val="DCE6F0"/>
                    </a:solidFill>
                  </a:tcPr>
                </a:tc>
                <a:tc>
                  <a:txBody>
                    <a:bodyPr/>
                    <a:lstStyle/>
                    <a:p>
                      <a:pPr algn="ctr"/>
                      <a:r>
                        <a:rPr sz="1400" b="1">
                          <a:solidFill>
                            <a:srgbClr val="000000"/>
                          </a:solidFill>
                          <a:latin typeface="맑은 고딕"/>
                        </a:rPr>
                        <a:t>LWE</a:t>
                      </a:r>
                    </a:p>
                  </a:txBody>
                  <a:tcPr anchor="ctr">
                    <a:solidFill>
                      <a:srgbClr val="DCE6F0"/>
                    </a:solidFill>
                  </a:tcPr>
                </a:tc>
                <a:extLst>
                  <a:ext uri="{0D108BD9-81ED-4DB2-BD59-A6C34878D82A}">
                    <a16:rowId xmlns:a16="http://schemas.microsoft.com/office/drawing/2014/main" val="10000"/>
                  </a:ext>
                </a:extLst>
              </a:tr>
              <a:tr h="594360">
                <a:tc>
                  <a:txBody>
                    <a:bodyPr/>
                    <a:lstStyle/>
                    <a:p>
                      <a:pPr algn="ctr"/>
                      <a:r>
                        <a:rPr sz="1400" b="0">
                          <a:solidFill>
                            <a:srgbClr val="000000"/>
                          </a:solidFill>
                          <a:latin typeface="맑은 고딕"/>
                        </a:rPr>
                        <a:t>행렬 A의 크기</a:t>
                      </a:r>
                    </a:p>
                  </a:txBody>
                  <a:tcPr anchor="ctr">
                    <a:solidFill>
                      <a:srgbClr val="FFFFFF"/>
                    </a:solidFill>
                  </a:tcPr>
                </a:tc>
                <a:tc>
                  <a:txBody>
                    <a:bodyPr/>
                    <a:lstStyle/>
                    <a:p>
                      <a:pPr algn="ctr"/>
                      <a:r>
                        <a:rPr sz="1400" b="0">
                          <a:solidFill>
                            <a:srgbClr val="000000"/>
                          </a:solidFill>
                          <a:latin typeface="맑은 고딕"/>
                        </a:rPr>
                        <a:t>n×m,  n ≪ m</a:t>
                      </a:r>
                    </a:p>
                  </a:txBody>
                  <a:tcPr anchor="ctr">
                    <a:solidFill>
                      <a:srgbClr val="FFFFFF"/>
                    </a:solidFill>
                  </a:tcPr>
                </a:tc>
                <a:tc>
                  <a:txBody>
                    <a:bodyPr/>
                    <a:lstStyle/>
                    <a:p>
                      <a:pPr algn="ctr"/>
                      <a:r>
                        <a:rPr sz="1400" b="0">
                          <a:solidFill>
                            <a:srgbClr val="000000"/>
                          </a:solidFill>
                          <a:latin typeface="맑은 고딕"/>
                        </a:rPr>
                        <a:t>m×n,  m ≫ n</a:t>
                      </a:r>
                    </a:p>
                  </a:txBody>
                  <a:tcPr anchor="ctr">
                    <a:solidFill>
                      <a:srgbClr val="FFFFFF"/>
                    </a:solidFill>
                  </a:tcPr>
                </a:tc>
                <a:extLst>
                  <a:ext uri="{0D108BD9-81ED-4DB2-BD59-A6C34878D82A}">
                    <a16:rowId xmlns:a16="http://schemas.microsoft.com/office/drawing/2014/main" val="10001"/>
                  </a:ext>
                </a:extLst>
              </a:tr>
              <a:tr h="594360">
                <a:tc>
                  <a:txBody>
                    <a:bodyPr/>
                    <a:lstStyle/>
                    <a:p>
                      <a:pPr algn="ctr"/>
                      <a:r>
                        <a:rPr sz="1400" b="0">
                          <a:solidFill>
                            <a:srgbClr val="000000"/>
                          </a:solidFill>
                          <a:latin typeface="맑은 고딕"/>
                        </a:rPr>
                        <a:t>미지수</a:t>
                      </a:r>
                    </a:p>
                  </a:txBody>
                  <a:tcPr anchor="ctr">
                    <a:solidFill>
                      <a:srgbClr val="F2F5F8"/>
                    </a:solidFill>
                  </a:tcPr>
                </a:tc>
                <a:tc>
                  <a:txBody>
                    <a:bodyPr/>
                    <a:lstStyle/>
                    <a:p>
                      <a:pPr algn="ctr"/>
                      <a:r>
                        <a:rPr sz="1400" b="0">
                          <a:solidFill>
                            <a:srgbClr val="000000"/>
                          </a:solidFill>
                          <a:latin typeface="맑은 고딕"/>
                        </a:rPr>
                        <a:t>z ∈ [−B,B]^m (짧은 벡터)</a:t>
                      </a:r>
                    </a:p>
                  </a:txBody>
                  <a:tcPr anchor="ctr">
                    <a:solidFill>
                      <a:srgbClr val="F2F5F8"/>
                    </a:solidFill>
                  </a:tcPr>
                </a:tc>
                <a:tc>
                  <a:txBody>
                    <a:bodyPr/>
                    <a:lstStyle/>
                    <a:p>
                      <a:pPr algn="ctr"/>
                      <a:r>
                        <a:rPr sz="1400" b="0">
                          <a:solidFill>
                            <a:srgbClr val="000000"/>
                          </a:solidFill>
                          <a:latin typeface="맑은 고딕"/>
                        </a:rPr>
                        <a:t>s ∈ ℤ_q^n (임의의 벡터)</a:t>
                      </a:r>
                    </a:p>
                  </a:txBody>
                  <a:tcPr anchor="ctr">
                    <a:solidFill>
                      <a:srgbClr val="F2F5F8"/>
                    </a:solidFill>
                  </a:tcPr>
                </a:tc>
                <a:extLst>
                  <a:ext uri="{0D108BD9-81ED-4DB2-BD59-A6C34878D82A}">
                    <a16:rowId xmlns:a16="http://schemas.microsoft.com/office/drawing/2014/main" val="10002"/>
                  </a:ext>
                </a:extLst>
              </a:tr>
              <a:tr h="594360">
                <a:tc>
                  <a:txBody>
                    <a:bodyPr/>
                    <a:lstStyle/>
                    <a:p>
                      <a:pPr algn="ctr"/>
                      <a:r>
                        <a:rPr sz="1400" b="0">
                          <a:solidFill>
                            <a:srgbClr val="000000"/>
                          </a:solidFill>
                          <a:latin typeface="맑은 고딕"/>
                        </a:rPr>
                        <a:t>관계식</a:t>
                      </a:r>
                    </a:p>
                  </a:txBody>
                  <a:tcPr anchor="ctr">
                    <a:solidFill>
                      <a:srgbClr val="FFFFFF"/>
                    </a:solidFill>
                  </a:tcPr>
                </a:tc>
                <a:tc>
                  <a:txBody>
                    <a:bodyPr/>
                    <a:lstStyle/>
                    <a:p>
                      <a:pPr algn="ctr"/>
                      <a:r>
                        <a:rPr sz="1400" b="0">
                          <a:solidFill>
                            <a:srgbClr val="000000"/>
                          </a:solidFill>
                          <a:latin typeface="맑은 고딕"/>
                        </a:rPr>
                        <a:t>Az ≡ 0 (동차)</a:t>
                      </a:r>
                    </a:p>
                  </a:txBody>
                  <a:tcPr anchor="ctr">
                    <a:solidFill>
                      <a:srgbClr val="FFFFFF"/>
                    </a:solidFill>
                  </a:tcPr>
                </a:tc>
                <a:tc>
                  <a:txBody>
                    <a:bodyPr/>
                    <a:lstStyle/>
                    <a:p>
                      <a:pPr algn="ctr"/>
                      <a:r>
                        <a:rPr sz="1400" b="0">
                          <a:solidFill>
                            <a:srgbClr val="000000"/>
                          </a:solidFill>
                          <a:latin typeface="맑은 고딕"/>
                        </a:rPr>
                        <a:t>As+e ≡ b (비동차 + 잡음)</a:t>
                      </a:r>
                    </a:p>
                  </a:txBody>
                  <a:tcPr anchor="ctr">
                    <a:solidFill>
                      <a:srgbClr val="FFFFFF"/>
                    </a:solidFill>
                  </a:tcPr>
                </a:tc>
                <a:extLst>
                  <a:ext uri="{0D108BD9-81ED-4DB2-BD59-A6C34878D82A}">
                    <a16:rowId xmlns:a16="http://schemas.microsoft.com/office/drawing/2014/main" val="10003"/>
                  </a:ext>
                </a:extLst>
              </a:tr>
              <a:tr h="594360">
                <a:tc>
                  <a:txBody>
                    <a:bodyPr/>
                    <a:lstStyle/>
                    <a:p>
                      <a:pPr algn="ctr"/>
                      <a:r>
                        <a:rPr sz="1400" b="0" dirty="0" err="1">
                          <a:solidFill>
                            <a:srgbClr val="000000"/>
                          </a:solidFill>
                          <a:latin typeface="맑은 고딕"/>
                        </a:rPr>
                        <a:t>어려움의</a:t>
                      </a:r>
                      <a:r>
                        <a:rPr sz="1400" b="0" dirty="0">
                          <a:solidFill>
                            <a:srgbClr val="000000"/>
                          </a:solidFill>
                          <a:latin typeface="맑은 고딕"/>
                        </a:rPr>
                        <a:t> </a:t>
                      </a:r>
                      <a:r>
                        <a:rPr sz="1400" b="0" dirty="0" err="1">
                          <a:solidFill>
                            <a:srgbClr val="000000"/>
                          </a:solidFill>
                          <a:latin typeface="맑은 고딕"/>
                        </a:rPr>
                        <a:t>원천</a:t>
                      </a:r>
                      <a:endParaRPr sz="1400" b="0" dirty="0">
                        <a:solidFill>
                          <a:schemeClr val="tx1"/>
                        </a:solidFill>
                        <a:latin typeface="맑은 고딕"/>
                      </a:endParaRPr>
                    </a:p>
                  </a:txBody>
                  <a:tcPr anchor="ctr">
                    <a:solidFill>
                      <a:srgbClr val="F2F5F8"/>
                    </a:solidFill>
                  </a:tcPr>
                </a:tc>
                <a:tc>
                  <a:txBody>
                    <a:bodyPr/>
                    <a:lstStyle/>
                    <a:p>
                      <a:pPr algn="ctr"/>
                      <a:r>
                        <a:rPr sz="1400" b="0" dirty="0" err="1">
                          <a:solidFill>
                            <a:srgbClr val="000000"/>
                          </a:solidFill>
                          <a:latin typeface="맑은 고딕"/>
                        </a:rPr>
                        <a:t>해는</a:t>
                      </a:r>
                      <a:r>
                        <a:rPr sz="1400" b="0" dirty="0">
                          <a:solidFill>
                            <a:srgbClr val="000000"/>
                          </a:solidFill>
                          <a:latin typeface="맑은 고딕"/>
                        </a:rPr>
                        <a:t> </a:t>
                      </a:r>
                      <a:r>
                        <a:rPr sz="1400" b="0" dirty="0" err="1">
                          <a:solidFill>
                            <a:srgbClr val="000000"/>
                          </a:solidFill>
                          <a:latin typeface="맑은 고딕"/>
                        </a:rPr>
                        <a:t>존재하지만</a:t>
                      </a:r>
                      <a:r>
                        <a:rPr sz="1400" b="0" dirty="0">
                          <a:solidFill>
                            <a:srgbClr val="000000"/>
                          </a:solidFill>
                          <a:latin typeface="맑은 고딕"/>
                        </a:rPr>
                        <a:t> </a:t>
                      </a:r>
                      <a:r>
                        <a:rPr sz="1400" b="0" dirty="0" err="1">
                          <a:solidFill>
                            <a:srgbClr val="000000"/>
                          </a:solidFill>
                          <a:latin typeface="맑은 고딕"/>
                        </a:rPr>
                        <a:t>짧은</a:t>
                      </a:r>
                      <a:r>
                        <a:rPr sz="1400" b="0" dirty="0">
                          <a:solidFill>
                            <a:srgbClr val="000000"/>
                          </a:solidFill>
                          <a:latin typeface="맑은 고딕"/>
                        </a:rPr>
                        <a:t> </a:t>
                      </a:r>
                      <a:r>
                        <a:rPr sz="1400" b="0" dirty="0" err="1">
                          <a:solidFill>
                            <a:srgbClr val="000000"/>
                          </a:solidFill>
                          <a:latin typeface="맑은 고딕"/>
                        </a:rPr>
                        <a:t>것을</a:t>
                      </a:r>
                      <a:r>
                        <a:rPr sz="1400" b="0" dirty="0">
                          <a:solidFill>
                            <a:srgbClr val="000000"/>
                          </a:solidFill>
                          <a:latin typeface="맑은 고딕"/>
                        </a:rPr>
                        <a:t> </a:t>
                      </a:r>
                      <a:r>
                        <a:rPr sz="1400" b="0" dirty="0" err="1">
                          <a:solidFill>
                            <a:srgbClr val="000000"/>
                          </a:solidFill>
                          <a:latin typeface="맑은 고딕"/>
                        </a:rPr>
                        <a:t>찾기</a:t>
                      </a:r>
                      <a:r>
                        <a:rPr sz="1400" b="0" dirty="0">
                          <a:solidFill>
                            <a:srgbClr val="000000"/>
                          </a:solidFill>
                          <a:latin typeface="맑은 고딕"/>
                        </a:rPr>
                        <a:t> </a:t>
                      </a:r>
                      <a:r>
                        <a:rPr sz="1400" b="0" dirty="0" err="1">
                          <a:solidFill>
                            <a:srgbClr val="000000"/>
                          </a:solidFill>
                          <a:latin typeface="맑은 고딕"/>
                        </a:rPr>
                        <a:t>어려움</a:t>
                      </a:r>
                      <a:endParaRPr sz="1400" b="0" dirty="0">
                        <a:solidFill>
                          <a:schemeClr val="tx1"/>
                        </a:solidFill>
                        <a:latin typeface="맑은 고딕"/>
                      </a:endParaRPr>
                    </a:p>
                  </a:txBody>
                  <a:tcPr anchor="ctr">
                    <a:solidFill>
                      <a:srgbClr val="F2F5F8"/>
                    </a:solidFill>
                  </a:tcPr>
                </a:tc>
                <a:tc>
                  <a:txBody>
                    <a:bodyPr/>
                    <a:lstStyle/>
                    <a:p>
                      <a:pPr algn="ctr"/>
                      <a:r>
                        <a:rPr sz="1400" b="0" dirty="0" err="1">
                          <a:solidFill>
                            <a:srgbClr val="000000"/>
                          </a:solidFill>
                          <a:latin typeface="맑은 고딕"/>
                        </a:rPr>
                        <a:t>방정식은</a:t>
                      </a:r>
                      <a:r>
                        <a:rPr sz="1400" b="0" dirty="0">
                          <a:solidFill>
                            <a:srgbClr val="000000"/>
                          </a:solidFill>
                          <a:latin typeface="맑은 고딕"/>
                        </a:rPr>
                        <a:t> </a:t>
                      </a:r>
                      <a:r>
                        <a:rPr sz="1400" b="0" dirty="0" err="1">
                          <a:solidFill>
                            <a:srgbClr val="000000"/>
                          </a:solidFill>
                          <a:latin typeface="맑은 고딕"/>
                        </a:rPr>
                        <a:t>거의</a:t>
                      </a:r>
                      <a:r>
                        <a:rPr sz="1400" b="0" dirty="0">
                          <a:solidFill>
                            <a:srgbClr val="000000"/>
                          </a:solidFill>
                          <a:latin typeface="맑은 고딕"/>
                        </a:rPr>
                        <a:t> </a:t>
                      </a:r>
                      <a:r>
                        <a:rPr sz="1400" b="0" dirty="0" err="1">
                          <a:solidFill>
                            <a:srgbClr val="000000"/>
                          </a:solidFill>
                          <a:latin typeface="맑은 고딕"/>
                        </a:rPr>
                        <a:t>유일하지만</a:t>
                      </a:r>
                      <a:r>
                        <a:rPr sz="1400" b="0" dirty="0">
                          <a:solidFill>
                            <a:srgbClr val="000000"/>
                          </a:solidFill>
                          <a:latin typeface="맑은 고딕"/>
                        </a:rPr>
                        <a:t> </a:t>
                      </a:r>
                      <a:r>
                        <a:rPr sz="1400" b="0" dirty="0" err="1">
                          <a:solidFill>
                            <a:srgbClr val="000000"/>
                          </a:solidFill>
                          <a:latin typeface="맑은 고딕"/>
                        </a:rPr>
                        <a:t>잡음</a:t>
                      </a:r>
                      <a:r>
                        <a:rPr sz="1400" b="0" dirty="0">
                          <a:solidFill>
                            <a:srgbClr val="000000"/>
                          </a:solidFill>
                          <a:latin typeface="맑은 고딕"/>
                        </a:rPr>
                        <a:t> </a:t>
                      </a:r>
                      <a:r>
                        <a:rPr sz="1400" b="0" dirty="0" err="1">
                          <a:solidFill>
                            <a:srgbClr val="000000"/>
                          </a:solidFill>
                          <a:latin typeface="맑은 고딕"/>
                        </a:rPr>
                        <a:t>때문에</a:t>
                      </a:r>
                      <a:r>
                        <a:rPr sz="1400" b="0" dirty="0">
                          <a:solidFill>
                            <a:srgbClr val="000000"/>
                          </a:solidFill>
                          <a:latin typeface="맑은 고딕"/>
                        </a:rPr>
                        <a:t> 못 풂</a:t>
                      </a:r>
                    </a:p>
                  </a:txBody>
                  <a:tcPr anchor="ctr">
                    <a:solidFill>
                      <a:srgbClr val="F2F5F8"/>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24345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C67ED-6DC6-FA90-D286-87961AC7158A}"/>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CA539A5F-EDB0-391F-10A4-C199BF04198A}"/>
              </a:ext>
            </a:extLst>
          </p:cNvPr>
          <p:cNvSpPr>
            <a:spLocks noGrp="1"/>
          </p:cNvSpPr>
          <p:nvPr>
            <p:ph type="title"/>
          </p:nvPr>
        </p:nvSpPr>
        <p:spPr/>
        <p:txBody>
          <a:bodyPr/>
          <a:lstStyle/>
          <a:p>
            <a:r>
              <a:rPr sz="2800" b="1">
                <a:solidFill>
                  <a:srgbClr val="000000"/>
                </a:solidFill>
                <a:latin typeface="맑은 고딕"/>
              </a:rPr>
              <a:t>예제2 (1/2)</a:t>
            </a:r>
          </a:p>
        </p:txBody>
      </p:sp>
      <p:sp>
        <p:nvSpPr>
          <p:cNvPr id="3" name="내용 개체 틀 2">
            <a:extLst>
              <a:ext uri="{FF2B5EF4-FFF2-40B4-BE49-F238E27FC236}">
                <a16:creationId xmlns:a16="http://schemas.microsoft.com/office/drawing/2014/main" id="{38497B98-28BD-FC30-AF56-9AF13EDC5567}"/>
              </a:ext>
            </a:extLst>
          </p:cNvPr>
          <p:cNvSpPr>
            <a:spLocks noGrp="1"/>
          </p:cNvSpPr>
          <p:nvPr>
            <p:ph idx="1"/>
          </p:nvPr>
        </p:nvSpPr>
        <p:spPr/>
        <p:txBody>
          <a:bodyPr wrap="square"/>
          <a:lstStyle/>
          <a:p>
            <a:pPr marL="0" indent="0">
              <a:spcAft>
                <a:spcPts val="800"/>
              </a:spcAft>
              <a:buFont typeface="Arial"/>
              <a:buChar char="•"/>
            </a:pPr>
            <a:r>
              <a:rPr sz="1800" dirty="0">
                <a:solidFill>
                  <a:srgbClr val="000000"/>
                </a:solidFill>
                <a:latin typeface="맑은 고딕"/>
              </a:rPr>
              <a:t>m = 5, n = 3, q = 31, B = 2</a:t>
            </a:r>
          </a:p>
          <a:p>
            <a:pPr>
              <a:buFont typeface="Arial"/>
              <a:buChar char="•"/>
            </a:pPr>
            <a:r>
              <a:rPr sz="1800" dirty="0" err="1">
                <a:solidFill>
                  <a:srgbClr val="000000"/>
                </a:solidFill>
                <a:latin typeface="맑은 고딕"/>
              </a:rPr>
              <a:t>행렬</a:t>
            </a:r>
            <a:r>
              <a:rPr sz="1800" dirty="0">
                <a:solidFill>
                  <a:srgbClr val="000000"/>
                </a:solidFill>
                <a:latin typeface="맑은 고딕"/>
              </a:rPr>
              <a:t> A (mod 31):</a:t>
            </a:r>
          </a:p>
          <a:p>
            <a:pPr>
              <a:buFont typeface="Arial"/>
              <a:buChar char="•"/>
            </a:pPr>
            <a:r>
              <a:rPr sz="1800" dirty="0">
                <a:solidFill>
                  <a:srgbClr val="000000"/>
                </a:solidFill>
                <a:latin typeface="맑은 고딕"/>
              </a:rPr>
              <a:t>b = (25, 25, 12, 29, 17)ᵀ</a:t>
            </a:r>
          </a:p>
          <a:p>
            <a:pPr>
              <a:buFont typeface="Arial"/>
              <a:buChar char="•"/>
            </a:pPr>
            <a:r>
              <a:rPr sz="1800" dirty="0" err="1">
                <a:solidFill>
                  <a:srgbClr val="000000"/>
                </a:solidFill>
                <a:latin typeface="맑은 고딕"/>
              </a:rPr>
              <a:t>목표</a:t>
            </a:r>
            <a:r>
              <a:rPr sz="1800" dirty="0">
                <a:solidFill>
                  <a:srgbClr val="000000"/>
                </a:solidFill>
                <a:latin typeface="맑은 고딕"/>
              </a:rPr>
              <a:t>: As + e ≡ b (mod 31), e ∈ [−2,2]⁵ 을 </a:t>
            </a:r>
            <a:r>
              <a:rPr sz="1800" dirty="0" err="1">
                <a:solidFill>
                  <a:srgbClr val="000000"/>
                </a:solidFill>
                <a:latin typeface="맑은 고딕"/>
              </a:rPr>
              <a:t>만족하는</a:t>
            </a:r>
            <a:r>
              <a:rPr sz="1800" dirty="0">
                <a:solidFill>
                  <a:srgbClr val="000000"/>
                </a:solidFill>
                <a:latin typeface="맑은 고딕"/>
              </a:rPr>
              <a:t> s </a:t>
            </a:r>
            <a:r>
              <a:rPr sz="1800" dirty="0" err="1">
                <a:solidFill>
                  <a:srgbClr val="000000"/>
                </a:solidFill>
                <a:latin typeface="맑은 고딕"/>
              </a:rPr>
              <a:t>찾기</a:t>
            </a:r>
            <a:endParaRPr sz="1800" dirty="0">
              <a:solidFill>
                <a:srgbClr val="000000"/>
              </a:solidFill>
              <a:latin typeface="맑은 고딕"/>
            </a:endParaRPr>
          </a:p>
        </p:txBody>
      </p:sp>
      <p:sp>
        <p:nvSpPr>
          <p:cNvPr id="4" name="슬라이드 번호 개체 틀 3">
            <a:extLst>
              <a:ext uri="{FF2B5EF4-FFF2-40B4-BE49-F238E27FC236}">
                <a16:creationId xmlns:a16="http://schemas.microsoft.com/office/drawing/2014/main" id="{36ACF14E-88FE-5D96-617C-ACDA0086942A}"/>
              </a:ext>
            </a:extLst>
          </p:cNvPr>
          <p:cNvSpPr>
            <a:spLocks noGrp="1"/>
          </p:cNvSpPr>
          <p:nvPr>
            <p:ph type="sldNum" sz="quarter" idx="12"/>
          </p:nvPr>
        </p:nvSpPr>
        <p:spPr/>
        <p:txBody>
          <a:bodyPr/>
          <a:lstStyle/>
          <a:p>
            <a:fld id="{4438A2D4-3867-488E-A04E-7BFFCAED45A6}" type="slidenum">
              <a:rPr lang="ko-KR" altLang="en-US" smtClean="0"/>
              <a:t>19</a:t>
            </a:fld>
            <a:endParaRPr lang="ko-KR" altLang="en-US"/>
          </a:p>
        </p:txBody>
      </p:sp>
      <p:pic>
        <p:nvPicPr>
          <p:cNvPr id="7" name="Picture 3" descr="mat_12.png">
            <a:extLst>
              <a:ext uri="{FF2B5EF4-FFF2-40B4-BE49-F238E27FC236}">
                <a16:creationId xmlns:a16="http://schemas.microsoft.com/office/drawing/2014/main" id="{E0BAFBDB-896C-3D72-E629-E9BF146C3C83}"/>
              </a:ext>
            </a:extLst>
          </p:cNvPr>
          <p:cNvPicPr>
            <a:picLocks noChangeAspect="1"/>
          </p:cNvPicPr>
          <p:nvPr/>
        </p:nvPicPr>
        <p:blipFill>
          <a:blip r:embed="rId3"/>
          <a:stretch>
            <a:fillRect/>
          </a:stretch>
        </p:blipFill>
        <p:spPr>
          <a:xfrm>
            <a:off x="9755207" y="1249605"/>
            <a:ext cx="1598593" cy="1737360"/>
          </a:xfrm>
          <a:prstGeom prst="rect">
            <a:avLst/>
          </a:prstGeom>
        </p:spPr>
      </p:pic>
    </p:spTree>
    <p:extLst>
      <p:ext uri="{BB962C8B-B14F-4D97-AF65-F5344CB8AC3E}">
        <p14:creationId xmlns:p14="http://schemas.microsoft.com/office/powerpoint/2010/main" val="2931015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000000"/>
                </a:solidFill>
                <a:latin typeface="맑은 고딕"/>
              </a:rPr>
              <a:t>예제2 (2/2)</a:t>
            </a:r>
          </a:p>
        </p:txBody>
      </p:sp>
      <p:sp>
        <p:nvSpPr>
          <p:cNvPr id="4" name="TextBox 3"/>
          <p:cNvSpPr txBox="1"/>
          <p:nvPr/>
        </p:nvSpPr>
        <p:spPr>
          <a:xfrm>
            <a:off x="838200" y="1342947"/>
            <a:ext cx="7986482" cy="2372765"/>
          </a:xfrm>
          <a:prstGeom prst="rect">
            <a:avLst/>
          </a:prstGeom>
          <a:noFill/>
        </p:spPr>
        <p:txBody>
          <a:bodyPr wrap="none">
            <a:spAutoFit/>
          </a:bodyPr>
          <a:lstStyle/>
          <a:p>
            <a:pPr>
              <a:lnSpc>
                <a:spcPct val="150000"/>
              </a:lnSpc>
              <a:spcAft>
                <a:spcPts val="800"/>
              </a:spcAft>
              <a:buNone/>
            </a:pPr>
            <a:r>
              <a:rPr sz="1800" dirty="0">
                <a:solidFill>
                  <a:srgbClr val="000000"/>
                </a:solidFill>
                <a:latin typeface="맑은 고딕"/>
              </a:rPr>
              <a:t>• 이 </a:t>
            </a:r>
            <a:r>
              <a:rPr sz="1800" dirty="0" err="1">
                <a:solidFill>
                  <a:srgbClr val="000000"/>
                </a:solidFill>
                <a:latin typeface="맑은 고딕"/>
              </a:rPr>
              <a:t>인스턴스는</a:t>
            </a:r>
            <a:r>
              <a:rPr sz="1800" dirty="0">
                <a:solidFill>
                  <a:srgbClr val="000000"/>
                </a:solidFill>
                <a:latin typeface="맑은 고딕"/>
              </a:rPr>
              <a:t> </a:t>
            </a:r>
            <a:r>
              <a:rPr sz="1800" dirty="0" err="1">
                <a:solidFill>
                  <a:srgbClr val="000000"/>
                </a:solidFill>
                <a:latin typeface="맑은 고딕"/>
              </a:rPr>
              <a:t>실제로</a:t>
            </a:r>
            <a:r>
              <a:rPr sz="1800" dirty="0">
                <a:solidFill>
                  <a:srgbClr val="000000"/>
                </a:solidFill>
                <a:latin typeface="맑은 고딕"/>
              </a:rPr>
              <a:t> 3개의 </a:t>
            </a:r>
            <a:r>
              <a:rPr sz="1800" dirty="0" err="1">
                <a:solidFill>
                  <a:srgbClr val="000000"/>
                </a:solidFill>
                <a:latin typeface="맑은 고딕"/>
              </a:rPr>
              <a:t>해를</a:t>
            </a:r>
            <a:r>
              <a:rPr sz="1800" dirty="0">
                <a:solidFill>
                  <a:srgbClr val="000000"/>
                </a:solidFill>
                <a:latin typeface="맑은 고딕"/>
              </a:rPr>
              <a:t> </a:t>
            </a:r>
            <a:r>
              <a:rPr sz="1800" dirty="0" err="1">
                <a:solidFill>
                  <a:srgbClr val="000000"/>
                </a:solidFill>
                <a:latin typeface="맑은 고딕"/>
              </a:rPr>
              <a:t>갖는다</a:t>
            </a:r>
            <a:r>
              <a:rPr sz="1800" dirty="0">
                <a:solidFill>
                  <a:srgbClr val="000000"/>
                </a:solidFill>
                <a:latin typeface="맑은 고딕"/>
              </a:rPr>
              <a:t> (</a:t>
            </a:r>
            <a:r>
              <a:rPr sz="1800" dirty="0" err="1">
                <a:solidFill>
                  <a:srgbClr val="000000"/>
                </a:solidFill>
                <a:latin typeface="맑은 고딕"/>
              </a:rPr>
              <a:t>m이</a:t>
            </a:r>
            <a:r>
              <a:rPr sz="1800" dirty="0">
                <a:solidFill>
                  <a:srgbClr val="000000"/>
                </a:solidFill>
                <a:latin typeface="맑은 고딕"/>
              </a:rPr>
              <a:t> </a:t>
            </a:r>
            <a:r>
              <a:rPr sz="1800" dirty="0" err="1">
                <a:solidFill>
                  <a:srgbClr val="000000"/>
                </a:solidFill>
                <a:latin typeface="맑은 고딕"/>
              </a:rPr>
              <a:t>작게</a:t>
            </a:r>
            <a:r>
              <a:rPr sz="1800" dirty="0">
                <a:solidFill>
                  <a:srgbClr val="000000"/>
                </a:solidFill>
                <a:latin typeface="맑은 고딕"/>
              </a:rPr>
              <a:t> </a:t>
            </a:r>
            <a:r>
              <a:rPr sz="1800" dirty="0" err="1">
                <a:solidFill>
                  <a:srgbClr val="000000"/>
                </a:solidFill>
                <a:latin typeface="맑은 고딕"/>
              </a:rPr>
              <a:t>설정된</a:t>
            </a:r>
            <a:r>
              <a:rPr sz="1800" dirty="0">
                <a:solidFill>
                  <a:srgbClr val="000000"/>
                </a:solidFill>
                <a:latin typeface="맑은 고딕"/>
              </a:rPr>
              <a:t> </a:t>
            </a:r>
            <a:r>
              <a:rPr sz="1800" dirty="0" err="1">
                <a:solidFill>
                  <a:srgbClr val="000000"/>
                </a:solidFill>
                <a:latin typeface="맑은 고딕"/>
              </a:rPr>
              <a:t>장난감</a:t>
            </a:r>
            <a:r>
              <a:rPr sz="1800" dirty="0">
                <a:solidFill>
                  <a:srgbClr val="000000"/>
                </a:solidFill>
                <a:latin typeface="맑은 고딕"/>
              </a:rPr>
              <a:t> </a:t>
            </a:r>
            <a:r>
              <a:rPr sz="1800" dirty="0" err="1">
                <a:solidFill>
                  <a:srgbClr val="000000"/>
                </a:solidFill>
                <a:latin typeface="맑은 고딕"/>
              </a:rPr>
              <a:t>예제</a:t>
            </a:r>
            <a:r>
              <a:rPr sz="1800" dirty="0">
                <a:solidFill>
                  <a:srgbClr val="000000"/>
                </a:solidFill>
                <a:latin typeface="맑은 고딕"/>
              </a:rPr>
              <a:t>):</a:t>
            </a:r>
          </a:p>
          <a:p>
            <a:pPr>
              <a:lnSpc>
                <a:spcPct val="150000"/>
              </a:lnSpc>
              <a:spcAft>
                <a:spcPts val="400"/>
              </a:spcAft>
              <a:buNone/>
            </a:pPr>
            <a:r>
              <a:rPr sz="1800" dirty="0">
                <a:solidFill>
                  <a:srgbClr val="000000"/>
                </a:solidFill>
                <a:latin typeface="맑은 고딕"/>
              </a:rPr>
              <a:t>• s=(2,11,7)ᵀ, e=(−2,0,2,1,1)ᵀ</a:t>
            </a:r>
          </a:p>
          <a:p>
            <a:pPr>
              <a:lnSpc>
                <a:spcPct val="150000"/>
              </a:lnSpc>
              <a:spcAft>
                <a:spcPts val="400"/>
              </a:spcAft>
              <a:buNone/>
            </a:pPr>
            <a:r>
              <a:rPr sz="1800" dirty="0">
                <a:solidFill>
                  <a:srgbClr val="000000"/>
                </a:solidFill>
                <a:latin typeface="맑은 고딕"/>
              </a:rPr>
              <a:t>• s=(27,13,16)ᵀ, e=(1,−2,1,1,1)ᵀ</a:t>
            </a:r>
          </a:p>
          <a:p>
            <a:pPr>
              <a:lnSpc>
                <a:spcPct val="150000"/>
              </a:lnSpc>
              <a:spcAft>
                <a:spcPts val="400"/>
              </a:spcAft>
              <a:buNone/>
            </a:pPr>
            <a:r>
              <a:rPr sz="1800" dirty="0">
                <a:solidFill>
                  <a:srgbClr val="000000"/>
                </a:solidFill>
                <a:latin typeface="맑은 고딕"/>
              </a:rPr>
              <a:t>• s=(30,9,5)ᵀ, e=(−2,−1,2,1,−1)ᵀ</a:t>
            </a:r>
          </a:p>
          <a:p>
            <a:pPr>
              <a:lnSpc>
                <a:spcPct val="150000"/>
              </a:lnSpc>
              <a:spcAft>
                <a:spcPts val="800"/>
              </a:spcAft>
              <a:buNone/>
            </a:pPr>
            <a:r>
              <a:rPr sz="1800" dirty="0">
                <a:solidFill>
                  <a:srgbClr val="000000"/>
                </a:solidFill>
                <a:latin typeface="맑은 고딕"/>
              </a:rPr>
              <a:t>• </a:t>
            </a:r>
            <a:r>
              <a:rPr sz="1800" dirty="0" err="1">
                <a:solidFill>
                  <a:srgbClr val="000000"/>
                </a:solidFill>
                <a:latin typeface="맑은 고딕"/>
              </a:rPr>
              <a:t>실전</a:t>
            </a:r>
            <a:r>
              <a:rPr sz="1800" dirty="0">
                <a:solidFill>
                  <a:srgbClr val="000000"/>
                </a:solidFill>
                <a:latin typeface="맑은 고딕"/>
              </a:rPr>
              <a:t> </a:t>
            </a:r>
            <a:r>
              <a:rPr sz="1800" dirty="0" err="1">
                <a:solidFill>
                  <a:srgbClr val="000000"/>
                </a:solidFill>
                <a:latin typeface="맑은 고딕"/>
              </a:rPr>
              <a:t>파라미터는</a:t>
            </a:r>
            <a:r>
              <a:rPr sz="1800" dirty="0">
                <a:solidFill>
                  <a:srgbClr val="000000"/>
                </a:solidFill>
                <a:latin typeface="맑은 고딕"/>
              </a:rPr>
              <a:t> m ≫ n 을 </a:t>
            </a:r>
            <a:r>
              <a:rPr sz="1800" dirty="0" err="1">
                <a:solidFill>
                  <a:srgbClr val="000000"/>
                </a:solidFill>
                <a:latin typeface="맑은 고딕"/>
              </a:rPr>
              <a:t>훨씬</a:t>
            </a:r>
            <a:r>
              <a:rPr sz="1800" dirty="0">
                <a:solidFill>
                  <a:srgbClr val="000000"/>
                </a:solidFill>
                <a:latin typeface="맑은 고딕"/>
              </a:rPr>
              <a:t> </a:t>
            </a:r>
            <a:r>
              <a:rPr sz="1800" dirty="0" err="1">
                <a:solidFill>
                  <a:srgbClr val="000000"/>
                </a:solidFill>
                <a:latin typeface="맑은 고딕"/>
              </a:rPr>
              <a:t>크게</a:t>
            </a:r>
            <a:r>
              <a:rPr sz="1800" dirty="0">
                <a:solidFill>
                  <a:srgbClr val="000000"/>
                </a:solidFill>
                <a:latin typeface="맑은 고딕"/>
              </a:rPr>
              <a:t> </a:t>
            </a:r>
            <a:r>
              <a:rPr sz="1800" dirty="0" err="1">
                <a:solidFill>
                  <a:srgbClr val="000000"/>
                </a:solidFill>
                <a:latin typeface="맑은 고딕"/>
              </a:rPr>
              <a:t>잡아</a:t>
            </a:r>
            <a:r>
              <a:rPr sz="1800" dirty="0">
                <a:solidFill>
                  <a:srgbClr val="000000"/>
                </a:solidFill>
                <a:latin typeface="맑은 고딕"/>
              </a:rPr>
              <a:t> </a:t>
            </a:r>
            <a:r>
              <a:rPr sz="1800" dirty="0" err="1">
                <a:solidFill>
                  <a:srgbClr val="000000"/>
                </a:solidFill>
                <a:latin typeface="맑은 고딕"/>
              </a:rPr>
              <a:t>해의</a:t>
            </a:r>
            <a:r>
              <a:rPr sz="1800" dirty="0">
                <a:solidFill>
                  <a:srgbClr val="000000"/>
                </a:solidFill>
                <a:latin typeface="맑은 고딕"/>
              </a:rPr>
              <a:t> </a:t>
            </a:r>
            <a:r>
              <a:rPr sz="1800" dirty="0" err="1">
                <a:solidFill>
                  <a:srgbClr val="000000"/>
                </a:solidFill>
                <a:latin typeface="맑은 고딕"/>
              </a:rPr>
              <a:t>유일성을</a:t>
            </a:r>
            <a:r>
              <a:rPr sz="1800" dirty="0">
                <a:solidFill>
                  <a:srgbClr val="000000"/>
                </a:solidFill>
                <a:latin typeface="맑은 고딕"/>
              </a:rPr>
              <a:t> </a:t>
            </a:r>
            <a:r>
              <a:rPr sz="1800" dirty="0" err="1">
                <a:solidFill>
                  <a:srgbClr val="000000"/>
                </a:solidFill>
                <a:latin typeface="맑은 고딕"/>
              </a:rPr>
              <a:t>보장</a:t>
            </a:r>
            <a:endParaRPr sz="1800" dirty="0">
              <a:solidFill>
                <a:srgbClr val="000000"/>
              </a:solidFill>
              <a:latin typeface="맑은 고딕"/>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6CDDB-1CA6-19E2-630D-CC1375D7CBB4}"/>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405F064D-670E-79F0-2D45-8CF045A1C780}"/>
              </a:ext>
            </a:extLst>
          </p:cNvPr>
          <p:cNvSpPr>
            <a:spLocks noGrp="1"/>
          </p:cNvSpPr>
          <p:nvPr>
            <p:ph type="title"/>
          </p:nvPr>
        </p:nvSpPr>
        <p:spPr/>
        <p:txBody>
          <a:bodyPr/>
          <a:lstStyle/>
          <a:p>
            <a:r>
              <a:rPr sz="2800" b="1">
                <a:solidFill>
                  <a:srgbClr val="000000"/>
                </a:solidFill>
                <a:latin typeface="맑은 고딕"/>
              </a:rPr>
              <a:t>Noise bound B (1/2)</a:t>
            </a:r>
          </a:p>
        </p:txBody>
      </p:sp>
      <p:sp>
        <p:nvSpPr>
          <p:cNvPr id="3" name="내용 개체 틀 2">
            <a:extLst>
              <a:ext uri="{FF2B5EF4-FFF2-40B4-BE49-F238E27FC236}">
                <a16:creationId xmlns:a16="http://schemas.microsoft.com/office/drawing/2014/main" id="{1136028D-0DC5-F746-895F-C492D7FA9278}"/>
              </a:ext>
            </a:extLst>
          </p:cNvPr>
          <p:cNvSpPr>
            <a:spLocks noGrp="1"/>
          </p:cNvSpPr>
          <p:nvPr>
            <p:ph idx="1"/>
          </p:nvPr>
        </p:nvSpPr>
        <p:spPr>
          <a:xfrm>
            <a:off x="838200" y="1407862"/>
            <a:ext cx="10515600" cy="5313613"/>
          </a:xfrm>
        </p:spPr>
        <p:txBody>
          <a:bodyPr>
            <a:normAutofit/>
          </a:bodyPr>
          <a:lstStyle/>
          <a:p>
            <a:pPr marL="457200" indent="-457200">
              <a:spcAft>
                <a:spcPts val="800"/>
              </a:spcAft>
              <a:buFont typeface="Arial"/>
              <a:buChar char="•"/>
            </a:pPr>
            <a:r>
              <a:rPr sz="1800" dirty="0">
                <a:solidFill>
                  <a:srgbClr val="000000"/>
                </a:solidFill>
                <a:latin typeface="맑은 고딕"/>
              </a:rPr>
              <a:t>B = 0  (e = 0)</a:t>
            </a:r>
          </a:p>
          <a:p>
            <a:pPr lvl="1">
              <a:buFont typeface="Arial"/>
              <a:buChar char="•"/>
            </a:pPr>
            <a:r>
              <a:rPr dirty="0">
                <a:solidFill>
                  <a:srgbClr val="000000"/>
                </a:solidFill>
                <a:latin typeface="맑은 고딕"/>
              </a:rPr>
              <a:t>As = b 는 </a:t>
            </a:r>
            <a:r>
              <a:rPr dirty="0" err="1">
                <a:solidFill>
                  <a:srgbClr val="000000"/>
                </a:solidFill>
                <a:latin typeface="맑은 고딕"/>
              </a:rPr>
              <a:t>순수</a:t>
            </a:r>
            <a:r>
              <a:rPr dirty="0">
                <a:solidFill>
                  <a:srgbClr val="000000"/>
                </a:solidFill>
                <a:latin typeface="맑은 고딕"/>
              </a:rPr>
              <a:t> </a:t>
            </a:r>
            <a:r>
              <a:rPr dirty="0" err="1">
                <a:solidFill>
                  <a:srgbClr val="000000"/>
                </a:solidFill>
                <a:latin typeface="맑은 고딕"/>
              </a:rPr>
              <a:t>선형방정식</a:t>
            </a:r>
            <a:r>
              <a:rPr dirty="0">
                <a:solidFill>
                  <a:srgbClr val="000000"/>
                </a:solidFill>
                <a:latin typeface="맑은 고딕"/>
              </a:rPr>
              <a:t> → </a:t>
            </a:r>
            <a:r>
              <a:rPr dirty="0" err="1">
                <a:solidFill>
                  <a:srgbClr val="000000"/>
                </a:solidFill>
                <a:latin typeface="맑은 고딕"/>
              </a:rPr>
              <a:t>가우스</a:t>
            </a:r>
            <a:r>
              <a:rPr dirty="0">
                <a:solidFill>
                  <a:srgbClr val="000000"/>
                </a:solidFill>
                <a:latin typeface="맑은 고딕"/>
              </a:rPr>
              <a:t> </a:t>
            </a:r>
            <a:r>
              <a:rPr dirty="0" err="1">
                <a:solidFill>
                  <a:srgbClr val="000000"/>
                </a:solidFill>
                <a:latin typeface="맑은 고딕"/>
              </a:rPr>
              <a:t>소거법으로</a:t>
            </a:r>
            <a:r>
              <a:rPr dirty="0">
                <a:solidFill>
                  <a:srgbClr val="000000"/>
                </a:solidFill>
                <a:latin typeface="맑은 고딕"/>
              </a:rPr>
              <a:t> </a:t>
            </a:r>
            <a:r>
              <a:rPr dirty="0" err="1">
                <a:solidFill>
                  <a:srgbClr val="000000"/>
                </a:solidFill>
                <a:latin typeface="맑은 고딕"/>
              </a:rPr>
              <a:t>효율적으로</a:t>
            </a:r>
            <a:r>
              <a:rPr dirty="0">
                <a:solidFill>
                  <a:srgbClr val="000000"/>
                </a:solidFill>
                <a:latin typeface="맑은 고딕"/>
              </a:rPr>
              <a:t> </a:t>
            </a:r>
            <a:r>
              <a:rPr dirty="0" err="1">
                <a:solidFill>
                  <a:srgbClr val="000000"/>
                </a:solidFill>
                <a:latin typeface="맑은 고딕"/>
              </a:rPr>
              <a:t>풀림</a:t>
            </a:r>
            <a:r>
              <a:rPr dirty="0">
                <a:solidFill>
                  <a:srgbClr val="000000"/>
                </a:solidFill>
                <a:latin typeface="맑은 고딕"/>
              </a:rPr>
              <a:t> → </a:t>
            </a:r>
            <a:r>
              <a:rPr dirty="0" err="1">
                <a:solidFill>
                  <a:srgbClr val="000000"/>
                </a:solidFill>
                <a:latin typeface="맑은 고딕"/>
              </a:rPr>
              <a:t>이후</a:t>
            </a:r>
            <a:r>
              <a:rPr dirty="0">
                <a:solidFill>
                  <a:srgbClr val="000000"/>
                </a:solidFill>
                <a:latin typeface="맑은 고딕"/>
              </a:rPr>
              <a:t> B ≠ 0 </a:t>
            </a:r>
            <a:r>
              <a:rPr dirty="0" err="1">
                <a:solidFill>
                  <a:srgbClr val="000000"/>
                </a:solidFill>
                <a:latin typeface="맑은 고딕"/>
              </a:rPr>
              <a:t>가정</a:t>
            </a:r>
            <a:endParaRPr dirty="0">
              <a:solidFill>
                <a:srgbClr val="000000"/>
              </a:solidFill>
              <a:latin typeface="맑은 고딕"/>
            </a:endParaRPr>
          </a:p>
          <a:p>
            <a:pPr>
              <a:buFont typeface="Arial"/>
              <a:buChar char="•"/>
            </a:pPr>
            <a:r>
              <a:rPr sz="1800" dirty="0">
                <a:solidFill>
                  <a:srgbClr val="000000"/>
                </a:solidFill>
                <a:latin typeface="맑은 고딕"/>
              </a:rPr>
              <a:t>B = (q−1)/2</a:t>
            </a:r>
          </a:p>
          <a:p>
            <a:pPr lvl="1">
              <a:buFont typeface="Arial"/>
              <a:buChar char="•"/>
            </a:pPr>
            <a:r>
              <a:rPr dirty="0">
                <a:solidFill>
                  <a:srgbClr val="000000"/>
                </a:solidFill>
                <a:latin typeface="맑은 고딕"/>
              </a:rPr>
              <a:t>[−B,B] 는 </a:t>
            </a:r>
            <a:r>
              <a:rPr dirty="0" err="1">
                <a:solidFill>
                  <a:srgbClr val="000000"/>
                </a:solidFill>
                <a:latin typeface="맑은 고딕"/>
              </a:rPr>
              <a:t>ℤ_q</a:t>
            </a:r>
            <a:r>
              <a:rPr dirty="0">
                <a:solidFill>
                  <a:srgbClr val="000000"/>
                </a:solidFill>
                <a:latin typeface="맑은 고딕"/>
              </a:rPr>
              <a:t> </a:t>
            </a:r>
            <a:r>
              <a:rPr dirty="0" err="1">
                <a:solidFill>
                  <a:srgbClr val="000000"/>
                </a:solidFill>
                <a:latin typeface="맑은 고딕"/>
              </a:rPr>
              <a:t>전체를</a:t>
            </a:r>
            <a:r>
              <a:rPr dirty="0">
                <a:solidFill>
                  <a:srgbClr val="000000"/>
                </a:solidFill>
                <a:latin typeface="맑은 고딕"/>
              </a:rPr>
              <a:t> </a:t>
            </a:r>
            <a:r>
              <a:rPr dirty="0" err="1">
                <a:solidFill>
                  <a:srgbClr val="000000"/>
                </a:solidFill>
                <a:latin typeface="맑은 고딕"/>
              </a:rPr>
              <a:t>정확히</a:t>
            </a:r>
            <a:r>
              <a:rPr dirty="0">
                <a:solidFill>
                  <a:srgbClr val="000000"/>
                </a:solidFill>
                <a:latin typeface="맑은 고딕"/>
              </a:rPr>
              <a:t> 한 </a:t>
            </a:r>
            <a:r>
              <a:rPr dirty="0" err="1">
                <a:solidFill>
                  <a:srgbClr val="000000"/>
                </a:solidFill>
                <a:latin typeface="맑은 고딕"/>
              </a:rPr>
              <a:t>번씩</a:t>
            </a:r>
            <a:r>
              <a:rPr dirty="0">
                <a:solidFill>
                  <a:srgbClr val="000000"/>
                </a:solidFill>
                <a:latin typeface="맑은 고딕"/>
              </a:rPr>
              <a:t> </a:t>
            </a:r>
            <a:r>
              <a:rPr dirty="0" err="1">
                <a:solidFill>
                  <a:srgbClr val="000000"/>
                </a:solidFill>
                <a:latin typeface="맑은 고딕"/>
              </a:rPr>
              <a:t>담는</a:t>
            </a:r>
            <a:r>
              <a:rPr dirty="0">
                <a:solidFill>
                  <a:srgbClr val="000000"/>
                </a:solidFill>
                <a:latin typeface="맑은 고딕"/>
              </a:rPr>
              <a:t> </a:t>
            </a:r>
            <a:r>
              <a:rPr dirty="0" err="1">
                <a:solidFill>
                  <a:srgbClr val="000000"/>
                </a:solidFill>
                <a:latin typeface="맑은 고딕"/>
              </a:rPr>
              <a:t>구간</a:t>
            </a:r>
            <a:r>
              <a:rPr dirty="0">
                <a:solidFill>
                  <a:srgbClr val="000000"/>
                </a:solidFill>
                <a:latin typeface="맑은 고딕"/>
              </a:rPr>
              <a:t> → </a:t>
            </a:r>
            <a:r>
              <a:rPr dirty="0" err="1">
                <a:solidFill>
                  <a:srgbClr val="000000"/>
                </a:solidFill>
                <a:latin typeface="맑은 고딕"/>
              </a:rPr>
              <a:t>e가</a:t>
            </a:r>
            <a:r>
              <a:rPr dirty="0">
                <a:solidFill>
                  <a:srgbClr val="000000"/>
                </a:solidFill>
                <a:latin typeface="맑은 고딕"/>
              </a:rPr>
              <a:t> </a:t>
            </a:r>
            <a:r>
              <a:rPr dirty="0" err="1">
                <a:solidFill>
                  <a:srgbClr val="000000"/>
                </a:solidFill>
                <a:latin typeface="맑은 고딕"/>
              </a:rPr>
              <a:t>균등이면</a:t>
            </a:r>
            <a:r>
              <a:rPr dirty="0">
                <a:solidFill>
                  <a:srgbClr val="000000"/>
                </a:solidFill>
                <a:latin typeface="맑은 고딕"/>
              </a:rPr>
              <a:t> b=</a:t>
            </a:r>
            <a:r>
              <a:rPr dirty="0" err="1">
                <a:solidFill>
                  <a:srgbClr val="000000"/>
                </a:solidFill>
                <a:latin typeface="맑은 고딕"/>
              </a:rPr>
              <a:t>As+e도</a:t>
            </a:r>
            <a:r>
              <a:rPr dirty="0">
                <a:solidFill>
                  <a:srgbClr val="000000"/>
                </a:solidFill>
                <a:latin typeface="맑은 고딕"/>
              </a:rPr>
              <a:t> </a:t>
            </a:r>
            <a:r>
              <a:rPr dirty="0" err="1">
                <a:solidFill>
                  <a:srgbClr val="000000"/>
                </a:solidFill>
                <a:latin typeface="맑은 고딕"/>
              </a:rPr>
              <a:t>균등</a:t>
            </a:r>
            <a:endParaRPr dirty="0">
              <a:solidFill>
                <a:srgbClr val="000000"/>
              </a:solidFill>
              <a:latin typeface="맑은 고딕"/>
            </a:endParaRPr>
          </a:p>
          <a:p>
            <a:pPr lvl="1">
              <a:buFont typeface="Arial"/>
              <a:buChar char="•"/>
            </a:pPr>
            <a:r>
              <a:rPr dirty="0" err="1">
                <a:solidFill>
                  <a:srgbClr val="000000"/>
                </a:solidFill>
                <a:latin typeface="맑은 고딕"/>
              </a:rPr>
              <a:t>s에</a:t>
            </a:r>
            <a:r>
              <a:rPr dirty="0">
                <a:solidFill>
                  <a:srgbClr val="000000"/>
                </a:solidFill>
                <a:latin typeface="맑은 고딕"/>
              </a:rPr>
              <a:t> </a:t>
            </a:r>
            <a:r>
              <a:rPr dirty="0" err="1">
                <a:solidFill>
                  <a:srgbClr val="000000"/>
                </a:solidFill>
                <a:latin typeface="맑은 고딕"/>
              </a:rPr>
              <a:t>대한</a:t>
            </a:r>
            <a:r>
              <a:rPr dirty="0">
                <a:solidFill>
                  <a:srgbClr val="000000"/>
                </a:solidFill>
                <a:latin typeface="맑은 고딕"/>
              </a:rPr>
              <a:t> </a:t>
            </a:r>
            <a:r>
              <a:rPr dirty="0" err="1">
                <a:solidFill>
                  <a:srgbClr val="000000"/>
                </a:solidFill>
                <a:latin typeface="맑은 고딕"/>
              </a:rPr>
              <a:t>정보를</a:t>
            </a:r>
            <a:r>
              <a:rPr dirty="0">
                <a:solidFill>
                  <a:srgbClr val="000000"/>
                </a:solidFill>
                <a:latin typeface="맑은 고딕"/>
              </a:rPr>
              <a:t> </a:t>
            </a:r>
            <a:r>
              <a:rPr dirty="0" err="1">
                <a:solidFill>
                  <a:srgbClr val="000000"/>
                </a:solidFill>
                <a:latin typeface="맑은 고딕"/>
              </a:rPr>
              <a:t>전혀</a:t>
            </a:r>
            <a:r>
              <a:rPr dirty="0">
                <a:solidFill>
                  <a:srgbClr val="000000"/>
                </a:solidFill>
                <a:latin typeface="맑은 고딕"/>
              </a:rPr>
              <a:t> </a:t>
            </a:r>
            <a:r>
              <a:rPr dirty="0" err="1">
                <a:solidFill>
                  <a:srgbClr val="000000"/>
                </a:solidFill>
                <a:latin typeface="맑은 고딕"/>
              </a:rPr>
              <a:t>담지</a:t>
            </a:r>
            <a:r>
              <a:rPr dirty="0">
                <a:solidFill>
                  <a:srgbClr val="000000"/>
                </a:solidFill>
                <a:latin typeface="맑은 고딕"/>
              </a:rPr>
              <a:t> </a:t>
            </a:r>
            <a:r>
              <a:rPr dirty="0" err="1">
                <a:solidFill>
                  <a:srgbClr val="000000"/>
                </a:solidFill>
                <a:latin typeface="맑은 고딕"/>
              </a:rPr>
              <a:t>않음</a:t>
            </a:r>
            <a:r>
              <a:rPr dirty="0">
                <a:solidFill>
                  <a:srgbClr val="000000"/>
                </a:solidFill>
                <a:latin typeface="맑은 고딕"/>
              </a:rPr>
              <a:t> (one-time </a:t>
            </a:r>
            <a:r>
              <a:rPr dirty="0" err="1">
                <a:solidFill>
                  <a:srgbClr val="000000"/>
                </a:solidFill>
                <a:latin typeface="맑은 고딕"/>
              </a:rPr>
              <a:t>pad와</a:t>
            </a:r>
            <a:r>
              <a:rPr dirty="0">
                <a:solidFill>
                  <a:srgbClr val="000000"/>
                </a:solidFill>
                <a:latin typeface="맑은 고딕"/>
              </a:rPr>
              <a:t> </a:t>
            </a:r>
            <a:r>
              <a:rPr dirty="0" err="1">
                <a:solidFill>
                  <a:srgbClr val="000000"/>
                </a:solidFill>
                <a:latin typeface="맑은 고딕"/>
              </a:rPr>
              <a:t>동일</a:t>
            </a:r>
            <a:r>
              <a:rPr dirty="0">
                <a:solidFill>
                  <a:srgbClr val="000000"/>
                </a:solidFill>
                <a:latin typeface="맑은 고딕"/>
              </a:rPr>
              <a:t> </a:t>
            </a:r>
            <a:r>
              <a:rPr dirty="0" err="1">
                <a:solidFill>
                  <a:srgbClr val="000000"/>
                </a:solidFill>
                <a:latin typeface="맑은 고딕"/>
              </a:rPr>
              <a:t>논증</a:t>
            </a:r>
            <a:r>
              <a:rPr dirty="0">
                <a:solidFill>
                  <a:srgbClr val="000000"/>
                </a:solidFill>
                <a:latin typeface="맑은 고딕"/>
              </a:rPr>
              <a:t>) → </a:t>
            </a:r>
            <a:r>
              <a:rPr dirty="0" err="1">
                <a:solidFill>
                  <a:srgbClr val="000000"/>
                </a:solidFill>
                <a:latin typeface="맑은 고딕"/>
              </a:rPr>
              <a:t>정보이론적으로</a:t>
            </a:r>
            <a:r>
              <a:rPr dirty="0">
                <a:solidFill>
                  <a:srgbClr val="000000"/>
                </a:solidFill>
                <a:latin typeface="맑은 고딕"/>
              </a:rPr>
              <a:t> </a:t>
            </a:r>
            <a:r>
              <a:rPr dirty="0" err="1">
                <a:solidFill>
                  <a:srgbClr val="000000"/>
                </a:solidFill>
                <a:latin typeface="맑은 고딕"/>
              </a:rPr>
              <a:t>불가능</a:t>
            </a:r>
            <a:r>
              <a:rPr dirty="0">
                <a:solidFill>
                  <a:srgbClr val="000000"/>
                </a:solidFill>
                <a:latin typeface="맑은 고딕"/>
              </a:rPr>
              <a:t>. </a:t>
            </a:r>
            <a:r>
              <a:rPr dirty="0" err="1">
                <a:solidFill>
                  <a:srgbClr val="000000"/>
                </a:solidFill>
                <a:latin typeface="맑은 고딕"/>
              </a:rPr>
              <a:t>이후</a:t>
            </a:r>
            <a:r>
              <a:rPr dirty="0">
                <a:solidFill>
                  <a:srgbClr val="000000"/>
                </a:solidFill>
                <a:latin typeface="맑은 고딕"/>
              </a:rPr>
              <a:t> B&lt;q/4 </a:t>
            </a:r>
            <a:r>
              <a:rPr dirty="0" err="1">
                <a:solidFill>
                  <a:srgbClr val="000000"/>
                </a:solidFill>
                <a:latin typeface="맑은 고딕"/>
              </a:rPr>
              <a:t>가정</a:t>
            </a:r>
            <a:endParaRPr dirty="0">
              <a:solidFill>
                <a:srgbClr val="000000"/>
              </a:solidFill>
              <a:latin typeface="맑은 고딕"/>
            </a:endParaRPr>
          </a:p>
        </p:txBody>
      </p:sp>
      <p:sp>
        <p:nvSpPr>
          <p:cNvPr id="4" name="슬라이드 번호 개체 틀 3">
            <a:extLst>
              <a:ext uri="{FF2B5EF4-FFF2-40B4-BE49-F238E27FC236}">
                <a16:creationId xmlns:a16="http://schemas.microsoft.com/office/drawing/2014/main" id="{4FC980CA-5337-BBB9-806F-14FE4DC5FE64}"/>
              </a:ext>
            </a:extLst>
          </p:cNvPr>
          <p:cNvSpPr>
            <a:spLocks noGrp="1"/>
          </p:cNvSpPr>
          <p:nvPr>
            <p:ph type="sldNum" sz="quarter" idx="12"/>
          </p:nvPr>
        </p:nvSpPr>
        <p:spPr/>
        <p:txBody>
          <a:bodyPr/>
          <a:lstStyle/>
          <a:p>
            <a:fld id="{4438A2D4-3867-488E-A04E-7BFFCAED45A6}" type="slidenum">
              <a:rPr lang="ko-KR" altLang="en-US" smtClean="0"/>
              <a:t>21</a:t>
            </a:fld>
            <a:endParaRPr lang="ko-KR" altLang="en-US"/>
          </a:p>
        </p:txBody>
      </p:sp>
    </p:spTree>
    <p:extLst>
      <p:ext uri="{BB962C8B-B14F-4D97-AF65-F5344CB8AC3E}">
        <p14:creationId xmlns:p14="http://schemas.microsoft.com/office/powerpoint/2010/main" val="35513026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000000"/>
                </a:solidFill>
                <a:latin typeface="맑은 고딕"/>
              </a:rPr>
              <a:t>Noise bound B (2/2)</a:t>
            </a:r>
          </a:p>
        </p:txBody>
      </p:sp>
      <p:sp>
        <p:nvSpPr>
          <p:cNvPr id="4" name="TextBox 3"/>
          <p:cNvSpPr txBox="1"/>
          <p:nvPr/>
        </p:nvSpPr>
        <p:spPr>
          <a:xfrm>
            <a:off x="838199" y="1407862"/>
            <a:ext cx="10601325" cy="1439177"/>
          </a:xfrm>
          <a:prstGeom prst="rect">
            <a:avLst/>
          </a:prstGeom>
          <a:noFill/>
        </p:spPr>
        <p:txBody>
          <a:bodyPr wrap="square">
            <a:spAutoFit/>
          </a:bodyPr>
          <a:lstStyle/>
          <a:p>
            <a:pPr>
              <a:lnSpc>
                <a:spcPct val="150000"/>
              </a:lnSpc>
              <a:spcAft>
                <a:spcPts val="800"/>
              </a:spcAft>
              <a:buNone/>
            </a:pPr>
            <a:r>
              <a:rPr sz="1800" b="0" dirty="0">
                <a:solidFill>
                  <a:srgbClr val="000000"/>
                </a:solidFill>
                <a:latin typeface="맑은 고딕"/>
              </a:rPr>
              <a:t>• B 가 √n </a:t>
            </a:r>
            <a:r>
              <a:rPr sz="1800" b="0" dirty="0" err="1">
                <a:solidFill>
                  <a:srgbClr val="000000"/>
                </a:solidFill>
                <a:latin typeface="맑은 고딕"/>
              </a:rPr>
              <a:t>보다</a:t>
            </a:r>
            <a:r>
              <a:rPr sz="1800" b="0" dirty="0">
                <a:solidFill>
                  <a:srgbClr val="000000"/>
                </a:solidFill>
                <a:latin typeface="맑은 고딕"/>
              </a:rPr>
              <a:t> </a:t>
            </a:r>
            <a:r>
              <a:rPr sz="1800" b="0" dirty="0" err="1">
                <a:solidFill>
                  <a:srgbClr val="000000"/>
                </a:solidFill>
                <a:latin typeface="맑은 고딕"/>
              </a:rPr>
              <a:t>점근적으로</a:t>
            </a:r>
            <a:r>
              <a:rPr sz="1800" b="0" dirty="0">
                <a:solidFill>
                  <a:srgbClr val="000000"/>
                </a:solidFill>
                <a:latin typeface="맑은 고딕"/>
              </a:rPr>
              <a:t> </a:t>
            </a:r>
            <a:r>
              <a:rPr sz="1800" b="0" dirty="0" err="1">
                <a:solidFill>
                  <a:srgbClr val="000000"/>
                </a:solidFill>
                <a:latin typeface="맑은 고딕"/>
              </a:rPr>
              <a:t>작을</a:t>
            </a:r>
            <a:r>
              <a:rPr sz="1800" b="0" dirty="0">
                <a:solidFill>
                  <a:srgbClr val="000000"/>
                </a:solidFill>
                <a:latin typeface="맑은 고딕"/>
              </a:rPr>
              <a:t> 때 (Arora-Ge </a:t>
            </a:r>
            <a:r>
              <a:rPr sz="1800" b="0" dirty="0" err="1">
                <a:solidFill>
                  <a:srgbClr val="000000"/>
                </a:solidFill>
                <a:latin typeface="맑은 고딕"/>
              </a:rPr>
              <a:t>공격</a:t>
            </a:r>
            <a:r>
              <a:rPr sz="1800" b="0" dirty="0">
                <a:solidFill>
                  <a:srgbClr val="000000"/>
                </a:solidFill>
                <a:latin typeface="맑은 고딕"/>
              </a:rPr>
              <a:t>)</a:t>
            </a:r>
          </a:p>
          <a:p>
            <a:pPr>
              <a:lnSpc>
                <a:spcPct val="150000"/>
              </a:lnSpc>
              <a:spcAft>
                <a:spcPts val="400"/>
              </a:spcAft>
              <a:buNone/>
            </a:pPr>
            <a:r>
              <a:rPr sz="1800" b="0" dirty="0">
                <a:solidFill>
                  <a:srgbClr val="000000"/>
                </a:solidFill>
                <a:latin typeface="맑은 고딕"/>
              </a:rPr>
              <a:t>• m ≫ n </a:t>
            </a:r>
            <a:r>
              <a:rPr sz="1800" b="0" dirty="0" err="1">
                <a:solidFill>
                  <a:srgbClr val="000000"/>
                </a:solidFill>
                <a:latin typeface="맑은 고딕"/>
              </a:rPr>
              <a:t>이면</a:t>
            </a:r>
            <a:r>
              <a:rPr sz="1800" b="0" dirty="0">
                <a:solidFill>
                  <a:srgbClr val="000000"/>
                </a:solidFill>
                <a:latin typeface="맑은 고딕"/>
              </a:rPr>
              <a:t> </a:t>
            </a:r>
            <a:r>
              <a:rPr sz="1800" b="0" dirty="0" err="1">
                <a:solidFill>
                  <a:srgbClr val="000000"/>
                </a:solidFill>
                <a:latin typeface="맑은 고딕"/>
              </a:rPr>
              <a:t>준지수</a:t>
            </a:r>
            <a:r>
              <a:rPr sz="1800" b="0" dirty="0">
                <a:solidFill>
                  <a:srgbClr val="000000"/>
                </a:solidFill>
                <a:latin typeface="맑은 고딕"/>
              </a:rPr>
              <a:t> </a:t>
            </a:r>
            <a:r>
              <a:rPr sz="1800" b="0" dirty="0" err="1">
                <a:solidFill>
                  <a:srgbClr val="000000"/>
                </a:solidFill>
                <a:latin typeface="맑은 고딕"/>
              </a:rPr>
              <a:t>시간</a:t>
            </a:r>
            <a:r>
              <a:rPr sz="1800" b="0" dirty="0">
                <a:solidFill>
                  <a:srgbClr val="000000"/>
                </a:solidFill>
                <a:latin typeface="맑은 고딕"/>
              </a:rPr>
              <a:t>(</a:t>
            </a:r>
            <a:r>
              <a:rPr sz="1800" b="0" dirty="0" err="1">
                <a:solidFill>
                  <a:srgbClr val="000000"/>
                </a:solidFill>
                <a:latin typeface="맑은 고딕"/>
              </a:rPr>
              <a:t>subexponential</a:t>
            </a:r>
            <a:r>
              <a:rPr sz="1800" b="0" dirty="0">
                <a:solidFill>
                  <a:srgbClr val="000000"/>
                </a:solidFill>
                <a:latin typeface="맑은 고딕"/>
              </a:rPr>
              <a:t> time)에 </a:t>
            </a:r>
            <a:r>
              <a:rPr sz="1800" b="0" dirty="0" err="1">
                <a:solidFill>
                  <a:srgbClr val="000000"/>
                </a:solidFill>
                <a:latin typeface="맑은 고딕"/>
              </a:rPr>
              <a:t>풀림</a:t>
            </a:r>
            <a:endParaRPr sz="1800" b="0" dirty="0">
              <a:solidFill>
                <a:srgbClr val="000000"/>
              </a:solidFill>
              <a:latin typeface="맑은 고딕"/>
            </a:endParaRPr>
          </a:p>
          <a:p>
            <a:pPr>
              <a:lnSpc>
                <a:spcPct val="150000"/>
              </a:lnSpc>
              <a:spcAft>
                <a:spcPts val="400"/>
              </a:spcAft>
              <a:buNone/>
            </a:pPr>
            <a:r>
              <a:rPr sz="1800" b="0" dirty="0">
                <a:solidFill>
                  <a:srgbClr val="000000"/>
                </a:solidFill>
                <a:latin typeface="맑은 고딕"/>
              </a:rPr>
              <a:t>• </a:t>
            </a:r>
            <a:r>
              <a:rPr sz="1800" b="0" dirty="0" err="1">
                <a:solidFill>
                  <a:srgbClr val="000000"/>
                </a:solidFill>
                <a:latin typeface="맑은 고딕"/>
              </a:rPr>
              <a:t>B가</a:t>
            </a:r>
            <a:r>
              <a:rPr sz="1800" b="0" dirty="0">
                <a:solidFill>
                  <a:srgbClr val="000000"/>
                </a:solidFill>
                <a:latin typeface="맑은 고딕"/>
              </a:rPr>
              <a:t> </a:t>
            </a:r>
            <a:r>
              <a:rPr sz="1800" b="0" dirty="0" err="1">
                <a:solidFill>
                  <a:srgbClr val="000000"/>
                </a:solidFill>
                <a:latin typeface="맑은 고딕"/>
              </a:rPr>
              <a:t>작을수록</a:t>
            </a:r>
            <a:r>
              <a:rPr sz="1800" b="0" dirty="0">
                <a:solidFill>
                  <a:srgbClr val="000000"/>
                </a:solidFill>
                <a:latin typeface="맑은 고딕"/>
              </a:rPr>
              <a:t> </a:t>
            </a:r>
            <a:r>
              <a:rPr sz="1800" b="0" dirty="0" err="1">
                <a:solidFill>
                  <a:srgbClr val="000000"/>
                </a:solidFill>
                <a:latin typeface="맑은 고딕"/>
              </a:rPr>
              <a:t>안전한</a:t>
            </a:r>
            <a:r>
              <a:rPr sz="1800" b="0" dirty="0">
                <a:solidFill>
                  <a:srgbClr val="000000"/>
                </a:solidFill>
                <a:latin typeface="맑은 고딕"/>
              </a:rPr>
              <a:t> 게 </a:t>
            </a:r>
            <a:r>
              <a:rPr sz="1800" b="0" dirty="0" err="1">
                <a:solidFill>
                  <a:srgbClr val="000000"/>
                </a:solidFill>
                <a:latin typeface="맑은 고딕"/>
              </a:rPr>
              <a:t>아니라</a:t>
            </a:r>
            <a:r>
              <a:rPr sz="1800" b="0" dirty="0">
                <a:solidFill>
                  <a:srgbClr val="000000"/>
                </a:solidFill>
                <a:latin typeface="맑은 고딕"/>
              </a:rPr>
              <a:t>, </a:t>
            </a:r>
            <a:r>
              <a:rPr sz="1800" b="0" dirty="0" err="1">
                <a:solidFill>
                  <a:srgbClr val="000000"/>
                </a:solidFill>
                <a:latin typeface="맑은 고딕"/>
              </a:rPr>
              <a:t>n에</a:t>
            </a:r>
            <a:r>
              <a:rPr sz="1800" b="0" dirty="0">
                <a:solidFill>
                  <a:srgbClr val="000000"/>
                </a:solidFill>
                <a:latin typeface="맑은 고딕"/>
              </a:rPr>
              <a:t> </a:t>
            </a:r>
            <a:r>
              <a:rPr sz="1800" b="0" dirty="0" err="1">
                <a:solidFill>
                  <a:srgbClr val="000000"/>
                </a:solidFill>
                <a:latin typeface="맑은 고딕"/>
              </a:rPr>
              <a:t>비해</a:t>
            </a:r>
            <a:r>
              <a:rPr sz="1800" b="0" dirty="0">
                <a:solidFill>
                  <a:srgbClr val="000000"/>
                </a:solidFill>
                <a:latin typeface="맑은 고딕"/>
              </a:rPr>
              <a:t> </a:t>
            </a:r>
            <a:r>
              <a:rPr sz="1800" b="0" dirty="0" err="1">
                <a:solidFill>
                  <a:srgbClr val="000000"/>
                </a:solidFill>
                <a:latin typeface="맑은 고딕"/>
              </a:rPr>
              <a:t>지나치게</a:t>
            </a:r>
            <a:r>
              <a:rPr sz="1800" b="0" dirty="0">
                <a:solidFill>
                  <a:srgbClr val="000000"/>
                </a:solidFill>
                <a:latin typeface="맑은 고딕"/>
              </a:rPr>
              <a:t> </a:t>
            </a:r>
            <a:r>
              <a:rPr sz="1800" b="0" dirty="0" err="1">
                <a:solidFill>
                  <a:srgbClr val="000000"/>
                </a:solidFill>
                <a:latin typeface="맑은 고딕"/>
              </a:rPr>
              <a:t>작으면</a:t>
            </a:r>
            <a:r>
              <a:rPr sz="1800" b="0" dirty="0">
                <a:solidFill>
                  <a:srgbClr val="000000"/>
                </a:solidFill>
                <a:latin typeface="맑은 고딕"/>
              </a:rPr>
              <a:t> </a:t>
            </a:r>
            <a:r>
              <a:rPr sz="1800" b="0" dirty="0" err="1">
                <a:solidFill>
                  <a:srgbClr val="000000"/>
                </a:solidFill>
                <a:latin typeface="맑은 고딕"/>
              </a:rPr>
              <a:t>오히려</a:t>
            </a:r>
            <a:r>
              <a:rPr sz="1800" b="0" dirty="0">
                <a:solidFill>
                  <a:srgbClr val="000000"/>
                </a:solidFill>
                <a:latin typeface="맑은 고딕"/>
              </a:rPr>
              <a:t> </a:t>
            </a:r>
            <a:r>
              <a:rPr sz="1800" b="0" dirty="0" err="1">
                <a:solidFill>
                  <a:srgbClr val="000000"/>
                </a:solidFill>
                <a:latin typeface="맑은 고딕"/>
              </a:rPr>
              <a:t>취약</a:t>
            </a:r>
            <a:endParaRPr sz="1800" b="0" dirty="0">
              <a:solidFill>
                <a:srgbClr val="000000"/>
              </a:solidFill>
              <a:latin typeface="맑은 고딕"/>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CD661-DFE0-96AC-49C2-9652A66AD63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CBBFABBB-DE4B-B55B-EBE9-706519067F5B}"/>
              </a:ext>
            </a:extLst>
          </p:cNvPr>
          <p:cNvSpPr>
            <a:spLocks noGrp="1"/>
          </p:cNvSpPr>
          <p:nvPr>
            <p:ph type="title"/>
          </p:nvPr>
        </p:nvSpPr>
        <p:spPr/>
        <p:txBody>
          <a:bodyPr/>
          <a:lstStyle/>
          <a:p>
            <a:r>
              <a:rPr lang="ko-KR" altLang="en-US" sz="2800" b="1" dirty="0">
                <a:solidFill>
                  <a:srgbClr val="000000"/>
                </a:solidFill>
                <a:latin typeface="맑은 고딕"/>
              </a:rPr>
              <a:t>해의 유일성</a:t>
            </a:r>
          </a:p>
        </p:txBody>
      </p:sp>
      <p:sp>
        <p:nvSpPr>
          <p:cNvPr id="3" name="내용 개체 틀 2">
            <a:extLst>
              <a:ext uri="{FF2B5EF4-FFF2-40B4-BE49-F238E27FC236}">
                <a16:creationId xmlns:a16="http://schemas.microsoft.com/office/drawing/2014/main" id="{4E17CCB6-85DF-96A7-E047-FF609DDC38A4}"/>
              </a:ext>
            </a:extLst>
          </p:cNvPr>
          <p:cNvSpPr>
            <a:spLocks noGrp="1"/>
          </p:cNvSpPr>
          <p:nvPr>
            <p:ph idx="1"/>
          </p:nvPr>
        </p:nvSpPr>
        <p:spPr>
          <a:xfrm>
            <a:off x="838200" y="3602130"/>
            <a:ext cx="10515600" cy="2627219"/>
          </a:xfrm>
        </p:spPr>
        <p:txBody>
          <a:bodyPr wrap="square">
            <a:noAutofit/>
          </a:bodyPr>
          <a:lstStyle/>
          <a:p>
            <a:pPr>
              <a:spcAft>
                <a:spcPts val="800"/>
              </a:spcAft>
              <a:buFont typeface="Arial"/>
              <a:buChar char="•"/>
            </a:pPr>
            <a:r>
              <a:rPr sz="1800" b="0" dirty="0">
                <a:solidFill>
                  <a:srgbClr val="000000"/>
                </a:solidFill>
                <a:latin typeface="맑은 고딕"/>
              </a:rPr>
              <a:t>s ↦ As mod q : </a:t>
            </a:r>
            <a:r>
              <a:rPr sz="1800" b="0" dirty="0" err="1">
                <a:solidFill>
                  <a:srgbClr val="000000"/>
                </a:solidFill>
                <a:latin typeface="맑은 고딕"/>
              </a:rPr>
              <a:t>ℤ_q^n</a:t>
            </a:r>
            <a:r>
              <a:rPr sz="1800" b="0" dirty="0">
                <a:solidFill>
                  <a:srgbClr val="000000"/>
                </a:solidFill>
                <a:latin typeface="맑은 고딕"/>
              </a:rPr>
              <a:t> → </a:t>
            </a:r>
            <a:r>
              <a:rPr sz="1800" b="0" dirty="0" err="1">
                <a:solidFill>
                  <a:srgbClr val="000000"/>
                </a:solidFill>
                <a:latin typeface="맑은 고딕"/>
              </a:rPr>
              <a:t>ℤ_q^m</a:t>
            </a:r>
            <a:endParaRPr sz="1800" b="0" dirty="0">
              <a:solidFill>
                <a:srgbClr val="000000"/>
              </a:solidFill>
              <a:latin typeface="맑은 고딕"/>
            </a:endParaRPr>
          </a:p>
          <a:p>
            <a:pPr>
              <a:buFont typeface="Arial"/>
              <a:buChar char="•"/>
            </a:pPr>
            <a:r>
              <a:rPr sz="1800" b="0" dirty="0">
                <a:solidFill>
                  <a:srgbClr val="000000"/>
                </a:solidFill>
                <a:latin typeface="맑은 고딕"/>
              </a:rPr>
              <a:t>각 </a:t>
            </a:r>
            <a:r>
              <a:rPr sz="1800" b="0" dirty="0" err="1">
                <a:solidFill>
                  <a:srgbClr val="000000"/>
                </a:solidFill>
                <a:latin typeface="맑은 고딕"/>
              </a:rPr>
              <a:t>후보</a:t>
            </a:r>
            <a:r>
              <a:rPr sz="1800" b="0" dirty="0">
                <a:solidFill>
                  <a:srgbClr val="000000"/>
                </a:solidFill>
                <a:latin typeface="맑은 고딕"/>
              </a:rPr>
              <a:t> </a:t>
            </a:r>
            <a:r>
              <a:rPr sz="1800" b="0" dirty="0" err="1">
                <a:solidFill>
                  <a:srgbClr val="000000"/>
                </a:solidFill>
                <a:latin typeface="맑은 고딕"/>
              </a:rPr>
              <a:t>s에</a:t>
            </a:r>
            <a:r>
              <a:rPr sz="1800" b="0" dirty="0">
                <a:solidFill>
                  <a:srgbClr val="000000"/>
                </a:solidFill>
                <a:latin typeface="맑은 고딕"/>
              </a:rPr>
              <a:t> </a:t>
            </a:r>
            <a:r>
              <a:rPr sz="1800" b="0" dirty="0" err="1">
                <a:solidFill>
                  <a:srgbClr val="000000"/>
                </a:solidFill>
                <a:latin typeface="맑은 고딕"/>
              </a:rPr>
              <a:t>대해</a:t>
            </a:r>
            <a:r>
              <a:rPr sz="1800" b="0" dirty="0">
                <a:solidFill>
                  <a:srgbClr val="000000"/>
                </a:solidFill>
                <a:latin typeface="맑은 고딕"/>
              </a:rPr>
              <a:t> </a:t>
            </a:r>
            <a:r>
              <a:rPr sz="1800" b="0" dirty="0" err="1">
                <a:solidFill>
                  <a:srgbClr val="000000"/>
                </a:solidFill>
                <a:latin typeface="맑은 고딕"/>
              </a:rPr>
              <a:t>실제</a:t>
            </a:r>
            <a:r>
              <a:rPr sz="1800" b="0" dirty="0">
                <a:solidFill>
                  <a:srgbClr val="000000"/>
                </a:solidFill>
                <a:latin typeface="맑은 고딕"/>
              </a:rPr>
              <a:t> </a:t>
            </a:r>
            <a:r>
              <a:rPr sz="1800" b="0" dirty="0" err="1">
                <a:solidFill>
                  <a:srgbClr val="000000"/>
                </a:solidFill>
                <a:latin typeface="맑은 고딕"/>
              </a:rPr>
              <a:t>관측값</a:t>
            </a:r>
            <a:r>
              <a:rPr sz="1800" b="0" dirty="0">
                <a:solidFill>
                  <a:srgbClr val="000000"/>
                </a:solidFill>
                <a:latin typeface="맑은 고딕"/>
              </a:rPr>
              <a:t> b=</a:t>
            </a:r>
            <a:r>
              <a:rPr sz="1800" b="0" dirty="0" err="1">
                <a:solidFill>
                  <a:srgbClr val="000000"/>
                </a:solidFill>
                <a:latin typeface="맑은 고딕"/>
              </a:rPr>
              <a:t>As+e는</a:t>
            </a:r>
            <a:r>
              <a:rPr sz="1800" b="0" dirty="0">
                <a:solidFill>
                  <a:srgbClr val="000000"/>
                </a:solidFill>
                <a:latin typeface="맑은 고딕"/>
              </a:rPr>
              <a:t> </a:t>
            </a:r>
            <a:r>
              <a:rPr sz="1800" b="0" dirty="0" err="1">
                <a:solidFill>
                  <a:srgbClr val="000000"/>
                </a:solidFill>
                <a:latin typeface="맑은 고딕"/>
              </a:rPr>
              <a:t>As를</a:t>
            </a:r>
            <a:r>
              <a:rPr sz="1800" b="0" dirty="0">
                <a:solidFill>
                  <a:srgbClr val="000000"/>
                </a:solidFill>
                <a:latin typeface="맑은 고딕"/>
              </a:rPr>
              <a:t> </a:t>
            </a:r>
            <a:r>
              <a:rPr sz="1800" b="0" dirty="0" err="1">
                <a:solidFill>
                  <a:srgbClr val="000000"/>
                </a:solidFill>
                <a:latin typeface="맑은 고딕"/>
              </a:rPr>
              <a:t>중심으로</a:t>
            </a:r>
            <a:r>
              <a:rPr sz="1800" b="0" dirty="0">
                <a:solidFill>
                  <a:srgbClr val="000000"/>
                </a:solidFill>
                <a:latin typeface="맑은 고딕"/>
              </a:rPr>
              <a:t> </a:t>
            </a:r>
            <a:r>
              <a:rPr sz="1800" b="0" dirty="0" err="1">
                <a:solidFill>
                  <a:srgbClr val="000000"/>
                </a:solidFill>
                <a:latin typeface="맑은 고딕"/>
              </a:rPr>
              <a:t>반지름</a:t>
            </a:r>
            <a:r>
              <a:rPr sz="1800" b="0" dirty="0">
                <a:solidFill>
                  <a:srgbClr val="000000"/>
                </a:solidFill>
                <a:latin typeface="맑은 고딕"/>
              </a:rPr>
              <a:t> </a:t>
            </a:r>
            <a:r>
              <a:rPr sz="1800" b="0" dirty="0" err="1">
                <a:solidFill>
                  <a:srgbClr val="000000"/>
                </a:solidFill>
                <a:latin typeface="맑은 고딕"/>
              </a:rPr>
              <a:t>B인</a:t>
            </a:r>
            <a:r>
              <a:rPr sz="1800" b="0" dirty="0">
                <a:solidFill>
                  <a:srgbClr val="000000"/>
                </a:solidFill>
                <a:latin typeface="맑은 고딕"/>
              </a:rPr>
              <a:t> "</a:t>
            </a:r>
            <a:r>
              <a:rPr sz="1800" b="0" dirty="0" err="1">
                <a:solidFill>
                  <a:srgbClr val="000000"/>
                </a:solidFill>
                <a:latin typeface="맑은 고딕"/>
              </a:rPr>
              <a:t>잡음</a:t>
            </a:r>
            <a:r>
              <a:rPr sz="1800" b="0" dirty="0">
                <a:solidFill>
                  <a:srgbClr val="000000"/>
                </a:solidFill>
                <a:latin typeface="맑은 고딕"/>
              </a:rPr>
              <a:t> 구" </a:t>
            </a:r>
            <a:r>
              <a:rPr sz="1800" b="0" dirty="0" err="1">
                <a:solidFill>
                  <a:srgbClr val="000000"/>
                </a:solidFill>
                <a:latin typeface="맑은 고딕"/>
              </a:rPr>
              <a:t>안에</a:t>
            </a:r>
            <a:r>
              <a:rPr sz="1800" b="0" dirty="0">
                <a:solidFill>
                  <a:srgbClr val="000000"/>
                </a:solidFill>
                <a:latin typeface="맑은 고딕"/>
              </a:rPr>
              <a:t> </a:t>
            </a:r>
            <a:r>
              <a:rPr sz="1800" b="0" dirty="0" err="1">
                <a:solidFill>
                  <a:srgbClr val="000000"/>
                </a:solidFill>
                <a:latin typeface="맑은 고딕"/>
              </a:rPr>
              <a:t>위치</a:t>
            </a:r>
            <a:endParaRPr sz="1800" b="0" dirty="0">
              <a:solidFill>
                <a:srgbClr val="000000"/>
              </a:solidFill>
              <a:latin typeface="맑은 고딕"/>
            </a:endParaRPr>
          </a:p>
          <a:p>
            <a:pPr lvl="1">
              <a:buFont typeface="Arial"/>
              <a:buChar char="•"/>
            </a:pPr>
            <a:r>
              <a:rPr b="0" dirty="0">
                <a:solidFill>
                  <a:srgbClr val="000000"/>
                </a:solidFill>
                <a:latin typeface="맑은 고딕"/>
              </a:rPr>
              <a:t>T_s = {</a:t>
            </a:r>
            <a:r>
              <a:rPr b="0" dirty="0" err="1">
                <a:solidFill>
                  <a:srgbClr val="000000"/>
                </a:solidFill>
                <a:latin typeface="맑은 고딕"/>
              </a:rPr>
              <a:t>As+e</a:t>
            </a:r>
            <a:r>
              <a:rPr b="0" dirty="0">
                <a:solidFill>
                  <a:srgbClr val="000000"/>
                </a:solidFill>
                <a:latin typeface="맑은 고딕"/>
              </a:rPr>
              <a:t> mod q : e∈[−B,B]^m},  |T_s| = (2B+1)^m</a:t>
            </a:r>
          </a:p>
          <a:p>
            <a:pPr>
              <a:buFont typeface="Arial"/>
              <a:buChar char="•"/>
            </a:pPr>
            <a:r>
              <a:rPr sz="1800" b="0" dirty="0" err="1">
                <a:solidFill>
                  <a:srgbClr val="000000"/>
                </a:solidFill>
                <a:latin typeface="맑은 고딕"/>
              </a:rPr>
              <a:t>서로</a:t>
            </a:r>
            <a:r>
              <a:rPr sz="1800" b="0" dirty="0">
                <a:solidFill>
                  <a:srgbClr val="000000"/>
                </a:solidFill>
                <a:latin typeface="맑은 고딕"/>
              </a:rPr>
              <a:t> </a:t>
            </a:r>
            <a:r>
              <a:rPr sz="1800" b="0" dirty="0" err="1">
                <a:solidFill>
                  <a:srgbClr val="000000"/>
                </a:solidFill>
                <a:latin typeface="맑은 고딕"/>
              </a:rPr>
              <a:t>다른</a:t>
            </a:r>
            <a:r>
              <a:rPr sz="1800" b="0" dirty="0">
                <a:solidFill>
                  <a:srgbClr val="000000"/>
                </a:solidFill>
                <a:latin typeface="맑은 고딕"/>
              </a:rPr>
              <a:t> T_{s1}, T_{s2}가 </a:t>
            </a:r>
            <a:r>
              <a:rPr sz="1800" b="0" dirty="0" err="1">
                <a:solidFill>
                  <a:srgbClr val="000000"/>
                </a:solidFill>
                <a:latin typeface="맑은 고딕"/>
              </a:rPr>
              <a:t>겹치지</a:t>
            </a:r>
            <a:r>
              <a:rPr sz="1800" b="0" dirty="0">
                <a:solidFill>
                  <a:srgbClr val="000000"/>
                </a:solidFill>
                <a:latin typeface="맑은 고딕"/>
              </a:rPr>
              <a:t> </a:t>
            </a:r>
            <a:r>
              <a:rPr sz="1800" b="0" dirty="0" err="1">
                <a:solidFill>
                  <a:srgbClr val="000000"/>
                </a:solidFill>
                <a:latin typeface="맑은 고딕"/>
              </a:rPr>
              <a:t>않으면</a:t>
            </a:r>
            <a:r>
              <a:rPr sz="1800" b="0" dirty="0">
                <a:solidFill>
                  <a:srgbClr val="000000"/>
                </a:solidFill>
                <a:latin typeface="맑은 고딕"/>
              </a:rPr>
              <a:t> </a:t>
            </a:r>
            <a:r>
              <a:rPr sz="1800" b="0" dirty="0" err="1">
                <a:solidFill>
                  <a:srgbClr val="000000"/>
                </a:solidFill>
                <a:latin typeface="맑은 고딕"/>
              </a:rPr>
              <a:t>b로부터</a:t>
            </a:r>
            <a:r>
              <a:rPr sz="1800" b="0" dirty="0">
                <a:solidFill>
                  <a:srgbClr val="000000"/>
                </a:solidFill>
                <a:latin typeface="맑은 고딕"/>
              </a:rPr>
              <a:t> </a:t>
            </a:r>
            <a:r>
              <a:rPr sz="1800" b="0" dirty="0" err="1">
                <a:solidFill>
                  <a:srgbClr val="000000"/>
                </a:solidFill>
                <a:latin typeface="맑은 고딕"/>
              </a:rPr>
              <a:t>유일한</a:t>
            </a:r>
            <a:r>
              <a:rPr sz="1800" b="0" dirty="0">
                <a:solidFill>
                  <a:srgbClr val="000000"/>
                </a:solidFill>
                <a:latin typeface="맑은 고딕"/>
              </a:rPr>
              <a:t> </a:t>
            </a:r>
            <a:r>
              <a:rPr sz="1800" b="0" dirty="0" err="1">
                <a:solidFill>
                  <a:srgbClr val="000000"/>
                </a:solidFill>
                <a:latin typeface="맑은 고딕"/>
              </a:rPr>
              <a:t>s를</a:t>
            </a:r>
            <a:r>
              <a:rPr sz="1800" b="0" dirty="0">
                <a:solidFill>
                  <a:srgbClr val="000000"/>
                </a:solidFill>
                <a:latin typeface="맑은 고딕"/>
              </a:rPr>
              <a:t> </a:t>
            </a:r>
            <a:r>
              <a:rPr sz="1800" b="0" dirty="0" err="1">
                <a:solidFill>
                  <a:srgbClr val="000000"/>
                </a:solidFill>
                <a:latin typeface="맑은 고딕"/>
              </a:rPr>
              <a:t>특정</a:t>
            </a:r>
            <a:r>
              <a:rPr sz="1800" b="0" dirty="0">
                <a:solidFill>
                  <a:srgbClr val="000000"/>
                </a:solidFill>
                <a:latin typeface="맑은 고딕"/>
              </a:rPr>
              <a:t> </a:t>
            </a:r>
            <a:r>
              <a:rPr sz="1800" b="0" dirty="0" err="1">
                <a:solidFill>
                  <a:srgbClr val="000000"/>
                </a:solidFill>
                <a:latin typeface="맑은 고딕"/>
              </a:rPr>
              <a:t>가능</a:t>
            </a:r>
            <a:r>
              <a:rPr sz="1800" b="0" dirty="0">
                <a:solidFill>
                  <a:srgbClr val="000000"/>
                </a:solidFill>
                <a:latin typeface="맑은 고딕"/>
              </a:rPr>
              <a:t> (</a:t>
            </a:r>
            <a:r>
              <a:rPr sz="1800" b="0" dirty="0" err="1">
                <a:solidFill>
                  <a:srgbClr val="000000"/>
                </a:solidFill>
                <a:latin typeface="맑은 고딕"/>
              </a:rPr>
              <a:t>겹치면</a:t>
            </a:r>
            <a:r>
              <a:rPr sz="1800" b="0" dirty="0">
                <a:solidFill>
                  <a:srgbClr val="000000"/>
                </a:solidFill>
                <a:latin typeface="맑은 고딕"/>
              </a:rPr>
              <a:t> </a:t>
            </a:r>
            <a:r>
              <a:rPr sz="1800" b="0" dirty="0" err="1">
                <a:solidFill>
                  <a:srgbClr val="000000"/>
                </a:solidFill>
                <a:latin typeface="맑은 고딕"/>
              </a:rPr>
              <a:t>다중해</a:t>
            </a:r>
            <a:r>
              <a:rPr sz="1800" b="0" dirty="0">
                <a:solidFill>
                  <a:srgbClr val="000000"/>
                </a:solidFill>
                <a:latin typeface="맑은 고딕"/>
              </a:rPr>
              <a:t>)</a:t>
            </a:r>
          </a:p>
        </p:txBody>
      </p:sp>
      <p:sp>
        <p:nvSpPr>
          <p:cNvPr id="4" name="슬라이드 번호 개체 틀 3">
            <a:extLst>
              <a:ext uri="{FF2B5EF4-FFF2-40B4-BE49-F238E27FC236}">
                <a16:creationId xmlns:a16="http://schemas.microsoft.com/office/drawing/2014/main" id="{21B21D9E-350D-A4A8-5A86-4B12EFF617D9}"/>
              </a:ext>
            </a:extLst>
          </p:cNvPr>
          <p:cNvSpPr>
            <a:spLocks noGrp="1"/>
          </p:cNvSpPr>
          <p:nvPr>
            <p:ph type="sldNum" sz="quarter" idx="12"/>
          </p:nvPr>
        </p:nvSpPr>
        <p:spPr/>
        <p:txBody>
          <a:bodyPr/>
          <a:lstStyle/>
          <a:p>
            <a:fld id="{4438A2D4-3867-488E-A04E-7BFFCAED45A6}" type="slidenum">
              <a:rPr lang="ko-KR" altLang="en-US" smtClean="0"/>
              <a:t>23</a:t>
            </a:fld>
            <a:endParaRPr lang="ko-KR" altLang="en-US"/>
          </a:p>
        </p:txBody>
      </p:sp>
      <p:sp>
        <p:nvSpPr>
          <p:cNvPr id="20" name="Rounded Rectangle 5">
            <a:extLst>
              <a:ext uri="{FF2B5EF4-FFF2-40B4-BE49-F238E27FC236}">
                <a16:creationId xmlns:a16="http://schemas.microsoft.com/office/drawing/2014/main" id="{099458C3-75D3-042A-732B-58CF76A5FB4B}"/>
              </a:ext>
            </a:extLst>
          </p:cNvPr>
          <p:cNvSpPr/>
          <p:nvPr/>
        </p:nvSpPr>
        <p:spPr>
          <a:xfrm>
            <a:off x="914400" y="1194338"/>
            <a:ext cx="10332720" cy="2103120"/>
          </a:xfrm>
          <a:prstGeom prst="roundRect">
            <a:avLst/>
          </a:prstGeom>
          <a:solidFill>
            <a:srgbClr val="F4F5F7"/>
          </a:solidFill>
          <a:ln>
            <a:solidFill>
              <a:srgbClr val="C7CB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endParaRPr/>
          </a:p>
        </p:txBody>
      </p:sp>
      <p:sp>
        <p:nvSpPr>
          <p:cNvPr id="21" name="Oval 6">
            <a:extLst>
              <a:ext uri="{FF2B5EF4-FFF2-40B4-BE49-F238E27FC236}">
                <a16:creationId xmlns:a16="http://schemas.microsoft.com/office/drawing/2014/main" id="{14F9F808-3615-3022-71AE-834E4B24E00C}"/>
              </a:ext>
            </a:extLst>
          </p:cNvPr>
          <p:cNvSpPr/>
          <p:nvPr/>
        </p:nvSpPr>
        <p:spPr>
          <a:xfrm>
            <a:off x="1097280" y="1605818"/>
            <a:ext cx="768096" cy="768096"/>
          </a:xfrm>
          <a:prstGeom prst="ellipse">
            <a:avLst/>
          </a:prstGeom>
          <a:noFill/>
          <a:ln w="22225">
            <a:solidFill>
              <a:srgbClr val="B886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7">
            <a:extLst>
              <a:ext uri="{FF2B5EF4-FFF2-40B4-BE49-F238E27FC236}">
                <a16:creationId xmlns:a16="http://schemas.microsoft.com/office/drawing/2014/main" id="{25611AA1-A80F-2C14-DD83-DD26E2094350}"/>
              </a:ext>
            </a:extLst>
          </p:cNvPr>
          <p:cNvSpPr/>
          <p:nvPr/>
        </p:nvSpPr>
        <p:spPr>
          <a:xfrm>
            <a:off x="1440180" y="1948718"/>
            <a:ext cx="82296" cy="82296"/>
          </a:xfrm>
          <a:prstGeom prst="ellipse">
            <a:avLst/>
          </a:prstGeom>
          <a:solidFill>
            <a:srgbClr val="B3361E"/>
          </a:solidFill>
          <a:ln>
            <a:solidFill>
              <a:srgbClr val="B33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BECD364C-EFC9-3C68-A21F-8EEA96B8AA40}"/>
              </a:ext>
            </a:extLst>
          </p:cNvPr>
          <p:cNvSpPr txBox="1"/>
          <p:nvPr/>
        </p:nvSpPr>
        <p:spPr>
          <a:xfrm>
            <a:off x="978407" y="1294921"/>
            <a:ext cx="1005840" cy="274320"/>
          </a:xfrm>
          <a:prstGeom prst="rect">
            <a:avLst/>
          </a:prstGeom>
          <a:noFill/>
        </p:spPr>
        <p:txBody>
          <a:bodyPr wrap="square" lIns="0" tIns="0" rIns="0" bIns="0" anchor="t">
            <a:spAutoFit/>
          </a:bodyPr>
          <a:lstStyle/>
          <a:p>
            <a:pPr algn="ctr">
              <a:lnSpc>
                <a:spcPct val="115000"/>
              </a:lnSpc>
            </a:pPr>
            <a:r>
              <a:rPr sz="1300" b="0" i="1">
                <a:solidFill>
                  <a:srgbClr val="000000"/>
                </a:solidFill>
                <a:latin typeface="맑은 고딕"/>
              </a:rPr>
              <a:t>As₁</a:t>
            </a:r>
          </a:p>
        </p:txBody>
      </p:sp>
      <p:sp>
        <p:nvSpPr>
          <p:cNvPr id="24" name="Oval 9">
            <a:extLst>
              <a:ext uri="{FF2B5EF4-FFF2-40B4-BE49-F238E27FC236}">
                <a16:creationId xmlns:a16="http://schemas.microsoft.com/office/drawing/2014/main" id="{94693453-DBFF-A0EC-44FD-798FB62D84C7}"/>
              </a:ext>
            </a:extLst>
          </p:cNvPr>
          <p:cNvSpPr/>
          <p:nvPr/>
        </p:nvSpPr>
        <p:spPr>
          <a:xfrm>
            <a:off x="4163568" y="2117882"/>
            <a:ext cx="768096" cy="768096"/>
          </a:xfrm>
          <a:prstGeom prst="ellipse">
            <a:avLst/>
          </a:prstGeom>
          <a:noFill/>
          <a:ln w="22225">
            <a:solidFill>
              <a:srgbClr val="B886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10">
            <a:extLst>
              <a:ext uri="{FF2B5EF4-FFF2-40B4-BE49-F238E27FC236}">
                <a16:creationId xmlns:a16="http://schemas.microsoft.com/office/drawing/2014/main" id="{A2B799D0-41AF-3DD1-413A-75789A2DE4AF}"/>
              </a:ext>
            </a:extLst>
          </p:cNvPr>
          <p:cNvSpPr/>
          <p:nvPr/>
        </p:nvSpPr>
        <p:spPr>
          <a:xfrm>
            <a:off x="4506468" y="2460782"/>
            <a:ext cx="82296" cy="82296"/>
          </a:xfrm>
          <a:prstGeom prst="ellipse">
            <a:avLst/>
          </a:prstGeom>
          <a:solidFill>
            <a:srgbClr val="B3361E"/>
          </a:solidFill>
          <a:ln>
            <a:solidFill>
              <a:srgbClr val="B33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19209F29-BA20-B4D3-CA95-199AB65354C4}"/>
              </a:ext>
            </a:extLst>
          </p:cNvPr>
          <p:cNvSpPr txBox="1"/>
          <p:nvPr/>
        </p:nvSpPr>
        <p:spPr>
          <a:xfrm>
            <a:off x="4044696" y="1806986"/>
            <a:ext cx="1005840" cy="274320"/>
          </a:xfrm>
          <a:prstGeom prst="rect">
            <a:avLst/>
          </a:prstGeom>
          <a:noFill/>
        </p:spPr>
        <p:txBody>
          <a:bodyPr wrap="square" lIns="0" tIns="0" rIns="0" bIns="0" anchor="t">
            <a:spAutoFit/>
          </a:bodyPr>
          <a:lstStyle/>
          <a:p>
            <a:pPr algn="ctr">
              <a:lnSpc>
                <a:spcPct val="115000"/>
              </a:lnSpc>
            </a:pPr>
            <a:r>
              <a:rPr sz="1300" b="0" i="1">
                <a:solidFill>
                  <a:srgbClr val="000000"/>
                </a:solidFill>
                <a:latin typeface="맑은 고딕"/>
              </a:rPr>
              <a:t>As₂</a:t>
            </a:r>
          </a:p>
        </p:txBody>
      </p:sp>
      <p:sp>
        <p:nvSpPr>
          <p:cNvPr id="27" name="Oval 12">
            <a:extLst>
              <a:ext uri="{FF2B5EF4-FFF2-40B4-BE49-F238E27FC236}">
                <a16:creationId xmlns:a16="http://schemas.microsoft.com/office/drawing/2014/main" id="{372B6601-B057-63FB-74AB-24BBAA0CA675}"/>
              </a:ext>
            </a:extLst>
          </p:cNvPr>
          <p:cNvSpPr/>
          <p:nvPr/>
        </p:nvSpPr>
        <p:spPr>
          <a:xfrm>
            <a:off x="7229856" y="1605818"/>
            <a:ext cx="768096" cy="768096"/>
          </a:xfrm>
          <a:prstGeom prst="ellipse">
            <a:avLst/>
          </a:prstGeom>
          <a:noFill/>
          <a:ln w="22225">
            <a:solidFill>
              <a:srgbClr val="B886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13">
            <a:extLst>
              <a:ext uri="{FF2B5EF4-FFF2-40B4-BE49-F238E27FC236}">
                <a16:creationId xmlns:a16="http://schemas.microsoft.com/office/drawing/2014/main" id="{5D511015-F440-AB77-F764-040974DA0AEC}"/>
              </a:ext>
            </a:extLst>
          </p:cNvPr>
          <p:cNvSpPr/>
          <p:nvPr/>
        </p:nvSpPr>
        <p:spPr>
          <a:xfrm>
            <a:off x="7572756" y="1948718"/>
            <a:ext cx="82296" cy="82296"/>
          </a:xfrm>
          <a:prstGeom prst="ellipse">
            <a:avLst/>
          </a:prstGeom>
          <a:solidFill>
            <a:srgbClr val="B3361E"/>
          </a:solidFill>
          <a:ln>
            <a:solidFill>
              <a:srgbClr val="B33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698AA6E8-D842-4C9B-DA0E-D8D2952853BB}"/>
              </a:ext>
            </a:extLst>
          </p:cNvPr>
          <p:cNvSpPr txBox="1"/>
          <p:nvPr/>
        </p:nvSpPr>
        <p:spPr>
          <a:xfrm>
            <a:off x="7110984" y="1294921"/>
            <a:ext cx="1005840" cy="274320"/>
          </a:xfrm>
          <a:prstGeom prst="rect">
            <a:avLst/>
          </a:prstGeom>
          <a:noFill/>
        </p:spPr>
        <p:txBody>
          <a:bodyPr wrap="square" lIns="0" tIns="0" rIns="0" bIns="0" anchor="t">
            <a:spAutoFit/>
          </a:bodyPr>
          <a:lstStyle/>
          <a:p>
            <a:pPr algn="ctr">
              <a:lnSpc>
                <a:spcPct val="115000"/>
              </a:lnSpc>
            </a:pPr>
            <a:r>
              <a:rPr sz="1300" b="0" i="1">
                <a:solidFill>
                  <a:srgbClr val="000000"/>
                </a:solidFill>
                <a:latin typeface="맑은 고딕"/>
              </a:rPr>
              <a:t>As₃</a:t>
            </a:r>
          </a:p>
        </p:txBody>
      </p:sp>
      <p:sp>
        <p:nvSpPr>
          <p:cNvPr id="30" name="Oval 15">
            <a:extLst>
              <a:ext uri="{FF2B5EF4-FFF2-40B4-BE49-F238E27FC236}">
                <a16:creationId xmlns:a16="http://schemas.microsoft.com/office/drawing/2014/main" id="{A096BA2C-A51E-86A2-4F1D-8F1ECE44CA66}"/>
              </a:ext>
            </a:extLst>
          </p:cNvPr>
          <p:cNvSpPr/>
          <p:nvPr/>
        </p:nvSpPr>
        <p:spPr>
          <a:xfrm>
            <a:off x="10296144" y="2117882"/>
            <a:ext cx="768096" cy="768096"/>
          </a:xfrm>
          <a:prstGeom prst="ellipse">
            <a:avLst/>
          </a:prstGeom>
          <a:noFill/>
          <a:ln w="22225">
            <a:solidFill>
              <a:srgbClr val="B886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16">
            <a:extLst>
              <a:ext uri="{FF2B5EF4-FFF2-40B4-BE49-F238E27FC236}">
                <a16:creationId xmlns:a16="http://schemas.microsoft.com/office/drawing/2014/main" id="{80D32D40-BA0B-8B50-2389-BA50717B492B}"/>
              </a:ext>
            </a:extLst>
          </p:cNvPr>
          <p:cNvSpPr/>
          <p:nvPr/>
        </p:nvSpPr>
        <p:spPr>
          <a:xfrm>
            <a:off x="10639044" y="2460782"/>
            <a:ext cx="82296" cy="82296"/>
          </a:xfrm>
          <a:prstGeom prst="ellipse">
            <a:avLst/>
          </a:prstGeom>
          <a:solidFill>
            <a:srgbClr val="B3361E"/>
          </a:solidFill>
          <a:ln>
            <a:solidFill>
              <a:srgbClr val="B33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0263ABEA-759B-A910-38BC-633F70A230A3}"/>
              </a:ext>
            </a:extLst>
          </p:cNvPr>
          <p:cNvSpPr txBox="1"/>
          <p:nvPr/>
        </p:nvSpPr>
        <p:spPr>
          <a:xfrm>
            <a:off x="10177272" y="1806986"/>
            <a:ext cx="1005840" cy="274320"/>
          </a:xfrm>
          <a:prstGeom prst="rect">
            <a:avLst/>
          </a:prstGeom>
          <a:noFill/>
        </p:spPr>
        <p:txBody>
          <a:bodyPr wrap="square" lIns="0" tIns="0" rIns="0" bIns="0" anchor="t">
            <a:spAutoFit/>
          </a:bodyPr>
          <a:lstStyle/>
          <a:p>
            <a:pPr algn="ctr">
              <a:lnSpc>
                <a:spcPct val="115000"/>
              </a:lnSpc>
            </a:pPr>
            <a:r>
              <a:rPr sz="1300" b="0" i="1">
                <a:solidFill>
                  <a:srgbClr val="000000"/>
                </a:solidFill>
                <a:latin typeface="맑은 고딕"/>
              </a:rPr>
              <a:t>As₄</a:t>
            </a:r>
          </a:p>
        </p:txBody>
      </p:sp>
      <p:sp>
        <p:nvSpPr>
          <p:cNvPr id="33" name="TextBox 32">
            <a:extLst>
              <a:ext uri="{FF2B5EF4-FFF2-40B4-BE49-F238E27FC236}">
                <a16:creationId xmlns:a16="http://schemas.microsoft.com/office/drawing/2014/main" id="{45503A22-CFD7-2CFE-7F50-483FB7F1BF1B}"/>
              </a:ext>
            </a:extLst>
          </p:cNvPr>
          <p:cNvSpPr txBox="1"/>
          <p:nvPr/>
        </p:nvSpPr>
        <p:spPr>
          <a:xfrm>
            <a:off x="1051560" y="2986562"/>
            <a:ext cx="10058400" cy="274320"/>
          </a:xfrm>
          <a:prstGeom prst="rect">
            <a:avLst/>
          </a:prstGeom>
          <a:noFill/>
        </p:spPr>
        <p:txBody>
          <a:bodyPr wrap="square" lIns="0" tIns="0" rIns="0" bIns="0" anchor="t">
            <a:spAutoFit/>
          </a:bodyPr>
          <a:lstStyle/>
          <a:p>
            <a:pPr algn="ctr">
              <a:lnSpc>
                <a:spcPct val="115000"/>
              </a:lnSpc>
              <a:buNone/>
            </a:pPr>
            <a:r>
              <a:rPr sz="1800" b="0" i="0">
                <a:solidFill>
                  <a:srgbClr val="000000"/>
                </a:solidFill>
                <a:latin typeface="맑은 고딕"/>
              </a:rPr>
              <a:t>점선 원 = 잡음 반경 B 안의 후보들 (겹치면 유일성이 깨짐)</a:t>
            </a:r>
          </a:p>
        </p:txBody>
      </p:sp>
    </p:spTree>
    <p:extLst>
      <p:ext uri="{BB962C8B-B14F-4D97-AF65-F5344CB8AC3E}">
        <p14:creationId xmlns:p14="http://schemas.microsoft.com/office/powerpoint/2010/main" val="35617209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15B2A-F89F-7D73-CE52-873275AAF5A2}"/>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90CE4D0D-1F23-102A-E028-E174E65C1E36}"/>
              </a:ext>
            </a:extLst>
          </p:cNvPr>
          <p:cNvSpPr>
            <a:spLocks noGrp="1"/>
          </p:cNvSpPr>
          <p:nvPr>
            <p:ph type="title"/>
          </p:nvPr>
        </p:nvSpPr>
        <p:spPr/>
        <p:txBody>
          <a:bodyPr/>
          <a:lstStyle/>
          <a:p>
            <a:r>
              <a:rPr lang="ko-KR" altLang="en-US" sz="2800" b="1" dirty="0">
                <a:solidFill>
                  <a:srgbClr val="000000"/>
                </a:solidFill>
                <a:latin typeface="맑은 고딕"/>
              </a:rPr>
              <a:t>유일성의 정량적 유도</a:t>
            </a:r>
          </a:p>
        </p:txBody>
      </p:sp>
      <p:sp>
        <p:nvSpPr>
          <p:cNvPr id="3" name="내용 개체 틀 2">
            <a:extLst>
              <a:ext uri="{FF2B5EF4-FFF2-40B4-BE49-F238E27FC236}">
                <a16:creationId xmlns:a16="http://schemas.microsoft.com/office/drawing/2014/main" id="{6CB0D704-C52C-85DC-854A-910289989C2E}"/>
              </a:ext>
            </a:extLst>
          </p:cNvPr>
          <p:cNvSpPr>
            <a:spLocks noGrp="1"/>
          </p:cNvSpPr>
          <p:nvPr>
            <p:ph idx="1"/>
          </p:nvPr>
        </p:nvSpPr>
        <p:spPr>
          <a:xfrm>
            <a:off x="838200" y="2431852"/>
            <a:ext cx="10515600" cy="3613562"/>
          </a:xfrm>
        </p:spPr>
        <p:txBody>
          <a:bodyPr/>
          <a:lstStyle/>
          <a:p>
            <a:pPr>
              <a:spcAft>
                <a:spcPts val="800"/>
              </a:spcAft>
              <a:buFont typeface="Arial"/>
              <a:buChar char="•"/>
            </a:pPr>
            <a:r>
              <a:rPr lang="ko-KR" altLang="en-US" sz="1800" b="0" dirty="0">
                <a:solidFill>
                  <a:srgbClr val="000000"/>
                </a:solidFill>
                <a:latin typeface="맑은 고딕"/>
              </a:rPr>
              <a:t>위 식은 </a:t>
            </a:r>
            <a:r>
              <a:rPr lang="en-US" altLang="ko-KR" sz="1800" b="0" dirty="0">
                <a:solidFill>
                  <a:srgbClr val="000000"/>
                </a:solidFill>
                <a:latin typeface="맑은 고딕"/>
              </a:rPr>
              <a:t>union bound</a:t>
            </a:r>
            <a:r>
              <a:rPr lang="ko-KR" altLang="en-US" sz="1800" b="0" dirty="0">
                <a:solidFill>
                  <a:srgbClr val="000000"/>
                </a:solidFill>
                <a:latin typeface="맑은 고딕"/>
              </a:rPr>
              <a:t>에 의한 </a:t>
            </a:r>
            <a:r>
              <a:rPr lang="en-US" altLang="ko-KR" sz="1800" b="0" dirty="0">
                <a:solidFill>
                  <a:srgbClr val="000000"/>
                </a:solidFill>
                <a:latin typeface="맑은 고딕"/>
              </a:rPr>
              <a:t>"</a:t>
            </a:r>
            <a:r>
              <a:rPr lang="ko-KR" altLang="en-US" sz="1800" b="0" dirty="0">
                <a:solidFill>
                  <a:srgbClr val="000000"/>
                </a:solidFill>
                <a:latin typeface="맑은 고딕"/>
              </a:rPr>
              <a:t>적어도 하나의 </a:t>
            </a:r>
            <a:r>
              <a:rPr lang="en-US" altLang="ko-KR" sz="1800" b="0" dirty="0" err="1">
                <a:solidFill>
                  <a:srgbClr val="000000"/>
                </a:solidFill>
                <a:latin typeface="맑은 고딕"/>
              </a:rPr>
              <a:t>Δs</a:t>
            </a:r>
            <a:r>
              <a:rPr lang="ko-KR" altLang="en-US" sz="1800" b="0" dirty="0">
                <a:solidFill>
                  <a:srgbClr val="000000"/>
                </a:solidFill>
                <a:latin typeface="맑은 고딕"/>
              </a:rPr>
              <a:t>에서 두 구가 겹칠 확률</a:t>
            </a:r>
            <a:r>
              <a:rPr lang="en-US" altLang="ko-KR" sz="1800" b="0" dirty="0">
                <a:solidFill>
                  <a:srgbClr val="000000"/>
                </a:solidFill>
                <a:latin typeface="맑은 고딕"/>
              </a:rPr>
              <a:t>"</a:t>
            </a:r>
            <a:r>
              <a:rPr lang="ko-KR" altLang="en-US" sz="1800" b="0" dirty="0">
                <a:solidFill>
                  <a:srgbClr val="000000"/>
                </a:solidFill>
                <a:latin typeface="맑은 고딕"/>
              </a:rPr>
              <a:t>의 상한</a:t>
            </a:r>
          </a:p>
          <a:p>
            <a:pPr>
              <a:spcAft>
                <a:spcPts val="800"/>
              </a:spcAft>
              <a:buFont typeface="Arial"/>
              <a:buChar char="•"/>
            </a:pPr>
            <a:r>
              <a:rPr lang="ko-KR" altLang="en-US" sz="1800" b="0" dirty="0">
                <a:solidFill>
                  <a:srgbClr val="000000"/>
                </a:solidFill>
                <a:latin typeface="맑은 고딕"/>
              </a:rPr>
              <a:t>겹침 ⇔ ∃ </a:t>
            </a:r>
            <a:r>
              <a:rPr lang="en-US" altLang="ko-KR" sz="1800" b="0" dirty="0">
                <a:solidFill>
                  <a:srgbClr val="000000"/>
                </a:solidFill>
                <a:latin typeface="맑은 고딕"/>
              </a:rPr>
              <a:t>Δs≠0,  AΔs mod q ∈ [−2B,2B]^m  (</a:t>
            </a:r>
            <a:r>
              <a:rPr lang="en-US" altLang="ko-KR" sz="1800" b="0" dirty="0" err="1">
                <a:solidFill>
                  <a:srgbClr val="000000"/>
                </a:solidFill>
                <a:latin typeface="맑은 고딕"/>
              </a:rPr>
              <a:t>Δs</a:t>
            </a:r>
            <a:r>
              <a:rPr lang="ko-KR" altLang="en-US" sz="1800" b="0" dirty="0">
                <a:solidFill>
                  <a:srgbClr val="000000"/>
                </a:solidFill>
                <a:latin typeface="맑은 고딕"/>
              </a:rPr>
              <a:t> </a:t>
            </a:r>
            <a:r>
              <a:rPr lang="en-US" altLang="ko-KR" sz="1800" b="0" dirty="0">
                <a:solidFill>
                  <a:srgbClr val="000000"/>
                </a:solidFill>
                <a:latin typeface="맑은 고딕"/>
              </a:rPr>
              <a:t>= s₁−s₂)</a:t>
            </a:r>
          </a:p>
          <a:p>
            <a:pPr>
              <a:spcAft>
                <a:spcPts val="800"/>
              </a:spcAft>
              <a:buFont typeface="Arial"/>
              <a:buChar char="•"/>
            </a:pPr>
            <a:r>
              <a:rPr lang="en-US" altLang="ko-KR" sz="1800" b="0" dirty="0">
                <a:solidFill>
                  <a:srgbClr val="000000"/>
                </a:solidFill>
                <a:latin typeface="맑은 고딕"/>
              </a:rPr>
              <a:t>A</a:t>
            </a:r>
            <a:r>
              <a:rPr lang="ko-KR" altLang="en-US" sz="1800" b="0" dirty="0">
                <a:solidFill>
                  <a:srgbClr val="000000"/>
                </a:solidFill>
                <a:latin typeface="맑은 고딕"/>
              </a:rPr>
              <a:t>가 균등 랜덤이면 </a:t>
            </a:r>
            <a:r>
              <a:rPr lang="en-US" altLang="ko-KR" sz="1800" b="0" dirty="0">
                <a:solidFill>
                  <a:srgbClr val="000000"/>
                </a:solidFill>
                <a:latin typeface="맑은 고딕"/>
              </a:rPr>
              <a:t>AΔs mod q</a:t>
            </a:r>
            <a:r>
              <a:rPr lang="ko-KR" altLang="en-US" sz="1800" b="0" dirty="0">
                <a:solidFill>
                  <a:srgbClr val="000000"/>
                </a:solidFill>
                <a:latin typeface="맑은 고딕"/>
              </a:rPr>
              <a:t>가 균등에 가깝다고 가정</a:t>
            </a:r>
            <a:r>
              <a:rPr lang="en-US" altLang="ko-KR" sz="1800" b="0" dirty="0">
                <a:solidFill>
                  <a:srgbClr val="000000"/>
                </a:solidFill>
                <a:latin typeface="맑은 고딕"/>
              </a:rPr>
              <a:t>(</a:t>
            </a:r>
            <a:r>
              <a:rPr lang="ko-KR" altLang="en-US" sz="1800" b="0" dirty="0">
                <a:solidFill>
                  <a:srgbClr val="000000"/>
                </a:solidFill>
                <a:latin typeface="맑은 고딕"/>
              </a:rPr>
              <a:t>휴리스틱</a:t>
            </a:r>
            <a:r>
              <a:rPr lang="en-US" altLang="ko-KR" sz="1800" b="0" dirty="0">
                <a:solidFill>
                  <a:srgbClr val="000000"/>
                </a:solidFill>
                <a:latin typeface="맑은 고딕"/>
              </a:rPr>
              <a:t>) → </a:t>
            </a:r>
            <a:r>
              <a:rPr lang="ko-KR" altLang="en-US" sz="1800" b="0" dirty="0">
                <a:solidFill>
                  <a:srgbClr val="000000"/>
                </a:solidFill>
                <a:latin typeface="맑은 고딕"/>
              </a:rPr>
              <a:t>확률 ≈ </a:t>
            </a:r>
            <a:r>
              <a:rPr lang="en-US" altLang="ko-KR" sz="1800" b="0" dirty="0">
                <a:solidFill>
                  <a:srgbClr val="000000"/>
                </a:solidFill>
                <a:latin typeface="맑은 고딕"/>
              </a:rPr>
              <a:t>((4B+1)/q)^m</a:t>
            </a:r>
          </a:p>
          <a:p>
            <a:pPr>
              <a:spcAft>
                <a:spcPts val="800"/>
              </a:spcAft>
              <a:buFont typeface="Arial"/>
              <a:buChar char="•"/>
            </a:pPr>
            <a:r>
              <a:rPr lang="en-US" altLang="ko-KR" sz="1800" b="0" dirty="0" err="1">
                <a:solidFill>
                  <a:srgbClr val="000000"/>
                </a:solidFill>
                <a:latin typeface="맑은 고딕"/>
              </a:rPr>
              <a:t>B≪q</a:t>
            </a:r>
            <a:r>
              <a:rPr lang="en-US" altLang="ko-KR" sz="1800" b="0" dirty="0">
                <a:solidFill>
                  <a:srgbClr val="000000"/>
                </a:solidFill>
                <a:latin typeface="맑은 고딕"/>
              </a:rPr>
              <a:t>/2, </a:t>
            </a:r>
            <a:r>
              <a:rPr lang="en-US" altLang="ko-KR" sz="1800" b="0" dirty="0" err="1">
                <a:solidFill>
                  <a:srgbClr val="000000"/>
                </a:solidFill>
                <a:latin typeface="맑은 고딕"/>
              </a:rPr>
              <a:t>n≪m</a:t>
            </a:r>
            <a:r>
              <a:rPr lang="ko-KR" altLang="en-US" sz="1800" b="0" dirty="0">
                <a:solidFill>
                  <a:srgbClr val="000000"/>
                </a:solidFill>
                <a:latin typeface="맑은 고딕"/>
              </a:rPr>
              <a:t> 이면 이 값은 무시할 만큼 작음 → 해는 압도적 확률로 유일</a:t>
            </a:r>
            <a:r>
              <a:rPr lang="en-US" altLang="ko-KR" sz="1800" b="0" dirty="0">
                <a:solidFill>
                  <a:srgbClr val="000000"/>
                </a:solidFill>
                <a:latin typeface="맑은 고딕"/>
              </a:rPr>
              <a:t>. </a:t>
            </a:r>
            <a:r>
              <a:rPr lang="ko-KR" altLang="en-US" sz="1800" b="0" dirty="0">
                <a:solidFill>
                  <a:srgbClr val="000000"/>
                </a:solidFill>
                <a:latin typeface="맑은 고딕"/>
              </a:rPr>
              <a:t>이후 </a:t>
            </a:r>
            <a:r>
              <a:rPr lang="en-US" altLang="ko-KR" sz="1800" b="0" dirty="0" err="1">
                <a:solidFill>
                  <a:srgbClr val="000000"/>
                </a:solidFill>
                <a:latin typeface="맑은 고딕"/>
              </a:rPr>
              <a:t>m≫n</a:t>
            </a:r>
            <a:r>
              <a:rPr lang="ko-KR" altLang="en-US" sz="1800" b="0" dirty="0">
                <a:solidFill>
                  <a:srgbClr val="000000"/>
                </a:solidFill>
                <a:latin typeface="맑은 고딕"/>
              </a:rPr>
              <a:t> 가정</a:t>
            </a:r>
          </a:p>
        </p:txBody>
      </p:sp>
      <p:sp>
        <p:nvSpPr>
          <p:cNvPr id="4" name="슬라이드 번호 개체 틀 3">
            <a:extLst>
              <a:ext uri="{FF2B5EF4-FFF2-40B4-BE49-F238E27FC236}">
                <a16:creationId xmlns:a16="http://schemas.microsoft.com/office/drawing/2014/main" id="{C5AA4D45-F576-022C-CEE5-46E3AE55F87C}"/>
              </a:ext>
            </a:extLst>
          </p:cNvPr>
          <p:cNvSpPr>
            <a:spLocks noGrp="1"/>
          </p:cNvSpPr>
          <p:nvPr>
            <p:ph type="sldNum" sz="quarter" idx="12"/>
          </p:nvPr>
        </p:nvSpPr>
        <p:spPr/>
        <p:txBody>
          <a:bodyPr/>
          <a:lstStyle/>
          <a:p>
            <a:fld id="{4438A2D4-3867-488E-A04E-7BFFCAED45A6}" type="slidenum">
              <a:rPr lang="ko-KR" altLang="en-US" smtClean="0"/>
              <a:t>24</a:t>
            </a:fld>
            <a:endParaRPr lang="ko-KR" altLang="en-US"/>
          </a:p>
        </p:txBody>
      </p:sp>
      <p:pic>
        <p:nvPicPr>
          <p:cNvPr id="5" name="Picture 3" descr="m_14.png">
            <a:extLst>
              <a:ext uri="{FF2B5EF4-FFF2-40B4-BE49-F238E27FC236}">
                <a16:creationId xmlns:a16="http://schemas.microsoft.com/office/drawing/2014/main" id="{807008C7-8733-1900-07C3-D9A55C63A557}"/>
              </a:ext>
            </a:extLst>
          </p:cNvPr>
          <p:cNvPicPr>
            <a:picLocks noChangeAspect="1"/>
          </p:cNvPicPr>
          <p:nvPr/>
        </p:nvPicPr>
        <p:blipFill>
          <a:blip r:embed="rId3"/>
          <a:stretch>
            <a:fillRect/>
          </a:stretch>
        </p:blipFill>
        <p:spPr>
          <a:xfrm>
            <a:off x="3780723" y="1134979"/>
            <a:ext cx="4630553" cy="1051560"/>
          </a:xfrm>
          <a:prstGeom prst="rect">
            <a:avLst/>
          </a:prstGeom>
        </p:spPr>
      </p:pic>
    </p:spTree>
    <p:extLst>
      <p:ext uri="{BB962C8B-B14F-4D97-AF65-F5344CB8AC3E}">
        <p14:creationId xmlns:p14="http://schemas.microsoft.com/office/powerpoint/2010/main" val="13501278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3304D-B189-E3F5-F15D-81809E25B3CE}"/>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9FD4C450-A9A7-10DC-A0A0-46A4C49E0CB6}"/>
              </a:ext>
            </a:extLst>
          </p:cNvPr>
          <p:cNvSpPr>
            <a:spLocks noGrp="1"/>
          </p:cNvSpPr>
          <p:nvPr>
            <p:ph type="title"/>
          </p:nvPr>
        </p:nvSpPr>
        <p:spPr/>
        <p:txBody>
          <a:bodyPr/>
          <a:lstStyle/>
          <a:p>
            <a:r>
              <a:rPr lang="en-US" altLang="ko-KR" sz="2800" b="1" dirty="0">
                <a:solidFill>
                  <a:srgbClr val="000000"/>
                </a:solidFill>
                <a:latin typeface="맑은 고딕"/>
              </a:rPr>
              <a:t>DLWE (Decisional LWE)</a:t>
            </a:r>
            <a:endParaRPr lang="ko-KR" altLang="en-US" dirty="0"/>
          </a:p>
        </p:txBody>
      </p:sp>
      <p:sp>
        <p:nvSpPr>
          <p:cNvPr id="3" name="내용 개체 틀 2">
            <a:extLst>
              <a:ext uri="{FF2B5EF4-FFF2-40B4-BE49-F238E27FC236}">
                <a16:creationId xmlns:a16="http://schemas.microsoft.com/office/drawing/2014/main" id="{4524A208-92AD-CCA6-4D30-D3411E56A358}"/>
              </a:ext>
            </a:extLst>
          </p:cNvPr>
          <p:cNvSpPr>
            <a:spLocks noGrp="1"/>
          </p:cNvSpPr>
          <p:nvPr>
            <p:ph idx="1"/>
          </p:nvPr>
        </p:nvSpPr>
        <p:spPr>
          <a:xfrm>
            <a:off x="838200" y="3364351"/>
            <a:ext cx="10515600" cy="2378320"/>
          </a:xfrm>
        </p:spPr>
        <p:txBody>
          <a:bodyPr/>
          <a:lstStyle/>
          <a:p>
            <a:pPr>
              <a:spcAft>
                <a:spcPts val="800"/>
              </a:spcAft>
              <a:buFont typeface="Arial"/>
              <a:buChar char="•"/>
            </a:pPr>
            <a:r>
              <a:rPr lang="en-US" altLang="ko-KR" sz="1800" b="0" dirty="0">
                <a:solidFill>
                  <a:srgbClr val="000000"/>
                </a:solidFill>
                <a:latin typeface="맑은 고딕"/>
              </a:rPr>
              <a:t>A∈_R </a:t>
            </a:r>
            <a:r>
              <a:rPr lang="en-US" altLang="ko-KR" sz="1800" b="0" dirty="0" err="1">
                <a:solidFill>
                  <a:srgbClr val="000000"/>
                </a:solidFill>
                <a:latin typeface="맑은 고딕"/>
              </a:rPr>
              <a:t>ℤ_q</a:t>
            </a:r>
            <a:r>
              <a:rPr lang="en-US" altLang="ko-KR" sz="1800" b="0" dirty="0">
                <a:solidFill>
                  <a:srgbClr val="000000"/>
                </a:solidFill>
                <a:latin typeface="맑은 고딕"/>
              </a:rPr>
              <a:t>^{</a:t>
            </a:r>
            <a:r>
              <a:rPr lang="en-US" altLang="ko-KR" sz="1800" b="0" dirty="0" err="1">
                <a:solidFill>
                  <a:srgbClr val="000000"/>
                </a:solidFill>
                <a:latin typeface="맑은 고딕"/>
              </a:rPr>
              <a:t>m×n</a:t>
            </a:r>
            <a:r>
              <a:rPr lang="en-US" altLang="ko-KR" sz="1800" b="0" dirty="0">
                <a:solidFill>
                  <a:srgbClr val="000000"/>
                </a:solidFill>
                <a:latin typeface="맑은 고딕"/>
              </a:rPr>
              <a:t>}, </a:t>
            </a:r>
            <a:r>
              <a:rPr lang="en-US" altLang="ko-KR" sz="1800" b="0" dirty="0" err="1">
                <a:solidFill>
                  <a:srgbClr val="000000"/>
                </a:solidFill>
                <a:latin typeface="맑은 고딕"/>
              </a:rPr>
              <a:t>s∈_R</a:t>
            </a:r>
            <a:r>
              <a:rPr lang="ko-KR" altLang="en-US" sz="1800" b="0" dirty="0">
                <a:solidFill>
                  <a:srgbClr val="000000"/>
                </a:solidFill>
                <a:latin typeface="맑은 고딕"/>
              </a:rPr>
              <a:t> </a:t>
            </a:r>
            <a:r>
              <a:rPr lang="en-US" altLang="ko-KR" sz="1800" b="0" dirty="0" err="1">
                <a:solidFill>
                  <a:srgbClr val="000000"/>
                </a:solidFill>
                <a:latin typeface="맑은 고딕"/>
              </a:rPr>
              <a:t>ℤ_q^n</a:t>
            </a:r>
            <a:r>
              <a:rPr lang="en-US" altLang="ko-KR" sz="1800" b="0" dirty="0">
                <a:solidFill>
                  <a:srgbClr val="000000"/>
                </a:solidFill>
                <a:latin typeface="맑은 고딕"/>
              </a:rPr>
              <a:t>, </a:t>
            </a:r>
            <a:r>
              <a:rPr lang="en-US" altLang="ko-KR" sz="1800" b="0" dirty="0" err="1">
                <a:solidFill>
                  <a:srgbClr val="000000"/>
                </a:solidFill>
                <a:latin typeface="맑은 고딕"/>
              </a:rPr>
              <a:t>e∈_R</a:t>
            </a:r>
            <a:r>
              <a:rPr lang="en-US" altLang="ko-KR" sz="1800" b="0" dirty="0">
                <a:solidFill>
                  <a:srgbClr val="000000"/>
                </a:solidFill>
                <a:latin typeface="맑은 고딕"/>
              </a:rPr>
              <a:t>[−B,B]^m, </a:t>
            </a:r>
            <a:r>
              <a:rPr lang="en-US" altLang="ko-KR" sz="1800" b="0" dirty="0" err="1">
                <a:solidFill>
                  <a:srgbClr val="000000"/>
                </a:solidFill>
                <a:latin typeface="맑은 고딕"/>
              </a:rPr>
              <a:t>r∈_R</a:t>
            </a:r>
            <a:r>
              <a:rPr lang="ko-KR" altLang="en-US" sz="1800" b="0" dirty="0">
                <a:solidFill>
                  <a:srgbClr val="000000"/>
                </a:solidFill>
                <a:latin typeface="맑은 고딕"/>
              </a:rPr>
              <a:t> </a:t>
            </a:r>
            <a:r>
              <a:rPr lang="en-US" altLang="ko-KR" sz="1800" b="0" dirty="0" err="1">
                <a:solidFill>
                  <a:srgbClr val="000000"/>
                </a:solidFill>
                <a:latin typeface="맑은 고딕"/>
              </a:rPr>
              <a:t>ℤ_q^m</a:t>
            </a:r>
            <a:endParaRPr lang="ko-KR" altLang="en-US" dirty="0">
              <a:solidFill>
                <a:srgbClr val="222222"/>
              </a:solidFill>
            </a:endParaRPr>
          </a:p>
          <a:p>
            <a:pPr>
              <a:spcAft>
                <a:spcPts val="800"/>
              </a:spcAft>
              <a:buFont typeface="Arial"/>
              <a:buChar char="•"/>
            </a:pPr>
            <a:r>
              <a:rPr lang="en-US" altLang="ko-KR" sz="1800" b="0" dirty="0">
                <a:solidFill>
                  <a:srgbClr val="000000"/>
                </a:solidFill>
                <a:latin typeface="맑은 고딕"/>
              </a:rPr>
              <a:t>(</a:t>
            </a:r>
            <a:r>
              <a:rPr lang="en-US" altLang="ko-KR" sz="1800" b="0" dirty="0" err="1">
                <a:solidFill>
                  <a:srgbClr val="000000"/>
                </a:solidFill>
                <a:latin typeface="맑은 고딕"/>
              </a:rPr>
              <a:t>A,c</a:t>
            </a:r>
            <a:r>
              <a:rPr lang="en-US" altLang="ko-KR" sz="1800" b="0" dirty="0">
                <a:solidFill>
                  <a:srgbClr val="000000"/>
                </a:solidFill>
                <a:latin typeface="맑은 고딕"/>
              </a:rPr>
              <a:t>)</a:t>
            </a:r>
            <a:r>
              <a:rPr lang="ko-KR" altLang="en-US" sz="1800" b="0" dirty="0">
                <a:solidFill>
                  <a:srgbClr val="000000"/>
                </a:solidFill>
                <a:latin typeface="맑은 고딕"/>
              </a:rPr>
              <a:t>가 주어졌을 때 </a:t>
            </a:r>
            <a:r>
              <a:rPr lang="en-US" altLang="ko-KR" sz="1800" b="0" dirty="0">
                <a:solidFill>
                  <a:srgbClr val="000000"/>
                </a:solidFill>
                <a:latin typeface="맑은 고딕"/>
              </a:rPr>
              <a:t>c=b</a:t>
            </a:r>
            <a:r>
              <a:rPr lang="ko-KR" altLang="en-US" sz="1800" b="0" dirty="0">
                <a:solidFill>
                  <a:srgbClr val="000000"/>
                </a:solidFill>
                <a:latin typeface="맑은 고딕"/>
              </a:rPr>
              <a:t>인지 </a:t>
            </a:r>
            <a:r>
              <a:rPr lang="en-US" altLang="ko-KR" sz="1800" b="0" dirty="0">
                <a:solidFill>
                  <a:srgbClr val="000000"/>
                </a:solidFill>
                <a:latin typeface="맑은 고딕"/>
              </a:rPr>
              <a:t>c=r</a:t>
            </a:r>
            <a:r>
              <a:rPr lang="ko-KR" altLang="en-US" sz="1800" b="0" dirty="0">
                <a:solidFill>
                  <a:srgbClr val="000000"/>
                </a:solidFill>
                <a:latin typeface="맑은 고딕"/>
              </a:rPr>
              <a:t>인지 </a:t>
            </a:r>
            <a:r>
              <a:rPr lang="en-US" altLang="ko-KR" sz="1800" b="0" dirty="0">
                <a:solidFill>
                  <a:srgbClr val="000000"/>
                </a:solidFill>
                <a:latin typeface="맑은 고딕"/>
              </a:rPr>
              <a:t>½</a:t>
            </a:r>
            <a:r>
              <a:rPr lang="ko-KR" altLang="en-US" sz="1800" b="0" dirty="0">
                <a:solidFill>
                  <a:srgbClr val="000000"/>
                </a:solidFill>
                <a:latin typeface="맑은 고딕"/>
              </a:rPr>
              <a:t>보다 유의미하게 큰 확률로 판별하라</a:t>
            </a:r>
          </a:p>
          <a:p>
            <a:pPr>
              <a:spcAft>
                <a:spcPts val="800"/>
              </a:spcAft>
              <a:buFont typeface="Arial"/>
              <a:buChar char="•"/>
            </a:pPr>
            <a:r>
              <a:rPr lang="ko-KR" altLang="en-US" sz="1800" b="0" dirty="0">
                <a:solidFill>
                  <a:srgbClr val="000000"/>
                </a:solidFill>
                <a:latin typeface="맑은 고딕"/>
              </a:rPr>
              <a:t>탐색</a:t>
            </a:r>
            <a:r>
              <a:rPr lang="en-US" altLang="ko-KR" sz="1800" b="0" dirty="0">
                <a:solidFill>
                  <a:srgbClr val="000000"/>
                </a:solidFill>
                <a:latin typeface="맑은 고딕"/>
              </a:rPr>
              <a:t>(search) LWE: s </a:t>
            </a:r>
            <a:r>
              <a:rPr lang="ko-KR" altLang="en-US" sz="1800" b="0" dirty="0">
                <a:solidFill>
                  <a:srgbClr val="000000"/>
                </a:solidFill>
                <a:latin typeface="맑은 고딕"/>
              </a:rPr>
              <a:t>전체를 복원 </a:t>
            </a:r>
            <a:r>
              <a:rPr lang="en-US" altLang="ko-KR" sz="1800" b="0" dirty="0">
                <a:solidFill>
                  <a:srgbClr val="000000"/>
                </a:solidFill>
                <a:latin typeface="맑은 고딕"/>
              </a:rPr>
              <a:t>vs </a:t>
            </a:r>
            <a:r>
              <a:rPr lang="ko-KR" altLang="en-US" sz="1800" b="0" dirty="0">
                <a:solidFill>
                  <a:srgbClr val="000000"/>
                </a:solidFill>
                <a:latin typeface="맑은 고딕"/>
              </a:rPr>
              <a:t>결정</a:t>
            </a:r>
            <a:r>
              <a:rPr lang="en-US" altLang="ko-KR" sz="1800" b="0" dirty="0">
                <a:solidFill>
                  <a:srgbClr val="000000"/>
                </a:solidFill>
                <a:latin typeface="맑은 고딕"/>
              </a:rPr>
              <a:t>(decision) DLWE: </a:t>
            </a:r>
            <a:r>
              <a:rPr lang="ko-KR" altLang="en-US" sz="1800" b="0" dirty="0">
                <a:solidFill>
                  <a:srgbClr val="000000"/>
                </a:solidFill>
                <a:latin typeface="맑은 고딕"/>
              </a:rPr>
              <a:t>구별만 하면 됨 → 언뜻 더 쉬워 보임</a:t>
            </a:r>
          </a:p>
        </p:txBody>
      </p:sp>
      <p:sp>
        <p:nvSpPr>
          <p:cNvPr id="4" name="슬라이드 번호 개체 틀 3">
            <a:extLst>
              <a:ext uri="{FF2B5EF4-FFF2-40B4-BE49-F238E27FC236}">
                <a16:creationId xmlns:a16="http://schemas.microsoft.com/office/drawing/2014/main" id="{AF690929-40EF-BDDC-FF32-DADEEB7100C9}"/>
              </a:ext>
            </a:extLst>
          </p:cNvPr>
          <p:cNvSpPr>
            <a:spLocks noGrp="1"/>
          </p:cNvSpPr>
          <p:nvPr>
            <p:ph type="sldNum" sz="quarter" idx="12"/>
          </p:nvPr>
        </p:nvSpPr>
        <p:spPr/>
        <p:txBody>
          <a:bodyPr/>
          <a:lstStyle/>
          <a:p>
            <a:fld id="{4438A2D4-3867-488E-A04E-7BFFCAED45A6}" type="slidenum">
              <a:rPr lang="ko-KR" altLang="en-US" smtClean="0"/>
              <a:t>25</a:t>
            </a:fld>
            <a:endParaRPr lang="ko-KR" altLang="en-US"/>
          </a:p>
        </p:txBody>
      </p:sp>
      <p:sp>
        <p:nvSpPr>
          <p:cNvPr id="6" name="Rounded Rectangle 5">
            <a:extLst>
              <a:ext uri="{FF2B5EF4-FFF2-40B4-BE49-F238E27FC236}">
                <a16:creationId xmlns:a16="http://schemas.microsoft.com/office/drawing/2014/main" id="{C5F93D34-372C-BF20-B716-9A5453D61D53}"/>
              </a:ext>
            </a:extLst>
          </p:cNvPr>
          <p:cNvSpPr/>
          <p:nvPr/>
        </p:nvSpPr>
        <p:spPr>
          <a:xfrm>
            <a:off x="914400" y="1160648"/>
            <a:ext cx="10332720" cy="1874519"/>
          </a:xfrm>
          <a:prstGeom prst="roundRect">
            <a:avLst/>
          </a:prstGeom>
          <a:solidFill>
            <a:srgbClr val="F4F5F7"/>
          </a:solidFill>
          <a:ln>
            <a:solidFill>
              <a:srgbClr val="C7CB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endParaRPr/>
          </a:p>
        </p:txBody>
      </p:sp>
      <p:sp>
        <p:nvSpPr>
          <p:cNvPr id="7" name="Oval 6">
            <a:extLst>
              <a:ext uri="{FF2B5EF4-FFF2-40B4-BE49-F238E27FC236}">
                <a16:creationId xmlns:a16="http://schemas.microsoft.com/office/drawing/2014/main" id="{70F83CF1-914F-3E8E-BF77-75F97AAD0C5A}"/>
              </a:ext>
            </a:extLst>
          </p:cNvPr>
          <p:cNvSpPr/>
          <p:nvPr/>
        </p:nvSpPr>
        <p:spPr>
          <a:xfrm>
            <a:off x="1097280" y="1457828"/>
            <a:ext cx="768096" cy="768096"/>
          </a:xfrm>
          <a:prstGeom prst="ellipse">
            <a:avLst/>
          </a:prstGeom>
          <a:noFill/>
          <a:ln w="22225">
            <a:solidFill>
              <a:srgbClr val="B886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a:extLst>
              <a:ext uri="{FF2B5EF4-FFF2-40B4-BE49-F238E27FC236}">
                <a16:creationId xmlns:a16="http://schemas.microsoft.com/office/drawing/2014/main" id="{9FE9935F-87B1-DFBE-D863-80A32A484D23}"/>
              </a:ext>
            </a:extLst>
          </p:cNvPr>
          <p:cNvSpPr/>
          <p:nvPr/>
        </p:nvSpPr>
        <p:spPr>
          <a:xfrm>
            <a:off x="1440180" y="1800728"/>
            <a:ext cx="82296" cy="82296"/>
          </a:xfrm>
          <a:prstGeom prst="ellipse">
            <a:avLst/>
          </a:prstGeom>
          <a:solidFill>
            <a:srgbClr val="B3361E"/>
          </a:solidFill>
          <a:ln>
            <a:solidFill>
              <a:srgbClr val="B33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7E3532FC-8B8C-60A6-D0F4-299F81493C99}"/>
              </a:ext>
            </a:extLst>
          </p:cNvPr>
          <p:cNvSpPr txBox="1"/>
          <p:nvPr/>
        </p:nvSpPr>
        <p:spPr>
          <a:xfrm>
            <a:off x="978407" y="1146932"/>
            <a:ext cx="1005840" cy="274320"/>
          </a:xfrm>
          <a:prstGeom prst="rect">
            <a:avLst/>
          </a:prstGeom>
          <a:noFill/>
        </p:spPr>
        <p:txBody>
          <a:bodyPr wrap="square" lIns="0" tIns="0" rIns="0" bIns="0" anchor="t">
            <a:spAutoFit/>
          </a:bodyPr>
          <a:lstStyle/>
          <a:p>
            <a:pPr algn="ctr">
              <a:lnSpc>
                <a:spcPct val="115000"/>
              </a:lnSpc>
            </a:pPr>
            <a:r>
              <a:rPr sz="1300" b="0" i="1">
                <a:solidFill>
                  <a:srgbClr val="000000"/>
                </a:solidFill>
                <a:latin typeface="맑은 고딕"/>
              </a:rPr>
              <a:t>As₁</a:t>
            </a:r>
          </a:p>
        </p:txBody>
      </p:sp>
      <p:sp>
        <p:nvSpPr>
          <p:cNvPr id="10" name="Oval 9">
            <a:extLst>
              <a:ext uri="{FF2B5EF4-FFF2-40B4-BE49-F238E27FC236}">
                <a16:creationId xmlns:a16="http://schemas.microsoft.com/office/drawing/2014/main" id="{FCD75584-B57C-27B8-CC60-669B5DC156E3}"/>
              </a:ext>
            </a:extLst>
          </p:cNvPr>
          <p:cNvSpPr/>
          <p:nvPr/>
        </p:nvSpPr>
        <p:spPr>
          <a:xfrm>
            <a:off x="4163568" y="1969892"/>
            <a:ext cx="768096" cy="768096"/>
          </a:xfrm>
          <a:prstGeom prst="ellipse">
            <a:avLst/>
          </a:prstGeom>
          <a:noFill/>
          <a:ln w="22225">
            <a:solidFill>
              <a:srgbClr val="B886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a:extLst>
              <a:ext uri="{FF2B5EF4-FFF2-40B4-BE49-F238E27FC236}">
                <a16:creationId xmlns:a16="http://schemas.microsoft.com/office/drawing/2014/main" id="{51A0CEDA-1C55-7216-5D8E-97D7A3F0B280}"/>
              </a:ext>
            </a:extLst>
          </p:cNvPr>
          <p:cNvSpPr/>
          <p:nvPr/>
        </p:nvSpPr>
        <p:spPr>
          <a:xfrm>
            <a:off x="4506468" y="2312792"/>
            <a:ext cx="82296" cy="82296"/>
          </a:xfrm>
          <a:prstGeom prst="ellipse">
            <a:avLst/>
          </a:prstGeom>
          <a:solidFill>
            <a:srgbClr val="B3361E"/>
          </a:solidFill>
          <a:ln>
            <a:solidFill>
              <a:srgbClr val="B33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ACC6346D-42DA-2E09-14F7-AB5ED2E3D296}"/>
              </a:ext>
            </a:extLst>
          </p:cNvPr>
          <p:cNvSpPr txBox="1"/>
          <p:nvPr/>
        </p:nvSpPr>
        <p:spPr>
          <a:xfrm>
            <a:off x="4044696" y="1658996"/>
            <a:ext cx="1005840" cy="274320"/>
          </a:xfrm>
          <a:prstGeom prst="rect">
            <a:avLst/>
          </a:prstGeom>
          <a:noFill/>
        </p:spPr>
        <p:txBody>
          <a:bodyPr wrap="square" lIns="0" tIns="0" rIns="0" bIns="0" anchor="t">
            <a:spAutoFit/>
          </a:bodyPr>
          <a:lstStyle/>
          <a:p>
            <a:pPr algn="ctr">
              <a:lnSpc>
                <a:spcPct val="115000"/>
              </a:lnSpc>
            </a:pPr>
            <a:r>
              <a:rPr sz="1300" b="0" i="1">
                <a:solidFill>
                  <a:srgbClr val="000000"/>
                </a:solidFill>
                <a:latin typeface="맑은 고딕"/>
              </a:rPr>
              <a:t>As₂</a:t>
            </a:r>
          </a:p>
        </p:txBody>
      </p:sp>
      <p:sp>
        <p:nvSpPr>
          <p:cNvPr id="13" name="Oval 12">
            <a:extLst>
              <a:ext uri="{FF2B5EF4-FFF2-40B4-BE49-F238E27FC236}">
                <a16:creationId xmlns:a16="http://schemas.microsoft.com/office/drawing/2014/main" id="{E4C67EFA-E06C-0A84-9621-5DF2F47FB5AD}"/>
              </a:ext>
            </a:extLst>
          </p:cNvPr>
          <p:cNvSpPr/>
          <p:nvPr/>
        </p:nvSpPr>
        <p:spPr>
          <a:xfrm>
            <a:off x="7229856" y="1457828"/>
            <a:ext cx="768096" cy="768096"/>
          </a:xfrm>
          <a:prstGeom prst="ellipse">
            <a:avLst/>
          </a:prstGeom>
          <a:noFill/>
          <a:ln w="22225">
            <a:solidFill>
              <a:srgbClr val="B886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a:extLst>
              <a:ext uri="{FF2B5EF4-FFF2-40B4-BE49-F238E27FC236}">
                <a16:creationId xmlns:a16="http://schemas.microsoft.com/office/drawing/2014/main" id="{6BD04F53-4A68-417F-F566-DD3E82EA14A3}"/>
              </a:ext>
            </a:extLst>
          </p:cNvPr>
          <p:cNvSpPr/>
          <p:nvPr/>
        </p:nvSpPr>
        <p:spPr>
          <a:xfrm>
            <a:off x="7572756" y="1800728"/>
            <a:ext cx="82296" cy="82296"/>
          </a:xfrm>
          <a:prstGeom prst="ellipse">
            <a:avLst/>
          </a:prstGeom>
          <a:solidFill>
            <a:srgbClr val="B3361E"/>
          </a:solidFill>
          <a:ln>
            <a:solidFill>
              <a:srgbClr val="B33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61DE6B2A-2540-107D-918F-21B0473939D7}"/>
              </a:ext>
            </a:extLst>
          </p:cNvPr>
          <p:cNvSpPr txBox="1"/>
          <p:nvPr/>
        </p:nvSpPr>
        <p:spPr>
          <a:xfrm>
            <a:off x="7110984" y="1146932"/>
            <a:ext cx="1005840" cy="274320"/>
          </a:xfrm>
          <a:prstGeom prst="rect">
            <a:avLst/>
          </a:prstGeom>
          <a:noFill/>
        </p:spPr>
        <p:txBody>
          <a:bodyPr wrap="square" lIns="0" tIns="0" rIns="0" bIns="0" anchor="t">
            <a:spAutoFit/>
          </a:bodyPr>
          <a:lstStyle/>
          <a:p>
            <a:pPr algn="ctr">
              <a:lnSpc>
                <a:spcPct val="115000"/>
              </a:lnSpc>
            </a:pPr>
            <a:r>
              <a:rPr sz="1300" b="0" i="1">
                <a:solidFill>
                  <a:srgbClr val="000000"/>
                </a:solidFill>
                <a:latin typeface="맑은 고딕"/>
              </a:rPr>
              <a:t>As₃</a:t>
            </a:r>
          </a:p>
        </p:txBody>
      </p:sp>
      <p:sp>
        <p:nvSpPr>
          <p:cNvPr id="16" name="Oval 15">
            <a:extLst>
              <a:ext uri="{FF2B5EF4-FFF2-40B4-BE49-F238E27FC236}">
                <a16:creationId xmlns:a16="http://schemas.microsoft.com/office/drawing/2014/main" id="{D1E3194B-F26E-8AB9-6BBB-F787819FEE7F}"/>
              </a:ext>
            </a:extLst>
          </p:cNvPr>
          <p:cNvSpPr/>
          <p:nvPr/>
        </p:nvSpPr>
        <p:spPr>
          <a:xfrm>
            <a:off x="10296144" y="1969892"/>
            <a:ext cx="768096" cy="768096"/>
          </a:xfrm>
          <a:prstGeom prst="ellipse">
            <a:avLst/>
          </a:prstGeom>
          <a:noFill/>
          <a:ln w="22225">
            <a:solidFill>
              <a:srgbClr val="B8860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a:extLst>
              <a:ext uri="{FF2B5EF4-FFF2-40B4-BE49-F238E27FC236}">
                <a16:creationId xmlns:a16="http://schemas.microsoft.com/office/drawing/2014/main" id="{D7381924-C78F-566C-CD66-87E5FA38A8B5}"/>
              </a:ext>
            </a:extLst>
          </p:cNvPr>
          <p:cNvSpPr/>
          <p:nvPr/>
        </p:nvSpPr>
        <p:spPr>
          <a:xfrm>
            <a:off x="10639044" y="2312792"/>
            <a:ext cx="82296" cy="82296"/>
          </a:xfrm>
          <a:prstGeom prst="ellipse">
            <a:avLst/>
          </a:prstGeom>
          <a:solidFill>
            <a:srgbClr val="B3361E"/>
          </a:solidFill>
          <a:ln>
            <a:solidFill>
              <a:srgbClr val="B33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F9D4CADA-AA8C-93F8-1BAB-DE33B000D52B}"/>
              </a:ext>
            </a:extLst>
          </p:cNvPr>
          <p:cNvSpPr txBox="1"/>
          <p:nvPr/>
        </p:nvSpPr>
        <p:spPr>
          <a:xfrm>
            <a:off x="10177272" y="1658996"/>
            <a:ext cx="1005840" cy="274320"/>
          </a:xfrm>
          <a:prstGeom prst="rect">
            <a:avLst/>
          </a:prstGeom>
          <a:noFill/>
        </p:spPr>
        <p:txBody>
          <a:bodyPr wrap="square" lIns="0" tIns="0" rIns="0" bIns="0" anchor="t">
            <a:spAutoFit/>
          </a:bodyPr>
          <a:lstStyle/>
          <a:p>
            <a:pPr algn="ctr">
              <a:lnSpc>
                <a:spcPct val="115000"/>
              </a:lnSpc>
            </a:pPr>
            <a:r>
              <a:rPr sz="1300" b="0" i="1">
                <a:solidFill>
                  <a:srgbClr val="000000"/>
                </a:solidFill>
                <a:latin typeface="맑은 고딕"/>
              </a:rPr>
              <a:t>As₄</a:t>
            </a:r>
          </a:p>
        </p:txBody>
      </p:sp>
      <p:sp>
        <p:nvSpPr>
          <p:cNvPr id="19" name="TextBox 18">
            <a:extLst>
              <a:ext uri="{FF2B5EF4-FFF2-40B4-BE49-F238E27FC236}">
                <a16:creationId xmlns:a16="http://schemas.microsoft.com/office/drawing/2014/main" id="{6C086E9A-833E-0BD6-A77A-3479500E056A}"/>
              </a:ext>
            </a:extLst>
          </p:cNvPr>
          <p:cNvSpPr txBox="1"/>
          <p:nvPr/>
        </p:nvSpPr>
        <p:spPr>
          <a:xfrm>
            <a:off x="1051560" y="2724272"/>
            <a:ext cx="10058400" cy="274320"/>
          </a:xfrm>
          <a:prstGeom prst="rect">
            <a:avLst/>
          </a:prstGeom>
          <a:noFill/>
        </p:spPr>
        <p:txBody>
          <a:bodyPr wrap="square" lIns="0" tIns="0" rIns="0" bIns="0" anchor="t">
            <a:spAutoFit/>
          </a:bodyPr>
          <a:lstStyle/>
          <a:p>
            <a:pPr algn="ctr">
              <a:lnSpc>
                <a:spcPct val="115000"/>
              </a:lnSpc>
              <a:buNone/>
            </a:pPr>
            <a:r>
              <a:rPr sz="1800" b="0" i="0">
                <a:solidFill>
                  <a:srgbClr val="000000"/>
                </a:solidFill>
                <a:latin typeface="맑은 고딕"/>
              </a:rPr>
              <a:t>점선 원 = 잡음 반경 B 안의 후보들 (겹치면 유일성이 깨짐)</a:t>
            </a:r>
          </a:p>
        </p:txBody>
      </p:sp>
    </p:spTree>
    <p:extLst>
      <p:ext uri="{BB962C8B-B14F-4D97-AF65-F5344CB8AC3E}">
        <p14:creationId xmlns:p14="http://schemas.microsoft.com/office/powerpoint/2010/main" val="3432923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BEC9D-F841-8B37-D20E-227F8D2F0305}"/>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00642BD-3713-3203-F611-D458AC949DA0}"/>
              </a:ext>
            </a:extLst>
          </p:cNvPr>
          <p:cNvSpPr>
            <a:spLocks noGrp="1"/>
          </p:cNvSpPr>
          <p:nvPr>
            <p:ph type="title"/>
          </p:nvPr>
        </p:nvSpPr>
        <p:spPr/>
        <p:txBody>
          <a:bodyPr/>
          <a:lstStyle/>
          <a:p>
            <a:r>
              <a:rPr lang="en-US" altLang="ko-KR" sz="2800" b="1" dirty="0">
                <a:solidFill>
                  <a:srgbClr val="000000"/>
                </a:solidFill>
                <a:latin typeface="맑은 고딕"/>
              </a:rPr>
              <a:t>LWE</a:t>
            </a:r>
            <a:r>
              <a:rPr lang="ko-KR" altLang="en-US" sz="2800" b="1" dirty="0">
                <a:solidFill>
                  <a:srgbClr val="000000"/>
                </a:solidFill>
                <a:latin typeface="맑은 고딕"/>
              </a:rPr>
              <a:t>와 </a:t>
            </a:r>
            <a:r>
              <a:rPr lang="en-US" altLang="ko-KR" sz="2800" b="1" dirty="0">
                <a:solidFill>
                  <a:srgbClr val="000000"/>
                </a:solidFill>
                <a:latin typeface="맑은 고딕"/>
              </a:rPr>
              <a:t>DLWE</a:t>
            </a:r>
            <a:r>
              <a:rPr lang="ko-KR" altLang="en-US" sz="2800" b="1" dirty="0">
                <a:solidFill>
                  <a:srgbClr val="000000"/>
                </a:solidFill>
                <a:latin typeface="맑은 고딕"/>
              </a:rPr>
              <a:t>의 계산적 </a:t>
            </a:r>
            <a:r>
              <a:rPr lang="ko-KR" altLang="en-US" sz="2800" b="1" dirty="0" err="1">
                <a:solidFill>
                  <a:srgbClr val="000000"/>
                </a:solidFill>
                <a:latin typeface="맑은 고딕"/>
              </a:rPr>
              <a:t>동치성</a:t>
            </a:r>
            <a:r>
              <a:rPr lang="en-US" altLang="ko-KR" sz="2800" b="1" dirty="0">
                <a:solidFill>
                  <a:srgbClr val="000000"/>
                </a:solidFill>
                <a:latin typeface="맑은 고딕"/>
              </a:rPr>
              <a:t>(1)</a:t>
            </a:r>
            <a:endParaRPr lang="ko-KR" altLang="en-US" dirty="0"/>
          </a:p>
        </p:txBody>
      </p:sp>
      <p:sp>
        <p:nvSpPr>
          <p:cNvPr id="3" name="내용 개체 틀 2">
            <a:extLst>
              <a:ext uri="{FF2B5EF4-FFF2-40B4-BE49-F238E27FC236}">
                <a16:creationId xmlns:a16="http://schemas.microsoft.com/office/drawing/2014/main" id="{5AFE5719-4F5F-BFDF-7EC6-FBC2FBE07135}"/>
              </a:ext>
            </a:extLst>
          </p:cNvPr>
          <p:cNvSpPr>
            <a:spLocks noGrp="1"/>
          </p:cNvSpPr>
          <p:nvPr>
            <p:ph idx="1"/>
          </p:nvPr>
        </p:nvSpPr>
        <p:spPr/>
        <p:txBody>
          <a:bodyPr/>
          <a:lstStyle/>
          <a:p>
            <a:pPr>
              <a:spcAft>
                <a:spcPts val="800"/>
              </a:spcAft>
              <a:buFont typeface="Arial"/>
              <a:buChar char="•"/>
            </a:pPr>
            <a:r>
              <a:rPr lang="en-US" altLang="ko-KR" sz="1800" b="0" dirty="0">
                <a:solidFill>
                  <a:srgbClr val="000000"/>
                </a:solidFill>
                <a:latin typeface="맑은 고딕"/>
              </a:rPr>
              <a:t>(</a:t>
            </a:r>
            <a:r>
              <a:rPr lang="en-US" altLang="ko-KR" sz="1800" b="0" dirty="0" err="1">
                <a:solidFill>
                  <a:srgbClr val="000000"/>
                </a:solidFill>
                <a:latin typeface="맑은 고딕"/>
              </a:rPr>
              <a:t>A,c</a:t>
            </a:r>
            <a:r>
              <a:rPr lang="en-US" altLang="ko-KR" sz="1800" b="0" dirty="0">
                <a:solidFill>
                  <a:srgbClr val="000000"/>
                </a:solidFill>
                <a:latin typeface="맑은 고딕"/>
              </a:rPr>
              <a:t>)</a:t>
            </a:r>
            <a:r>
              <a:rPr lang="ko-KR" altLang="en-US" sz="1800" b="0" dirty="0">
                <a:solidFill>
                  <a:srgbClr val="000000"/>
                </a:solidFill>
                <a:latin typeface="맑은 고딕"/>
              </a:rPr>
              <a:t>가 </a:t>
            </a:r>
            <a:r>
              <a:rPr lang="en-US" altLang="ko-KR" sz="1800" b="0" dirty="0">
                <a:solidFill>
                  <a:srgbClr val="000000"/>
                </a:solidFill>
                <a:latin typeface="맑은 고딕"/>
              </a:rPr>
              <a:t>DLWE </a:t>
            </a:r>
            <a:r>
              <a:rPr lang="ko-KR" altLang="en-US" sz="1800" b="0" dirty="0">
                <a:solidFill>
                  <a:srgbClr val="000000"/>
                </a:solidFill>
                <a:latin typeface="맑은 고딕"/>
              </a:rPr>
              <a:t>인스턴스라 하자</a:t>
            </a:r>
            <a:r>
              <a:rPr lang="en-US" altLang="ko-KR" sz="1800" b="0" dirty="0">
                <a:solidFill>
                  <a:srgbClr val="000000"/>
                </a:solidFill>
                <a:latin typeface="맑은 고딕"/>
              </a:rPr>
              <a:t>. LWE </a:t>
            </a:r>
            <a:r>
              <a:rPr lang="ko-KR" altLang="en-US" sz="1800" b="0" dirty="0" err="1">
                <a:solidFill>
                  <a:srgbClr val="000000"/>
                </a:solidFill>
                <a:latin typeface="맑은 고딕"/>
              </a:rPr>
              <a:t>솔버에</a:t>
            </a:r>
            <a:r>
              <a:rPr lang="ko-KR" altLang="en-US" sz="1800" b="0" dirty="0">
                <a:solidFill>
                  <a:srgbClr val="000000"/>
                </a:solidFill>
                <a:latin typeface="맑은 고딕"/>
              </a:rPr>
              <a:t> </a:t>
            </a:r>
            <a:r>
              <a:rPr lang="en-US" altLang="ko-KR" sz="1800" b="0" dirty="0">
                <a:solidFill>
                  <a:srgbClr val="000000"/>
                </a:solidFill>
                <a:latin typeface="맑은 고딕"/>
              </a:rPr>
              <a:t>(</a:t>
            </a:r>
            <a:r>
              <a:rPr lang="en-US" altLang="ko-KR" sz="1800" b="0" dirty="0" err="1">
                <a:solidFill>
                  <a:srgbClr val="000000"/>
                </a:solidFill>
                <a:latin typeface="맑은 고딕"/>
              </a:rPr>
              <a:t>A,c</a:t>
            </a:r>
            <a:r>
              <a:rPr lang="en-US" altLang="ko-KR" sz="1800" b="0" dirty="0">
                <a:solidFill>
                  <a:srgbClr val="000000"/>
                </a:solidFill>
                <a:latin typeface="맑은 고딕"/>
              </a:rPr>
              <a:t>)</a:t>
            </a:r>
            <a:r>
              <a:rPr lang="ko-KR" altLang="en-US" sz="1800" b="0" dirty="0">
                <a:solidFill>
                  <a:srgbClr val="000000"/>
                </a:solidFill>
                <a:latin typeface="맑은 고딕"/>
              </a:rPr>
              <a:t>를 그대로 실행</a:t>
            </a:r>
          </a:p>
          <a:p>
            <a:pPr>
              <a:spcAft>
                <a:spcPts val="800"/>
              </a:spcAft>
              <a:buFont typeface="Arial"/>
              <a:buChar char="•"/>
            </a:pPr>
            <a:r>
              <a:rPr lang="en-US" altLang="ko-KR" sz="1800" b="0" dirty="0">
                <a:solidFill>
                  <a:srgbClr val="000000"/>
                </a:solidFill>
                <a:latin typeface="맑은 고딕"/>
              </a:rPr>
              <a:t>c=b </a:t>
            </a:r>
            <a:r>
              <a:rPr lang="ko-KR" altLang="en-US" sz="1800" b="0" dirty="0">
                <a:solidFill>
                  <a:srgbClr val="000000"/>
                </a:solidFill>
                <a:latin typeface="맑은 고딕"/>
              </a:rPr>
              <a:t>이면 유일 해 </a:t>
            </a:r>
            <a:r>
              <a:rPr lang="en-US" altLang="ko-KR" sz="1800" b="0" dirty="0">
                <a:solidFill>
                  <a:srgbClr val="000000"/>
                </a:solidFill>
                <a:latin typeface="맑은 고딕"/>
              </a:rPr>
              <a:t>(</a:t>
            </a:r>
            <a:r>
              <a:rPr lang="en-US" altLang="ko-KR" sz="1800" b="0" dirty="0" err="1">
                <a:solidFill>
                  <a:srgbClr val="000000"/>
                </a:solidFill>
                <a:latin typeface="맑은 고딕"/>
              </a:rPr>
              <a:t>s,e</a:t>
            </a:r>
            <a:r>
              <a:rPr lang="en-US" altLang="ko-KR" sz="1800" b="0" dirty="0">
                <a:solidFill>
                  <a:srgbClr val="000000"/>
                </a:solidFill>
                <a:latin typeface="맑은 고딕"/>
              </a:rPr>
              <a:t>)</a:t>
            </a:r>
            <a:r>
              <a:rPr lang="ko-KR" altLang="en-US" sz="1800" b="0" dirty="0">
                <a:solidFill>
                  <a:srgbClr val="000000"/>
                </a:solidFill>
                <a:latin typeface="맑은 고딕"/>
              </a:rPr>
              <a:t>가 존재</a:t>
            </a:r>
            <a:r>
              <a:rPr lang="en-US" altLang="ko-KR" sz="1800" b="0" dirty="0">
                <a:solidFill>
                  <a:srgbClr val="000000"/>
                </a:solidFill>
                <a:latin typeface="맑은 고딕"/>
              </a:rPr>
              <a:t>(</a:t>
            </a:r>
            <a:r>
              <a:rPr lang="ko-KR" altLang="en-US" sz="1800" b="0" dirty="0">
                <a:solidFill>
                  <a:srgbClr val="000000"/>
                </a:solidFill>
                <a:latin typeface="맑은 고딕"/>
              </a:rPr>
              <a:t>기대</a:t>
            </a:r>
            <a:r>
              <a:rPr lang="en-US" altLang="ko-KR" sz="1800" b="0" dirty="0">
                <a:solidFill>
                  <a:srgbClr val="000000"/>
                </a:solidFill>
                <a:latin typeface="맑은 고딕"/>
              </a:rPr>
              <a:t>) → </a:t>
            </a:r>
            <a:r>
              <a:rPr lang="ko-KR" altLang="en-US" sz="1800" b="0" dirty="0" err="1">
                <a:solidFill>
                  <a:srgbClr val="000000"/>
                </a:solidFill>
                <a:latin typeface="맑은 고딕"/>
              </a:rPr>
              <a:t>솔버가</a:t>
            </a:r>
            <a:r>
              <a:rPr lang="ko-KR" altLang="en-US" sz="1800" b="0" dirty="0">
                <a:solidFill>
                  <a:srgbClr val="000000"/>
                </a:solidFill>
                <a:latin typeface="맑은 고딕"/>
              </a:rPr>
              <a:t> 유효한 해 반환</a:t>
            </a:r>
          </a:p>
          <a:p>
            <a:pPr>
              <a:spcAft>
                <a:spcPts val="800"/>
              </a:spcAft>
              <a:buFont typeface="Arial"/>
              <a:buChar char="•"/>
            </a:pPr>
            <a:r>
              <a:rPr lang="en-US" altLang="ko-KR" sz="1800" b="0" dirty="0">
                <a:solidFill>
                  <a:srgbClr val="000000"/>
                </a:solidFill>
                <a:latin typeface="맑은 고딕"/>
              </a:rPr>
              <a:t>c=r </a:t>
            </a:r>
            <a:r>
              <a:rPr lang="ko-KR" altLang="en-US" sz="1800" b="0" dirty="0">
                <a:solidFill>
                  <a:srgbClr val="000000"/>
                </a:solidFill>
                <a:latin typeface="맑은 고딕"/>
              </a:rPr>
              <a:t>이면 해가 존재하지 않음</a:t>
            </a:r>
            <a:r>
              <a:rPr lang="en-US" altLang="ko-KR" sz="1800" b="0" dirty="0">
                <a:solidFill>
                  <a:srgbClr val="000000"/>
                </a:solidFill>
                <a:latin typeface="맑은 고딕"/>
              </a:rPr>
              <a:t>(</a:t>
            </a:r>
            <a:r>
              <a:rPr lang="ko-KR" altLang="en-US" sz="1800" b="0" dirty="0">
                <a:solidFill>
                  <a:srgbClr val="000000"/>
                </a:solidFill>
                <a:latin typeface="맑은 고딕"/>
              </a:rPr>
              <a:t>기대</a:t>
            </a:r>
            <a:r>
              <a:rPr lang="en-US" altLang="ko-KR" sz="1800" b="0" dirty="0">
                <a:solidFill>
                  <a:srgbClr val="000000"/>
                </a:solidFill>
                <a:latin typeface="맑은 고딕"/>
              </a:rPr>
              <a:t>) → </a:t>
            </a:r>
            <a:r>
              <a:rPr lang="ko-KR" altLang="en-US" sz="1800" b="0" dirty="0" err="1">
                <a:solidFill>
                  <a:srgbClr val="000000"/>
                </a:solidFill>
                <a:latin typeface="맑은 고딕"/>
              </a:rPr>
              <a:t>솔버가</a:t>
            </a:r>
            <a:r>
              <a:rPr lang="ko-KR" altLang="en-US" sz="1800" b="0" dirty="0">
                <a:solidFill>
                  <a:srgbClr val="000000"/>
                </a:solidFill>
                <a:latin typeface="맑은 고딕"/>
              </a:rPr>
              <a:t> 실패</a:t>
            </a:r>
          </a:p>
          <a:p>
            <a:pPr>
              <a:spcAft>
                <a:spcPts val="800"/>
              </a:spcAft>
              <a:buFont typeface="Arial"/>
              <a:buChar char="•"/>
            </a:pPr>
            <a:r>
              <a:rPr lang="ko-KR" altLang="en-US" sz="1800" b="0" dirty="0">
                <a:solidFill>
                  <a:srgbClr val="000000"/>
                </a:solidFill>
                <a:latin typeface="맑은 고딕"/>
              </a:rPr>
              <a:t>이 차이로 </a:t>
            </a:r>
            <a:r>
              <a:rPr lang="en-US" altLang="ko-KR" sz="1800" b="0" dirty="0">
                <a:solidFill>
                  <a:srgbClr val="000000"/>
                </a:solidFill>
                <a:latin typeface="맑은 고딕"/>
              </a:rPr>
              <a:t>c=b </a:t>
            </a:r>
            <a:r>
              <a:rPr lang="ko-KR" altLang="en-US" sz="1800" b="0" dirty="0">
                <a:solidFill>
                  <a:srgbClr val="000000"/>
                </a:solidFill>
                <a:latin typeface="맑은 고딕"/>
              </a:rPr>
              <a:t>인지 </a:t>
            </a:r>
            <a:r>
              <a:rPr lang="en-US" altLang="ko-KR" sz="1800" b="0" dirty="0">
                <a:solidFill>
                  <a:srgbClr val="000000"/>
                </a:solidFill>
                <a:latin typeface="맑은 고딕"/>
              </a:rPr>
              <a:t>c=r </a:t>
            </a:r>
            <a:r>
              <a:rPr lang="ko-KR" altLang="en-US" sz="1800" b="0" dirty="0">
                <a:solidFill>
                  <a:srgbClr val="000000"/>
                </a:solidFill>
                <a:latin typeface="맑은 고딕"/>
              </a:rPr>
              <a:t>인지 판별</a:t>
            </a:r>
          </a:p>
          <a:p>
            <a:pPr>
              <a:spcAft>
                <a:spcPts val="800"/>
              </a:spcAft>
              <a:buFont typeface="Arial"/>
              <a:buChar char="•"/>
            </a:pPr>
            <a:r>
              <a:rPr lang="ko-KR" altLang="en-US" sz="1800" b="0" dirty="0">
                <a:solidFill>
                  <a:srgbClr val="000000"/>
                </a:solidFill>
                <a:latin typeface="맑은 고딕"/>
              </a:rPr>
              <a:t>이 환원은 파라미터 </a:t>
            </a:r>
            <a:r>
              <a:rPr lang="en-US" altLang="ko-KR" sz="1800" b="0" dirty="0">
                <a:solidFill>
                  <a:srgbClr val="000000"/>
                </a:solidFill>
                <a:latin typeface="맑은 고딕"/>
              </a:rPr>
              <a:t>(</a:t>
            </a:r>
            <a:r>
              <a:rPr lang="en-US" altLang="ko-KR" sz="1800" b="0" dirty="0" err="1">
                <a:solidFill>
                  <a:srgbClr val="000000"/>
                </a:solidFill>
                <a:latin typeface="맑은 고딕"/>
              </a:rPr>
              <a:t>m,n,q,B</a:t>
            </a:r>
            <a:r>
              <a:rPr lang="en-US" altLang="ko-KR" sz="1800" b="0" dirty="0">
                <a:solidFill>
                  <a:srgbClr val="000000"/>
                </a:solidFill>
                <a:latin typeface="맑은 고딕"/>
              </a:rPr>
              <a:t>) </a:t>
            </a:r>
            <a:r>
              <a:rPr lang="ko-KR" altLang="en-US" sz="1800" b="0" dirty="0">
                <a:solidFill>
                  <a:srgbClr val="000000"/>
                </a:solidFill>
                <a:latin typeface="맑은 고딕"/>
              </a:rPr>
              <a:t>를 그대로 유지</a:t>
            </a:r>
          </a:p>
        </p:txBody>
      </p:sp>
      <p:sp>
        <p:nvSpPr>
          <p:cNvPr id="4" name="슬라이드 번호 개체 틀 3">
            <a:extLst>
              <a:ext uri="{FF2B5EF4-FFF2-40B4-BE49-F238E27FC236}">
                <a16:creationId xmlns:a16="http://schemas.microsoft.com/office/drawing/2014/main" id="{0DBF8370-3B77-ECCA-7494-954A4E451EF7}"/>
              </a:ext>
            </a:extLst>
          </p:cNvPr>
          <p:cNvSpPr>
            <a:spLocks noGrp="1"/>
          </p:cNvSpPr>
          <p:nvPr>
            <p:ph type="sldNum" sz="quarter" idx="12"/>
          </p:nvPr>
        </p:nvSpPr>
        <p:spPr/>
        <p:txBody>
          <a:bodyPr/>
          <a:lstStyle/>
          <a:p>
            <a:fld id="{4438A2D4-3867-488E-A04E-7BFFCAED45A6}" type="slidenum">
              <a:rPr lang="ko-KR" altLang="en-US" smtClean="0"/>
              <a:t>26</a:t>
            </a:fld>
            <a:endParaRPr lang="ko-KR" altLang="en-US"/>
          </a:p>
        </p:txBody>
      </p:sp>
    </p:spTree>
    <p:extLst>
      <p:ext uri="{BB962C8B-B14F-4D97-AF65-F5344CB8AC3E}">
        <p14:creationId xmlns:p14="http://schemas.microsoft.com/office/powerpoint/2010/main" val="41037266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43AC6-B926-0E23-1684-4FBAB5D758D6}"/>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2DEABBAC-0FA6-6B50-7813-2CA91F597782}"/>
              </a:ext>
            </a:extLst>
          </p:cNvPr>
          <p:cNvSpPr>
            <a:spLocks noGrp="1"/>
          </p:cNvSpPr>
          <p:nvPr>
            <p:ph type="title"/>
          </p:nvPr>
        </p:nvSpPr>
        <p:spPr/>
        <p:txBody>
          <a:bodyPr/>
          <a:lstStyle/>
          <a:p>
            <a:r>
              <a:rPr lang="en-US" altLang="ko-KR" sz="2800" b="1" dirty="0">
                <a:solidFill>
                  <a:srgbClr val="000000"/>
                </a:solidFill>
                <a:latin typeface="맑은 고딕"/>
              </a:rPr>
              <a:t>LWE</a:t>
            </a:r>
            <a:r>
              <a:rPr lang="ko-KR" altLang="en-US" sz="2800" b="1" dirty="0">
                <a:solidFill>
                  <a:srgbClr val="000000"/>
                </a:solidFill>
                <a:latin typeface="맑은 고딕"/>
              </a:rPr>
              <a:t>와 </a:t>
            </a:r>
            <a:r>
              <a:rPr lang="en-US" altLang="ko-KR" sz="2800" b="1" dirty="0">
                <a:solidFill>
                  <a:srgbClr val="000000"/>
                </a:solidFill>
                <a:latin typeface="맑은 고딕"/>
              </a:rPr>
              <a:t>DLWE</a:t>
            </a:r>
            <a:r>
              <a:rPr lang="ko-KR" altLang="en-US" sz="2800" b="1" dirty="0">
                <a:solidFill>
                  <a:srgbClr val="000000"/>
                </a:solidFill>
                <a:latin typeface="맑은 고딕"/>
              </a:rPr>
              <a:t>의 계산적 </a:t>
            </a:r>
            <a:r>
              <a:rPr lang="ko-KR" altLang="en-US" sz="2800" b="1" dirty="0" err="1">
                <a:solidFill>
                  <a:srgbClr val="000000"/>
                </a:solidFill>
                <a:latin typeface="맑은 고딕"/>
              </a:rPr>
              <a:t>동치성</a:t>
            </a:r>
            <a:r>
              <a:rPr lang="en-US" altLang="ko-KR" sz="2800" b="1" dirty="0">
                <a:solidFill>
                  <a:srgbClr val="000000"/>
                </a:solidFill>
                <a:latin typeface="맑은 고딕"/>
              </a:rPr>
              <a:t>(2)</a:t>
            </a:r>
            <a:endParaRPr lang="ko-KR" altLang="en-US" dirty="0"/>
          </a:p>
        </p:txBody>
      </p:sp>
      <p:sp>
        <p:nvSpPr>
          <p:cNvPr id="3" name="내용 개체 틀 2">
            <a:extLst>
              <a:ext uri="{FF2B5EF4-FFF2-40B4-BE49-F238E27FC236}">
                <a16:creationId xmlns:a16="http://schemas.microsoft.com/office/drawing/2014/main" id="{021BA83C-4B7C-CC26-1AB6-A2DB779B1BE3}"/>
              </a:ext>
            </a:extLst>
          </p:cNvPr>
          <p:cNvSpPr>
            <a:spLocks noGrp="1"/>
          </p:cNvSpPr>
          <p:nvPr>
            <p:ph idx="1"/>
          </p:nvPr>
        </p:nvSpPr>
        <p:spPr>
          <a:xfrm>
            <a:off x="838200" y="2075552"/>
            <a:ext cx="10515600" cy="3292720"/>
          </a:xfrm>
        </p:spPr>
        <p:txBody>
          <a:bodyPr>
            <a:normAutofit/>
          </a:bodyPr>
          <a:lstStyle/>
          <a:p>
            <a:pPr>
              <a:spcAft>
                <a:spcPts val="800"/>
              </a:spcAft>
              <a:buFont typeface="Arial"/>
              <a:buChar char="•"/>
            </a:pPr>
            <a:r>
              <a:rPr lang="en-US" altLang="ko-KR" sz="1800" b="0" dirty="0">
                <a:solidFill>
                  <a:srgbClr val="000000"/>
                </a:solidFill>
                <a:latin typeface="맑은 고딕"/>
              </a:rPr>
              <a:t>(</a:t>
            </a:r>
            <a:r>
              <a:rPr lang="en-US" altLang="ko-KR" sz="1800" b="0" dirty="0" err="1">
                <a:solidFill>
                  <a:srgbClr val="000000"/>
                </a:solidFill>
                <a:latin typeface="맑은 고딕"/>
              </a:rPr>
              <a:t>A,b</a:t>
            </a:r>
            <a:r>
              <a:rPr lang="en-US" altLang="ko-KR" sz="1800" b="0" dirty="0">
                <a:solidFill>
                  <a:srgbClr val="000000"/>
                </a:solidFill>
                <a:latin typeface="맑은 고딕"/>
              </a:rPr>
              <a:t>)</a:t>
            </a:r>
            <a:r>
              <a:rPr lang="ko-KR" altLang="en-US" sz="1800" b="0" dirty="0">
                <a:solidFill>
                  <a:srgbClr val="000000"/>
                </a:solidFill>
                <a:latin typeface="맑은 고딕"/>
              </a:rPr>
              <a:t>가 </a:t>
            </a:r>
            <a:r>
              <a:rPr lang="en-US" altLang="ko-KR" sz="1800" b="0" dirty="0">
                <a:solidFill>
                  <a:srgbClr val="000000"/>
                </a:solidFill>
                <a:latin typeface="맑은 고딕"/>
              </a:rPr>
              <a:t>LWE </a:t>
            </a:r>
            <a:r>
              <a:rPr lang="ko-KR" altLang="en-US" sz="1800" b="0" dirty="0">
                <a:solidFill>
                  <a:srgbClr val="000000"/>
                </a:solidFill>
                <a:latin typeface="맑은 고딕"/>
              </a:rPr>
              <a:t>인스턴스</a:t>
            </a:r>
            <a:r>
              <a:rPr lang="en-US" altLang="ko-KR" sz="1800" b="0" dirty="0">
                <a:solidFill>
                  <a:srgbClr val="000000"/>
                </a:solidFill>
                <a:latin typeface="맑은 고딕"/>
              </a:rPr>
              <a:t>, s</a:t>
            </a:r>
            <a:r>
              <a:rPr lang="ko-KR" altLang="en-US" sz="1800" b="0" dirty="0">
                <a:solidFill>
                  <a:srgbClr val="000000"/>
                </a:solidFill>
                <a:latin typeface="맑은 고딕"/>
              </a:rPr>
              <a:t>의 좌표를 하나씩 복원</a:t>
            </a:r>
          </a:p>
          <a:p>
            <a:pPr>
              <a:spcAft>
                <a:spcPts val="800"/>
              </a:spcAft>
              <a:buFont typeface="Arial"/>
              <a:buChar char="•"/>
            </a:pPr>
            <a:r>
              <a:rPr lang="en-US" altLang="ko-KR" sz="1800" b="0" dirty="0">
                <a:solidFill>
                  <a:srgbClr val="000000"/>
                </a:solidFill>
                <a:latin typeface="맑은 고딕"/>
              </a:rPr>
              <a:t>s₁=d </a:t>
            </a:r>
            <a:r>
              <a:rPr lang="ko-KR" altLang="en-US" sz="1800" b="0" dirty="0">
                <a:solidFill>
                  <a:srgbClr val="000000"/>
                </a:solidFill>
                <a:latin typeface="맑은 고딕"/>
              </a:rPr>
              <a:t>테스트</a:t>
            </a:r>
            <a:r>
              <a:rPr lang="en-US" altLang="ko-KR" sz="1800" b="0" dirty="0">
                <a:solidFill>
                  <a:srgbClr val="000000"/>
                </a:solidFill>
                <a:latin typeface="맑은 고딕"/>
              </a:rPr>
              <a:t>: Δ∈_R </a:t>
            </a:r>
            <a:r>
              <a:rPr lang="en-US" altLang="ko-KR" sz="1800" b="0" dirty="0" err="1">
                <a:solidFill>
                  <a:srgbClr val="000000"/>
                </a:solidFill>
                <a:latin typeface="맑은 고딕"/>
              </a:rPr>
              <a:t>ℤ_q^m</a:t>
            </a:r>
            <a:r>
              <a:rPr lang="ko-KR" altLang="en-US" sz="1800" b="0" dirty="0">
                <a:solidFill>
                  <a:srgbClr val="000000"/>
                </a:solidFill>
                <a:latin typeface="맑은 고딕"/>
              </a:rPr>
              <a:t> 을 뽑아 </a:t>
            </a:r>
            <a:r>
              <a:rPr lang="en-US" altLang="ko-KR" sz="1800" b="0" dirty="0">
                <a:solidFill>
                  <a:srgbClr val="000000"/>
                </a:solidFill>
                <a:latin typeface="맑은 고딕"/>
              </a:rPr>
              <a:t>A</a:t>
            </a:r>
            <a:r>
              <a:rPr lang="ko-KR" altLang="en-US" sz="1800" b="0" dirty="0">
                <a:solidFill>
                  <a:srgbClr val="000000"/>
                </a:solidFill>
                <a:latin typeface="맑은 고딕"/>
              </a:rPr>
              <a:t>의 첫 열에 </a:t>
            </a:r>
            <a:r>
              <a:rPr lang="en-US" altLang="ko-KR" sz="1800" b="0" dirty="0">
                <a:solidFill>
                  <a:srgbClr val="000000"/>
                </a:solidFill>
                <a:latin typeface="맑은 고딕"/>
              </a:rPr>
              <a:t>Δ</a:t>
            </a:r>
            <a:r>
              <a:rPr lang="ko-KR" altLang="en-US" sz="1800" b="0" dirty="0">
                <a:solidFill>
                  <a:srgbClr val="000000"/>
                </a:solidFill>
                <a:latin typeface="맑은 고딕"/>
              </a:rPr>
              <a:t>를 더한 행렬 </a:t>
            </a:r>
            <a:r>
              <a:rPr lang="en-US" altLang="ko-KR" sz="1800" b="0" dirty="0">
                <a:solidFill>
                  <a:srgbClr val="000000"/>
                </a:solidFill>
                <a:latin typeface="맑은 고딕"/>
              </a:rPr>
              <a:t>A′, b′=</a:t>
            </a:r>
            <a:r>
              <a:rPr lang="en-US" altLang="ko-KR" sz="1800" b="0" dirty="0" err="1">
                <a:solidFill>
                  <a:srgbClr val="000000"/>
                </a:solidFill>
                <a:latin typeface="맑은 고딕"/>
              </a:rPr>
              <a:t>b+dΔ</a:t>
            </a:r>
            <a:endParaRPr lang="ko-KR" altLang="en-US" sz="1800" dirty="0"/>
          </a:p>
          <a:p>
            <a:pPr lvl="1">
              <a:spcAft>
                <a:spcPts val="400"/>
              </a:spcAft>
              <a:buFont typeface="Arial"/>
              <a:buChar char="•"/>
            </a:pPr>
            <a:r>
              <a:rPr lang="en-US" altLang="ko-KR" b="0" dirty="0">
                <a:solidFill>
                  <a:srgbClr val="000000"/>
                </a:solidFill>
                <a:latin typeface="맑은 고딕"/>
              </a:rPr>
              <a:t>s₁=d </a:t>
            </a:r>
            <a:r>
              <a:rPr lang="ko-KR" altLang="en-US" b="0" dirty="0">
                <a:solidFill>
                  <a:srgbClr val="000000"/>
                </a:solidFill>
                <a:latin typeface="맑은 고딕"/>
              </a:rPr>
              <a:t>이면 </a:t>
            </a:r>
            <a:r>
              <a:rPr lang="en-US" altLang="ko-KR" b="0" dirty="0">
                <a:solidFill>
                  <a:srgbClr val="000000"/>
                </a:solidFill>
                <a:latin typeface="맑은 고딕"/>
              </a:rPr>
              <a:t>(</a:t>
            </a:r>
            <a:r>
              <a:rPr lang="en-US" altLang="ko-KR" b="0" dirty="0" err="1">
                <a:solidFill>
                  <a:srgbClr val="000000"/>
                </a:solidFill>
                <a:latin typeface="맑은 고딕"/>
              </a:rPr>
              <a:t>A′,b</a:t>
            </a:r>
            <a:r>
              <a:rPr lang="en-US" altLang="ko-KR" b="0" dirty="0">
                <a:solidFill>
                  <a:srgbClr val="000000"/>
                </a:solidFill>
                <a:latin typeface="맑은 고딕"/>
              </a:rPr>
              <a:t>′)</a:t>
            </a:r>
            <a:r>
              <a:rPr lang="ko-KR" altLang="en-US" b="0" dirty="0">
                <a:solidFill>
                  <a:srgbClr val="000000"/>
                </a:solidFill>
                <a:latin typeface="맑은 고딕"/>
              </a:rPr>
              <a:t>는 유효한 </a:t>
            </a:r>
            <a:r>
              <a:rPr lang="en-US" altLang="ko-KR" b="0" dirty="0">
                <a:solidFill>
                  <a:srgbClr val="000000"/>
                </a:solidFill>
                <a:latin typeface="맑은 고딕"/>
              </a:rPr>
              <a:t>LWE </a:t>
            </a:r>
            <a:r>
              <a:rPr lang="ko-KR" altLang="en-US" b="0" dirty="0">
                <a:solidFill>
                  <a:srgbClr val="000000"/>
                </a:solidFill>
                <a:latin typeface="맑은 고딕"/>
              </a:rPr>
              <a:t>인스턴스</a:t>
            </a:r>
          </a:p>
          <a:p>
            <a:pPr lvl="1">
              <a:spcAft>
                <a:spcPts val="400"/>
              </a:spcAft>
              <a:buFont typeface="Arial"/>
              <a:buChar char="•"/>
            </a:pPr>
            <a:r>
              <a:rPr lang="en-US" altLang="ko-KR" b="0" dirty="0">
                <a:solidFill>
                  <a:srgbClr val="000000"/>
                </a:solidFill>
                <a:latin typeface="맑은 고딕"/>
              </a:rPr>
              <a:t>s₁≠d </a:t>
            </a:r>
            <a:r>
              <a:rPr lang="ko-KR" altLang="en-US" b="0" dirty="0">
                <a:solidFill>
                  <a:srgbClr val="000000"/>
                </a:solidFill>
                <a:latin typeface="맑은 고딕"/>
              </a:rPr>
              <a:t>이면 </a:t>
            </a:r>
            <a:r>
              <a:rPr lang="en-US" altLang="ko-KR" b="0" dirty="0">
                <a:solidFill>
                  <a:srgbClr val="000000"/>
                </a:solidFill>
                <a:latin typeface="맑은 고딕"/>
              </a:rPr>
              <a:t>(</a:t>
            </a:r>
            <a:r>
              <a:rPr lang="en-US" altLang="ko-KR" b="0" dirty="0" err="1">
                <a:solidFill>
                  <a:srgbClr val="000000"/>
                </a:solidFill>
                <a:latin typeface="맑은 고딕"/>
              </a:rPr>
              <a:t>A′,b</a:t>
            </a:r>
            <a:r>
              <a:rPr lang="en-US" altLang="ko-KR" b="0" dirty="0">
                <a:solidFill>
                  <a:srgbClr val="000000"/>
                </a:solidFill>
                <a:latin typeface="맑은 고딕"/>
              </a:rPr>
              <a:t>′)</a:t>
            </a:r>
            <a:r>
              <a:rPr lang="ko-KR" altLang="en-US" b="0" dirty="0">
                <a:solidFill>
                  <a:srgbClr val="000000"/>
                </a:solidFill>
                <a:latin typeface="맑은 고딕"/>
              </a:rPr>
              <a:t>는 균등 난수처럼 보임</a:t>
            </a:r>
          </a:p>
          <a:p>
            <a:pPr>
              <a:spcAft>
                <a:spcPts val="800"/>
              </a:spcAft>
              <a:buFont typeface="Arial"/>
              <a:buChar char="•"/>
            </a:pPr>
            <a:r>
              <a:rPr lang="en-US" altLang="ko-KR" sz="1800" b="0" dirty="0">
                <a:solidFill>
                  <a:srgbClr val="000000"/>
                </a:solidFill>
                <a:latin typeface="맑은 고딕"/>
              </a:rPr>
              <a:t>DLWE </a:t>
            </a:r>
            <a:r>
              <a:rPr lang="ko-KR" altLang="en-US" sz="1800" b="0" dirty="0" err="1">
                <a:solidFill>
                  <a:srgbClr val="000000"/>
                </a:solidFill>
                <a:latin typeface="맑은 고딕"/>
              </a:rPr>
              <a:t>솔버로</a:t>
            </a:r>
            <a:r>
              <a:rPr lang="ko-KR" altLang="en-US" sz="1800" b="0" dirty="0">
                <a:solidFill>
                  <a:srgbClr val="000000"/>
                </a:solidFill>
                <a:latin typeface="맑은 고딕"/>
              </a:rPr>
              <a:t> 구별 → 최대 </a:t>
            </a:r>
            <a:r>
              <a:rPr lang="en-US" altLang="ko-KR" sz="1800" b="0" dirty="0">
                <a:solidFill>
                  <a:srgbClr val="000000"/>
                </a:solidFill>
                <a:latin typeface="맑은 고딕"/>
              </a:rPr>
              <a:t>qn</a:t>
            </a:r>
            <a:r>
              <a:rPr lang="ko-KR" altLang="en-US" sz="1800" b="0" dirty="0">
                <a:solidFill>
                  <a:srgbClr val="000000"/>
                </a:solidFill>
                <a:latin typeface="맑은 고딕"/>
              </a:rPr>
              <a:t>번 반복해 </a:t>
            </a:r>
            <a:r>
              <a:rPr lang="en-US" altLang="ko-KR" sz="1800" b="0" dirty="0">
                <a:solidFill>
                  <a:srgbClr val="000000"/>
                </a:solidFill>
                <a:latin typeface="맑은 고딕"/>
              </a:rPr>
              <a:t>s </a:t>
            </a:r>
            <a:r>
              <a:rPr lang="ko-KR" altLang="en-US" sz="1800" b="0" dirty="0">
                <a:solidFill>
                  <a:srgbClr val="000000"/>
                </a:solidFill>
                <a:latin typeface="맑은 고딕"/>
              </a:rPr>
              <a:t>전체 복원</a:t>
            </a:r>
          </a:p>
        </p:txBody>
      </p:sp>
      <p:sp>
        <p:nvSpPr>
          <p:cNvPr id="4" name="슬라이드 번호 개체 틀 3">
            <a:extLst>
              <a:ext uri="{FF2B5EF4-FFF2-40B4-BE49-F238E27FC236}">
                <a16:creationId xmlns:a16="http://schemas.microsoft.com/office/drawing/2014/main" id="{E2A76D70-122E-23C0-7DAC-A04661D81153}"/>
              </a:ext>
            </a:extLst>
          </p:cNvPr>
          <p:cNvSpPr>
            <a:spLocks noGrp="1"/>
          </p:cNvSpPr>
          <p:nvPr>
            <p:ph type="sldNum" sz="quarter" idx="12"/>
          </p:nvPr>
        </p:nvSpPr>
        <p:spPr/>
        <p:txBody>
          <a:bodyPr/>
          <a:lstStyle/>
          <a:p>
            <a:fld id="{4438A2D4-3867-488E-A04E-7BFFCAED45A6}" type="slidenum">
              <a:rPr lang="ko-KR" altLang="en-US" smtClean="0"/>
              <a:t>27</a:t>
            </a:fld>
            <a:endParaRPr lang="ko-KR" altLang="en-US"/>
          </a:p>
        </p:txBody>
      </p:sp>
      <p:pic>
        <p:nvPicPr>
          <p:cNvPr id="7" name="Picture 3" descr="m_16.png">
            <a:extLst>
              <a:ext uri="{FF2B5EF4-FFF2-40B4-BE49-F238E27FC236}">
                <a16:creationId xmlns:a16="http://schemas.microsoft.com/office/drawing/2014/main" id="{16CD839A-EF60-9BA7-BC54-A3569B9D148C}"/>
              </a:ext>
            </a:extLst>
          </p:cNvPr>
          <p:cNvPicPr>
            <a:picLocks noChangeAspect="1"/>
          </p:cNvPicPr>
          <p:nvPr/>
        </p:nvPicPr>
        <p:blipFill>
          <a:blip r:embed="rId3"/>
          <a:stretch>
            <a:fillRect/>
          </a:stretch>
        </p:blipFill>
        <p:spPr>
          <a:xfrm>
            <a:off x="3992880" y="1302135"/>
            <a:ext cx="4206240" cy="475352"/>
          </a:xfrm>
          <a:prstGeom prst="rect">
            <a:avLst/>
          </a:prstGeom>
        </p:spPr>
      </p:pic>
    </p:spTree>
    <p:extLst>
      <p:ext uri="{BB962C8B-B14F-4D97-AF65-F5344CB8AC3E}">
        <p14:creationId xmlns:p14="http://schemas.microsoft.com/office/powerpoint/2010/main" val="35795543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025C5-703C-D826-0157-1178DC197CD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E57B361A-1D61-7E13-04A3-AF43DA46C945}"/>
              </a:ext>
            </a:extLst>
          </p:cNvPr>
          <p:cNvSpPr>
            <a:spLocks noGrp="1"/>
          </p:cNvSpPr>
          <p:nvPr>
            <p:ph type="title"/>
          </p:nvPr>
        </p:nvSpPr>
        <p:spPr/>
        <p:txBody>
          <a:bodyPr/>
          <a:lstStyle/>
          <a:p>
            <a:r>
              <a:rPr lang="en-US" altLang="ko-KR" sz="2800" b="1" dirty="0">
                <a:solidFill>
                  <a:srgbClr val="000000"/>
                </a:solidFill>
                <a:latin typeface="맑은 고딕"/>
              </a:rPr>
              <a:t>ss-LWE (Short-Secret LWE)</a:t>
            </a:r>
            <a:endParaRPr lang="ko-KR" altLang="en-US" dirty="0"/>
          </a:p>
        </p:txBody>
      </p:sp>
      <p:sp>
        <p:nvSpPr>
          <p:cNvPr id="3" name="내용 개체 틀 2">
            <a:extLst>
              <a:ext uri="{FF2B5EF4-FFF2-40B4-BE49-F238E27FC236}">
                <a16:creationId xmlns:a16="http://schemas.microsoft.com/office/drawing/2014/main" id="{879B4F50-7CD3-D65E-FAED-4FD74CACC440}"/>
              </a:ext>
            </a:extLst>
          </p:cNvPr>
          <p:cNvSpPr>
            <a:spLocks noGrp="1"/>
          </p:cNvSpPr>
          <p:nvPr>
            <p:ph idx="1"/>
          </p:nvPr>
        </p:nvSpPr>
        <p:spPr>
          <a:xfrm>
            <a:off x="838200" y="2150846"/>
            <a:ext cx="10515600" cy="4388383"/>
          </a:xfrm>
        </p:spPr>
        <p:txBody>
          <a:bodyPr wrap="square">
            <a:normAutofit/>
          </a:bodyPr>
          <a:lstStyle/>
          <a:p>
            <a:pPr>
              <a:spcAft>
                <a:spcPts val="800"/>
              </a:spcAft>
              <a:buFont typeface="Arial"/>
              <a:buChar char="•"/>
            </a:pPr>
            <a:r>
              <a:rPr sz="1600" dirty="0" err="1">
                <a:solidFill>
                  <a:srgbClr val="000000"/>
                </a:solidFill>
                <a:latin typeface="맑은 고딕"/>
              </a:rPr>
              <a:t>정의</a:t>
            </a:r>
            <a:r>
              <a:rPr sz="1600" dirty="0">
                <a:solidFill>
                  <a:srgbClr val="000000"/>
                </a:solidFill>
                <a:latin typeface="맑은 고딕"/>
              </a:rPr>
              <a:t>: s ∈_R [−B,B]^n (</a:t>
            </a:r>
            <a:r>
              <a:rPr sz="1600" dirty="0" err="1">
                <a:solidFill>
                  <a:srgbClr val="000000"/>
                </a:solidFill>
                <a:latin typeface="맑은 고딕"/>
              </a:rPr>
              <a:t>비밀도</a:t>
            </a:r>
            <a:r>
              <a:rPr sz="1600" dirty="0">
                <a:solidFill>
                  <a:srgbClr val="000000"/>
                </a:solidFill>
                <a:latin typeface="맑은 고딕"/>
              </a:rPr>
              <a:t> </a:t>
            </a:r>
            <a:r>
              <a:rPr sz="1600" dirty="0" err="1">
                <a:solidFill>
                  <a:srgbClr val="000000"/>
                </a:solidFill>
                <a:latin typeface="맑은 고딕"/>
              </a:rPr>
              <a:t>오차처럼</a:t>
            </a:r>
            <a:r>
              <a:rPr sz="1600" dirty="0">
                <a:solidFill>
                  <a:srgbClr val="000000"/>
                </a:solidFill>
                <a:latin typeface="맑은 고딕"/>
              </a:rPr>
              <a:t> </a:t>
            </a:r>
            <a:r>
              <a:rPr sz="1600" dirty="0" err="1">
                <a:solidFill>
                  <a:srgbClr val="000000"/>
                </a:solidFill>
                <a:latin typeface="맑은 고딕"/>
              </a:rPr>
              <a:t>짧게</a:t>
            </a:r>
            <a:r>
              <a:rPr sz="1600" dirty="0">
                <a:solidFill>
                  <a:srgbClr val="000000"/>
                </a:solidFill>
                <a:latin typeface="맑은 고딕"/>
              </a:rPr>
              <a:t> </a:t>
            </a:r>
            <a:r>
              <a:rPr sz="1600" dirty="0" err="1">
                <a:solidFill>
                  <a:srgbClr val="000000"/>
                </a:solidFill>
                <a:latin typeface="맑은 고딕"/>
              </a:rPr>
              <a:t>제한</a:t>
            </a:r>
            <a:r>
              <a:rPr sz="1600" dirty="0">
                <a:solidFill>
                  <a:srgbClr val="000000"/>
                </a:solidFill>
                <a:latin typeface="맑은 고딕"/>
              </a:rPr>
              <a:t>), e ∈_R [−B,B]^m, A ∈_R </a:t>
            </a:r>
            <a:r>
              <a:rPr sz="1600" dirty="0" err="1">
                <a:solidFill>
                  <a:srgbClr val="000000"/>
                </a:solidFill>
                <a:latin typeface="맑은 고딕"/>
              </a:rPr>
              <a:t>ℤ_q</a:t>
            </a:r>
            <a:r>
              <a:rPr sz="1600" dirty="0">
                <a:solidFill>
                  <a:srgbClr val="000000"/>
                </a:solidFill>
                <a:latin typeface="맑은 고딕"/>
              </a:rPr>
              <a:t>^{</a:t>
            </a:r>
            <a:r>
              <a:rPr sz="1600" dirty="0" err="1">
                <a:solidFill>
                  <a:srgbClr val="000000"/>
                </a:solidFill>
                <a:latin typeface="맑은 고딕"/>
              </a:rPr>
              <a:t>m×n</a:t>
            </a:r>
            <a:r>
              <a:rPr sz="1600" dirty="0">
                <a:solidFill>
                  <a:srgbClr val="000000"/>
                </a:solidFill>
                <a:latin typeface="맑은 고딕"/>
              </a:rPr>
              <a:t>}, b = </a:t>
            </a:r>
            <a:r>
              <a:rPr sz="1600" dirty="0" err="1">
                <a:solidFill>
                  <a:srgbClr val="000000"/>
                </a:solidFill>
                <a:latin typeface="맑은 고딕"/>
              </a:rPr>
              <a:t>As+e</a:t>
            </a:r>
            <a:r>
              <a:rPr sz="1600" dirty="0">
                <a:solidFill>
                  <a:srgbClr val="000000"/>
                </a:solidFill>
                <a:latin typeface="맑은 고딕"/>
              </a:rPr>
              <a:t> (mod q)</a:t>
            </a:r>
          </a:p>
          <a:p>
            <a:pPr>
              <a:buFont typeface="Arial"/>
              <a:buChar char="•"/>
            </a:pPr>
            <a:r>
              <a:rPr sz="1600" dirty="0" err="1">
                <a:solidFill>
                  <a:srgbClr val="000000"/>
                </a:solidFill>
                <a:latin typeface="맑은 고딕"/>
              </a:rPr>
              <a:t>정의역만</a:t>
            </a:r>
            <a:r>
              <a:rPr sz="1600" dirty="0">
                <a:solidFill>
                  <a:srgbClr val="000000"/>
                </a:solidFill>
                <a:latin typeface="맑은 고딕"/>
              </a:rPr>
              <a:t> </a:t>
            </a:r>
            <a:r>
              <a:rPr sz="1600" dirty="0" err="1">
                <a:solidFill>
                  <a:srgbClr val="000000"/>
                </a:solidFill>
                <a:latin typeface="맑은 고딕"/>
              </a:rPr>
              <a:t>다름</a:t>
            </a:r>
            <a:r>
              <a:rPr sz="1600" dirty="0">
                <a:solidFill>
                  <a:srgbClr val="000000"/>
                </a:solidFill>
                <a:latin typeface="맑은 고딕"/>
              </a:rPr>
              <a:t>: s ∈ </a:t>
            </a:r>
            <a:r>
              <a:rPr sz="1600" dirty="0" err="1">
                <a:solidFill>
                  <a:srgbClr val="000000"/>
                </a:solidFill>
                <a:latin typeface="맑은 고딕"/>
              </a:rPr>
              <a:t>ℤ_q^n</a:t>
            </a:r>
            <a:r>
              <a:rPr sz="1600" dirty="0">
                <a:solidFill>
                  <a:srgbClr val="000000"/>
                </a:solidFill>
                <a:latin typeface="맑은 고딕"/>
              </a:rPr>
              <a:t> (LWE)  vs  s ∈ [−B,B]^n (ss-LWE)</a:t>
            </a:r>
          </a:p>
          <a:p>
            <a:pPr>
              <a:buFont typeface="Arial"/>
              <a:buChar char="•"/>
            </a:pPr>
            <a:r>
              <a:rPr sz="1600" dirty="0">
                <a:solidFill>
                  <a:srgbClr val="000000"/>
                </a:solidFill>
                <a:latin typeface="맑은 고딕"/>
              </a:rPr>
              <a:t>왜 이 </a:t>
            </a:r>
            <a:r>
              <a:rPr sz="1600" dirty="0" err="1">
                <a:solidFill>
                  <a:srgbClr val="000000"/>
                </a:solidFill>
                <a:latin typeface="맑은 고딕"/>
              </a:rPr>
              <a:t>변형을</a:t>
            </a:r>
            <a:r>
              <a:rPr sz="1600" dirty="0">
                <a:solidFill>
                  <a:srgbClr val="000000"/>
                </a:solidFill>
                <a:latin typeface="맑은 고딕"/>
              </a:rPr>
              <a:t> </a:t>
            </a:r>
            <a:r>
              <a:rPr sz="1600" dirty="0" err="1">
                <a:solidFill>
                  <a:srgbClr val="000000"/>
                </a:solidFill>
                <a:latin typeface="맑은 고딕"/>
              </a:rPr>
              <a:t>따로</a:t>
            </a:r>
            <a:r>
              <a:rPr sz="1600" dirty="0">
                <a:solidFill>
                  <a:srgbClr val="000000"/>
                </a:solidFill>
                <a:latin typeface="맑은 고딕"/>
              </a:rPr>
              <a:t> </a:t>
            </a:r>
            <a:r>
              <a:rPr sz="1600" dirty="0" err="1">
                <a:solidFill>
                  <a:srgbClr val="000000"/>
                </a:solidFill>
                <a:latin typeface="맑은 고딕"/>
              </a:rPr>
              <a:t>정의하는가</a:t>
            </a:r>
            <a:endParaRPr sz="1600" dirty="0">
              <a:solidFill>
                <a:srgbClr val="000000"/>
              </a:solidFill>
              <a:latin typeface="맑은 고딕"/>
            </a:endParaRPr>
          </a:p>
          <a:p>
            <a:pPr lvl="1">
              <a:buFont typeface="Arial"/>
              <a:buChar char="•"/>
            </a:pPr>
            <a:r>
              <a:rPr sz="1600" dirty="0" err="1">
                <a:solidFill>
                  <a:srgbClr val="000000"/>
                </a:solidFill>
                <a:latin typeface="맑은 고딕"/>
              </a:rPr>
              <a:t>일반</a:t>
            </a:r>
            <a:r>
              <a:rPr sz="1600" dirty="0">
                <a:solidFill>
                  <a:srgbClr val="000000"/>
                </a:solidFill>
                <a:latin typeface="맑은 고딕"/>
              </a:rPr>
              <a:t> </a:t>
            </a:r>
            <a:r>
              <a:rPr sz="1600" dirty="0" err="1">
                <a:solidFill>
                  <a:srgbClr val="000000"/>
                </a:solidFill>
                <a:latin typeface="맑은 고딕"/>
              </a:rPr>
              <a:t>LWE는</a:t>
            </a:r>
            <a:r>
              <a:rPr sz="1600" dirty="0">
                <a:solidFill>
                  <a:srgbClr val="000000"/>
                </a:solidFill>
                <a:latin typeface="맑은 고딕"/>
              </a:rPr>
              <a:t> </a:t>
            </a:r>
            <a:r>
              <a:rPr sz="1600" dirty="0" err="1">
                <a:solidFill>
                  <a:srgbClr val="000000"/>
                </a:solidFill>
                <a:latin typeface="맑은 고딕"/>
              </a:rPr>
              <a:t>유일성을</a:t>
            </a:r>
            <a:r>
              <a:rPr sz="1600" dirty="0">
                <a:solidFill>
                  <a:srgbClr val="000000"/>
                </a:solidFill>
                <a:latin typeface="맑은 고딕"/>
              </a:rPr>
              <a:t> </a:t>
            </a:r>
            <a:r>
              <a:rPr sz="1600" dirty="0" err="1">
                <a:solidFill>
                  <a:srgbClr val="000000"/>
                </a:solidFill>
                <a:latin typeface="맑은 고딕"/>
              </a:rPr>
              <a:t>위해</a:t>
            </a:r>
            <a:r>
              <a:rPr sz="1600" dirty="0">
                <a:solidFill>
                  <a:srgbClr val="000000"/>
                </a:solidFill>
                <a:latin typeface="맑은 고딕"/>
              </a:rPr>
              <a:t> m ≫ n(</a:t>
            </a:r>
            <a:r>
              <a:rPr sz="1600" dirty="0" err="1">
                <a:solidFill>
                  <a:srgbClr val="000000"/>
                </a:solidFill>
                <a:latin typeface="맑은 고딕"/>
              </a:rPr>
              <a:t>키가</a:t>
            </a:r>
            <a:r>
              <a:rPr sz="1600" dirty="0">
                <a:solidFill>
                  <a:srgbClr val="000000"/>
                </a:solidFill>
                <a:latin typeface="맑은 고딕"/>
              </a:rPr>
              <a:t> 큰 </a:t>
            </a:r>
            <a:r>
              <a:rPr sz="1600" dirty="0" err="1">
                <a:solidFill>
                  <a:srgbClr val="000000"/>
                </a:solidFill>
                <a:latin typeface="맑은 고딕"/>
              </a:rPr>
              <a:t>행렬</a:t>
            </a:r>
            <a:r>
              <a:rPr sz="1600" dirty="0">
                <a:solidFill>
                  <a:srgbClr val="000000"/>
                </a:solidFill>
                <a:latin typeface="맑은 고딕"/>
              </a:rPr>
              <a:t>)이 </a:t>
            </a:r>
            <a:r>
              <a:rPr sz="1600" dirty="0" err="1">
                <a:solidFill>
                  <a:srgbClr val="000000"/>
                </a:solidFill>
                <a:latin typeface="맑은 고딕"/>
              </a:rPr>
              <a:t>필요했음</a:t>
            </a:r>
            <a:endParaRPr sz="1600" dirty="0">
              <a:solidFill>
                <a:srgbClr val="000000"/>
              </a:solidFill>
              <a:latin typeface="맑은 고딕"/>
            </a:endParaRPr>
          </a:p>
          <a:p>
            <a:pPr lvl="1">
              <a:buFont typeface="Arial"/>
              <a:buChar char="•"/>
            </a:pPr>
            <a:r>
              <a:rPr sz="1600" dirty="0">
                <a:solidFill>
                  <a:srgbClr val="000000"/>
                </a:solidFill>
                <a:latin typeface="맑은 고딕"/>
              </a:rPr>
              <a:t>ss-</a:t>
            </a:r>
            <a:r>
              <a:rPr sz="1600" dirty="0" err="1">
                <a:solidFill>
                  <a:srgbClr val="000000"/>
                </a:solidFill>
                <a:latin typeface="맑은 고딕"/>
              </a:rPr>
              <a:t>LWE는</a:t>
            </a:r>
            <a:r>
              <a:rPr sz="1600" dirty="0">
                <a:solidFill>
                  <a:srgbClr val="000000"/>
                </a:solidFill>
                <a:latin typeface="맑은 고딕"/>
              </a:rPr>
              <a:t> </a:t>
            </a:r>
            <a:r>
              <a:rPr sz="1600" dirty="0" err="1">
                <a:solidFill>
                  <a:srgbClr val="000000"/>
                </a:solidFill>
                <a:latin typeface="맑은 고딕"/>
              </a:rPr>
              <a:t>비밀을</a:t>
            </a:r>
            <a:r>
              <a:rPr sz="1600" dirty="0">
                <a:solidFill>
                  <a:srgbClr val="000000"/>
                </a:solidFill>
                <a:latin typeface="맑은 고딕"/>
              </a:rPr>
              <a:t> </a:t>
            </a:r>
            <a:r>
              <a:rPr sz="1600" dirty="0" err="1">
                <a:solidFill>
                  <a:srgbClr val="000000"/>
                </a:solidFill>
                <a:latin typeface="맑은 고딕"/>
              </a:rPr>
              <a:t>짧게</a:t>
            </a:r>
            <a:r>
              <a:rPr sz="1600" dirty="0">
                <a:solidFill>
                  <a:srgbClr val="000000"/>
                </a:solidFill>
                <a:latin typeface="맑은 고딕"/>
              </a:rPr>
              <a:t> </a:t>
            </a:r>
            <a:r>
              <a:rPr sz="1600" dirty="0" err="1">
                <a:solidFill>
                  <a:srgbClr val="000000"/>
                </a:solidFill>
                <a:latin typeface="맑은 고딕"/>
              </a:rPr>
              <a:t>제한하는</a:t>
            </a:r>
            <a:r>
              <a:rPr sz="1600" dirty="0">
                <a:solidFill>
                  <a:srgbClr val="000000"/>
                </a:solidFill>
                <a:latin typeface="맑은 고딕"/>
              </a:rPr>
              <a:t> </a:t>
            </a:r>
            <a:r>
              <a:rPr sz="1600" dirty="0" err="1">
                <a:solidFill>
                  <a:srgbClr val="000000"/>
                </a:solidFill>
                <a:latin typeface="맑은 고딕"/>
              </a:rPr>
              <a:t>대신</a:t>
            </a:r>
            <a:r>
              <a:rPr sz="1600" dirty="0">
                <a:solidFill>
                  <a:srgbClr val="000000"/>
                </a:solidFill>
                <a:latin typeface="맑은 고딕"/>
              </a:rPr>
              <a:t> m=n(</a:t>
            </a:r>
            <a:r>
              <a:rPr sz="1600" dirty="0" err="1">
                <a:solidFill>
                  <a:srgbClr val="000000"/>
                </a:solidFill>
                <a:latin typeface="맑은 고딕"/>
              </a:rPr>
              <a:t>정사각</a:t>
            </a:r>
            <a:r>
              <a:rPr sz="1600" dirty="0">
                <a:solidFill>
                  <a:srgbClr val="000000"/>
                </a:solidFill>
                <a:latin typeface="맑은 고딕"/>
              </a:rPr>
              <a:t> </a:t>
            </a:r>
            <a:r>
              <a:rPr sz="1600" dirty="0" err="1">
                <a:solidFill>
                  <a:srgbClr val="000000"/>
                </a:solidFill>
                <a:latin typeface="맑은 고딕"/>
              </a:rPr>
              <a:t>행렬</a:t>
            </a:r>
            <a:r>
              <a:rPr sz="1600" dirty="0">
                <a:solidFill>
                  <a:srgbClr val="000000"/>
                </a:solidFill>
                <a:latin typeface="맑은 고딕"/>
              </a:rPr>
              <a:t>)</a:t>
            </a:r>
            <a:r>
              <a:rPr sz="1600" dirty="0" err="1">
                <a:solidFill>
                  <a:srgbClr val="000000"/>
                </a:solidFill>
                <a:latin typeface="맑은 고딕"/>
              </a:rPr>
              <a:t>만으로도</a:t>
            </a:r>
            <a:r>
              <a:rPr sz="1600" dirty="0">
                <a:solidFill>
                  <a:srgbClr val="000000"/>
                </a:solidFill>
                <a:latin typeface="맑은 고딕"/>
              </a:rPr>
              <a:t> </a:t>
            </a:r>
            <a:r>
              <a:rPr sz="1600" dirty="0" err="1">
                <a:solidFill>
                  <a:srgbClr val="000000"/>
                </a:solidFill>
                <a:latin typeface="맑은 고딕"/>
              </a:rPr>
              <a:t>유일성이</a:t>
            </a:r>
            <a:r>
              <a:rPr sz="1600" dirty="0">
                <a:solidFill>
                  <a:srgbClr val="000000"/>
                </a:solidFill>
                <a:latin typeface="맑은 고딕"/>
              </a:rPr>
              <a:t> </a:t>
            </a:r>
            <a:r>
              <a:rPr sz="1600" dirty="0" err="1">
                <a:solidFill>
                  <a:srgbClr val="000000"/>
                </a:solidFill>
                <a:latin typeface="맑은 고딕"/>
              </a:rPr>
              <a:t>성립</a:t>
            </a:r>
            <a:endParaRPr sz="1600" dirty="0">
              <a:solidFill>
                <a:srgbClr val="000000"/>
              </a:solidFill>
              <a:latin typeface="맑은 고딕"/>
            </a:endParaRPr>
          </a:p>
          <a:p>
            <a:pPr lvl="1">
              <a:buFont typeface="Arial"/>
              <a:buChar char="•"/>
            </a:pPr>
            <a:r>
              <a:rPr sz="1600" dirty="0" err="1">
                <a:solidFill>
                  <a:srgbClr val="000000"/>
                </a:solidFill>
                <a:latin typeface="맑은 고딕"/>
              </a:rPr>
              <a:t>이것이</a:t>
            </a:r>
            <a:r>
              <a:rPr sz="1600" dirty="0">
                <a:solidFill>
                  <a:srgbClr val="000000"/>
                </a:solidFill>
                <a:latin typeface="맑은 고딕"/>
              </a:rPr>
              <a:t> Lindner-Peikert </a:t>
            </a:r>
            <a:r>
              <a:rPr sz="1600" dirty="0" err="1">
                <a:solidFill>
                  <a:srgbClr val="000000"/>
                </a:solidFill>
                <a:latin typeface="맑은 고딕"/>
              </a:rPr>
              <a:t>공개키</a:t>
            </a:r>
            <a:r>
              <a:rPr sz="1600" dirty="0">
                <a:solidFill>
                  <a:srgbClr val="000000"/>
                </a:solidFill>
                <a:latin typeface="맑은 고딕"/>
              </a:rPr>
              <a:t> </a:t>
            </a:r>
            <a:r>
              <a:rPr sz="1600" dirty="0" err="1">
                <a:solidFill>
                  <a:srgbClr val="000000"/>
                </a:solidFill>
                <a:latin typeface="맑은 고딕"/>
              </a:rPr>
              <a:t>암호가</a:t>
            </a:r>
            <a:r>
              <a:rPr sz="1600" dirty="0">
                <a:solidFill>
                  <a:srgbClr val="000000"/>
                </a:solidFill>
                <a:latin typeface="맑은 고딕"/>
              </a:rPr>
              <a:t> </a:t>
            </a:r>
            <a:r>
              <a:rPr sz="1600" dirty="0" err="1">
                <a:solidFill>
                  <a:srgbClr val="000000"/>
                </a:solidFill>
                <a:latin typeface="맑은 고딕"/>
              </a:rPr>
              <a:t>작은</a:t>
            </a:r>
            <a:r>
              <a:rPr sz="1600" dirty="0">
                <a:solidFill>
                  <a:srgbClr val="000000"/>
                </a:solidFill>
                <a:latin typeface="맑은 고딕"/>
              </a:rPr>
              <a:t> </a:t>
            </a:r>
            <a:r>
              <a:rPr sz="1600" dirty="0" err="1">
                <a:solidFill>
                  <a:srgbClr val="000000"/>
                </a:solidFill>
                <a:latin typeface="맑은 고딕"/>
              </a:rPr>
              <a:t>정사각</a:t>
            </a:r>
            <a:r>
              <a:rPr sz="1600" dirty="0">
                <a:solidFill>
                  <a:srgbClr val="000000"/>
                </a:solidFill>
                <a:latin typeface="맑은 고딕"/>
              </a:rPr>
              <a:t> </a:t>
            </a:r>
            <a:r>
              <a:rPr sz="1600" dirty="0" err="1">
                <a:solidFill>
                  <a:srgbClr val="000000"/>
                </a:solidFill>
                <a:latin typeface="맑은 고딕"/>
              </a:rPr>
              <a:t>공개키만으로</a:t>
            </a:r>
            <a:r>
              <a:rPr sz="1600" dirty="0">
                <a:solidFill>
                  <a:srgbClr val="000000"/>
                </a:solidFill>
                <a:latin typeface="맑은 고딕"/>
              </a:rPr>
              <a:t> </a:t>
            </a:r>
            <a:r>
              <a:rPr sz="1600" dirty="0" err="1">
                <a:solidFill>
                  <a:srgbClr val="000000"/>
                </a:solidFill>
                <a:latin typeface="맑은 고딕"/>
              </a:rPr>
              <a:t>안전하게</a:t>
            </a:r>
            <a:r>
              <a:rPr sz="1600" dirty="0">
                <a:solidFill>
                  <a:srgbClr val="000000"/>
                </a:solidFill>
                <a:latin typeface="맑은 고딕"/>
              </a:rPr>
              <a:t> </a:t>
            </a:r>
            <a:r>
              <a:rPr sz="1600" dirty="0" err="1">
                <a:solidFill>
                  <a:srgbClr val="000000"/>
                </a:solidFill>
                <a:latin typeface="맑은 고딕"/>
              </a:rPr>
              <a:t>동작하는</a:t>
            </a:r>
            <a:r>
              <a:rPr sz="1600" dirty="0">
                <a:solidFill>
                  <a:srgbClr val="000000"/>
                </a:solidFill>
                <a:latin typeface="맑은 고딕"/>
              </a:rPr>
              <a:t> </a:t>
            </a:r>
            <a:r>
              <a:rPr sz="1600" dirty="0" err="1">
                <a:solidFill>
                  <a:srgbClr val="000000"/>
                </a:solidFill>
                <a:latin typeface="맑은 고딕"/>
              </a:rPr>
              <a:t>이유</a:t>
            </a:r>
            <a:endParaRPr sz="1600" dirty="0">
              <a:solidFill>
                <a:srgbClr val="000000"/>
              </a:solidFill>
              <a:latin typeface="맑은 고딕"/>
            </a:endParaRPr>
          </a:p>
          <a:p>
            <a:pPr>
              <a:buFont typeface="Arial"/>
              <a:buChar char="•"/>
            </a:pPr>
            <a:r>
              <a:rPr sz="1600" dirty="0" err="1">
                <a:solidFill>
                  <a:srgbClr val="000000"/>
                </a:solidFill>
                <a:latin typeface="맑은 고딕"/>
              </a:rPr>
              <a:t>이렇게</a:t>
            </a:r>
            <a:r>
              <a:rPr sz="1600" dirty="0">
                <a:solidFill>
                  <a:srgbClr val="000000"/>
                </a:solidFill>
                <a:latin typeface="맑은 고딕"/>
              </a:rPr>
              <a:t> </a:t>
            </a:r>
            <a:r>
              <a:rPr sz="1600" dirty="0" err="1">
                <a:solidFill>
                  <a:srgbClr val="000000"/>
                </a:solidFill>
                <a:latin typeface="맑은 고딕"/>
              </a:rPr>
              <a:t>제한해도</a:t>
            </a:r>
            <a:r>
              <a:rPr sz="1600" dirty="0">
                <a:solidFill>
                  <a:srgbClr val="000000"/>
                </a:solidFill>
                <a:latin typeface="맑은 고딕"/>
              </a:rPr>
              <a:t> </a:t>
            </a:r>
            <a:r>
              <a:rPr sz="1600" dirty="0" err="1">
                <a:solidFill>
                  <a:srgbClr val="000000"/>
                </a:solidFill>
                <a:latin typeface="맑은 고딕"/>
              </a:rPr>
              <a:t>문제가</a:t>
            </a:r>
            <a:r>
              <a:rPr sz="1600" dirty="0">
                <a:solidFill>
                  <a:srgbClr val="000000"/>
                </a:solidFill>
                <a:latin typeface="맑은 고딕"/>
              </a:rPr>
              <a:t> </a:t>
            </a:r>
            <a:r>
              <a:rPr sz="1600" dirty="0" err="1">
                <a:solidFill>
                  <a:srgbClr val="000000"/>
                </a:solidFill>
                <a:latin typeface="맑은 고딕"/>
              </a:rPr>
              <a:t>쉬워지지</a:t>
            </a:r>
            <a:r>
              <a:rPr sz="1600" dirty="0">
                <a:solidFill>
                  <a:srgbClr val="000000"/>
                </a:solidFill>
                <a:latin typeface="맑은 고딕"/>
              </a:rPr>
              <a:t> </a:t>
            </a:r>
            <a:r>
              <a:rPr sz="1600" dirty="0" err="1">
                <a:solidFill>
                  <a:srgbClr val="000000"/>
                </a:solidFill>
                <a:latin typeface="맑은 고딕"/>
              </a:rPr>
              <a:t>않는다</a:t>
            </a:r>
            <a:r>
              <a:rPr sz="1600" dirty="0">
                <a:solidFill>
                  <a:srgbClr val="000000"/>
                </a:solidFill>
                <a:latin typeface="맑은 고딕"/>
              </a:rPr>
              <a:t>: ss-LWE ≤ LWE </a:t>
            </a:r>
            <a:r>
              <a:rPr sz="1600" dirty="0" err="1">
                <a:solidFill>
                  <a:srgbClr val="000000"/>
                </a:solidFill>
                <a:latin typeface="맑은 고딕"/>
              </a:rPr>
              <a:t>이자</a:t>
            </a:r>
            <a:r>
              <a:rPr sz="1600" dirty="0">
                <a:solidFill>
                  <a:srgbClr val="000000"/>
                </a:solidFill>
                <a:latin typeface="맑은 고딕"/>
              </a:rPr>
              <a:t> LWE ≤ ss-LWE</a:t>
            </a:r>
          </a:p>
        </p:txBody>
      </p:sp>
      <p:sp>
        <p:nvSpPr>
          <p:cNvPr id="4" name="슬라이드 번호 개체 틀 3">
            <a:extLst>
              <a:ext uri="{FF2B5EF4-FFF2-40B4-BE49-F238E27FC236}">
                <a16:creationId xmlns:a16="http://schemas.microsoft.com/office/drawing/2014/main" id="{6E67D6B6-16DD-43FF-6A73-067C398FADAD}"/>
              </a:ext>
            </a:extLst>
          </p:cNvPr>
          <p:cNvSpPr>
            <a:spLocks noGrp="1"/>
          </p:cNvSpPr>
          <p:nvPr>
            <p:ph type="sldNum" sz="quarter" idx="12"/>
          </p:nvPr>
        </p:nvSpPr>
        <p:spPr/>
        <p:txBody>
          <a:bodyPr/>
          <a:lstStyle/>
          <a:p>
            <a:fld id="{4438A2D4-3867-488E-A04E-7BFFCAED45A6}" type="slidenum">
              <a:rPr lang="ko-KR" altLang="en-US" smtClean="0"/>
              <a:t>28</a:t>
            </a:fld>
            <a:endParaRPr lang="ko-KR" altLang="en-US" dirty="0"/>
          </a:p>
        </p:txBody>
      </p:sp>
      <p:cxnSp>
        <p:nvCxnSpPr>
          <p:cNvPr id="20" name="Connector 5">
            <a:extLst>
              <a:ext uri="{FF2B5EF4-FFF2-40B4-BE49-F238E27FC236}">
                <a16:creationId xmlns:a16="http://schemas.microsoft.com/office/drawing/2014/main" id="{0E857EC6-F2E5-D2E1-868B-CF68FDD455D9}"/>
              </a:ext>
            </a:extLst>
          </p:cNvPr>
          <p:cNvCxnSpPr/>
          <p:nvPr/>
        </p:nvCxnSpPr>
        <p:spPr>
          <a:xfrm>
            <a:off x="3108960" y="1693646"/>
            <a:ext cx="5943600" cy="0"/>
          </a:xfrm>
          <a:prstGeom prst="line">
            <a:avLst/>
          </a:prstGeom>
          <a:ln w="19050">
            <a:solidFill>
              <a:srgbClr val="C7CBD3"/>
            </a:solidFill>
          </a:ln>
        </p:spPr>
        <p:style>
          <a:lnRef idx="2">
            <a:schemeClr val="accent1"/>
          </a:lnRef>
          <a:fillRef idx="0">
            <a:schemeClr val="accent1"/>
          </a:fillRef>
          <a:effectRef idx="1">
            <a:schemeClr val="accent1"/>
          </a:effectRef>
          <a:fontRef idx="minor">
            <a:schemeClr val="tx1"/>
          </a:fontRef>
        </p:style>
      </p:cxnSp>
      <p:sp>
        <p:nvSpPr>
          <p:cNvPr id="21" name="Rectangle 6">
            <a:extLst>
              <a:ext uri="{FF2B5EF4-FFF2-40B4-BE49-F238E27FC236}">
                <a16:creationId xmlns:a16="http://schemas.microsoft.com/office/drawing/2014/main" id="{8C2F3EBE-24E4-D455-FA55-757C0274E17E}"/>
              </a:ext>
            </a:extLst>
          </p:cNvPr>
          <p:cNvSpPr/>
          <p:nvPr/>
        </p:nvSpPr>
        <p:spPr>
          <a:xfrm>
            <a:off x="5605272" y="1611350"/>
            <a:ext cx="950976" cy="164592"/>
          </a:xfrm>
          <a:prstGeom prst="rect">
            <a:avLst/>
          </a:prstGeom>
          <a:solidFill>
            <a:srgbClr val="B336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BC88A08E-DE55-8D07-17CD-4E8EFD54E5DC}"/>
              </a:ext>
            </a:extLst>
          </p:cNvPr>
          <p:cNvSpPr txBox="1"/>
          <p:nvPr/>
        </p:nvSpPr>
        <p:spPr>
          <a:xfrm>
            <a:off x="5605272" y="1830806"/>
            <a:ext cx="950976" cy="320040"/>
          </a:xfrm>
          <a:prstGeom prst="rect">
            <a:avLst/>
          </a:prstGeom>
          <a:noFill/>
        </p:spPr>
        <p:txBody>
          <a:bodyPr wrap="square" lIns="0" tIns="0" rIns="0" bIns="0" anchor="t">
            <a:spAutoFit/>
          </a:bodyPr>
          <a:lstStyle/>
          <a:p>
            <a:pPr algn="ctr">
              <a:lnSpc>
                <a:spcPct val="115000"/>
              </a:lnSpc>
            </a:pPr>
            <a:r>
              <a:rPr sz="1300" b="0" i="0">
                <a:solidFill>
                  <a:srgbClr val="000000"/>
                </a:solidFill>
                <a:latin typeface="맑은 고딕"/>
              </a:rPr>
              <a:t>sᵢ ∈ [-B,B]</a:t>
            </a:r>
          </a:p>
        </p:txBody>
      </p:sp>
      <p:sp>
        <p:nvSpPr>
          <p:cNvPr id="23" name="TextBox 22">
            <a:extLst>
              <a:ext uri="{FF2B5EF4-FFF2-40B4-BE49-F238E27FC236}">
                <a16:creationId xmlns:a16="http://schemas.microsoft.com/office/drawing/2014/main" id="{C9CC0459-C325-CDF2-EFAB-F55DCE250E9B}"/>
              </a:ext>
            </a:extLst>
          </p:cNvPr>
          <p:cNvSpPr txBox="1"/>
          <p:nvPr/>
        </p:nvSpPr>
        <p:spPr>
          <a:xfrm>
            <a:off x="2971800" y="1442186"/>
            <a:ext cx="822960" cy="274320"/>
          </a:xfrm>
          <a:prstGeom prst="rect">
            <a:avLst/>
          </a:prstGeom>
          <a:noFill/>
        </p:spPr>
        <p:txBody>
          <a:bodyPr wrap="square" lIns="0" tIns="0" rIns="0" bIns="0" anchor="t">
            <a:spAutoFit/>
          </a:bodyPr>
          <a:lstStyle/>
          <a:p>
            <a:pPr algn="l">
              <a:lnSpc>
                <a:spcPct val="115000"/>
              </a:lnSpc>
            </a:pPr>
            <a:r>
              <a:rPr sz="1400" b="0" i="1">
                <a:solidFill>
                  <a:srgbClr val="000000"/>
                </a:solidFill>
                <a:latin typeface="맑은 고딕"/>
              </a:rPr>
              <a:t>-q</a:t>
            </a:r>
          </a:p>
        </p:txBody>
      </p:sp>
      <p:sp>
        <p:nvSpPr>
          <p:cNvPr id="24" name="TextBox 23">
            <a:extLst>
              <a:ext uri="{FF2B5EF4-FFF2-40B4-BE49-F238E27FC236}">
                <a16:creationId xmlns:a16="http://schemas.microsoft.com/office/drawing/2014/main" id="{F7176FE3-C19B-C2EF-7C8D-6BD326604D2B}"/>
              </a:ext>
            </a:extLst>
          </p:cNvPr>
          <p:cNvSpPr txBox="1"/>
          <p:nvPr/>
        </p:nvSpPr>
        <p:spPr>
          <a:xfrm>
            <a:off x="8366760" y="1442186"/>
            <a:ext cx="822960" cy="274320"/>
          </a:xfrm>
          <a:prstGeom prst="rect">
            <a:avLst/>
          </a:prstGeom>
          <a:noFill/>
        </p:spPr>
        <p:txBody>
          <a:bodyPr wrap="square" lIns="0" tIns="0" rIns="0" bIns="0" anchor="t">
            <a:spAutoFit/>
          </a:bodyPr>
          <a:lstStyle/>
          <a:p>
            <a:pPr algn="r">
              <a:lnSpc>
                <a:spcPct val="115000"/>
              </a:lnSpc>
            </a:pPr>
            <a:r>
              <a:rPr sz="1400" b="0" i="1">
                <a:solidFill>
                  <a:srgbClr val="000000"/>
                </a:solidFill>
                <a:latin typeface="맑은 고딕"/>
              </a:rPr>
              <a:t>q</a:t>
            </a:r>
          </a:p>
        </p:txBody>
      </p:sp>
    </p:spTree>
    <p:extLst>
      <p:ext uri="{BB962C8B-B14F-4D97-AF65-F5344CB8AC3E}">
        <p14:creationId xmlns:p14="http://schemas.microsoft.com/office/powerpoint/2010/main" val="31550836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2E3D2-36D8-C32B-FAA7-4C3736546759}"/>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B15D1A89-ACC7-33B7-929D-B539DD887CA8}"/>
              </a:ext>
            </a:extLst>
          </p:cNvPr>
          <p:cNvSpPr>
            <a:spLocks noGrp="1"/>
          </p:cNvSpPr>
          <p:nvPr>
            <p:ph type="title"/>
          </p:nvPr>
        </p:nvSpPr>
        <p:spPr/>
        <p:txBody>
          <a:bodyPr/>
          <a:lstStyle/>
          <a:p>
            <a:r>
              <a:rPr lang="en-US" altLang="ko-KR" sz="2800" b="1" dirty="0">
                <a:solidFill>
                  <a:srgbClr val="000000"/>
                </a:solidFill>
                <a:latin typeface="맑은 고딕"/>
              </a:rPr>
              <a:t>ss-LWE</a:t>
            </a:r>
            <a:r>
              <a:rPr lang="ko-KR" altLang="en-US" sz="2800" b="1" dirty="0">
                <a:solidFill>
                  <a:srgbClr val="000000"/>
                </a:solidFill>
                <a:latin typeface="맑은 고딕"/>
              </a:rPr>
              <a:t> 유일성 조건</a:t>
            </a:r>
          </a:p>
        </p:txBody>
      </p:sp>
      <p:sp>
        <p:nvSpPr>
          <p:cNvPr id="3" name="내용 개체 틀 2">
            <a:extLst>
              <a:ext uri="{FF2B5EF4-FFF2-40B4-BE49-F238E27FC236}">
                <a16:creationId xmlns:a16="http://schemas.microsoft.com/office/drawing/2014/main" id="{77848D0E-5799-E9FC-B31B-07B6AA6905DF}"/>
              </a:ext>
            </a:extLst>
          </p:cNvPr>
          <p:cNvSpPr>
            <a:spLocks noGrp="1"/>
          </p:cNvSpPr>
          <p:nvPr>
            <p:ph idx="1"/>
          </p:nvPr>
        </p:nvSpPr>
        <p:spPr>
          <a:xfrm>
            <a:off x="838200" y="1703330"/>
            <a:ext cx="10515600" cy="4207120"/>
          </a:xfrm>
        </p:spPr>
        <p:txBody>
          <a:bodyPr>
            <a:normAutofit/>
          </a:bodyPr>
          <a:lstStyle/>
          <a:p>
            <a:pPr>
              <a:spcAft>
                <a:spcPts val="800"/>
              </a:spcAft>
              <a:buFont typeface="Arial"/>
              <a:buChar char="•"/>
            </a:pPr>
            <a:r>
              <a:rPr lang="en-US" altLang="ko-KR" sz="1600" dirty="0">
                <a:solidFill>
                  <a:srgbClr val="000000"/>
                </a:solidFill>
                <a:latin typeface="맑은 고딕"/>
              </a:rPr>
              <a:t>LWE</a:t>
            </a:r>
            <a:r>
              <a:rPr lang="ko-KR" altLang="en-US" sz="1600" dirty="0">
                <a:solidFill>
                  <a:srgbClr val="000000"/>
                </a:solidFill>
                <a:latin typeface="맑은 고딕"/>
              </a:rPr>
              <a:t>는 유일성에 </a:t>
            </a:r>
            <a:r>
              <a:rPr lang="en-US" altLang="ko-KR" sz="1600" dirty="0">
                <a:solidFill>
                  <a:srgbClr val="000000"/>
                </a:solidFill>
                <a:latin typeface="맑은 고딕"/>
              </a:rPr>
              <a:t>m ≫ n </a:t>
            </a:r>
            <a:r>
              <a:rPr lang="ko-KR" altLang="en-US" sz="1600" dirty="0">
                <a:solidFill>
                  <a:srgbClr val="000000"/>
                </a:solidFill>
                <a:latin typeface="맑은 고딕"/>
              </a:rPr>
              <a:t>필요</a:t>
            </a:r>
            <a:r>
              <a:rPr lang="en-US" altLang="ko-KR" sz="1600" dirty="0">
                <a:solidFill>
                  <a:srgbClr val="000000"/>
                </a:solidFill>
                <a:latin typeface="맑은 고딕"/>
              </a:rPr>
              <a:t>, ss-LWE</a:t>
            </a:r>
            <a:r>
              <a:rPr lang="ko-KR" altLang="en-US" sz="1600" dirty="0">
                <a:solidFill>
                  <a:srgbClr val="000000"/>
                </a:solidFill>
                <a:latin typeface="맑은 고딕"/>
              </a:rPr>
              <a:t>는 </a:t>
            </a:r>
            <a:r>
              <a:rPr lang="en-US" altLang="ko-KR" sz="1600" dirty="0">
                <a:solidFill>
                  <a:srgbClr val="000000"/>
                </a:solidFill>
                <a:latin typeface="맑은 고딕"/>
              </a:rPr>
              <a:t>n ≪ m </a:t>
            </a:r>
            <a:r>
              <a:rPr lang="ko-KR" altLang="en-US" sz="1600" dirty="0">
                <a:solidFill>
                  <a:srgbClr val="000000"/>
                </a:solidFill>
                <a:latin typeface="맑은 고딕"/>
              </a:rPr>
              <a:t>조건 없이도 해가 높은 확률로 유일</a:t>
            </a:r>
          </a:p>
          <a:p>
            <a:pPr lvl="1">
              <a:spcAft>
                <a:spcPts val="400"/>
              </a:spcAft>
              <a:buFont typeface="Arial"/>
              <a:buChar char="•"/>
            </a:pPr>
            <a:r>
              <a:rPr lang="en-US" altLang="ko-KR" sz="1600" dirty="0" err="1">
                <a:solidFill>
                  <a:srgbClr val="000000"/>
                </a:solidFill>
                <a:latin typeface="맑은 고딕"/>
              </a:rPr>
              <a:t>Δs</a:t>
            </a:r>
            <a:r>
              <a:rPr lang="ko-KR" altLang="en-US" sz="1600" dirty="0">
                <a:solidFill>
                  <a:srgbClr val="000000"/>
                </a:solidFill>
                <a:latin typeface="맑은 고딕"/>
              </a:rPr>
              <a:t> 후보가 </a:t>
            </a:r>
            <a:r>
              <a:rPr lang="en-US" altLang="ko-KR" sz="1600" dirty="0" err="1">
                <a:solidFill>
                  <a:srgbClr val="000000"/>
                </a:solidFill>
                <a:latin typeface="맑은 고딕"/>
              </a:rPr>
              <a:t>ℤ_q^n</a:t>
            </a:r>
            <a:r>
              <a:rPr lang="ko-KR" altLang="en-US" sz="1600" dirty="0">
                <a:solidFill>
                  <a:srgbClr val="000000"/>
                </a:solidFill>
                <a:latin typeface="맑은 고딕"/>
              </a:rPr>
              <a:t> 전체</a:t>
            </a:r>
            <a:r>
              <a:rPr lang="en-US" altLang="ko-KR" sz="1600" dirty="0">
                <a:solidFill>
                  <a:srgbClr val="000000"/>
                </a:solidFill>
                <a:latin typeface="맑은 고딕"/>
              </a:rPr>
              <a:t>(</a:t>
            </a:r>
            <a:r>
              <a:rPr lang="en-US" altLang="ko-KR" sz="1600" dirty="0" err="1">
                <a:solidFill>
                  <a:srgbClr val="000000"/>
                </a:solidFill>
                <a:latin typeface="맑은 고딕"/>
              </a:rPr>
              <a:t>q^n</a:t>
            </a:r>
            <a:r>
              <a:rPr lang="ko-KR" altLang="en-US" sz="1600" dirty="0">
                <a:solidFill>
                  <a:srgbClr val="000000"/>
                </a:solidFill>
                <a:latin typeface="맑은 고딕"/>
              </a:rPr>
              <a:t>개</a:t>
            </a:r>
            <a:r>
              <a:rPr lang="en-US" altLang="ko-KR" sz="1600" dirty="0">
                <a:solidFill>
                  <a:srgbClr val="000000"/>
                </a:solidFill>
                <a:latin typeface="맑은 고딕"/>
              </a:rPr>
              <a:t>)</a:t>
            </a:r>
            <a:r>
              <a:rPr lang="ko-KR" altLang="en-US" sz="1600" dirty="0">
                <a:solidFill>
                  <a:srgbClr val="000000"/>
                </a:solidFill>
                <a:latin typeface="맑은 고딕"/>
              </a:rPr>
              <a:t>가 아니라 </a:t>
            </a:r>
            <a:r>
              <a:rPr lang="en-US" altLang="ko-KR" sz="1600" dirty="0">
                <a:solidFill>
                  <a:srgbClr val="000000"/>
                </a:solidFill>
                <a:latin typeface="맑은 고딕"/>
              </a:rPr>
              <a:t>[−2B,2B]^n </a:t>
            </a:r>
            <a:r>
              <a:rPr lang="ko-KR" altLang="en-US" sz="1600" dirty="0">
                <a:solidFill>
                  <a:srgbClr val="000000"/>
                </a:solidFill>
                <a:latin typeface="맑은 고딕"/>
              </a:rPr>
              <a:t>안 </a:t>
            </a:r>
            <a:r>
              <a:rPr lang="en-US" altLang="ko-KR" sz="1600" dirty="0">
                <a:solidFill>
                  <a:srgbClr val="000000"/>
                </a:solidFill>
                <a:latin typeface="맑은 고딕"/>
              </a:rPr>
              <a:t>((4B+1)^n</a:t>
            </a:r>
            <a:r>
              <a:rPr lang="ko-KR" altLang="en-US" sz="1600" dirty="0">
                <a:solidFill>
                  <a:srgbClr val="000000"/>
                </a:solidFill>
                <a:latin typeface="맑은 고딕"/>
              </a:rPr>
              <a:t>개</a:t>
            </a:r>
            <a:r>
              <a:rPr lang="en-US" altLang="ko-KR" sz="1600" dirty="0">
                <a:solidFill>
                  <a:srgbClr val="000000"/>
                </a:solidFill>
                <a:latin typeface="맑은 고딕"/>
              </a:rPr>
              <a:t>)</a:t>
            </a:r>
            <a:r>
              <a:rPr lang="ko-KR" altLang="en-US" sz="1600" dirty="0">
                <a:solidFill>
                  <a:srgbClr val="000000"/>
                </a:solidFill>
                <a:latin typeface="맑은 고딕"/>
              </a:rPr>
              <a:t>으로 줄어들기 때문</a:t>
            </a:r>
          </a:p>
          <a:p>
            <a:pPr>
              <a:spcAft>
                <a:spcPts val="800"/>
              </a:spcAft>
              <a:buFont typeface="Arial"/>
              <a:buChar char="•"/>
            </a:pPr>
            <a:r>
              <a:rPr lang="ko-KR" altLang="en-US" sz="1600" dirty="0">
                <a:solidFill>
                  <a:srgbClr val="000000"/>
                </a:solidFill>
                <a:latin typeface="맑은 고딕"/>
              </a:rPr>
              <a:t>예</a:t>
            </a:r>
            <a:r>
              <a:rPr lang="en-US" altLang="ko-KR" sz="1600" dirty="0">
                <a:solidFill>
                  <a:srgbClr val="000000"/>
                </a:solidFill>
                <a:latin typeface="맑은 고딕"/>
              </a:rPr>
              <a:t>: q=997, n=m=4, B=5</a:t>
            </a:r>
          </a:p>
          <a:p>
            <a:pPr lvl="1">
              <a:spcAft>
                <a:spcPts val="400"/>
              </a:spcAft>
              <a:buFont typeface="Arial"/>
              <a:buChar char="•"/>
            </a:pPr>
            <a:r>
              <a:rPr lang="ko-KR" altLang="en-US" sz="1600" dirty="0">
                <a:solidFill>
                  <a:srgbClr val="000000"/>
                </a:solidFill>
                <a:latin typeface="맑은 고딕"/>
              </a:rPr>
              <a:t>일반 </a:t>
            </a:r>
            <a:r>
              <a:rPr lang="en-US" altLang="ko-KR" sz="1600" dirty="0">
                <a:solidFill>
                  <a:srgbClr val="000000"/>
                </a:solidFill>
                <a:latin typeface="맑은 고딕"/>
              </a:rPr>
              <a:t>LWE</a:t>
            </a:r>
            <a:r>
              <a:rPr lang="ko-KR" altLang="en-US" sz="1600" dirty="0">
                <a:solidFill>
                  <a:srgbClr val="000000"/>
                </a:solidFill>
                <a:latin typeface="맑은 고딕"/>
              </a:rPr>
              <a:t>라면</a:t>
            </a:r>
            <a:r>
              <a:rPr lang="en-US" altLang="ko-KR" sz="1600" dirty="0">
                <a:solidFill>
                  <a:srgbClr val="000000"/>
                </a:solidFill>
                <a:latin typeface="맑은 고딕"/>
              </a:rPr>
              <a:t>: (q^n−1)((4B+1)/q)^m ≈ 1.9×10⁵ → </a:t>
            </a:r>
            <a:r>
              <a:rPr lang="ko-KR" altLang="en-US" sz="1600" dirty="0">
                <a:solidFill>
                  <a:srgbClr val="000000"/>
                </a:solidFill>
                <a:latin typeface="맑은 고딕"/>
              </a:rPr>
              <a:t>유일성 전혀 보장 안 됨</a:t>
            </a:r>
          </a:p>
          <a:p>
            <a:pPr lvl="1">
              <a:spcAft>
                <a:spcPts val="400"/>
              </a:spcAft>
              <a:buFont typeface="Arial"/>
              <a:buChar char="•"/>
            </a:pPr>
            <a:r>
              <a:rPr lang="ko-KR" altLang="en-US" sz="1600" dirty="0">
                <a:solidFill>
                  <a:srgbClr val="000000"/>
                </a:solidFill>
                <a:latin typeface="맑은 고딕"/>
              </a:rPr>
              <a:t>실제 </a:t>
            </a:r>
            <a:r>
              <a:rPr lang="en-US" altLang="ko-KR" sz="1600" dirty="0">
                <a:solidFill>
                  <a:srgbClr val="000000"/>
                </a:solidFill>
                <a:latin typeface="맑은 고딕"/>
              </a:rPr>
              <a:t>ss-LWE</a:t>
            </a:r>
            <a:r>
              <a:rPr lang="ko-KR" altLang="en-US" sz="1600" dirty="0">
                <a:solidFill>
                  <a:srgbClr val="000000"/>
                </a:solidFill>
                <a:latin typeface="맑은 고딕"/>
              </a:rPr>
              <a:t>라면</a:t>
            </a:r>
            <a:r>
              <a:rPr lang="en-US" altLang="ko-KR" sz="1600" dirty="0">
                <a:solidFill>
                  <a:srgbClr val="000000"/>
                </a:solidFill>
                <a:latin typeface="맑은 고딕"/>
              </a:rPr>
              <a:t>: ((4B+1)^n−1)((4B+1)/q)^m ≈ 0.038 → </a:t>
            </a:r>
            <a:r>
              <a:rPr lang="ko-KR" altLang="en-US" sz="1600" dirty="0">
                <a:solidFill>
                  <a:srgbClr val="000000"/>
                </a:solidFill>
                <a:latin typeface="맑은 고딕"/>
              </a:rPr>
              <a:t>유일성 사실상 보장</a:t>
            </a:r>
          </a:p>
          <a:p>
            <a:pPr>
              <a:spcAft>
                <a:spcPts val="800"/>
              </a:spcAft>
              <a:buFont typeface="Arial"/>
              <a:buChar char="•"/>
            </a:pPr>
            <a:r>
              <a:rPr lang="ko-KR" altLang="en-US" sz="1600" dirty="0">
                <a:solidFill>
                  <a:srgbClr val="000000"/>
                </a:solidFill>
                <a:latin typeface="맑은 고딕"/>
              </a:rPr>
              <a:t>→ </a:t>
            </a:r>
            <a:r>
              <a:rPr lang="en-US" altLang="ko-KR" sz="1600" dirty="0">
                <a:solidFill>
                  <a:srgbClr val="000000"/>
                </a:solidFill>
                <a:latin typeface="맑은 고딕"/>
              </a:rPr>
              <a:t>Lindner-Peikert </a:t>
            </a:r>
            <a:r>
              <a:rPr lang="ko-KR" altLang="en-US" sz="1600" dirty="0">
                <a:solidFill>
                  <a:srgbClr val="000000"/>
                </a:solidFill>
                <a:latin typeface="맑은 고딕"/>
              </a:rPr>
              <a:t>암호가 </a:t>
            </a:r>
            <a:r>
              <a:rPr lang="en-US" altLang="ko-KR" sz="1600" dirty="0">
                <a:solidFill>
                  <a:srgbClr val="000000"/>
                </a:solidFill>
                <a:latin typeface="맑은 고딕"/>
              </a:rPr>
              <a:t>m=n(</a:t>
            </a:r>
            <a:r>
              <a:rPr lang="ko-KR" altLang="en-US" sz="1600" dirty="0" err="1">
                <a:solidFill>
                  <a:srgbClr val="000000"/>
                </a:solidFill>
                <a:latin typeface="맑은 고딕"/>
              </a:rPr>
              <a:t>정사각</a:t>
            </a:r>
            <a:r>
              <a:rPr lang="ko-KR" altLang="en-US" sz="1600" dirty="0">
                <a:solidFill>
                  <a:srgbClr val="000000"/>
                </a:solidFill>
                <a:latin typeface="맑은 고딕"/>
              </a:rPr>
              <a:t> 공개키</a:t>
            </a:r>
            <a:r>
              <a:rPr lang="en-US" altLang="ko-KR" sz="1600" dirty="0">
                <a:solidFill>
                  <a:srgbClr val="000000"/>
                </a:solidFill>
                <a:latin typeface="맑은 고딕"/>
              </a:rPr>
              <a:t>)</a:t>
            </a:r>
            <a:r>
              <a:rPr lang="ko-KR" altLang="en-US" sz="1600" dirty="0">
                <a:solidFill>
                  <a:srgbClr val="000000"/>
                </a:solidFill>
                <a:latin typeface="맑은 고딕"/>
              </a:rPr>
              <a:t>만으로도 안전한 이유</a:t>
            </a:r>
          </a:p>
        </p:txBody>
      </p:sp>
      <p:sp>
        <p:nvSpPr>
          <p:cNvPr id="4" name="슬라이드 번호 개체 틀 3">
            <a:extLst>
              <a:ext uri="{FF2B5EF4-FFF2-40B4-BE49-F238E27FC236}">
                <a16:creationId xmlns:a16="http://schemas.microsoft.com/office/drawing/2014/main" id="{EB50950E-FB9F-8577-7A6A-A4746348A4B8}"/>
              </a:ext>
            </a:extLst>
          </p:cNvPr>
          <p:cNvSpPr>
            <a:spLocks noGrp="1"/>
          </p:cNvSpPr>
          <p:nvPr>
            <p:ph type="sldNum" sz="quarter" idx="12"/>
          </p:nvPr>
        </p:nvSpPr>
        <p:spPr/>
        <p:txBody>
          <a:bodyPr/>
          <a:lstStyle/>
          <a:p>
            <a:fld id="{4438A2D4-3867-488E-A04E-7BFFCAED45A6}" type="slidenum">
              <a:rPr lang="ko-KR" altLang="en-US" smtClean="0"/>
              <a:t>29</a:t>
            </a:fld>
            <a:endParaRPr lang="ko-KR" altLang="en-US"/>
          </a:p>
        </p:txBody>
      </p:sp>
      <p:pic>
        <p:nvPicPr>
          <p:cNvPr id="5" name="Picture 3" descr="m_18.png">
            <a:extLst>
              <a:ext uri="{FF2B5EF4-FFF2-40B4-BE49-F238E27FC236}">
                <a16:creationId xmlns:a16="http://schemas.microsoft.com/office/drawing/2014/main" id="{FA217069-3B82-EC8F-D8B3-C9BA57EE830A}"/>
              </a:ext>
            </a:extLst>
          </p:cNvPr>
          <p:cNvPicPr>
            <a:picLocks noChangeAspect="1"/>
          </p:cNvPicPr>
          <p:nvPr/>
        </p:nvPicPr>
        <p:blipFill>
          <a:blip r:embed="rId3"/>
          <a:stretch>
            <a:fillRect/>
          </a:stretch>
        </p:blipFill>
        <p:spPr>
          <a:xfrm>
            <a:off x="3992880" y="1032998"/>
            <a:ext cx="4206240" cy="670332"/>
          </a:xfrm>
          <a:prstGeom prst="rect">
            <a:avLst/>
          </a:prstGeom>
        </p:spPr>
      </p:pic>
    </p:spTree>
    <p:extLst>
      <p:ext uri="{BB962C8B-B14F-4D97-AF65-F5344CB8AC3E}">
        <p14:creationId xmlns:p14="http://schemas.microsoft.com/office/powerpoint/2010/main" val="6185483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000000"/>
                </a:solidFill>
                <a:latin typeface="맑은 고딕"/>
              </a:rPr>
              <a:t>ss-LWE 숫자 예제</a:t>
            </a:r>
          </a:p>
        </p:txBody>
      </p:sp>
      <p:sp>
        <p:nvSpPr>
          <p:cNvPr id="4" name="TextBox 3"/>
          <p:cNvSpPr txBox="1"/>
          <p:nvPr/>
        </p:nvSpPr>
        <p:spPr>
          <a:xfrm>
            <a:off x="603504" y="1298448"/>
            <a:ext cx="7589520" cy="3932936"/>
          </a:xfrm>
          <a:prstGeom prst="rect">
            <a:avLst/>
          </a:prstGeom>
          <a:noFill/>
        </p:spPr>
        <p:txBody>
          <a:bodyPr wrap="square">
            <a:spAutoFit/>
          </a:bodyPr>
          <a:lstStyle/>
          <a:p>
            <a:pPr>
              <a:lnSpc>
                <a:spcPct val="150000"/>
              </a:lnSpc>
              <a:spcAft>
                <a:spcPts val="800"/>
              </a:spcAft>
              <a:buNone/>
            </a:pPr>
            <a:r>
              <a:rPr sz="1600" dirty="0">
                <a:solidFill>
                  <a:srgbClr val="000000"/>
                </a:solidFill>
                <a:latin typeface="맑은 고딕"/>
              </a:rPr>
              <a:t>• m = n = 5, q = 97, B = 4</a:t>
            </a:r>
          </a:p>
          <a:p>
            <a:pPr>
              <a:lnSpc>
                <a:spcPct val="150000"/>
              </a:lnSpc>
              <a:spcAft>
                <a:spcPts val="800"/>
              </a:spcAft>
              <a:buNone/>
            </a:pPr>
            <a:r>
              <a:rPr sz="1600" dirty="0">
                <a:solidFill>
                  <a:srgbClr val="000000"/>
                </a:solidFill>
                <a:latin typeface="맑은 고딕"/>
              </a:rPr>
              <a:t>• </a:t>
            </a:r>
            <a:r>
              <a:rPr sz="1600" dirty="0" err="1">
                <a:solidFill>
                  <a:srgbClr val="000000"/>
                </a:solidFill>
                <a:latin typeface="맑은 고딕"/>
              </a:rPr>
              <a:t>행렬</a:t>
            </a:r>
            <a:r>
              <a:rPr sz="1600" dirty="0">
                <a:solidFill>
                  <a:srgbClr val="000000"/>
                </a:solidFill>
                <a:latin typeface="맑은 고딕"/>
              </a:rPr>
              <a:t> A (mod 97):</a:t>
            </a:r>
          </a:p>
          <a:p>
            <a:pPr>
              <a:lnSpc>
                <a:spcPct val="150000"/>
              </a:lnSpc>
              <a:spcAft>
                <a:spcPts val="800"/>
              </a:spcAft>
              <a:buNone/>
            </a:pPr>
            <a:r>
              <a:rPr sz="1600" dirty="0">
                <a:solidFill>
                  <a:srgbClr val="000000"/>
                </a:solidFill>
                <a:latin typeface="맑은 고딕"/>
              </a:rPr>
              <a:t>• b = (34, 40, 90, 85, 29)ᵀ</a:t>
            </a:r>
          </a:p>
          <a:p>
            <a:pPr>
              <a:lnSpc>
                <a:spcPct val="150000"/>
              </a:lnSpc>
              <a:spcAft>
                <a:spcPts val="800"/>
              </a:spcAft>
              <a:buNone/>
            </a:pPr>
            <a:r>
              <a:rPr sz="1600" dirty="0">
                <a:solidFill>
                  <a:srgbClr val="000000"/>
                </a:solidFill>
                <a:latin typeface="맑은 고딕"/>
              </a:rPr>
              <a:t>• 이 </a:t>
            </a:r>
            <a:r>
              <a:rPr sz="1600" dirty="0" err="1">
                <a:solidFill>
                  <a:srgbClr val="000000"/>
                </a:solidFill>
                <a:latin typeface="맑은 고딕"/>
              </a:rPr>
              <a:t>인스턴스는</a:t>
            </a:r>
            <a:r>
              <a:rPr sz="1600" dirty="0">
                <a:solidFill>
                  <a:srgbClr val="000000"/>
                </a:solidFill>
                <a:latin typeface="맑은 고딕"/>
              </a:rPr>
              <a:t> </a:t>
            </a:r>
            <a:r>
              <a:rPr sz="1600" dirty="0" err="1">
                <a:solidFill>
                  <a:srgbClr val="000000"/>
                </a:solidFill>
                <a:latin typeface="맑은 고딕"/>
              </a:rPr>
              <a:t>유일해를</a:t>
            </a:r>
            <a:r>
              <a:rPr sz="1600" dirty="0">
                <a:solidFill>
                  <a:srgbClr val="000000"/>
                </a:solidFill>
                <a:latin typeface="맑은 고딕"/>
              </a:rPr>
              <a:t> </a:t>
            </a:r>
            <a:r>
              <a:rPr sz="1600" dirty="0" err="1">
                <a:solidFill>
                  <a:srgbClr val="000000"/>
                </a:solidFill>
                <a:latin typeface="맑은 고딕"/>
              </a:rPr>
              <a:t>갖는다</a:t>
            </a:r>
            <a:r>
              <a:rPr sz="1600" dirty="0">
                <a:solidFill>
                  <a:srgbClr val="000000"/>
                </a:solidFill>
                <a:latin typeface="맑은 고딕"/>
              </a:rPr>
              <a:t>:</a:t>
            </a:r>
          </a:p>
          <a:p>
            <a:pPr>
              <a:lnSpc>
                <a:spcPct val="150000"/>
              </a:lnSpc>
              <a:spcAft>
                <a:spcPts val="400"/>
              </a:spcAft>
              <a:buNone/>
            </a:pPr>
            <a:r>
              <a:rPr sz="1600" dirty="0">
                <a:solidFill>
                  <a:srgbClr val="000000"/>
                </a:solidFill>
                <a:latin typeface="맑은 고딕"/>
              </a:rPr>
              <a:t>• s = (1, −1, 0, 3, 1),  e = (0, −1, −4, −1, 4)   (s, e </a:t>
            </a:r>
            <a:r>
              <a:rPr sz="1600" dirty="0" err="1">
                <a:solidFill>
                  <a:srgbClr val="000000"/>
                </a:solidFill>
                <a:latin typeface="맑은 고딕"/>
              </a:rPr>
              <a:t>모두</a:t>
            </a:r>
            <a:r>
              <a:rPr sz="1600" dirty="0">
                <a:solidFill>
                  <a:srgbClr val="000000"/>
                </a:solidFill>
                <a:latin typeface="맑은 고딕"/>
              </a:rPr>
              <a:t> [−4,4]⁵ </a:t>
            </a:r>
            <a:r>
              <a:rPr sz="1600" dirty="0" err="1">
                <a:solidFill>
                  <a:srgbClr val="000000"/>
                </a:solidFill>
                <a:latin typeface="맑은 고딕"/>
              </a:rPr>
              <a:t>안에</a:t>
            </a:r>
            <a:r>
              <a:rPr sz="1600" dirty="0">
                <a:solidFill>
                  <a:srgbClr val="000000"/>
                </a:solidFill>
                <a:latin typeface="맑은 고딕"/>
              </a:rPr>
              <a:t> </a:t>
            </a:r>
            <a:r>
              <a:rPr sz="1600" dirty="0" err="1">
                <a:solidFill>
                  <a:srgbClr val="000000"/>
                </a:solidFill>
                <a:latin typeface="맑은 고딕"/>
              </a:rPr>
              <a:t>있음</a:t>
            </a:r>
            <a:r>
              <a:rPr sz="1600" dirty="0">
                <a:solidFill>
                  <a:srgbClr val="000000"/>
                </a:solidFill>
                <a:latin typeface="맑은 고딕"/>
              </a:rPr>
              <a:t>)</a:t>
            </a:r>
          </a:p>
          <a:p>
            <a:pPr>
              <a:lnSpc>
                <a:spcPct val="150000"/>
              </a:lnSpc>
              <a:spcAft>
                <a:spcPts val="800"/>
              </a:spcAft>
              <a:buNone/>
            </a:pPr>
            <a:r>
              <a:rPr sz="1600" dirty="0">
                <a:solidFill>
                  <a:srgbClr val="000000"/>
                </a:solidFill>
                <a:latin typeface="맑은 고딕"/>
              </a:rPr>
              <a:t>• m = n = 5 </a:t>
            </a:r>
            <a:r>
              <a:rPr sz="1600" dirty="0" err="1">
                <a:solidFill>
                  <a:srgbClr val="000000"/>
                </a:solidFill>
                <a:latin typeface="맑은 고딕"/>
              </a:rPr>
              <a:t>인데도</a:t>
            </a:r>
            <a:r>
              <a:rPr sz="1600" dirty="0">
                <a:solidFill>
                  <a:srgbClr val="000000"/>
                </a:solidFill>
                <a:latin typeface="맑은 고딕"/>
              </a:rPr>
              <a:t> (LWE </a:t>
            </a:r>
            <a:r>
              <a:rPr sz="1600" dirty="0" err="1">
                <a:solidFill>
                  <a:srgbClr val="000000"/>
                </a:solidFill>
                <a:latin typeface="맑은 고딕"/>
              </a:rPr>
              <a:t>유일성</a:t>
            </a:r>
            <a:r>
              <a:rPr sz="1600" dirty="0">
                <a:solidFill>
                  <a:srgbClr val="000000"/>
                </a:solidFill>
                <a:latin typeface="맑은 고딕"/>
              </a:rPr>
              <a:t> </a:t>
            </a:r>
            <a:r>
              <a:rPr sz="1600" dirty="0" err="1">
                <a:solidFill>
                  <a:srgbClr val="000000"/>
                </a:solidFill>
                <a:latin typeface="맑은 고딕"/>
              </a:rPr>
              <a:t>조건</a:t>
            </a:r>
            <a:r>
              <a:rPr sz="1600" dirty="0">
                <a:solidFill>
                  <a:srgbClr val="000000"/>
                </a:solidFill>
                <a:latin typeface="맑은 고딕"/>
              </a:rPr>
              <a:t> </a:t>
            </a:r>
            <a:r>
              <a:rPr sz="1600" dirty="0" err="1">
                <a:solidFill>
                  <a:srgbClr val="000000"/>
                </a:solidFill>
                <a:latin typeface="맑은 고딕"/>
              </a:rPr>
              <a:t>m≫n을</a:t>
            </a:r>
            <a:r>
              <a:rPr sz="1600" dirty="0">
                <a:solidFill>
                  <a:srgbClr val="000000"/>
                </a:solidFill>
                <a:latin typeface="맑은 고딕"/>
              </a:rPr>
              <a:t> </a:t>
            </a:r>
            <a:r>
              <a:rPr sz="1600" dirty="0" err="1">
                <a:solidFill>
                  <a:srgbClr val="000000"/>
                </a:solidFill>
                <a:latin typeface="맑은 고딕"/>
              </a:rPr>
              <a:t>전혀</a:t>
            </a:r>
            <a:r>
              <a:rPr sz="1600" dirty="0">
                <a:solidFill>
                  <a:srgbClr val="000000"/>
                </a:solidFill>
                <a:latin typeface="맑은 고딕"/>
              </a:rPr>
              <a:t> </a:t>
            </a:r>
            <a:r>
              <a:rPr sz="1600" dirty="0" err="1">
                <a:solidFill>
                  <a:srgbClr val="000000"/>
                </a:solidFill>
                <a:latin typeface="맑은 고딕"/>
              </a:rPr>
              <a:t>만족하지</a:t>
            </a:r>
            <a:r>
              <a:rPr sz="1600" dirty="0">
                <a:solidFill>
                  <a:srgbClr val="000000"/>
                </a:solidFill>
                <a:latin typeface="맑은 고딕"/>
              </a:rPr>
              <a:t> </a:t>
            </a:r>
            <a:r>
              <a:rPr sz="1600" dirty="0" err="1">
                <a:solidFill>
                  <a:srgbClr val="000000"/>
                </a:solidFill>
                <a:latin typeface="맑은 고딕"/>
              </a:rPr>
              <a:t>않는데도</a:t>
            </a:r>
            <a:r>
              <a:rPr sz="1600" dirty="0">
                <a:solidFill>
                  <a:srgbClr val="000000"/>
                </a:solidFill>
                <a:latin typeface="맑은 고딕"/>
              </a:rPr>
              <a:t>) </a:t>
            </a:r>
            <a:r>
              <a:rPr sz="1600" dirty="0" err="1">
                <a:solidFill>
                  <a:srgbClr val="000000"/>
                </a:solidFill>
                <a:latin typeface="맑은 고딕"/>
              </a:rPr>
              <a:t>해가</a:t>
            </a:r>
            <a:r>
              <a:rPr sz="1600" dirty="0">
                <a:solidFill>
                  <a:srgbClr val="000000"/>
                </a:solidFill>
                <a:latin typeface="맑은 고딕"/>
              </a:rPr>
              <a:t> </a:t>
            </a:r>
            <a:r>
              <a:rPr sz="1600" dirty="0" err="1">
                <a:solidFill>
                  <a:srgbClr val="000000"/>
                </a:solidFill>
                <a:latin typeface="맑은 고딕"/>
              </a:rPr>
              <a:t>유일한</a:t>
            </a:r>
            <a:r>
              <a:rPr sz="1600" dirty="0">
                <a:solidFill>
                  <a:srgbClr val="000000"/>
                </a:solidFill>
                <a:latin typeface="맑은 고딕"/>
              </a:rPr>
              <a:t> </a:t>
            </a:r>
            <a:r>
              <a:rPr sz="1600" dirty="0" err="1">
                <a:solidFill>
                  <a:srgbClr val="000000"/>
                </a:solidFill>
                <a:latin typeface="맑은 고딕"/>
              </a:rPr>
              <a:t>이유</a:t>
            </a:r>
            <a:r>
              <a:rPr sz="1600" dirty="0">
                <a:solidFill>
                  <a:srgbClr val="000000"/>
                </a:solidFill>
                <a:latin typeface="맑은 고딕"/>
              </a:rPr>
              <a:t>:</a:t>
            </a:r>
          </a:p>
          <a:p>
            <a:pPr>
              <a:lnSpc>
                <a:spcPct val="150000"/>
              </a:lnSpc>
              <a:spcAft>
                <a:spcPts val="400"/>
              </a:spcAft>
              <a:buNone/>
            </a:pPr>
            <a:r>
              <a:rPr sz="1600" dirty="0">
                <a:solidFill>
                  <a:srgbClr val="000000"/>
                </a:solidFill>
                <a:latin typeface="맑은 고딕"/>
              </a:rPr>
              <a:t>• </a:t>
            </a:r>
            <a:r>
              <a:rPr sz="1600" dirty="0" err="1">
                <a:solidFill>
                  <a:srgbClr val="000000"/>
                </a:solidFill>
                <a:latin typeface="맑은 고딕"/>
              </a:rPr>
              <a:t>s가</a:t>
            </a:r>
            <a:r>
              <a:rPr sz="1600" dirty="0">
                <a:solidFill>
                  <a:srgbClr val="000000"/>
                </a:solidFill>
                <a:latin typeface="맑은 고딕"/>
              </a:rPr>
              <a:t> [−B,B]^</a:t>
            </a:r>
            <a:r>
              <a:rPr sz="1600" dirty="0" err="1">
                <a:solidFill>
                  <a:srgbClr val="000000"/>
                </a:solidFill>
                <a:latin typeface="맑은 고딕"/>
              </a:rPr>
              <a:t>n으로</a:t>
            </a:r>
            <a:r>
              <a:rPr sz="1600" dirty="0">
                <a:solidFill>
                  <a:srgbClr val="000000"/>
                </a:solidFill>
                <a:latin typeface="맑은 고딕"/>
              </a:rPr>
              <a:t> </a:t>
            </a:r>
            <a:r>
              <a:rPr sz="1600" dirty="0" err="1">
                <a:solidFill>
                  <a:srgbClr val="000000"/>
                </a:solidFill>
                <a:latin typeface="맑은 고딕"/>
              </a:rPr>
              <a:t>짧게</a:t>
            </a:r>
            <a:r>
              <a:rPr sz="1600" dirty="0">
                <a:solidFill>
                  <a:srgbClr val="000000"/>
                </a:solidFill>
                <a:latin typeface="맑은 고딕"/>
              </a:rPr>
              <a:t> </a:t>
            </a:r>
            <a:r>
              <a:rPr sz="1600" dirty="0" err="1">
                <a:solidFill>
                  <a:srgbClr val="000000"/>
                </a:solidFill>
                <a:latin typeface="맑은 고딕"/>
              </a:rPr>
              <a:t>제한되어</a:t>
            </a:r>
            <a:r>
              <a:rPr sz="1600" dirty="0">
                <a:solidFill>
                  <a:srgbClr val="000000"/>
                </a:solidFill>
                <a:latin typeface="맑은 고딕"/>
              </a:rPr>
              <a:t> </a:t>
            </a:r>
            <a:r>
              <a:rPr sz="1600" dirty="0" err="1">
                <a:solidFill>
                  <a:srgbClr val="000000"/>
                </a:solidFill>
                <a:latin typeface="맑은 고딕"/>
              </a:rPr>
              <a:t>있어</a:t>
            </a:r>
            <a:r>
              <a:rPr sz="1600" dirty="0">
                <a:solidFill>
                  <a:srgbClr val="000000"/>
                </a:solidFill>
                <a:latin typeface="맑은 고딕"/>
              </a:rPr>
              <a:t>, </a:t>
            </a:r>
            <a:r>
              <a:rPr sz="1600" dirty="0" err="1">
                <a:solidFill>
                  <a:srgbClr val="000000"/>
                </a:solidFill>
                <a:latin typeface="맑은 고딕"/>
              </a:rPr>
              <a:t>Δs</a:t>
            </a:r>
            <a:r>
              <a:rPr sz="1600" dirty="0">
                <a:solidFill>
                  <a:srgbClr val="000000"/>
                </a:solidFill>
                <a:latin typeface="맑은 고딕"/>
              </a:rPr>
              <a:t> </a:t>
            </a:r>
            <a:r>
              <a:rPr sz="1600" dirty="0" err="1">
                <a:solidFill>
                  <a:srgbClr val="000000"/>
                </a:solidFill>
                <a:latin typeface="맑은 고딕"/>
              </a:rPr>
              <a:t>후보가</a:t>
            </a:r>
            <a:r>
              <a:rPr sz="1600" dirty="0">
                <a:solidFill>
                  <a:srgbClr val="000000"/>
                </a:solidFill>
                <a:latin typeface="맑은 고딕"/>
              </a:rPr>
              <a:t> (4B+1)^n−1 </a:t>
            </a:r>
            <a:r>
              <a:rPr sz="1600" dirty="0" err="1">
                <a:solidFill>
                  <a:srgbClr val="000000"/>
                </a:solidFill>
                <a:latin typeface="맑은 고딕"/>
              </a:rPr>
              <a:t>개로</a:t>
            </a:r>
            <a:r>
              <a:rPr sz="1600" dirty="0">
                <a:solidFill>
                  <a:srgbClr val="000000"/>
                </a:solidFill>
                <a:latin typeface="맑은 고딕"/>
              </a:rPr>
              <a:t> </a:t>
            </a:r>
            <a:r>
              <a:rPr sz="1600" dirty="0" err="1">
                <a:solidFill>
                  <a:srgbClr val="000000"/>
                </a:solidFill>
                <a:latin typeface="맑은 고딕"/>
              </a:rPr>
              <a:t>크게</a:t>
            </a:r>
            <a:r>
              <a:rPr sz="1600" dirty="0">
                <a:solidFill>
                  <a:srgbClr val="000000"/>
                </a:solidFill>
                <a:latin typeface="맑은 고딕"/>
              </a:rPr>
              <a:t> </a:t>
            </a:r>
            <a:r>
              <a:rPr sz="1600" dirty="0" err="1">
                <a:solidFill>
                  <a:srgbClr val="000000"/>
                </a:solidFill>
                <a:latin typeface="맑은 고딕"/>
              </a:rPr>
              <a:t>줄기</a:t>
            </a:r>
            <a:r>
              <a:rPr sz="1600" dirty="0">
                <a:solidFill>
                  <a:srgbClr val="000000"/>
                </a:solidFill>
                <a:latin typeface="맑은 고딕"/>
              </a:rPr>
              <a:t> </a:t>
            </a:r>
            <a:r>
              <a:rPr sz="1600" dirty="0" err="1">
                <a:solidFill>
                  <a:srgbClr val="000000"/>
                </a:solidFill>
                <a:latin typeface="맑은 고딕"/>
              </a:rPr>
              <a:t>때문</a:t>
            </a:r>
            <a:endParaRPr sz="1600" dirty="0">
              <a:solidFill>
                <a:srgbClr val="000000"/>
              </a:solidFill>
              <a:latin typeface="맑은 고딕"/>
            </a:endParaRPr>
          </a:p>
        </p:txBody>
      </p:sp>
      <p:pic>
        <p:nvPicPr>
          <p:cNvPr id="5" name="Picture 4" descr="mat_101.png"/>
          <p:cNvPicPr>
            <a:picLocks noChangeAspect="1"/>
          </p:cNvPicPr>
          <p:nvPr/>
        </p:nvPicPr>
        <p:blipFill>
          <a:blip r:embed="rId3"/>
          <a:stretch>
            <a:fillRect/>
          </a:stretch>
        </p:blipFill>
        <p:spPr>
          <a:xfrm>
            <a:off x="8138160" y="1554480"/>
            <a:ext cx="2396040" cy="173736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E6FED-3286-E194-E52A-9584395BEE38}"/>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7F5E3C02-7071-181A-0A5C-CB823AA67A0B}"/>
              </a:ext>
            </a:extLst>
          </p:cNvPr>
          <p:cNvSpPr>
            <a:spLocks noGrp="1"/>
          </p:cNvSpPr>
          <p:nvPr>
            <p:ph type="title"/>
          </p:nvPr>
        </p:nvSpPr>
        <p:spPr/>
        <p:txBody>
          <a:bodyPr/>
          <a:lstStyle/>
          <a:p>
            <a:r>
              <a:rPr lang="en-US" altLang="ko-KR" sz="2800" b="1" dirty="0">
                <a:solidFill>
                  <a:srgbClr val="000000"/>
                </a:solidFill>
                <a:latin typeface="맑은 고딕"/>
              </a:rPr>
              <a:t>ss-LWE ≤ LWE</a:t>
            </a:r>
            <a:endParaRPr lang="ko-KR" altLang="en-US" dirty="0"/>
          </a:p>
        </p:txBody>
      </p:sp>
      <p:sp>
        <p:nvSpPr>
          <p:cNvPr id="3" name="내용 개체 틀 2">
            <a:extLst>
              <a:ext uri="{FF2B5EF4-FFF2-40B4-BE49-F238E27FC236}">
                <a16:creationId xmlns:a16="http://schemas.microsoft.com/office/drawing/2014/main" id="{10255DD0-B481-C49D-8732-6137BD6BDDAB}"/>
              </a:ext>
            </a:extLst>
          </p:cNvPr>
          <p:cNvSpPr>
            <a:spLocks noGrp="1"/>
          </p:cNvSpPr>
          <p:nvPr>
            <p:ph idx="1"/>
          </p:nvPr>
        </p:nvSpPr>
        <p:spPr>
          <a:xfrm>
            <a:off x="838200" y="2015548"/>
            <a:ext cx="10515600" cy="3597519"/>
          </a:xfrm>
        </p:spPr>
        <p:txBody>
          <a:bodyPr>
            <a:normAutofit/>
          </a:bodyPr>
          <a:lstStyle/>
          <a:p>
            <a:pPr>
              <a:spcAft>
                <a:spcPts val="800"/>
              </a:spcAft>
              <a:buFont typeface="Arial"/>
              <a:buChar char="•"/>
            </a:pPr>
            <a:r>
              <a:rPr lang="en-US" altLang="ko-KR" sz="1800" b="0" dirty="0">
                <a:solidFill>
                  <a:srgbClr val="000000"/>
                </a:solidFill>
                <a:latin typeface="맑은 고딕"/>
              </a:rPr>
              <a:t>(</a:t>
            </a:r>
            <a:r>
              <a:rPr lang="en-US" altLang="ko-KR" sz="1800" b="0" dirty="0" err="1">
                <a:solidFill>
                  <a:srgbClr val="000000"/>
                </a:solidFill>
                <a:latin typeface="맑은 고딕"/>
              </a:rPr>
              <a:t>A,b</a:t>
            </a:r>
            <a:r>
              <a:rPr lang="en-US" altLang="ko-KR" sz="1800" b="0" dirty="0">
                <a:solidFill>
                  <a:srgbClr val="000000"/>
                </a:solidFill>
                <a:latin typeface="맑은 고딕"/>
              </a:rPr>
              <a:t>)</a:t>
            </a:r>
            <a:r>
              <a:rPr lang="ko-KR" altLang="en-US" sz="1800" b="0" dirty="0">
                <a:solidFill>
                  <a:srgbClr val="000000"/>
                </a:solidFill>
                <a:latin typeface="맑은 고딕"/>
              </a:rPr>
              <a:t>가 </a:t>
            </a:r>
            <a:r>
              <a:rPr lang="en-US" altLang="ko-KR" sz="1800" b="0" dirty="0">
                <a:solidFill>
                  <a:srgbClr val="000000"/>
                </a:solidFill>
                <a:latin typeface="맑은 고딕"/>
              </a:rPr>
              <a:t>ss-LWE </a:t>
            </a:r>
            <a:r>
              <a:rPr lang="ko-KR" altLang="en-US" sz="1800" b="0" dirty="0">
                <a:solidFill>
                  <a:srgbClr val="000000"/>
                </a:solidFill>
                <a:latin typeface="맑은 고딕"/>
              </a:rPr>
              <a:t>인스턴스</a:t>
            </a:r>
            <a:r>
              <a:rPr lang="en-US" altLang="ko-KR" sz="1800" b="0" dirty="0">
                <a:solidFill>
                  <a:srgbClr val="000000"/>
                </a:solidFill>
                <a:latin typeface="맑은 고딕"/>
              </a:rPr>
              <a:t>(b=</a:t>
            </a:r>
            <a:r>
              <a:rPr lang="en-US" altLang="ko-KR" sz="1800" b="0" dirty="0" err="1">
                <a:solidFill>
                  <a:srgbClr val="000000"/>
                </a:solidFill>
                <a:latin typeface="맑은 고딕"/>
              </a:rPr>
              <a:t>As+e</a:t>
            </a:r>
            <a:r>
              <a:rPr lang="en-US" altLang="ko-KR" sz="1800" b="0" dirty="0">
                <a:solidFill>
                  <a:srgbClr val="000000"/>
                </a:solidFill>
                <a:latin typeface="맑은 고딕"/>
              </a:rPr>
              <a:t>, s∈[−B,B]^n)</a:t>
            </a:r>
            <a:r>
              <a:rPr lang="ko-KR" altLang="en-US" sz="1800" b="0" dirty="0">
                <a:solidFill>
                  <a:srgbClr val="000000"/>
                </a:solidFill>
                <a:latin typeface="맑은 고딕"/>
              </a:rPr>
              <a:t>라 하자</a:t>
            </a:r>
          </a:p>
          <a:p>
            <a:pPr>
              <a:spcAft>
                <a:spcPts val="800"/>
              </a:spcAft>
              <a:buFont typeface="Arial"/>
              <a:buChar char="•"/>
            </a:pPr>
            <a:r>
              <a:rPr lang="en-US" altLang="ko-KR" sz="1800" b="0" dirty="0">
                <a:solidFill>
                  <a:srgbClr val="000000"/>
                </a:solidFill>
                <a:latin typeface="맑은 고딕"/>
              </a:rPr>
              <a:t>d ∈_R </a:t>
            </a:r>
            <a:r>
              <a:rPr lang="en-US" altLang="ko-KR" sz="1800" b="0" dirty="0" err="1">
                <a:solidFill>
                  <a:srgbClr val="000000"/>
                </a:solidFill>
                <a:latin typeface="맑은 고딕"/>
              </a:rPr>
              <a:t>ℤ_q^n</a:t>
            </a:r>
            <a:r>
              <a:rPr lang="en-US" altLang="ko-KR" sz="1800" b="0" dirty="0">
                <a:solidFill>
                  <a:srgbClr val="000000"/>
                </a:solidFill>
                <a:latin typeface="맑은 고딕"/>
              </a:rPr>
              <a:t> </a:t>
            </a:r>
            <a:r>
              <a:rPr lang="ko-KR" altLang="en-US" sz="1800" b="0" dirty="0">
                <a:solidFill>
                  <a:srgbClr val="000000"/>
                </a:solidFill>
                <a:latin typeface="맑은 고딕"/>
              </a:rPr>
              <a:t>을 뽑아 </a:t>
            </a:r>
            <a:r>
              <a:rPr lang="en-US" altLang="ko-KR" sz="1800" b="0" dirty="0">
                <a:solidFill>
                  <a:srgbClr val="000000"/>
                </a:solidFill>
                <a:latin typeface="맑은 고딕"/>
              </a:rPr>
              <a:t>b′=</a:t>
            </a:r>
            <a:r>
              <a:rPr lang="en-US" altLang="ko-KR" sz="1800" b="0" dirty="0" err="1">
                <a:solidFill>
                  <a:srgbClr val="000000"/>
                </a:solidFill>
                <a:latin typeface="맑은 고딕"/>
              </a:rPr>
              <a:t>b+Ad</a:t>
            </a:r>
            <a:r>
              <a:rPr lang="en-US" altLang="ko-KR" sz="1800" b="0" dirty="0">
                <a:solidFill>
                  <a:srgbClr val="000000"/>
                </a:solidFill>
                <a:latin typeface="맑은 고딕"/>
              </a:rPr>
              <a:t> = A(</a:t>
            </a:r>
            <a:r>
              <a:rPr lang="en-US" altLang="ko-KR" sz="1800" b="0" dirty="0" err="1">
                <a:solidFill>
                  <a:srgbClr val="000000"/>
                </a:solidFill>
                <a:latin typeface="맑은 고딕"/>
              </a:rPr>
              <a:t>s+d</a:t>
            </a:r>
            <a:r>
              <a:rPr lang="en-US" altLang="ko-KR" sz="1800" b="0" dirty="0">
                <a:solidFill>
                  <a:srgbClr val="000000"/>
                </a:solidFill>
                <a:latin typeface="맑은 고딕"/>
              </a:rPr>
              <a:t>)+e </a:t>
            </a:r>
            <a:r>
              <a:rPr lang="ko-KR" altLang="en-US" sz="1800" b="0" dirty="0">
                <a:solidFill>
                  <a:srgbClr val="000000"/>
                </a:solidFill>
                <a:latin typeface="맑은 고딕"/>
              </a:rPr>
              <a:t>로 둔다</a:t>
            </a:r>
          </a:p>
          <a:p>
            <a:pPr>
              <a:spcAft>
                <a:spcPts val="800"/>
              </a:spcAft>
              <a:buFont typeface="Arial"/>
              <a:buChar char="•"/>
            </a:pPr>
            <a:r>
              <a:rPr lang="en-US" altLang="ko-KR" sz="1800" b="0" dirty="0">
                <a:solidFill>
                  <a:srgbClr val="000000"/>
                </a:solidFill>
                <a:latin typeface="맑은 고딕"/>
              </a:rPr>
              <a:t>(</a:t>
            </a:r>
            <a:r>
              <a:rPr lang="en-US" altLang="ko-KR" sz="1800" b="0" dirty="0" err="1">
                <a:solidFill>
                  <a:srgbClr val="000000"/>
                </a:solidFill>
                <a:latin typeface="맑은 고딕"/>
              </a:rPr>
              <a:t>A,b</a:t>
            </a:r>
            <a:r>
              <a:rPr lang="en-US" altLang="ko-KR" sz="1800" b="0" dirty="0">
                <a:solidFill>
                  <a:srgbClr val="000000"/>
                </a:solidFill>
                <a:latin typeface="맑은 고딕"/>
              </a:rPr>
              <a:t>′)</a:t>
            </a:r>
            <a:r>
              <a:rPr lang="ko-KR" altLang="en-US" sz="1800" b="0" dirty="0">
                <a:solidFill>
                  <a:srgbClr val="000000"/>
                </a:solidFill>
                <a:latin typeface="맑은 고딕"/>
              </a:rPr>
              <a:t>는 </a:t>
            </a:r>
            <a:r>
              <a:rPr lang="en-US" altLang="ko-KR" sz="1800" b="0" dirty="0">
                <a:solidFill>
                  <a:srgbClr val="000000"/>
                </a:solidFill>
                <a:latin typeface="맑은 고딕"/>
              </a:rPr>
              <a:t>(</a:t>
            </a:r>
            <a:r>
              <a:rPr lang="ko-KR" altLang="en-US" sz="1800" b="0" dirty="0">
                <a:solidFill>
                  <a:srgbClr val="000000"/>
                </a:solidFill>
                <a:latin typeface="맑은 고딕"/>
              </a:rPr>
              <a:t>비밀이 </a:t>
            </a:r>
            <a:r>
              <a:rPr lang="en-US" altLang="ko-KR" sz="1800" b="0" dirty="0" err="1">
                <a:solidFill>
                  <a:srgbClr val="000000"/>
                </a:solidFill>
                <a:latin typeface="맑은 고딕"/>
              </a:rPr>
              <a:t>s+d∈ℤ_q^n</a:t>
            </a:r>
            <a:r>
              <a:rPr lang="ko-KR" altLang="en-US" sz="1800" b="0" dirty="0">
                <a:solidFill>
                  <a:srgbClr val="000000"/>
                </a:solidFill>
                <a:latin typeface="맑은 고딕"/>
              </a:rPr>
              <a:t>인</a:t>
            </a:r>
            <a:r>
              <a:rPr lang="en-US" altLang="ko-KR" sz="1800" b="0" dirty="0">
                <a:solidFill>
                  <a:srgbClr val="000000"/>
                </a:solidFill>
                <a:latin typeface="맑은 고딕"/>
              </a:rPr>
              <a:t>) </a:t>
            </a:r>
            <a:r>
              <a:rPr lang="ko-KR" altLang="en-US" sz="1800" b="0" dirty="0">
                <a:solidFill>
                  <a:srgbClr val="000000"/>
                </a:solidFill>
                <a:latin typeface="맑은 고딕"/>
              </a:rPr>
              <a:t>일반 </a:t>
            </a:r>
            <a:r>
              <a:rPr lang="en-US" altLang="ko-KR" sz="1800" b="0" dirty="0">
                <a:solidFill>
                  <a:srgbClr val="000000"/>
                </a:solidFill>
                <a:latin typeface="맑은 고딕"/>
              </a:rPr>
              <a:t>LWE </a:t>
            </a:r>
            <a:r>
              <a:rPr lang="ko-KR" altLang="en-US" sz="1800" b="0" dirty="0">
                <a:solidFill>
                  <a:srgbClr val="000000"/>
                </a:solidFill>
                <a:latin typeface="맑은 고딕"/>
              </a:rPr>
              <a:t>인스턴스</a:t>
            </a:r>
          </a:p>
          <a:p>
            <a:pPr>
              <a:spcAft>
                <a:spcPts val="800"/>
              </a:spcAft>
              <a:buFont typeface="Arial"/>
              <a:buChar char="•"/>
            </a:pPr>
            <a:r>
              <a:rPr lang="en-US" altLang="ko-KR" sz="1800" b="0" dirty="0">
                <a:solidFill>
                  <a:srgbClr val="000000"/>
                </a:solidFill>
                <a:latin typeface="맑은 고딕"/>
              </a:rPr>
              <a:t>LWE </a:t>
            </a:r>
            <a:r>
              <a:rPr lang="ko-KR" altLang="en-US" sz="1800" b="0" dirty="0">
                <a:solidFill>
                  <a:srgbClr val="000000"/>
                </a:solidFill>
                <a:latin typeface="맑은 고딕"/>
              </a:rPr>
              <a:t>해 </a:t>
            </a:r>
            <a:r>
              <a:rPr lang="en-US" altLang="ko-KR" sz="1800" b="0" dirty="0">
                <a:solidFill>
                  <a:srgbClr val="000000"/>
                </a:solidFill>
                <a:latin typeface="맑은 고딕"/>
              </a:rPr>
              <a:t>s′</a:t>
            </a:r>
            <a:r>
              <a:rPr lang="ko-KR" altLang="en-US" sz="1800" b="0" dirty="0">
                <a:solidFill>
                  <a:srgbClr val="000000"/>
                </a:solidFill>
                <a:latin typeface="맑은 고딕"/>
              </a:rPr>
              <a:t>을 얻으면 </a:t>
            </a:r>
            <a:r>
              <a:rPr lang="en-US" altLang="ko-KR" sz="1800" b="0" dirty="0">
                <a:solidFill>
                  <a:srgbClr val="000000"/>
                </a:solidFill>
                <a:latin typeface="맑은 고딕"/>
              </a:rPr>
              <a:t>s = s′−d </a:t>
            </a:r>
            <a:r>
              <a:rPr lang="ko-KR" altLang="en-US" sz="1800" b="0" dirty="0">
                <a:solidFill>
                  <a:srgbClr val="000000"/>
                </a:solidFill>
                <a:latin typeface="맑은 고딕"/>
              </a:rPr>
              <a:t>로 원래 </a:t>
            </a:r>
            <a:r>
              <a:rPr lang="en-US" altLang="ko-KR" sz="1800" b="0" dirty="0">
                <a:solidFill>
                  <a:srgbClr val="000000"/>
                </a:solidFill>
                <a:latin typeface="맑은 고딕"/>
              </a:rPr>
              <a:t>ss-LWE </a:t>
            </a:r>
            <a:r>
              <a:rPr lang="ko-KR" altLang="en-US" sz="1800" b="0" dirty="0">
                <a:solidFill>
                  <a:srgbClr val="000000"/>
                </a:solidFill>
                <a:latin typeface="맑은 고딕"/>
              </a:rPr>
              <a:t>해를 즉시 복원</a:t>
            </a:r>
          </a:p>
          <a:p>
            <a:pPr>
              <a:spcAft>
                <a:spcPts val="800"/>
              </a:spcAft>
              <a:buFont typeface="Arial"/>
              <a:buChar char="•"/>
            </a:pPr>
            <a:r>
              <a:rPr lang="ko-KR" altLang="en-US" sz="1800" b="0" dirty="0">
                <a:solidFill>
                  <a:srgbClr val="000000"/>
                </a:solidFill>
                <a:latin typeface="맑은 고딕"/>
              </a:rPr>
              <a:t>파라미터 </a:t>
            </a:r>
            <a:r>
              <a:rPr lang="en-US" altLang="ko-KR" sz="1800" b="0" dirty="0">
                <a:solidFill>
                  <a:srgbClr val="000000"/>
                </a:solidFill>
                <a:latin typeface="맑은 고딕"/>
              </a:rPr>
              <a:t>(</a:t>
            </a:r>
            <a:r>
              <a:rPr lang="en-US" altLang="ko-KR" sz="1800" b="0" dirty="0" err="1">
                <a:solidFill>
                  <a:srgbClr val="000000"/>
                </a:solidFill>
                <a:latin typeface="맑은 고딕"/>
              </a:rPr>
              <a:t>m,n,q,B</a:t>
            </a:r>
            <a:r>
              <a:rPr lang="en-US" altLang="ko-KR" sz="1800" b="0" dirty="0">
                <a:solidFill>
                  <a:srgbClr val="000000"/>
                </a:solidFill>
                <a:latin typeface="맑은 고딕"/>
              </a:rPr>
              <a:t>) </a:t>
            </a:r>
            <a:r>
              <a:rPr lang="ko-KR" altLang="en-US" sz="1800" b="0" dirty="0">
                <a:solidFill>
                  <a:srgbClr val="000000"/>
                </a:solidFill>
                <a:latin typeface="맑은 고딕"/>
              </a:rPr>
              <a:t>그대로 유지</a:t>
            </a:r>
          </a:p>
          <a:p>
            <a:pPr>
              <a:buFont typeface="Arial"/>
              <a:buChar char="•"/>
            </a:pPr>
            <a:endParaRPr lang="ko-KR" altLang="en-US" dirty="0"/>
          </a:p>
        </p:txBody>
      </p:sp>
      <p:sp>
        <p:nvSpPr>
          <p:cNvPr id="4" name="슬라이드 번호 개체 틀 3">
            <a:extLst>
              <a:ext uri="{FF2B5EF4-FFF2-40B4-BE49-F238E27FC236}">
                <a16:creationId xmlns:a16="http://schemas.microsoft.com/office/drawing/2014/main" id="{635FCE20-4CBD-3F30-E2CD-3C63DE37F4D5}"/>
              </a:ext>
            </a:extLst>
          </p:cNvPr>
          <p:cNvSpPr>
            <a:spLocks noGrp="1"/>
          </p:cNvSpPr>
          <p:nvPr>
            <p:ph type="sldNum" sz="quarter" idx="12"/>
          </p:nvPr>
        </p:nvSpPr>
        <p:spPr/>
        <p:txBody>
          <a:bodyPr/>
          <a:lstStyle/>
          <a:p>
            <a:fld id="{4438A2D4-3867-488E-A04E-7BFFCAED45A6}" type="slidenum">
              <a:rPr lang="ko-KR" altLang="en-US" smtClean="0"/>
              <a:t>31</a:t>
            </a:fld>
            <a:endParaRPr lang="ko-KR" altLang="en-US"/>
          </a:p>
        </p:txBody>
      </p:sp>
      <p:pic>
        <p:nvPicPr>
          <p:cNvPr id="8" name="Picture 3" descr="m_19.png">
            <a:extLst>
              <a:ext uri="{FF2B5EF4-FFF2-40B4-BE49-F238E27FC236}">
                <a16:creationId xmlns:a16="http://schemas.microsoft.com/office/drawing/2014/main" id="{EDA2049A-486B-7792-32E7-DDD592CD435C}"/>
              </a:ext>
            </a:extLst>
          </p:cNvPr>
          <p:cNvPicPr>
            <a:picLocks noChangeAspect="1"/>
          </p:cNvPicPr>
          <p:nvPr/>
        </p:nvPicPr>
        <p:blipFill>
          <a:blip r:embed="rId3"/>
          <a:stretch>
            <a:fillRect/>
          </a:stretch>
        </p:blipFill>
        <p:spPr>
          <a:xfrm>
            <a:off x="3992880" y="1244933"/>
            <a:ext cx="4206240" cy="521192"/>
          </a:xfrm>
          <a:prstGeom prst="rect">
            <a:avLst/>
          </a:prstGeom>
        </p:spPr>
      </p:pic>
    </p:spTree>
    <p:extLst>
      <p:ext uri="{BB962C8B-B14F-4D97-AF65-F5344CB8AC3E}">
        <p14:creationId xmlns:p14="http://schemas.microsoft.com/office/powerpoint/2010/main" val="9578866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89923-7661-0731-4FD6-A46EE5984994}"/>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538B0A1E-76EE-B1CC-22FF-929D20ADFBBF}"/>
              </a:ext>
            </a:extLst>
          </p:cNvPr>
          <p:cNvSpPr>
            <a:spLocks noGrp="1"/>
          </p:cNvSpPr>
          <p:nvPr>
            <p:ph type="title"/>
          </p:nvPr>
        </p:nvSpPr>
        <p:spPr/>
        <p:txBody>
          <a:bodyPr/>
          <a:lstStyle/>
          <a:p>
            <a:r>
              <a:rPr lang="en-US" altLang="ko-KR" sz="2800" b="1" dirty="0">
                <a:solidFill>
                  <a:srgbClr val="000000"/>
                </a:solidFill>
                <a:latin typeface="맑은 고딕"/>
              </a:rPr>
              <a:t>LWE ≤ ss-LWE</a:t>
            </a:r>
            <a:endParaRPr lang="ko-KR" altLang="en-US" dirty="0"/>
          </a:p>
        </p:txBody>
      </p:sp>
      <p:sp>
        <p:nvSpPr>
          <p:cNvPr id="3" name="내용 개체 틀 2">
            <a:extLst>
              <a:ext uri="{FF2B5EF4-FFF2-40B4-BE49-F238E27FC236}">
                <a16:creationId xmlns:a16="http://schemas.microsoft.com/office/drawing/2014/main" id="{21926D06-11AE-B39C-87C6-EE70FEBE7F57}"/>
              </a:ext>
            </a:extLst>
          </p:cNvPr>
          <p:cNvSpPr>
            <a:spLocks noGrp="1"/>
          </p:cNvSpPr>
          <p:nvPr>
            <p:ph idx="1"/>
          </p:nvPr>
        </p:nvSpPr>
        <p:spPr>
          <a:xfrm>
            <a:off x="838199" y="1925580"/>
            <a:ext cx="10515600" cy="4025114"/>
          </a:xfrm>
        </p:spPr>
        <p:txBody>
          <a:bodyPr>
            <a:normAutofit/>
          </a:bodyPr>
          <a:lstStyle/>
          <a:p>
            <a:pPr>
              <a:spcAft>
                <a:spcPts val="800"/>
              </a:spcAft>
              <a:buFont typeface="Arial"/>
              <a:buChar char="•"/>
            </a:pPr>
            <a:r>
              <a:rPr lang="en-US" altLang="ko-KR" sz="1600" b="0" dirty="0">
                <a:solidFill>
                  <a:srgbClr val="000000"/>
                </a:solidFill>
                <a:latin typeface="맑은 고딕"/>
              </a:rPr>
              <a:t>(</a:t>
            </a:r>
            <a:r>
              <a:rPr lang="en-US" altLang="ko-KR" sz="1600" b="0" dirty="0" err="1">
                <a:solidFill>
                  <a:srgbClr val="000000"/>
                </a:solidFill>
                <a:latin typeface="맑은 고딕"/>
              </a:rPr>
              <a:t>A,b</a:t>
            </a:r>
            <a:r>
              <a:rPr lang="en-US" altLang="ko-KR" sz="1600" b="0" dirty="0">
                <a:solidFill>
                  <a:srgbClr val="000000"/>
                </a:solidFill>
                <a:latin typeface="맑은 고딕"/>
              </a:rPr>
              <a:t>)</a:t>
            </a:r>
            <a:r>
              <a:rPr lang="ko-KR" altLang="en-US" sz="1600" b="0" dirty="0">
                <a:solidFill>
                  <a:srgbClr val="000000"/>
                </a:solidFill>
                <a:latin typeface="맑은 고딕"/>
              </a:rPr>
              <a:t>가 </a:t>
            </a:r>
            <a:r>
              <a:rPr lang="en-US" altLang="ko-KR" sz="1600" b="0" dirty="0">
                <a:solidFill>
                  <a:srgbClr val="000000"/>
                </a:solidFill>
                <a:latin typeface="맑은 고딕"/>
              </a:rPr>
              <a:t>LWE </a:t>
            </a:r>
            <a:r>
              <a:rPr lang="ko-KR" altLang="en-US" sz="1600" b="0" dirty="0">
                <a:solidFill>
                  <a:srgbClr val="000000"/>
                </a:solidFill>
                <a:latin typeface="맑은 고딕"/>
              </a:rPr>
              <a:t>인스턴스라 하자</a:t>
            </a:r>
            <a:r>
              <a:rPr lang="en-US" altLang="ko-KR" sz="1600" b="0" dirty="0">
                <a:solidFill>
                  <a:srgbClr val="000000"/>
                </a:solidFill>
                <a:latin typeface="맑은 고딕"/>
              </a:rPr>
              <a:t>. </a:t>
            </a:r>
            <a:r>
              <a:rPr lang="ko-KR" altLang="en-US" sz="1600" b="0" dirty="0">
                <a:solidFill>
                  <a:srgbClr val="000000"/>
                </a:solidFill>
                <a:latin typeface="맑은 고딕"/>
              </a:rPr>
              <a:t>위 </a:t>
            </a:r>
            <a:r>
              <a:rPr lang="en-US" altLang="ko-KR" sz="1600" b="0" dirty="0">
                <a:solidFill>
                  <a:srgbClr val="000000"/>
                </a:solidFill>
                <a:latin typeface="맑은 고딕"/>
              </a:rPr>
              <a:t>n</a:t>
            </a:r>
            <a:r>
              <a:rPr lang="ko-KR" altLang="en-US" sz="1600" b="0" dirty="0">
                <a:solidFill>
                  <a:srgbClr val="000000"/>
                </a:solidFill>
                <a:latin typeface="맑은 고딕"/>
              </a:rPr>
              <a:t>개 </a:t>
            </a:r>
            <a:r>
              <a:rPr lang="en-US" altLang="ko-KR" sz="1600" b="0" dirty="0">
                <a:solidFill>
                  <a:srgbClr val="000000"/>
                </a:solidFill>
                <a:latin typeface="맑은 고딕"/>
              </a:rPr>
              <a:t>/ </a:t>
            </a:r>
            <a:r>
              <a:rPr lang="ko-KR" altLang="en-US" sz="1600" b="0" dirty="0">
                <a:solidFill>
                  <a:srgbClr val="000000"/>
                </a:solidFill>
                <a:latin typeface="맑은 고딕"/>
              </a:rPr>
              <a:t>아래 </a:t>
            </a:r>
            <a:r>
              <a:rPr lang="en-US" altLang="ko-KR" sz="1600" b="0" dirty="0">
                <a:solidFill>
                  <a:srgbClr val="000000"/>
                </a:solidFill>
                <a:latin typeface="맑은 고딕"/>
              </a:rPr>
              <a:t>m−n</a:t>
            </a:r>
            <a:r>
              <a:rPr lang="ko-KR" altLang="en-US" sz="1600" b="0" dirty="0">
                <a:solidFill>
                  <a:srgbClr val="000000"/>
                </a:solidFill>
                <a:latin typeface="맑은 고딕"/>
              </a:rPr>
              <a:t>개 행으로 블록 분할</a:t>
            </a:r>
          </a:p>
          <a:p>
            <a:pPr lvl="1">
              <a:spcAft>
                <a:spcPts val="400"/>
              </a:spcAft>
              <a:buFont typeface="Arial"/>
              <a:buChar char="•"/>
            </a:pPr>
            <a:r>
              <a:rPr lang="en-US" altLang="ko-KR" sz="1600" b="0" dirty="0">
                <a:solidFill>
                  <a:srgbClr val="000000"/>
                </a:solidFill>
                <a:latin typeface="맑은 고딕"/>
              </a:rPr>
              <a:t>A=[A₁; A₂], b=[b₁; b₂], e=[e₁; e₂]  (A₁</a:t>
            </a:r>
            <a:r>
              <a:rPr lang="ko-KR" altLang="en-US" sz="1600" b="0" dirty="0">
                <a:solidFill>
                  <a:srgbClr val="000000"/>
                </a:solidFill>
                <a:latin typeface="맑은 고딕"/>
              </a:rPr>
              <a:t>은 </a:t>
            </a:r>
            <a:r>
              <a:rPr lang="en-US" altLang="ko-KR" sz="1600" b="0" dirty="0" err="1">
                <a:solidFill>
                  <a:srgbClr val="000000"/>
                </a:solidFill>
                <a:latin typeface="맑은 고딕"/>
              </a:rPr>
              <a:t>n×n</a:t>
            </a:r>
            <a:r>
              <a:rPr lang="en-US" altLang="ko-KR" sz="1600" b="0" dirty="0">
                <a:solidFill>
                  <a:srgbClr val="000000"/>
                </a:solidFill>
                <a:latin typeface="맑은 고딕"/>
              </a:rPr>
              <a:t>)</a:t>
            </a:r>
          </a:p>
          <a:p>
            <a:pPr>
              <a:spcAft>
                <a:spcPts val="800"/>
              </a:spcAft>
              <a:buFont typeface="Arial"/>
              <a:buChar char="•"/>
            </a:pPr>
            <a:r>
              <a:rPr lang="en-US" altLang="ko-KR" sz="1600" b="0" dirty="0">
                <a:solidFill>
                  <a:srgbClr val="000000"/>
                </a:solidFill>
                <a:latin typeface="맑은 고딕"/>
              </a:rPr>
              <a:t>A₁</a:t>
            </a:r>
            <a:r>
              <a:rPr lang="ko-KR" altLang="en-US" sz="1600" b="0" dirty="0">
                <a:solidFill>
                  <a:srgbClr val="000000"/>
                </a:solidFill>
                <a:latin typeface="맑은 고딕"/>
              </a:rPr>
              <a:t>이 </a:t>
            </a:r>
            <a:r>
              <a:rPr lang="en-US" altLang="ko-KR" sz="1600" b="0" dirty="0">
                <a:solidFill>
                  <a:srgbClr val="000000"/>
                </a:solidFill>
                <a:latin typeface="맑은 고딕"/>
              </a:rPr>
              <a:t>(</a:t>
            </a:r>
            <a:r>
              <a:rPr lang="ko-KR" altLang="en-US" sz="1600" b="0" dirty="0">
                <a:solidFill>
                  <a:srgbClr val="000000"/>
                </a:solidFill>
                <a:latin typeface="맑은 고딕"/>
              </a:rPr>
              <a:t>압도적 확률로</a:t>
            </a:r>
            <a:r>
              <a:rPr lang="en-US" altLang="ko-KR" sz="1600" b="0" dirty="0">
                <a:solidFill>
                  <a:srgbClr val="000000"/>
                </a:solidFill>
                <a:latin typeface="맑은 고딕"/>
              </a:rPr>
              <a:t>) </a:t>
            </a:r>
            <a:r>
              <a:rPr lang="ko-KR" altLang="en-US" sz="1600" b="0" dirty="0">
                <a:solidFill>
                  <a:srgbClr val="000000"/>
                </a:solidFill>
                <a:latin typeface="맑은 고딕"/>
              </a:rPr>
              <a:t>가역이면 아래와 같이 구성</a:t>
            </a:r>
          </a:p>
          <a:p>
            <a:pPr>
              <a:spcAft>
                <a:spcPts val="800"/>
              </a:spcAft>
              <a:buFont typeface="Arial"/>
              <a:buChar char="•"/>
            </a:pPr>
            <a:r>
              <a:rPr lang="en-US" altLang="ko-KR" sz="1600" b="0" dirty="0">
                <a:solidFill>
                  <a:srgbClr val="000000"/>
                </a:solidFill>
                <a:latin typeface="맑은 고딕"/>
              </a:rPr>
              <a:t>(</a:t>
            </a:r>
            <a:r>
              <a:rPr lang="en-US" altLang="ko-KR" sz="1600" b="0" dirty="0" err="1">
                <a:solidFill>
                  <a:srgbClr val="000000"/>
                </a:solidFill>
                <a:latin typeface="맑은 고딕"/>
              </a:rPr>
              <a:t>A′,b</a:t>
            </a:r>
            <a:r>
              <a:rPr lang="en-US" altLang="ko-KR" sz="1600" b="0" dirty="0">
                <a:solidFill>
                  <a:srgbClr val="000000"/>
                </a:solidFill>
                <a:latin typeface="맑은 고딕"/>
              </a:rPr>
              <a:t>′)</a:t>
            </a:r>
            <a:r>
              <a:rPr lang="ko-KR" altLang="en-US" sz="1600" b="0" dirty="0">
                <a:solidFill>
                  <a:srgbClr val="000000"/>
                </a:solidFill>
                <a:latin typeface="맑은 고딕"/>
              </a:rPr>
              <a:t>는 비밀이 </a:t>
            </a:r>
            <a:r>
              <a:rPr lang="en-US" altLang="ko-KR" sz="1600" b="0" dirty="0">
                <a:solidFill>
                  <a:srgbClr val="000000"/>
                </a:solidFill>
                <a:latin typeface="맑은 고딕"/>
              </a:rPr>
              <a:t>e₁ </a:t>
            </a:r>
            <a:r>
              <a:rPr lang="ko-KR" altLang="en-US" sz="1600" b="0" dirty="0">
                <a:solidFill>
                  <a:srgbClr val="000000"/>
                </a:solidFill>
                <a:latin typeface="맑은 고딕"/>
              </a:rPr>
              <a:t>인 </a:t>
            </a:r>
            <a:r>
              <a:rPr lang="en-US" altLang="ko-KR" sz="1600" b="0" dirty="0">
                <a:solidFill>
                  <a:srgbClr val="000000"/>
                </a:solidFill>
                <a:latin typeface="맑은 고딕"/>
              </a:rPr>
              <a:t>ss-LWE(m−</a:t>
            </a:r>
            <a:r>
              <a:rPr lang="en-US" altLang="ko-KR" sz="1600" b="0" dirty="0" err="1">
                <a:solidFill>
                  <a:srgbClr val="000000"/>
                </a:solidFill>
                <a:latin typeface="맑은 고딕"/>
              </a:rPr>
              <a:t>n,n,q,B</a:t>
            </a:r>
            <a:r>
              <a:rPr lang="en-US" altLang="ko-KR" sz="1600" b="0" dirty="0">
                <a:solidFill>
                  <a:srgbClr val="000000"/>
                </a:solidFill>
                <a:latin typeface="맑은 고딕"/>
              </a:rPr>
              <a:t>) </a:t>
            </a:r>
            <a:r>
              <a:rPr lang="ko-KR" altLang="en-US" sz="1600" b="0" dirty="0">
                <a:solidFill>
                  <a:srgbClr val="000000"/>
                </a:solidFill>
                <a:latin typeface="맑은 고딕"/>
              </a:rPr>
              <a:t>인스턴스</a:t>
            </a:r>
          </a:p>
          <a:p>
            <a:pPr lvl="1">
              <a:spcAft>
                <a:spcPts val="400"/>
              </a:spcAft>
              <a:buFont typeface="Arial"/>
              <a:buChar char="•"/>
            </a:pPr>
            <a:r>
              <a:rPr lang="en-US" altLang="ko-KR" sz="1600" b="0" dirty="0">
                <a:solidFill>
                  <a:srgbClr val="000000"/>
                </a:solidFill>
                <a:latin typeface="맑은 고딕"/>
              </a:rPr>
              <a:t>e₁</a:t>
            </a:r>
            <a:r>
              <a:rPr lang="ko-KR" altLang="en-US" sz="1600" b="0" dirty="0">
                <a:solidFill>
                  <a:srgbClr val="000000"/>
                </a:solidFill>
                <a:latin typeface="맑은 고딕"/>
              </a:rPr>
              <a:t>을 얻으면 </a:t>
            </a:r>
            <a:r>
              <a:rPr lang="en-US" altLang="ko-KR" sz="1600" b="0" dirty="0">
                <a:solidFill>
                  <a:srgbClr val="000000"/>
                </a:solidFill>
                <a:latin typeface="맑은 고딕"/>
              </a:rPr>
              <a:t>b₁=</a:t>
            </a:r>
            <a:r>
              <a:rPr lang="en-US" altLang="ko-KR" sz="1600" b="0" dirty="0" err="1">
                <a:solidFill>
                  <a:srgbClr val="000000"/>
                </a:solidFill>
                <a:latin typeface="맑은 고딕"/>
              </a:rPr>
              <a:t>A₁s+e</a:t>
            </a:r>
            <a:r>
              <a:rPr lang="ko-KR" altLang="en-US" sz="1600" b="0" dirty="0">
                <a:solidFill>
                  <a:srgbClr val="000000"/>
                </a:solidFill>
                <a:latin typeface="맑은 고딕"/>
              </a:rPr>
              <a:t>₁ 에서 </a:t>
            </a:r>
            <a:r>
              <a:rPr lang="en-US" altLang="ko-KR" sz="1600" b="0" dirty="0">
                <a:solidFill>
                  <a:srgbClr val="000000"/>
                </a:solidFill>
                <a:latin typeface="맑은 고딕"/>
              </a:rPr>
              <a:t>s=A₁⁻¹(b₁−e₁) </a:t>
            </a:r>
            <a:r>
              <a:rPr lang="ko-KR" altLang="en-US" sz="1600" b="0" dirty="0">
                <a:solidFill>
                  <a:srgbClr val="000000"/>
                </a:solidFill>
                <a:latin typeface="맑은 고딕"/>
              </a:rPr>
              <a:t>로 원래 </a:t>
            </a:r>
            <a:r>
              <a:rPr lang="en-US" altLang="ko-KR" sz="1600" b="0" dirty="0">
                <a:solidFill>
                  <a:srgbClr val="000000"/>
                </a:solidFill>
                <a:latin typeface="맑은 고딕"/>
              </a:rPr>
              <a:t>LWE </a:t>
            </a:r>
            <a:r>
              <a:rPr lang="ko-KR" altLang="en-US" sz="1600" b="0" dirty="0">
                <a:solidFill>
                  <a:srgbClr val="000000"/>
                </a:solidFill>
                <a:latin typeface="맑은 고딕"/>
              </a:rPr>
              <a:t>비밀 복원</a:t>
            </a:r>
          </a:p>
          <a:p>
            <a:pPr>
              <a:spcAft>
                <a:spcPts val="800"/>
              </a:spcAft>
              <a:buFont typeface="Arial"/>
              <a:buChar char="•"/>
            </a:pPr>
            <a:r>
              <a:rPr lang="ko-KR" altLang="en-US" sz="1600" b="0" dirty="0">
                <a:solidFill>
                  <a:srgbClr val="000000"/>
                </a:solidFill>
                <a:latin typeface="맑은 고딕"/>
              </a:rPr>
              <a:t>표본 개수가 </a:t>
            </a:r>
            <a:r>
              <a:rPr lang="en-US" altLang="ko-KR" sz="1600" b="0" dirty="0">
                <a:solidFill>
                  <a:srgbClr val="000000"/>
                </a:solidFill>
                <a:latin typeface="맑은 고딕"/>
              </a:rPr>
              <a:t>m → m−n </a:t>
            </a:r>
            <a:r>
              <a:rPr lang="ko-KR" altLang="en-US" sz="1600" b="0" dirty="0">
                <a:solidFill>
                  <a:srgbClr val="000000"/>
                </a:solidFill>
                <a:latin typeface="맑은 고딕"/>
              </a:rPr>
              <a:t>으로 감소 </a:t>
            </a:r>
            <a:r>
              <a:rPr lang="en-US" altLang="ko-KR" sz="1600" b="0" dirty="0">
                <a:solidFill>
                  <a:srgbClr val="000000"/>
                </a:solidFill>
                <a:latin typeface="맑은 고딕"/>
              </a:rPr>
              <a:t>(</a:t>
            </a:r>
            <a:r>
              <a:rPr lang="en-US" altLang="ko-KR" sz="1600" b="0" dirty="0" err="1">
                <a:solidFill>
                  <a:srgbClr val="000000"/>
                </a:solidFill>
                <a:latin typeface="맑은 고딕"/>
              </a:rPr>
              <a:t>n×n</a:t>
            </a:r>
            <a:r>
              <a:rPr lang="ko-KR" altLang="en-US" sz="1600" b="0" dirty="0">
                <a:solidFill>
                  <a:srgbClr val="000000"/>
                </a:solidFill>
                <a:latin typeface="맑은 고딕"/>
              </a:rPr>
              <a:t> 블록을 표준형으로 흡수하는 대가</a:t>
            </a:r>
            <a:r>
              <a:rPr lang="en-US" altLang="ko-KR" sz="1600" b="0" dirty="0">
                <a:solidFill>
                  <a:srgbClr val="000000"/>
                </a:solidFill>
                <a:latin typeface="맑은 고딕"/>
              </a:rPr>
              <a:t>)</a:t>
            </a:r>
          </a:p>
        </p:txBody>
      </p:sp>
      <p:sp>
        <p:nvSpPr>
          <p:cNvPr id="4" name="슬라이드 번호 개체 틀 3">
            <a:extLst>
              <a:ext uri="{FF2B5EF4-FFF2-40B4-BE49-F238E27FC236}">
                <a16:creationId xmlns:a16="http://schemas.microsoft.com/office/drawing/2014/main" id="{3644BA0A-2287-AA65-3709-5647D2D6B4C7}"/>
              </a:ext>
            </a:extLst>
          </p:cNvPr>
          <p:cNvSpPr>
            <a:spLocks noGrp="1"/>
          </p:cNvSpPr>
          <p:nvPr>
            <p:ph type="sldNum" sz="quarter" idx="12"/>
          </p:nvPr>
        </p:nvSpPr>
        <p:spPr/>
        <p:txBody>
          <a:bodyPr/>
          <a:lstStyle/>
          <a:p>
            <a:fld id="{4438A2D4-3867-488E-A04E-7BFFCAED45A6}" type="slidenum">
              <a:rPr lang="ko-KR" altLang="en-US" smtClean="0"/>
              <a:t>32</a:t>
            </a:fld>
            <a:endParaRPr lang="ko-KR" altLang="en-US"/>
          </a:p>
        </p:txBody>
      </p:sp>
      <p:pic>
        <p:nvPicPr>
          <p:cNvPr id="5" name="Picture 3" descr="m_20.png">
            <a:extLst>
              <a:ext uri="{FF2B5EF4-FFF2-40B4-BE49-F238E27FC236}">
                <a16:creationId xmlns:a16="http://schemas.microsoft.com/office/drawing/2014/main" id="{395C63E0-F8BB-1A4B-3118-B785B128715F}"/>
              </a:ext>
            </a:extLst>
          </p:cNvPr>
          <p:cNvPicPr>
            <a:picLocks noChangeAspect="1"/>
          </p:cNvPicPr>
          <p:nvPr/>
        </p:nvPicPr>
        <p:blipFill>
          <a:blip r:embed="rId3"/>
          <a:stretch>
            <a:fillRect/>
          </a:stretch>
        </p:blipFill>
        <p:spPr>
          <a:xfrm>
            <a:off x="2437328" y="1124601"/>
            <a:ext cx="7317343" cy="566044"/>
          </a:xfrm>
          <a:prstGeom prst="rect">
            <a:avLst/>
          </a:prstGeom>
        </p:spPr>
      </p:pic>
    </p:spTree>
    <p:extLst>
      <p:ext uri="{BB962C8B-B14F-4D97-AF65-F5344CB8AC3E}">
        <p14:creationId xmlns:p14="http://schemas.microsoft.com/office/powerpoint/2010/main" val="5342876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4F837-5D20-F225-F0DA-123515CE679E}"/>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081F6F6A-2D89-6F13-6168-81E3AAC0BFEB}"/>
              </a:ext>
            </a:extLst>
          </p:cNvPr>
          <p:cNvSpPr>
            <a:spLocks noGrp="1"/>
          </p:cNvSpPr>
          <p:nvPr>
            <p:ph type="title"/>
          </p:nvPr>
        </p:nvSpPr>
        <p:spPr/>
        <p:txBody>
          <a:bodyPr/>
          <a:lstStyle/>
          <a:p>
            <a:r>
              <a:rPr lang="en-US" altLang="ko-KR" sz="2800" b="1" dirty="0">
                <a:solidFill>
                  <a:srgbClr val="000000"/>
                </a:solidFill>
                <a:latin typeface="맑은 고딕"/>
              </a:rPr>
              <a:t>Lindner-Peikert </a:t>
            </a:r>
            <a:r>
              <a:rPr lang="ko-KR" altLang="en-US" sz="2800" b="1" dirty="0">
                <a:solidFill>
                  <a:srgbClr val="000000"/>
                </a:solidFill>
                <a:latin typeface="맑은 고딕"/>
              </a:rPr>
              <a:t>공개키 암호</a:t>
            </a:r>
          </a:p>
        </p:txBody>
      </p:sp>
      <p:sp>
        <p:nvSpPr>
          <p:cNvPr id="3" name="내용 개체 틀 2">
            <a:extLst>
              <a:ext uri="{FF2B5EF4-FFF2-40B4-BE49-F238E27FC236}">
                <a16:creationId xmlns:a16="http://schemas.microsoft.com/office/drawing/2014/main" id="{88D21AB2-4EBC-FF89-B453-0515589B15AF}"/>
              </a:ext>
            </a:extLst>
          </p:cNvPr>
          <p:cNvSpPr>
            <a:spLocks noGrp="1"/>
          </p:cNvSpPr>
          <p:nvPr>
            <p:ph idx="1"/>
          </p:nvPr>
        </p:nvSpPr>
        <p:spPr/>
        <p:txBody>
          <a:bodyPr wrap="square">
            <a:normAutofit/>
          </a:bodyPr>
          <a:lstStyle/>
          <a:p>
            <a:pPr>
              <a:spcAft>
                <a:spcPts val="800"/>
              </a:spcAft>
              <a:buFont typeface="Arial"/>
              <a:buChar char="•"/>
            </a:pPr>
            <a:r>
              <a:rPr sz="1600" dirty="0">
                <a:solidFill>
                  <a:srgbClr val="000000"/>
                </a:solidFill>
                <a:latin typeface="맑은 고딕"/>
              </a:rPr>
              <a:t>ss-DLWE(</a:t>
            </a:r>
            <a:r>
              <a:rPr sz="1600" dirty="0" err="1">
                <a:solidFill>
                  <a:srgbClr val="000000"/>
                </a:solidFill>
                <a:latin typeface="맑은 고딕"/>
              </a:rPr>
              <a:t>n,n,q,B</a:t>
            </a:r>
            <a:r>
              <a:rPr sz="1600" dirty="0">
                <a:solidFill>
                  <a:srgbClr val="000000"/>
                </a:solidFill>
                <a:latin typeface="맑은 고딕"/>
              </a:rPr>
              <a:t>)의 </a:t>
            </a:r>
            <a:r>
              <a:rPr sz="1600" dirty="0" err="1">
                <a:solidFill>
                  <a:srgbClr val="000000"/>
                </a:solidFill>
                <a:latin typeface="맑은 고딕"/>
              </a:rPr>
              <a:t>어려움에</a:t>
            </a:r>
            <a:r>
              <a:rPr sz="1600" dirty="0">
                <a:solidFill>
                  <a:srgbClr val="000000"/>
                </a:solidFill>
                <a:latin typeface="맑은 고딕"/>
              </a:rPr>
              <a:t> </a:t>
            </a:r>
            <a:r>
              <a:rPr sz="1600" dirty="0" err="1">
                <a:solidFill>
                  <a:srgbClr val="000000"/>
                </a:solidFill>
                <a:latin typeface="맑은 고딕"/>
              </a:rPr>
              <a:t>기반한</a:t>
            </a:r>
            <a:r>
              <a:rPr sz="1600" dirty="0">
                <a:solidFill>
                  <a:srgbClr val="000000"/>
                </a:solidFill>
                <a:latin typeface="맑은 고딕"/>
              </a:rPr>
              <a:t> </a:t>
            </a:r>
            <a:r>
              <a:rPr sz="1600" dirty="0" err="1">
                <a:solidFill>
                  <a:srgbClr val="000000"/>
                </a:solidFill>
                <a:latin typeface="맑은 고딕"/>
              </a:rPr>
              <a:t>공개키</a:t>
            </a:r>
            <a:r>
              <a:rPr sz="1600" dirty="0">
                <a:solidFill>
                  <a:srgbClr val="000000"/>
                </a:solidFill>
                <a:latin typeface="맑은 고딕"/>
              </a:rPr>
              <a:t> </a:t>
            </a:r>
            <a:r>
              <a:rPr sz="1600" dirty="0" err="1">
                <a:solidFill>
                  <a:srgbClr val="000000"/>
                </a:solidFill>
                <a:latin typeface="맑은 고딕"/>
              </a:rPr>
              <a:t>암호</a:t>
            </a:r>
            <a:r>
              <a:rPr sz="1600" dirty="0">
                <a:solidFill>
                  <a:srgbClr val="000000"/>
                </a:solidFill>
                <a:latin typeface="맑은 고딕"/>
              </a:rPr>
              <a:t> (Lindner-Peikert, 2011)</a:t>
            </a:r>
          </a:p>
          <a:p>
            <a:pPr>
              <a:buFont typeface="Arial"/>
              <a:buChar char="•"/>
            </a:pPr>
            <a:r>
              <a:rPr sz="1600" dirty="0" err="1">
                <a:solidFill>
                  <a:srgbClr val="000000"/>
                </a:solidFill>
                <a:latin typeface="맑은 고딕"/>
              </a:rPr>
              <a:t>대칭</a:t>
            </a:r>
            <a:r>
              <a:rPr sz="1600" dirty="0">
                <a:solidFill>
                  <a:srgbClr val="000000"/>
                </a:solidFill>
                <a:latin typeface="맑은 고딕"/>
              </a:rPr>
              <a:t> mod (symmetric mod), q≥3 </a:t>
            </a:r>
            <a:r>
              <a:rPr sz="1600" dirty="0" err="1">
                <a:solidFill>
                  <a:srgbClr val="000000"/>
                </a:solidFill>
                <a:latin typeface="맑은 고딕"/>
              </a:rPr>
              <a:t>홀수</a:t>
            </a:r>
            <a:r>
              <a:rPr sz="1600" dirty="0">
                <a:solidFill>
                  <a:srgbClr val="000000"/>
                </a:solidFill>
                <a:latin typeface="맑은 고딕"/>
              </a:rPr>
              <a:t>:</a:t>
            </a:r>
          </a:p>
          <a:p>
            <a:pPr lvl="1">
              <a:buFont typeface="Arial"/>
              <a:buChar char="•"/>
            </a:pPr>
            <a:r>
              <a:rPr sz="1600" dirty="0">
                <a:solidFill>
                  <a:srgbClr val="000000"/>
                </a:solidFill>
                <a:latin typeface="맑은 고딕"/>
              </a:rPr>
              <a:t>r </a:t>
            </a:r>
            <a:r>
              <a:rPr sz="1600" dirty="0" err="1">
                <a:solidFill>
                  <a:srgbClr val="000000"/>
                </a:solidFill>
                <a:latin typeface="맑은 고딕"/>
              </a:rPr>
              <a:t>mod_s</a:t>
            </a:r>
            <a:r>
              <a:rPr sz="1600" dirty="0">
                <a:solidFill>
                  <a:srgbClr val="000000"/>
                </a:solidFill>
                <a:latin typeface="맑은 고딕"/>
              </a:rPr>
              <a:t> q = r  (r ≤ (q−1)/2),   r−q  (그 외)  — </a:t>
            </a:r>
            <a:r>
              <a:rPr sz="1600" dirty="0" err="1">
                <a:solidFill>
                  <a:srgbClr val="000000"/>
                </a:solidFill>
                <a:latin typeface="맑은 고딕"/>
              </a:rPr>
              <a:t>범위</a:t>
            </a:r>
            <a:r>
              <a:rPr sz="1600" dirty="0">
                <a:solidFill>
                  <a:srgbClr val="000000"/>
                </a:solidFill>
                <a:latin typeface="맑은 고딕"/>
              </a:rPr>
              <a:t> [−(q−1)/2, (q−1)/2]</a:t>
            </a:r>
          </a:p>
          <a:p>
            <a:pPr>
              <a:buFont typeface="Arial"/>
              <a:buChar char="•"/>
            </a:pPr>
            <a:r>
              <a:rPr sz="1600" dirty="0" err="1">
                <a:solidFill>
                  <a:srgbClr val="000000"/>
                </a:solidFill>
                <a:latin typeface="맑은 고딕"/>
              </a:rPr>
              <a:t>Round_q</a:t>
            </a:r>
            <a:r>
              <a:rPr sz="1600" dirty="0">
                <a:solidFill>
                  <a:srgbClr val="000000"/>
                </a:solidFill>
                <a:latin typeface="맑은 고딕"/>
              </a:rPr>
              <a:t>(x): </a:t>
            </a:r>
            <a:r>
              <a:rPr sz="1600" dirty="0" err="1">
                <a:solidFill>
                  <a:srgbClr val="000000"/>
                </a:solidFill>
                <a:latin typeface="맑은 고딕"/>
              </a:rPr>
              <a:t>오른쪽</a:t>
            </a:r>
            <a:r>
              <a:rPr sz="1600" dirty="0">
                <a:solidFill>
                  <a:srgbClr val="000000"/>
                </a:solidFill>
                <a:latin typeface="맑은 고딕"/>
              </a:rPr>
              <a:t> </a:t>
            </a:r>
            <a:r>
              <a:rPr sz="1600" dirty="0" err="1">
                <a:solidFill>
                  <a:srgbClr val="000000"/>
                </a:solidFill>
                <a:latin typeface="맑은 고딕"/>
              </a:rPr>
              <a:t>그림</a:t>
            </a:r>
            <a:r>
              <a:rPr sz="1600" dirty="0">
                <a:solidFill>
                  <a:srgbClr val="000000"/>
                </a:solidFill>
                <a:latin typeface="맑은 고딕"/>
              </a:rPr>
              <a:t> — 0 </a:t>
            </a:r>
            <a:r>
              <a:rPr sz="1600" dirty="0" err="1">
                <a:solidFill>
                  <a:srgbClr val="000000"/>
                </a:solidFill>
                <a:latin typeface="맑은 고딕"/>
              </a:rPr>
              <a:t>근방과</a:t>
            </a:r>
            <a:r>
              <a:rPr sz="1600" dirty="0">
                <a:solidFill>
                  <a:srgbClr val="000000"/>
                </a:solidFill>
                <a:latin typeface="맑은 고딕"/>
              </a:rPr>
              <a:t> 그 </a:t>
            </a:r>
            <a:r>
              <a:rPr sz="1600" dirty="0" err="1">
                <a:solidFill>
                  <a:srgbClr val="000000"/>
                </a:solidFill>
                <a:latin typeface="맑은 고딕"/>
              </a:rPr>
              <a:t>반대편</a:t>
            </a:r>
            <a:r>
              <a:rPr sz="1600" dirty="0">
                <a:solidFill>
                  <a:srgbClr val="000000"/>
                </a:solidFill>
                <a:latin typeface="맑은 고딕"/>
              </a:rPr>
              <a:t>(q/2 </a:t>
            </a:r>
            <a:r>
              <a:rPr sz="1600" dirty="0" err="1">
                <a:solidFill>
                  <a:srgbClr val="000000"/>
                </a:solidFill>
                <a:latin typeface="맑은 고딕"/>
              </a:rPr>
              <a:t>근방</a:t>
            </a:r>
            <a:r>
              <a:rPr sz="1600" dirty="0">
                <a:solidFill>
                  <a:srgbClr val="000000"/>
                </a:solidFill>
                <a:latin typeface="맑은 고딕"/>
              </a:rPr>
              <a:t>)</a:t>
            </a:r>
            <a:r>
              <a:rPr sz="1600" dirty="0" err="1">
                <a:solidFill>
                  <a:srgbClr val="000000"/>
                </a:solidFill>
                <a:latin typeface="맑은 고딕"/>
              </a:rPr>
              <a:t>으로</a:t>
            </a:r>
            <a:r>
              <a:rPr sz="1600" dirty="0">
                <a:solidFill>
                  <a:srgbClr val="000000"/>
                </a:solidFill>
                <a:latin typeface="맑은 고딕"/>
              </a:rPr>
              <a:t> </a:t>
            </a:r>
            <a:r>
              <a:rPr sz="1600" dirty="0" err="1">
                <a:solidFill>
                  <a:srgbClr val="000000"/>
                </a:solidFill>
                <a:latin typeface="맑은 고딕"/>
              </a:rPr>
              <a:t>절반씩</a:t>
            </a:r>
            <a:r>
              <a:rPr sz="1600" dirty="0">
                <a:solidFill>
                  <a:srgbClr val="000000"/>
                </a:solidFill>
                <a:latin typeface="맑은 고딕"/>
              </a:rPr>
              <a:t> </a:t>
            </a:r>
            <a:r>
              <a:rPr sz="1600" dirty="0" err="1">
                <a:solidFill>
                  <a:srgbClr val="000000"/>
                </a:solidFill>
                <a:latin typeface="맑은 고딕"/>
              </a:rPr>
              <a:t>나눔</a:t>
            </a:r>
            <a:endParaRPr sz="1600" dirty="0">
              <a:solidFill>
                <a:srgbClr val="000000"/>
              </a:solidFill>
              <a:latin typeface="맑은 고딕"/>
            </a:endParaRPr>
          </a:p>
          <a:p>
            <a:pPr>
              <a:buFont typeface="Arial"/>
              <a:buChar char="•"/>
            </a:pPr>
            <a:r>
              <a:rPr sz="1600" dirty="0">
                <a:solidFill>
                  <a:srgbClr val="000000"/>
                </a:solidFill>
                <a:latin typeface="맑은 고딕"/>
              </a:rPr>
              <a:t>키 </a:t>
            </a:r>
            <a:r>
              <a:rPr sz="1600" dirty="0" err="1">
                <a:solidFill>
                  <a:srgbClr val="000000"/>
                </a:solidFill>
                <a:latin typeface="맑은 고딕"/>
              </a:rPr>
              <a:t>생성</a:t>
            </a:r>
            <a:r>
              <a:rPr sz="1600" dirty="0">
                <a:solidFill>
                  <a:srgbClr val="000000"/>
                </a:solidFill>
                <a:latin typeface="맑은 고딕"/>
              </a:rPr>
              <a:t> (Alice): </a:t>
            </a:r>
            <a:r>
              <a:rPr sz="1600" dirty="0" err="1">
                <a:solidFill>
                  <a:srgbClr val="000000"/>
                </a:solidFill>
                <a:latin typeface="맑은 고딕"/>
              </a:rPr>
              <a:t>s,e</a:t>
            </a:r>
            <a:r>
              <a:rPr sz="1600" dirty="0">
                <a:solidFill>
                  <a:srgbClr val="000000"/>
                </a:solidFill>
                <a:latin typeface="맑은 고딕"/>
              </a:rPr>
              <a:t> ∈_R[−B,B]^n, A∈_R </a:t>
            </a:r>
            <a:r>
              <a:rPr sz="1600" dirty="0" err="1">
                <a:solidFill>
                  <a:srgbClr val="000000"/>
                </a:solidFill>
                <a:latin typeface="맑은 고딕"/>
              </a:rPr>
              <a:t>ℤ_q</a:t>
            </a:r>
            <a:r>
              <a:rPr sz="1600" dirty="0">
                <a:solidFill>
                  <a:srgbClr val="000000"/>
                </a:solidFill>
                <a:latin typeface="맑은 고딕"/>
              </a:rPr>
              <a:t>^{</a:t>
            </a:r>
            <a:r>
              <a:rPr sz="1600" dirty="0" err="1">
                <a:solidFill>
                  <a:srgbClr val="000000"/>
                </a:solidFill>
                <a:latin typeface="맑은 고딕"/>
              </a:rPr>
              <a:t>n×n</a:t>
            </a:r>
            <a:r>
              <a:rPr sz="1600" dirty="0">
                <a:solidFill>
                  <a:srgbClr val="000000"/>
                </a:solidFill>
                <a:latin typeface="맑은 고딕"/>
              </a:rPr>
              <a:t>}, b=</a:t>
            </a:r>
            <a:r>
              <a:rPr sz="1600" dirty="0" err="1">
                <a:solidFill>
                  <a:srgbClr val="000000"/>
                </a:solidFill>
                <a:latin typeface="맑은 고딕"/>
              </a:rPr>
              <a:t>As+e</a:t>
            </a:r>
            <a:endParaRPr sz="1600" dirty="0">
              <a:solidFill>
                <a:srgbClr val="000000"/>
              </a:solidFill>
              <a:latin typeface="맑은 고딕"/>
            </a:endParaRPr>
          </a:p>
          <a:p>
            <a:pPr lvl="1">
              <a:buFont typeface="Arial"/>
              <a:buChar char="•"/>
            </a:pPr>
            <a:r>
              <a:rPr sz="1600" dirty="0" err="1">
                <a:solidFill>
                  <a:srgbClr val="000000"/>
                </a:solidFill>
                <a:latin typeface="맑은 고딕"/>
              </a:rPr>
              <a:t>공개키</a:t>
            </a:r>
            <a:r>
              <a:rPr sz="1600" dirty="0">
                <a:solidFill>
                  <a:srgbClr val="000000"/>
                </a:solidFill>
                <a:latin typeface="맑은 고딕"/>
              </a:rPr>
              <a:t> (</a:t>
            </a:r>
            <a:r>
              <a:rPr sz="1600" dirty="0" err="1">
                <a:solidFill>
                  <a:srgbClr val="000000"/>
                </a:solidFill>
                <a:latin typeface="맑은 고딕"/>
              </a:rPr>
              <a:t>A,b</a:t>
            </a:r>
            <a:r>
              <a:rPr sz="1600" dirty="0">
                <a:solidFill>
                  <a:srgbClr val="000000"/>
                </a:solidFill>
                <a:latin typeface="맑은 고딕"/>
              </a:rPr>
              <a:t>), </a:t>
            </a:r>
            <a:r>
              <a:rPr sz="1600" dirty="0" err="1">
                <a:solidFill>
                  <a:srgbClr val="000000"/>
                </a:solidFill>
                <a:latin typeface="맑은 고딕"/>
              </a:rPr>
              <a:t>개인키</a:t>
            </a:r>
            <a:r>
              <a:rPr sz="1600" dirty="0">
                <a:solidFill>
                  <a:srgbClr val="000000"/>
                </a:solidFill>
                <a:latin typeface="맑은 고딕"/>
              </a:rPr>
              <a:t> s. </a:t>
            </a:r>
            <a:r>
              <a:rPr sz="1600" dirty="0" err="1">
                <a:solidFill>
                  <a:srgbClr val="000000"/>
                </a:solidFill>
                <a:latin typeface="맑은 고딕"/>
              </a:rPr>
              <a:t>A가</a:t>
            </a:r>
            <a:r>
              <a:rPr sz="1600" dirty="0">
                <a:solidFill>
                  <a:srgbClr val="000000"/>
                </a:solidFill>
                <a:latin typeface="맑은 고딕"/>
              </a:rPr>
              <a:t> </a:t>
            </a:r>
            <a:r>
              <a:rPr sz="1600" dirty="0" err="1">
                <a:solidFill>
                  <a:srgbClr val="000000"/>
                </a:solidFill>
                <a:latin typeface="맑은 고딕"/>
              </a:rPr>
              <a:t>n×n</a:t>
            </a:r>
            <a:r>
              <a:rPr sz="1600" dirty="0">
                <a:solidFill>
                  <a:srgbClr val="000000"/>
                </a:solidFill>
                <a:latin typeface="맑은 고딕"/>
              </a:rPr>
              <a:t> </a:t>
            </a:r>
            <a:r>
              <a:rPr sz="1600" dirty="0" err="1">
                <a:solidFill>
                  <a:srgbClr val="000000"/>
                </a:solidFill>
                <a:latin typeface="맑은 고딕"/>
              </a:rPr>
              <a:t>정사각행렬인</a:t>
            </a:r>
            <a:r>
              <a:rPr sz="1600" dirty="0">
                <a:solidFill>
                  <a:srgbClr val="000000"/>
                </a:solidFill>
                <a:latin typeface="맑은 고딕"/>
              </a:rPr>
              <a:t> </a:t>
            </a:r>
            <a:r>
              <a:rPr sz="1600" dirty="0" err="1">
                <a:solidFill>
                  <a:srgbClr val="000000"/>
                </a:solidFill>
                <a:latin typeface="맑은 고딕"/>
              </a:rPr>
              <a:t>것이</a:t>
            </a:r>
            <a:r>
              <a:rPr sz="1600" dirty="0">
                <a:solidFill>
                  <a:srgbClr val="000000"/>
                </a:solidFill>
                <a:latin typeface="맑은 고딕"/>
              </a:rPr>
              <a:t> </a:t>
            </a:r>
            <a:r>
              <a:rPr sz="1600" dirty="0" err="1">
                <a:solidFill>
                  <a:srgbClr val="000000"/>
                </a:solidFill>
                <a:latin typeface="맑은 고딕"/>
              </a:rPr>
              <a:t>핵심</a:t>
            </a:r>
            <a:r>
              <a:rPr sz="1600" dirty="0">
                <a:solidFill>
                  <a:srgbClr val="000000"/>
                </a:solidFill>
                <a:latin typeface="맑은 고딕"/>
              </a:rPr>
              <a:t> (ss-DLWE </a:t>
            </a:r>
            <a:r>
              <a:rPr sz="1600" dirty="0" err="1">
                <a:solidFill>
                  <a:srgbClr val="000000"/>
                </a:solidFill>
                <a:latin typeface="맑은 고딕"/>
              </a:rPr>
              <a:t>덕분</a:t>
            </a:r>
            <a:r>
              <a:rPr sz="1600" dirty="0">
                <a:solidFill>
                  <a:srgbClr val="000000"/>
                </a:solidFill>
                <a:latin typeface="맑은 고딕"/>
              </a:rPr>
              <a:t>)</a:t>
            </a:r>
          </a:p>
        </p:txBody>
      </p:sp>
      <p:sp>
        <p:nvSpPr>
          <p:cNvPr id="4" name="슬라이드 번호 개체 틀 3">
            <a:extLst>
              <a:ext uri="{FF2B5EF4-FFF2-40B4-BE49-F238E27FC236}">
                <a16:creationId xmlns:a16="http://schemas.microsoft.com/office/drawing/2014/main" id="{0DE6F2A9-F1D9-9CDB-71A8-D63C0BC5F5BD}"/>
              </a:ext>
            </a:extLst>
          </p:cNvPr>
          <p:cNvSpPr>
            <a:spLocks noGrp="1"/>
          </p:cNvSpPr>
          <p:nvPr>
            <p:ph type="sldNum" sz="quarter" idx="12"/>
          </p:nvPr>
        </p:nvSpPr>
        <p:spPr/>
        <p:txBody>
          <a:bodyPr/>
          <a:lstStyle/>
          <a:p>
            <a:fld id="{4438A2D4-3867-488E-A04E-7BFFCAED45A6}" type="slidenum">
              <a:rPr lang="ko-KR" altLang="en-US" smtClean="0"/>
              <a:t>33</a:t>
            </a:fld>
            <a:endParaRPr lang="ko-KR" altLang="en-US"/>
          </a:p>
        </p:txBody>
      </p:sp>
      <p:pic>
        <p:nvPicPr>
          <p:cNvPr id="5" name="Picture 4" descr="case_102.png"/>
          <p:cNvPicPr>
            <a:picLocks noChangeAspect="1"/>
          </p:cNvPicPr>
          <p:nvPr/>
        </p:nvPicPr>
        <p:blipFill>
          <a:blip r:embed="rId3"/>
          <a:stretch>
            <a:fillRect/>
          </a:stretch>
        </p:blipFill>
        <p:spPr>
          <a:xfrm>
            <a:off x="8321040" y="1645920"/>
            <a:ext cx="5646420" cy="1188720"/>
          </a:xfrm>
          <a:prstGeom prst="rect">
            <a:avLst/>
          </a:prstGeom>
        </p:spPr>
      </p:pic>
    </p:spTree>
    <p:extLst>
      <p:ext uri="{BB962C8B-B14F-4D97-AF65-F5344CB8AC3E}">
        <p14:creationId xmlns:p14="http://schemas.microsoft.com/office/powerpoint/2010/main" val="6114008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27AEF-DAF9-55BD-C4CF-3742A2587B0E}"/>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62358AF1-0D88-8280-963B-20DD558C7DA8}"/>
              </a:ext>
            </a:extLst>
          </p:cNvPr>
          <p:cNvSpPr>
            <a:spLocks noGrp="1"/>
          </p:cNvSpPr>
          <p:nvPr>
            <p:ph type="title"/>
          </p:nvPr>
        </p:nvSpPr>
        <p:spPr/>
        <p:txBody>
          <a:bodyPr/>
          <a:lstStyle/>
          <a:p>
            <a:r>
              <a:rPr lang="ko-KR" altLang="en-US" sz="2800" b="1" dirty="0">
                <a:solidFill>
                  <a:srgbClr val="000000"/>
                </a:solidFill>
                <a:latin typeface="맑은 고딕"/>
              </a:rPr>
              <a:t>암호화</a:t>
            </a:r>
            <a:r>
              <a:rPr lang="en-US" altLang="ko-KR" sz="2800" b="1" dirty="0">
                <a:solidFill>
                  <a:srgbClr val="000000"/>
                </a:solidFill>
                <a:latin typeface="맑은 고딕"/>
              </a:rPr>
              <a:t>·</a:t>
            </a:r>
            <a:r>
              <a:rPr lang="ko-KR" altLang="en-US" sz="2800" b="1" dirty="0">
                <a:solidFill>
                  <a:srgbClr val="000000"/>
                </a:solidFill>
                <a:latin typeface="맑은 고딕"/>
              </a:rPr>
              <a:t>복호화</a:t>
            </a:r>
            <a:endParaRPr lang="ko-KR" altLang="en-US" dirty="0"/>
          </a:p>
        </p:txBody>
      </p:sp>
      <p:sp>
        <p:nvSpPr>
          <p:cNvPr id="3" name="내용 개체 틀 2">
            <a:extLst>
              <a:ext uri="{FF2B5EF4-FFF2-40B4-BE49-F238E27FC236}">
                <a16:creationId xmlns:a16="http://schemas.microsoft.com/office/drawing/2014/main" id="{C5685D07-49B9-106B-4F8F-08C106ACEF3B}"/>
              </a:ext>
            </a:extLst>
          </p:cNvPr>
          <p:cNvSpPr>
            <a:spLocks noGrp="1"/>
          </p:cNvSpPr>
          <p:nvPr>
            <p:ph idx="1"/>
          </p:nvPr>
        </p:nvSpPr>
        <p:spPr>
          <a:xfrm>
            <a:off x="838200" y="1051560"/>
            <a:ext cx="10515600" cy="1600200"/>
          </a:xfrm>
        </p:spPr>
        <p:txBody>
          <a:bodyPr wrap="square">
            <a:noAutofit/>
          </a:bodyPr>
          <a:lstStyle/>
          <a:p>
            <a:pPr>
              <a:spcAft>
                <a:spcPts val="800"/>
              </a:spcAft>
              <a:buFont typeface="Arial"/>
              <a:buChar char="•"/>
            </a:pPr>
            <a:r>
              <a:rPr sz="1600" b="0" dirty="0" err="1">
                <a:solidFill>
                  <a:srgbClr val="000000"/>
                </a:solidFill>
                <a:latin typeface="맑은 고딕"/>
              </a:rPr>
              <a:t>암호화</a:t>
            </a:r>
            <a:r>
              <a:rPr sz="1600" b="0" dirty="0">
                <a:solidFill>
                  <a:srgbClr val="000000"/>
                </a:solidFill>
                <a:latin typeface="맑은 고딕"/>
              </a:rPr>
              <a:t> (Bob, </a:t>
            </a:r>
            <a:r>
              <a:rPr sz="1600" b="0" dirty="0" err="1">
                <a:solidFill>
                  <a:srgbClr val="000000"/>
                </a:solidFill>
                <a:latin typeface="맑은 고딕"/>
              </a:rPr>
              <a:t>평문</a:t>
            </a:r>
            <a:r>
              <a:rPr sz="1600" b="0" dirty="0">
                <a:solidFill>
                  <a:srgbClr val="000000"/>
                </a:solidFill>
                <a:latin typeface="맑은 고딕"/>
              </a:rPr>
              <a:t> m∈{0,1}): </a:t>
            </a:r>
            <a:r>
              <a:rPr sz="1600" b="0" dirty="0" err="1">
                <a:solidFill>
                  <a:srgbClr val="000000"/>
                </a:solidFill>
                <a:latin typeface="맑은 고딕"/>
              </a:rPr>
              <a:t>r,z</a:t>
            </a:r>
            <a:r>
              <a:rPr sz="1600" b="0" dirty="0">
                <a:solidFill>
                  <a:srgbClr val="000000"/>
                </a:solidFill>
                <a:latin typeface="맑은 고딕"/>
              </a:rPr>
              <a:t> ∈_R[−B,B]^n, z′ ∈_R[−B,B] </a:t>
            </a:r>
            <a:r>
              <a:rPr sz="1600" b="0" dirty="0" err="1">
                <a:solidFill>
                  <a:srgbClr val="000000"/>
                </a:solidFill>
                <a:latin typeface="맑은 고딕"/>
              </a:rPr>
              <a:t>선택</a:t>
            </a:r>
            <a:endParaRPr sz="1600" b="0" dirty="0">
              <a:solidFill>
                <a:srgbClr val="000000"/>
              </a:solidFill>
              <a:latin typeface="맑은 고딕"/>
            </a:endParaRPr>
          </a:p>
          <a:p>
            <a:pPr lvl="1">
              <a:buFont typeface="Arial"/>
              <a:buChar char="•"/>
            </a:pPr>
            <a:r>
              <a:rPr sz="1600" b="0" dirty="0">
                <a:solidFill>
                  <a:srgbClr val="000000"/>
                </a:solidFill>
                <a:latin typeface="맑은 고딕"/>
              </a:rPr>
              <a:t>c₁ = </a:t>
            </a:r>
            <a:r>
              <a:rPr sz="1600" b="0" dirty="0" err="1">
                <a:solidFill>
                  <a:srgbClr val="000000"/>
                </a:solidFill>
                <a:latin typeface="맑은 고딕"/>
              </a:rPr>
              <a:t>Aᵀr+z</a:t>
            </a:r>
            <a:r>
              <a:rPr sz="1600" b="0" dirty="0">
                <a:solidFill>
                  <a:srgbClr val="000000"/>
                </a:solidFill>
                <a:latin typeface="맑은 고딕"/>
              </a:rPr>
              <a:t>,   c₂ = </a:t>
            </a:r>
            <a:r>
              <a:rPr sz="1600" b="0" dirty="0" err="1">
                <a:solidFill>
                  <a:srgbClr val="000000"/>
                </a:solidFill>
                <a:latin typeface="맑은 고딕"/>
              </a:rPr>
              <a:t>bᵀr+z</a:t>
            </a:r>
            <a:r>
              <a:rPr sz="1600" b="0" dirty="0">
                <a:solidFill>
                  <a:srgbClr val="000000"/>
                </a:solidFill>
                <a:latin typeface="맑은 고딕"/>
              </a:rPr>
              <a:t>′+</a:t>
            </a:r>
            <a:r>
              <a:rPr sz="1600" b="0" dirty="0" err="1">
                <a:solidFill>
                  <a:srgbClr val="000000"/>
                </a:solidFill>
                <a:latin typeface="맑은 고딕"/>
              </a:rPr>
              <a:t>m⌈q</a:t>
            </a:r>
            <a:r>
              <a:rPr sz="1600" b="0" dirty="0">
                <a:solidFill>
                  <a:srgbClr val="000000"/>
                </a:solidFill>
                <a:latin typeface="맑은 고딕"/>
              </a:rPr>
              <a:t>/2⌉,   </a:t>
            </a:r>
            <a:r>
              <a:rPr sz="1600" b="0" dirty="0" err="1">
                <a:solidFill>
                  <a:srgbClr val="000000"/>
                </a:solidFill>
                <a:latin typeface="맑은 고딕"/>
              </a:rPr>
              <a:t>암호문</a:t>
            </a:r>
            <a:r>
              <a:rPr sz="1600" b="0" dirty="0">
                <a:solidFill>
                  <a:srgbClr val="000000"/>
                </a:solidFill>
                <a:latin typeface="맑은 고딕"/>
              </a:rPr>
              <a:t> c=(</a:t>
            </a:r>
            <a:r>
              <a:rPr sz="1600" b="0" dirty="0" err="1">
                <a:solidFill>
                  <a:srgbClr val="000000"/>
                </a:solidFill>
                <a:latin typeface="맑은 고딕"/>
              </a:rPr>
              <a:t>c₁,c</a:t>
            </a:r>
            <a:r>
              <a:rPr sz="1600" b="0" dirty="0">
                <a:solidFill>
                  <a:srgbClr val="000000"/>
                </a:solidFill>
                <a:latin typeface="맑은 고딕"/>
              </a:rPr>
              <a:t>₂)</a:t>
            </a:r>
          </a:p>
          <a:p>
            <a:pPr>
              <a:buFont typeface="Arial"/>
              <a:buChar char="•"/>
            </a:pPr>
            <a:r>
              <a:rPr sz="1600" b="0" dirty="0" err="1">
                <a:solidFill>
                  <a:srgbClr val="000000"/>
                </a:solidFill>
                <a:latin typeface="맑은 고딕"/>
              </a:rPr>
              <a:t>복호화</a:t>
            </a:r>
            <a:r>
              <a:rPr sz="1600" b="0" dirty="0">
                <a:solidFill>
                  <a:srgbClr val="000000"/>
                </a:solidFill>
                <a:latin typeface="맑은 고딕"/>
              </a:rPr>
              <a:t> (Alice, </a:t>
            </a:r>
            <a:r>
              <a:rPr sz="1600" b="0" dirty="0" err="1">
                <a:solidFill>
                  <a:srgbClr val="000000"/>
                </a:solidFill>
                <a:latin typeface="맑은 고딕"/>
              </a:rPr>
              <a:t>개인키</a:t>
            </a:r>
            <a:r>
              <a:rPr sz="1600" b="0" dirty="0">
                <a:solidFill>
                  <a:srgbClr val="000000"/>
                </a:solidFill>
                <a:latin typeface="맑은 고딕"/>
              </a:rPr>
              <a:t> s): m = </a:t>
            </a:r>
            <a:r>
              <a:rPr sz="1600" b="0" dirty="0" err="1">
                <a:solidFill>
                  <a:srgbClr val="000000"/>
                </a:solidFill>
                <a:latin typeface="맑은 고딕"/>
              </a:rPr>
              <a:t>Round_q</a:t>
            </a:r>
            <a:r>
              <a:rPr sz="1600" b="0" dirty="0">
                <a:solidFill>
                  <a:srgbClr val="000000"/>
                </a:solidFill>
                <a:latin typeface="맑은 고딕"/>
              </a:rPr>
              <a:t>(c₂ − </a:t>
            </a:r>
            <a:r>
              <a:rPr sz="1600" b="0" dirty="0" err="1">
                <a:solidFill>
                  <a:srgbClr val="000000"/>
                </a:solidFill>
                <a:latin typeface="맑은 고딕"/>
              </a:rPr>
              <a:t>sᵀc</a:t>
            </a:r>
            <a:r>
              <a:rPr sz="1600" b="0" dirty="0">
                <a:solidFill>
                  <a:srgbClr val="000000"/>
                </a:solidFill>
                <a:latin typeface="맑은 고딕"/>
              </a:rPr>
              <a:t>₁)</a:t>
            </a:r>
          </a:p>
          <a:p>
            <a:pPr>
              <a:buFont typeface="Arial"/>
              <a:buChar char="•"/>
            </a:pPr>
            <a:r>
              <a:rPr sz="1600" b="0" dirty="0" err="1">
                <a:solidFill>
                  <a:srgbClr val="000000"/>
                </a:solidFill>
                <a:latin typeface="맑은 고딕"/>
              </a:rPr>
              <a:t>안전성</a:t>
            </a:r>
            <a:r>
              <a:rPr sz="1600" b="0" dirty="0">
                <a:solidFill>
                  <a:srgbClr val="000000"/>
                </a:solidFill>
                <a:latin typeface="맑은 고딕"/>
              </a:rPr>
              <a:t> </a:t>
            </a:r>
            <a:r>
              <a:rPr sz="1600" b="0" dirty="0" err="1">
                <a:solidFill>
                  <a:srgbClr val="000000"/>
                </a:solidFill>
                <a:latin typeface="맑은 고딕"/>
              </a:rPr>
              <a:t>근거</a:t>
            </a:r>
            <a:r>
              <a:rPr sz="1600" b="0" dirty="0">
                <a:solidFill>
                  <a:srgbClr val="000000"/>
                </a:solidFill>
                <a:latin typeface="맑은 고딕"/>
              </a:rPr>
              <a:t>: ss-DLWE(</a:t>
            </a:r>
            <a:r>
              <a:rPr sz="1600" b="0" dirty="0" err="1">
                <a:solidFill>
                  <a:srgbClr val="000000"/>
                </a:solidFill>
                <a:latin typeface="맑은 고딕"/>
              </a:rPr>
              <a:t>n,n,q,B</a:t>
            </a:r>
            <a:r>
              <a:rPr sz="1600" b="0" dirty="0">
                <a:solidFill>
                  <a:srgbClr val="000000"/>
                </a:solidFill>
                <a:latin typeface="맑은 고딕"/>
              </a:rPr>
              <a:t>)의 </a:t>
            </a:r>
            <a:r>
              <a:rPr sz="1600" b="0" dirty="0" err="1">
                <a:solidFill>
                  <a:srgbClr val="000000"/>
                </a:solidFill>
                <a:latin typeface="맑은 고딕"/>
              </a:rPr>
              <a:t>어려움</a:t>
            </a:r>
            <a:r>
              <a:rPr sz="1600" b="0" dirty="0">
                <a:solidFill>
                  <a:srgbClr val="000000"/>
                </a:solidFill>
                <a:latin typeface="맑은 고딕"/>
              </a:rPr>
              <a:t> — </a:t>
            </a:r>
            <a:r>
              <a:rPr sz="1600" b="0" dirty="0" err="1">
                <a:solidFill>
                  <a:srgbClr val="000000"/>
                </a:solidFill>
                <a:latin typeface="맑은 고딕"/>
              </a:rPr>
              <a:t>다음</a:t>
            </a:r>
            <a:r>
              <a:rPr sz="1600" b="0" dirty="0">
                <a:solidFill>
                  <a:srgbClr val="000000"/>
                </a:solidFill>
                <a:latin typeface="맑은 고딕"/>
              </a:rPr>
              <a:t> </a:t>
            </a:r>
            <a:r>
              <a:rPr sz="1600" b="0" dirty="0" err="1">
                <a:solidFill>
                  <a:srgbClr val="000000"/>
                </a:solidFill>
                <a:latin typeface="맑은 고딕"/>
              </a:rPr>
              <a:t>슬라이드에서</a:t>
            </a:r>
            <a:r>
              <a:rPr sz="1600" b="0" dirty="0">
                <a:solidFill>
                  <a:srgbClr val="000000"/>
                </a:solidFill>
                <a:latin typeface="맑은 고딕"/>
              </a:rPr>
              <a:t> </a:t>
            </a:r>
            <a:r>
              <a:rPr sz="1600" b="0" dirty="0" err="1">
                <a:solidFill>
                  <a:srgbClr val="000000"/>
                </a:solidFill>
                <a:latin typeface="맑은 고딕"/>
              </a:rPr>
              <a:t>증명</a:t>
            </a:r>
            <a:endParaRPr sz="1600" b="0" dirty="0">
              <a:solidFill>
                <a:srgbClr val="000000"/>
              </a:solidFill>
              <a:latin typeface="맑은 고딕"/>
            </a:endParaRPr>
          </a:p>
        </p:txBody>
      </p:sp>
      <p:sp>
        <p:nvSpPr>
          <p:cNvPr id="4" name="슬라이드 번호 개체 틀 3">
            <a:extLst>
              <a:ext uri="{FF2B5EF4-FFF2-40B4-BE49-F238E27FC236}">
                <a16:creationId xmlns:a16="http://schemas.microsoft.com/office/drawing/2014/main" id="{7D9DEB61-6016-21F8-D81A-F18664F590B1}"/>
              </a:ext>
            </a:extLst>
          </p:cNvPr>
          <p:cNvSpPr>
            <a:spLocks noGrp="1"/>
          </p:cNvSpPr>
          <p:nvPr>
            <p:ph type="sldNum" sz="quarter" idx="12"/>
          </p:nvPr>
        </p:nvSpPr>
        <p:spPr/>
        <p:txBody>
          <a:bodyPr/>
          <a:lstStyle/>
          <a:p>
            <a:fld id="{4438A2D4-3867-488E-A04E-7BFFCAED45A6}" type="slidenum">
              <a:rPr lang="ko-KR" altLang="en-US" smtClean="0"/>
              <a:t>34</a:t>
            </a:fld>
            <a:endParaRPr lang="ko-KR" altLang="en-US"/>
          </a:p>
        </p:txBody>
      </p:sp>
      <p:graphicFrame>
        <p:nvGraphicFramePr>
          <p:cNvPr id="10" name="Table 6">
            <a:extLst>
              <a:ext uri="{FF2B5EF4-FFF2-40B4-BE49-F238E27FC236}">
                <a16:creationId xmlns:a16="http://schemas.microsoft.com/office/drawing/2014/main" id="{D44DFD79-53C7-9CB8-4FE2-C1F721615659}"/>
              </a:ext>
            </a:extLst>
          </p:cNvPr>
          <p:cNvGraphicFramePr>
            <a:graphicFrameLocks noGrp="1"/>
          </p:cNvGraphicFramePr>
          <p:nvPr>
            <p:extLst>
              <p:ext uri="{D42A27DB-BD31-4B8C-83A1-F6EECF244321}">
                <p14:modId xmlns:p14="http://schemas.microsoft.com/office/powerpoint/2010/main" val="503172187"/>
              </p:ext>
            </p:extLst>
          </p:nvPr>
        </p:nvGraphicFramePr>
        <p:xfrm>
          <a:off x="777240" y="2651760"/>
          <a:ext cx="10607040" cy="205740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8961120">
                  <a:extLst>
                    <a:ext uri="{9D8B030D-6E8A-4147-A177-3AD203B41FA5}">
                      <a16:colId xmlns:a16="http://schemas.microsoft.com/office/drawing/2014/main" val="20001"/>
                    </a:ext>
                  </a:extLst>
                </a:gridCol>
              </a:tblGrid>
              <a:tr h="685800">
                <a:tc>
                  <a:txBody>
                    <a:bodyPr/>
                    <a:lstStyle/>
                    <a:p>
                      <a:pPr algn="ctr"/>
                      <a:r>
                        <a:rPr sz="1600" b="1" dirty="0">
                          <a:solidFill>
                            <a:srgbClr val="000000"/>
                          </a:solidFill>
                          <a:latin typeface="맑은 고딕"/>
                        </a:rPr>
                        <a:t>키 </a:t>
                      </a:r>
                      <a:r>
                        <a:rPr sz="1600" b="1" dirty="0" err="1">
                          <a:solidFill>
                            <a:srgbClr val="000000"/>
                          </a:solidFill>
                          <a:latin typeface="맑은 고딕"/>
                        </a:rPr>
                        <a:t>생성</a:t>
                      </a:r>
                      <a:endParaRPr sz="1600" b="1" dirty="0">
                        <a:solidFill>
                          <a:srgbClr val="FFFFFF"/>
                        </a:solidFill>
                        <a:latin typeface="맑은 고딕"/>
                      </a:endParaRPr>
                    </a:p>
                  </a:txBody>
                  <a:tcPr anchor="ctr">
                    <a:solidFill>
                      <a:srgbClr val="FFFFFF"/>
                    </a:solidFill>
                  </a:tcPr>
                </a:tc>
                <a:tc>
                  <a:txBody>
                    <a:bodyPr/>
                    <a:lstStyle/>
                    <a:p>
                      <a:pPr algn="ctr"/>
                      <a:r>
                        <a:rPr sz="1600" b="0">
                          <a:solidFill>
                            <a:srgbClr val="000000"/>
                          </a:solidFill>
                          <a:latin typeface="맑은 고딕"/>
                        </a:rPr>
                        <a:t>s,e∈[-B,B]ⁿ, A∈ℤq^(n×n) 선택 → b=As+e. 공개키 (A,b), 개인키 s</a:t>
                      </a:r>
                    </a:p>
                  </a:txBody>
                  <a:tcPr anchor="ctr">
                    <a:solidFill>
                      <a:srgbClr val="FFFFFF"/>
                    </a:solidFill>
                  </a:tcPr>
                </a:tc>
                <a:extLst>
                  <a:ext uri="{0D108BD9-81ED-4DB2-BD59-A6C34878D82A}">
                    <a16:rowId xmlns:a16="http://schemas.microsoft.com/office/drawing/2014/main" val="10000"/>
                  </a:ext>
                </a:extLst>
              </a:tr>
              <a:tr h="685800">
                <a:tc>
                  <a:txBody>
                    <a:bodyPr/>
                    <a:lstStyle/>
                    <a:p>
                      <a:pPr algn="ctr"/>
                      <a:r>
                        <a:rPr sz="1600" b="1">
                          <a:solidFill>
                            <a:srgbClr val="000000"/>
                          </a:solidFill>
                          <a:latin typeface="맑은 고딕"/>
                        </a:rPr>
                        <a:t>암호화</a:t>
                      </a:r>
                    </a:p>
                  </a:txBody>
                  <a:tcPr anchor="ctr">
                    <a:solidFill>
                      <a:srgbClr val="F2F5F8"/>
                    </a:solidFill>
                  </a:tcPr>
                </a:tc>
                <a:tc>
                  <a:txBody>
                    <a:bodyPr/>
                    <a:lstStyle/>
                    <a:p>
                      <a:pPr algn="ctr"/>
                      <a:r>
                        <a:rPr sz="1600" b="0" dirty="0" err="1">
                          <a:solidFill>
                            <a:srgbClr val="000000"/>
                          </a:solidFill>
                          <a:latin typeface="맑은 고딕"/>
                        </a:rPr>
                        <a:t>r,z</a:t>
                      </a:r>
                      <a:r>
                        <a:rPr sz="1600" b="0" dirty="0">
                          <a:solidFill>
                            <a:srgbClr val="000000"/>
                          </a:solidFill>
                          <a:latin typeface="맑은 고딕"/>
                        </a:rPr>
                        <a:t>∈[-B,B]ⁿ, z'∈[-B,B] </a:t>
                      </a:r>
                      <a:r>
                        <a:rPr sz="1600" b="0" dirty="0" err="1">
                          <a:solidFill>
                            <a:srgbClr val="000000"/>
                          </a:solidFill>
                          <a:latin typeface="맑은 고딕"/>
                        </a:rPr>
                        <a:t>선택</a:t>
                      </a:r>
                      <a:r>
                        <a:rPr sz="1600" b="0" dirty="0">
                          <a:solidFill>
                            <a:srgbClr val="000000"/>
                          </a:solidFill>
                          <a:latin typeface="맑은 고딕"/>
                        </a:rPr>
                        <a:t> → c₁=</a:t>
                      </a:r>
                      <a:r>
                        <a:rPr sz="1600" b="0" dirty="0" err="1">
                          <a:solidFill>
                            <a:srgbClr val="000000"/>
                          </a:solidFill>
                          <a:latin typeface="맑은 고딕"/>
                        </a:rPr>
                        <a:t>Aᵀr+z</a:t>
                      </a:r>
                      <a:r>
                        <a:rPr sz="1600" b="0" dirty="0">
                          <a:solidFill>
                            <a:srgbClr val="000000"/>
                          </a:solidFill>
                          <a:latin typeface="맑은 고딕"/>
                        </a:rPr>
                        <a:t>, c₂=</a:t>
                      </a:r>
                      <a:r>
                        <a:rPr sz="1600" b="0" dirty="0" err="1">
                          <a:solidFill>
                            <a:srgbClr val="000000"/>
                          </a:solidFill>
                          <a:latin typeface="맑은 고딕"/>
                        </a:rPr>
                        <a:t>bᵀr+z</a:t>
                      </a:r>
                      <a:r>
                        <a:rPr sz="1600" b="0" dirty="0">
                          <a:solidFill>
                            <a:srgbClr val="000000"/>
                          </a:solidFill>
                          <a:latin typeface="맑은 고딕"/>
                        </a:rPr>
                        <a:t>'+⌈q/2⌉m</a:t>
                      </a:r>
                    </a:p>
                  </a:txBody>
                  <a:tcPr anchor="ctr">
                    <a:solidFill>
                      <a:srgbClr val="F2F5F8"/>
                    </a:solidFill>
                  </a:tcPr>
                </a:tc>
                <a:extLst>
                  <a:ext uri="{0D108BD9-81ED-4DB2-BD59-A6C34878D82A}">
                    <a16:rowId xmlns:a16="http://schemas.microsoft.com/office/drawing/2014/main" val="10001"/>
                  </a:ext>
                </a:extLst>
              </a:tr>
              <a:tr h="685800">
                <a:tc>
                  <a:txBody>
                    <a:bodyPr/>
                    <a:lstStyle/>
                    <a:p>
                      <a:pPr algn="ctr"/>
                      <a:r>
                        <a:rPr sz="1600" b="1">
                          <a:solidFill>
                            <a:srgbClr val="000000"/>
                          </a:solidFill>
                          <a:latin typeface="맑은 고딕"/>
                        </a:rPr>
                        <a:t>복호화</a:t>
                      </a:r>
                    </a:p>
                  </a:txBody>
                  <a:tcPr anchor="ctr">
                    <a:solidFill>
                      <a:srgbClr val="FFFFFF"/>
                    </a:solidFill>
                  </a:tcPr>
                </a:tc>
                <a:tc>
                  <a:txBody>
                    <a:bodyPr/>
                    <a:lstStyle/>
                    <a:p>
                      <a:pPr algn="ctr"/>
                      <a:r>
                        <a:rPr sz="1600" b="0" dirty="0">
                          <a:solidFill>
                            <a:srgbClr val="000000"/>
                          </a:solidFill>
                          <a:latin typeface="맑은 고딕"/>
                        </a:rPr>
                        <a:t>m = </a:t>
                      </a:r>
                      <a:r>
                        <a:rPr sz="1600" b="0" dirty="0" err="1">
                          <a:solidFill>
                            <a:srgbClr val="000000"/>
                          </a:solidFill>
                          <a:latin typeface="맑은 고딕"/>
                        </a:rPr>
                        <a:t>Round_q</a:t>
                      </a:r>
                      <a:r>
                        <a:rPr sz="1600" b="0" dirty="0">
                          <a:solidFill>
                            <a:srgbClr val="000000"/>
                          </a:solidFill>
                          <a:latin typeface="맑은 고딕"/>
                        </a:rPr>
                        <a:t>(c₂ - </a:t>
                      </a:r>
                      <a:r>
                        <a:rPr sz="1600" b="0" dirty="0" err="1">
                          <a:solidFill>
                            <a:srgbClr val="000000"/>
                          </a:solidFill>
                          <a:latin typeface="맑은 고딕"/>
                        </a:rPr>
                        <a:t>sᵀc</a:t>
                      </a:r>
                      <a:r>
                        <a:rPr sz="1600" b="0" dirty="0">
                          <a:solidFill>
                            <a:srgbClr val="000000"/>
                          </a:solidFill>
                          <a:latin typeface="맑은 고딕"/>
                        </a:rPr>
                        <a:t>₁)</a:t>
                      </a:r>
                    </a:p>
                  </a:txBody>
                  <a:tcPr anchor="ctr">
                    <a:solidFill>
                      <a:srgbClr val="FFFFFF"/>
                    </a:solidFill>
                  </a:tcPr>
                </a:tc>
                <a:extLst>
                  <a:ext uri="{0D108BD9-81ED-4DB2-BD59-A6C34878D82A}">
                    <a16:rowId xmlns:a16="http://schemas.microsoft.com/office/drawing/2014/main" val="10002"/>
                  </a:ext>
                </a:extLst>
              </a:tr>
            </a:tbl>
          </a:graphicData>
        </a:graphic>
      </p:graphicFrame>
      <p:sp>
        <p:nvSpPr>
          <p:cNvPr id="13" name="내용 개체 틀 2">
            <a:extLst>
              <a:ext uri="{FF2B5EF4-FFF2-40B4-BE49-F238E27FC236}">
                <a16:creationId xmlns:a16="http://schemas.microsoft.com/office/drawing/2014/main" id="{CCB0284D-7F6A-5DA3-91EC-DA2788913B4A}"/>
              </a:ext>
            </a:extLst>
          </p:cNvPr>
          <p:cNvSpPr txBox="1">
            <a:spLocks/>
          </p:cNvSpPr>
          <p:nvPr/>
        </p:nvSpPr>
        <p:spPr>
          <a:xfrm>
            <a:off x="777240" y="4892040"/>
            <a:ext cx="10515600" cy="1280160"/>
          </a:xfrm>
          <a:prstGeom prst="rect">
            <a:avLst/>
          </a:prstGeom>
        </p:spPr>
        <p:txBody>
          <a:bodyPr vert="horz" lIns="91440" tIns="45720" rIns="91440" bIns="45720" rtlCol="0" anchor="t">
            <a:noAutofit/>
          </a:bodyPr>
          <a:lstStyle>
            <a:lvl1pPr marL="228600" indent="-228600" algn="l" defTabSz="914400" rtl="0" eaLnBrk="1" latinLnBrk="1" hangingPunct="1">
              <a:lnSpc>
                <a:spcPct val="15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1" hangingPunct="1">
              <a:lnSpc>
                <a:spcPct val="15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1" hangingPunct="1">
              <a:lnSpc>
                <a:spcPct val="15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1"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1"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800"/>
              </a:spcAft>
            </a:pPr>
            <a:r>
              <a:rPr sz="1600" dirty="0" err="1">
                <a:solidFill>
                  <a:srgbClr val="000000"/>
                </a:solidFill>
                <a:latin typeface="맑은 고딕"/>
              </a:rPr>
              <a:t>A가</a:t>
            </a:r>
            <a:r>
              <a:rPr sz="1600" dirty="0">
                <a:solidFill>
                  <a:srgbClr val="000000"/>
                </a:solidFill>
                <a:latin typeface="맑은 고딕"/>
              </a:rPr>
              <a:t> </a:t>
            </a:r>
            <a:r>
              <a:rPr sz="1600" dirty="0" err="1">
                <a:solidFill>
                  <a:srgbClr val="000000"/>
                </a:solidFill>
                <a:latin typeface="맑은 고딕"/>
              </a:rPr>
              <a:t>n×n</a:t>
            </a:r>
            <a:r>
              <a:rPr sz="1600" dirty="0">
                <a:solidFill>
                  <a:srgbClr val="000000"/>
                </a:solidFill>
                <a:latin typeface="맑은 고딕"/>
              </a:rPr>
              <a:t> </a:t>
            </a:r>
            <a:r>
              <a:rPr sz="1600" dirty="0" err="1">
                <a:solidFill>
                  <a:srgbClr val="000000"/>
                </a:solidFill>
                <a:latin typeface="맑은 고딕"/>
              </a:rPr>
              <a:t>정사각행렬이어도</a:t>
            </a:r>
            <a:r>
              <a:rPr sz="1600" dirty="0">
                <a:solidFill>
                  <a:srgbClr val="000000"/>
                </a:solidFill>
                <a:latin typeface="맑은 고딕"/>
              </a:rPr>
              <a:t> ss-DLWE </a:t>
            </a:r>
            <a:r>
              <a:rPr sz="1600" dirty="0" err="1">
                <a:solidFill>
                  <a:srgbClr val="000000"/>
                </a:solidFill>
                <a:latin typeface="맑은 고딕"/>
              </a:rPr>
              <a:t>덕분에</a:t>
            </a:r>
            <a:r>
              <a:rPr sz="1600" dirty="0">
                <a:solidFill>
                  <a:srgbClr val="000000"/>
                </a:solidFill>
                <a:latin typeface="맑은 고딕"/>
              </a:rPr>
              <a:t> </a:t>
            </a:r>
            <a:r>
              <a:rPr sz="1600" dirty="0" err="1">
                <a:solidFill>
                  <a:srgbClr val="000000"/>
                </a:solidFill>
                <a:latin typeface="맑은 고딕"/>
              </a:rPr>
              <a:t>유일성·안전성</a:t>
            </a:r>
            <a:r>
              <a:rPr sz="1600" dirty="0">
                <a:solidFill>
                  <a:srgbClr val="000000"/>
                </a:solidFill>
                <a:latin typeface="맑은 고딕"/>
              </a:rPr>
              <a:t> </a:t>
            </a:r>
            <a:r>
              <a:rPr sz="1600" dirty="0" err="1">
                <a:solidFill>
                  <a:srgbClr val="000000"/>
                </a:solidFill>
                <a:latin typeface="맑은 고딕"/>
              </a:rPr>
              <a:t>논증이</a:t>
            </a:r>
            <a:r>
              <a:rPr sz="1600" dirty="0">
                <a:solidFill>
                  <a:srgbClr val="000000"/>
                </a:solidFill>
                <a:latin typeface="맑은 고딕"/>
              </a:rPr>
              <a:t> </a:t>
            </a:r>
            <a:r>
              <a:rPr sz="1600" dirty="0" err="1">
                <a:solidFill>
                  <a:srgbClr val="000000"/>
                </a:solidFill>
                <a:latin typeface="맑은 고딕"/>
              </a:rPr>
              <a:t>그대로</a:t>
            </a:r>
            <a:r>
              <a:rPr sz="1600" dirty="0">
                <a:solidFill>
                  <a:srgbClr val="000000"/>
                </a:solidFill>
                <a:latin typeface="맑은 고딕"/>
              </a:rPr>
              <a:t> </a:t>
            </a:r>
            <a:r>
              <a:rPr sz="1600" dirty="0" err="1">
                <a:solidFill>
                  <a:srgbClr val="000000"/>
                </a:solidFill>
                <a:latin typeface="맑은 고딕"/>
              </a:rPr>
              <a:t>성립한다</a:t>
            </a:r>
            <a:r>
              <a:rPr sz="1600" dirty="0">
                <a:solidFill>
                  <a:srgbClr val="000000"/>
                </a:solidFill>
                <a:latin typeface="맑은 고딕"/>
              </a:rPr>
              <a:t> </a:t>
            </a:r>
            <a:endParaRPr lang="en-US" sz="1600" dirty="0">
              <a:solidFill>
                <a:srgbClr val="000000"/>
              </a:solidFill>
              <a:latin typeface="맑은 고딕"/>
            </a:endParaRPr>
          </a:p>
          <a:p>
            <a:pPr>
              <a:lnSpc>
                <a:spcPct val="100000"/>
              </a:lnSpc>
              <a:spcAft>
                <a:spcPts val="800"/>
              </a:spcAft>
            </a:pPr>
            <a:r>
              <a:rPr sz="1600" dirty="0" err="1">
                <a:solidFill>
                  <a:srgbClr val="000000"/>
                </a:solidFill>
                <a:latin typeface="맑은 고딕"/>
              </a:rPr>
              <a:t>공개키를</a:t>
            </a:r>
            <a:r>
              <a:rPr sz="1600" dirty="0">
                <a:solidFill>
                  <a:srgbClr val="000000"/>
                </a:solidFill>
                <a:latin typeface="맑은 고딕"/>
              </a:rPr>
              <a:t> "</a:t>
            </a:r>
            <a:r>
              <a:rPr sz="1600" dirty="0" err="1">
                <a:solidFill>
                  <a:srgbClr val="000000"/>
                </a:solidFill>
                <a:latin typeface="맑은 고딕"/>
              </a:rPr>
              <a:t>키가</a:t>
            </a:r>
            <a:r>
              <a:rPr sz="1600" dirty="0">
                <a:solidFill>
                  <a:srgbClr val="000000"/>
                </a:solidFill>
                <a:latin typeface="맑은 고딕"/>
              </a:rPr>
              <a:t> 큰" </a:t>
            </a:r>
            <a:r>
              <a:rPr sz="1600" dirty="0" err="1">
                <a:solidFill>
                  <a:srgbClr val="000000"/>
                </a:solidFill>
                <a:latin typeface="맑은 고딕"/>
              </a:rPr>
              <a:t>행렬로</a:t>
            </a:r>
            <a:r>
              <a:rPr sz="1600" dirty="0">
                <a:solidFill>
                  <a:srgbClr val="000000"/>
                </a:solidFill>
                <a:latin typeface="맑은 고딕"/>
              </a:rPr>
              <a:t> </a:t>
            </a:r>
            <a:r>
              <a:rPr sz="1600" dirty="0" err="1">
                <a:solidFill>
                  <a:srgbClr val="000000"/>
                </a:solidFill>
                <a:latin typeface="맑은 고딕"/>
              </a:rPr>
              <a:t>만들</a:t>
            </a:r>
            <a:r>
              <a:rPr sz="1600" dirty="0">
                <a:solidFill>
                  <a:srgbClr val="000000"/>
                </a:solidFill>
                <a:latin typeface="맑은 고딕"/>
              </a:rPr>
              <a:t> </a:t>
            </a:r>
            <a:r>
              <a:rPr sz="1600" dirty="0" err="1">
                <a:solidFill>
                  <a:srgbClr val="000000"/>
                </a:solidFill>
                <a:latin typeface="맑은 고딕"/>
              </a:rPr>
              <a:t>필요가</a:t>
            </a:r>
            <a:r>
              <a:rPr sz="1600" dirty="0">
                <a:solidFill>
                  <a:srgbClr val="000000"/>
                </a:solidFill>
                <a:latin typeface="맑은 고딕"/>
              </a:rPr>
              <a:t> </a:t>
            </a:r>
            <a:r>
              <a:rPr sz="1600" dirty="0" err="1">
                <a:solidFill>
                  <a:srgbClr val="000000"/>
                </a:solidFill>
                <a:latin typeface="맑은 고딕"/>
              </a:rPr>
              <a:t>없다</a:t>
            </a:r>
            <a:r>
              <a:rPr sz="1600" dirty="0">
                <a:solidFill>
                  <a:srgbClr val="000000"/>
                </a:solidFill>
                <a:latin typeface="맑은 고딕"/>
              </a:rPr>
              <a:t>.</a:t>
            </a:r>
            <a:endParaRPr lang="ko-KR" altLang="en-US" sz="1600" dirty="0"/>
          </a:p>
        </p:txBody>
      </p:sp>
    </p:spTree>
    <p:extLst>
      <p:ext uri="{BB962C8B-B14F-4D97-AF65-F5344CB8AC3E}">
        <p14:creationId xmlns:p14="http://schemas.microsoft.com/office/powerpoint/2010/main" val="20025651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000000"/>
                </a:solidFill>
                <a:latin typeface="맑은 고딕"/>
              </a:rPr>
              <a:t>Lindner-Peikert 숫자 예제</a:t>
            </a:r>
          </a:p>
        </p:txBody>
      </p:sp>
      <p:sp>
        <p:nvSpPr>
          <p:cNvPr id="4" name="TextBox 3"/>
          <p:cNvSpPr txBox="1"/>
          <p:nvPr/>
        </p:nvSpPr>
        <p:spPr>
          <a:xfrm>
            <a:off x="603504" y="1298448"/>
            <a:ext cx="7589520" cy="4706738"/>
          </a:xfrm>
          <a:prstGeom prst="rect">
            <a:avLst/>
          </a:prstGeom>
          <a:noFill/>
        </p:spPr>
        <p:txBody>
          <a:bodyPr wrap="square">
            <a:spAutoFit/>
          </a:bodyPr>
          <a:lstStyle/>
          <a:p>
            <a:pPr>
              <a:lnSpc>
                <a:spcPct val="150000"/>
              </a:lnSpc>
              <a:spcAft>
                <a:spcPts val="800"/>
              </a:spcAft>
              <a:buNone/>
            </a:pPr>
            <a:r>
              <a:rPr sz="1800" dirty="0">
                <a:solidFill>
                  <a:srgbClr val="000000"/>
                </a:solidFill>
                <a:latin typeface="맑은 고딕"/>
              </a:rPr>
              <a:t>• </a:t>
            </a:r>
            <a:r>
              <a:rPr sz="1800" dirty="0" err="1">
                <a:solidFill>
                  <a:srgbClr val="000000"/>
                </a:solidFill>
                <a:latin typeface="맑은 고딕"/>
              </a:rPr>
              <a:t>도메인</a:t>
            </a:r>
            <a:r>
              <a:rPr sz="1800" dirty="0">
                <a:solidFill>
                  <a:srgbClr val="000000"/>
                </a:solidFill>
                <a:latin typeface="맑은 고딕"/>
              </a:rPr>
              <a:t> </a:t>
            </a:r>
            <a:r>
              <a:rPr sz="1800" dirty="0" err="1">
                <a:solidFill>
                  <a:srgbClr val="000000"/>
                </a:solidFill>
                <a:latin typeface="맑은 고딕"/>
              </a:rPr>
              <a:t>파라미터</a:t>
            </a:r>
            <a:r>
              <a:rPr sz="1800" dirty="0">
                <a:solidFill>
                  <a:srgbClr val="000000"/>
                </a:solidFill>
                <a:latin typeface="맑은 고딕"/>
              </a:rPr>
              <a:t>: q = 229, n = 3, B = 2  (√(229/28) ≈ 2.86 ≥ B=2 → correctness </a:t>
            </a:r>
            <a:r>
              <a:rPr sz="1800" dirty="0" err="1">
                <a:solidFill>
                  <a:srgbClr val="000000"/>
                </a:solidFill>
                <a:latin typeface="맑은 고딕"/>
              </a:rPr>
              <a:t>조건</a:t>
            </a:r>
            <a:r>
              <a:rPr sz="1800" dirty="0">
                <a:solidFill>
                  <a:srgbClr val="000000"/>
                </a:solidFill>
                <a:latin typeface="맑은 고딕"/>
              </a:rPr>
              <a:t> </a:t>
            </a:r>
            <a:r>
              <a:rPr sz="1800" dirty="0" err="1">
                <a:solidFill>
                  <a:srgbClr val="000000"/>
                </a:solidFill>
                <a:latin typeface="맑은 고딕"/>
              </a:rPr>
              <a:t>만족</a:t>
            </a:r>
            <a:r>
              <a:rPr sz="1800" dirty="0">
                <a:solidFill>
                  <a:srgbClr val="000000"/>
                </a:solidFill>
                <a:latin typeface="맑은 고딕"/>
              </a:rPr>
              <a:t>)</a:t>
            </a:r>
          </a:p>
          <a:p>
            <a:pPr>
              <a:lnSpc>
                <a:spcPct val="150000"/>
              </a:lnSpc>
              <a:spcAft>
                <a:spcPts val="800"/>
              </a:spcAft>
              <a:buNone/>
            </a:pPr>
            <a:r>
              <a:rPr sz="1800" dirty="0">
                <a:solidFill>
                  <a:srgbClr val="000000"/>
                </a:solidFill>
                <a:latin typeface="맑은 고딕"/>
              </a:rPr>
              <a:t>• 키 </a:t>
            </a:r>
            <a:r>
              <a:rPr sz="1800" dirty="0" err="1">
                <a:solidFill>
                  <a:srgbClr val="000000"/>
                </a:solidFill>
                <a:latin typeface="맑은 고딕"/>
              </a:rPr>
              <a:t>생성</a:t>
            </a:r>
            <a:r>
              <a:rPr sz="1800" dirty="0">
                <a:solidFill>
                  <a:srgbClr val="000000"/>
                </a:solidFill>
                <a:latin typeface="맑은 고딕"/>
              </a:rPr>
              <a:t> (Alice): s=(2,−2,1), e=(0,−2,1) → b=</a:t>
            </a:r>
            <a:r>
              <a:rPr sz="1800" dirty="0" err="1">
                <a:solidFill>
                  <a:srgbClr val="000000"/>
                </a:solidFill>
                <a:latin typeface="맑은 고딕"/>
              </a:rPr>
              <a:t>As+e</a:t>
            </a:r>
            <a:r>
              <a:rPr sz="1800" dirty="0">
                <a:solidFill>
                  <a:srgbClr val="000000"/>
                </a:solidFill>
                <a:latin typeface="맑은 고딕"/>
              </a:rPr>
              <a:t>=(112,147,17)  (</a:t>
            </a:r>
            <a:r>
              <a:rPr sz="1800" dirty="0" err="1">
                <a:solidFill>
                  <a:srgbClr val="000000"/>
                </a:solidFill>
                <a:latin typeface="맑은 고딕"/>
              </a:rPr>
              <a:t>행렬</a:t>
            </a:r>
            <a:r>
              <a:rPr sz="1800" dirty="0">
                <a:solidFill>
                  <a:srgbClr val="000000"/>
                </a:solidFill>
                <a:latin typeface="맑은 고딕"/>
              </a:rPr>
              <a:t> </a:t>
            </a:r>
            <a:r>
              <a:rPr sz="1800" dirty="0" err="1">
                <a:solidFill>
                  <a:srgbClr val="000000"/>
                </a:solidFill>
                <a:latin typeface="맑은 고딕"/>
              </a:rPr>
              <a:t>A는</a:t>
            </a:r>
            <a:r>
              <a:rPr sz="1800" dirty="0">
                <a:solidFill>
                  <a:srgbClr val="000000"/>
                </a:solidFill>
                <a:latin typeface="맑은 고딕"/>
              </a:rPr>
              <a:t> </a:t>
            </a:r>
            <a:r>
              <a:rPr sz="1800" dirty="0" err="1">
                <a:solidFill>
                  <a:srgbClr val="000000"/>
                </a:solidFill>
                <a:latin typeface="맑은 고딕"/>
              </a:rPr>
              <a:t>오른쪽</a:t>
            </a:r>
            <a:r>
              <a:rPr sz="1800" dirty="0">
                <a:solidFill>
                  <a:srgbClr val="000000"/>
                </a:solidFill>
                <a:latin typeface="맑은 고딕"/>
              </a:rPr>
              <a:t>)</a:t>
            </a:r>
          </a:p>
          <a:p>
            <a:pPr>
              <a:lnSpc>
                <a:spcPct val="150000"/>
              </a:lnSpc>
              <a:spcAft>
                <a:spcPts val="800"/>
              </a:spcAft>
              <a:buNone/>
            </a:pPr>
            <a:r>
              <a:rPr sz="1800" dirty="0">
                <a:solidFill>
                  <a:srgbClr val="000000"/>
                </a:solidFill>
                <a:latin typeface="맑은 고딕"/>
              </a:rPr>
              <a:t>• </a:t>
            </a:r>
            <a:r>
              <a:rPr sz="1800" dirty="0" err="1">
                <a:solidFill>
                  <a:srgbClr val="000000"/>
                </a:solidFill>
                <a:latin typeface="맑은 고딕"/>
              </a:rPr>
              <a:t>암호화</a:t>
            </a:r>
            <a:r>
              <a:rPr sz="1800" dirty="0">
                <a:solidFill>
                  <a:srgbClr val="000000"/>
                </a:solidFill>
                <a:latin typeface="맑은 고딕"/>
              </a:rPr>
              <a:t> (Bob, </a:t>
            </a:r>
            <a:r>
              <a:rPr sz="1800" dirty="0" err="1">
                <a:solidFill>
                  <a:srgbClr val="000000"/>
                </a:solidFill>
                <a:latin typeface="맑은 고딕"/>
              </a:rPr>
              <a:t>평문</a:t>
            </a:r>
            <a:r>
              <a:rPr sz="1800" dirty="0">
                <a:solidFill>
                  <a:srgbClr val="000000"/>
                </a:solidFill>
                <a:latin typeface="맑은 고딕"/>
              </a:rPr>
              <a:t> m=1): r=(2,−2,−1), z=(0,1,−2), z′=−2</a:t>
            </a:r>
          </a:p>
          <a:p>
            <a:pPr>
              <a:lnSpc>
                <a:spcPct val="150000"/>
              </a:lnSpc>
              <a:spcAft>
                <a:spcPts val="400"/>
              </a:spcAft>
              <a:buNone/>
            </a:pPr>
            <a:r>
              <a:rPr sz="1800" dirty="0">
                <a:solidFill>
                  <a:srgbClr val="000000"/>
                </a:solidFill>
                <a:latin typeface="맑은 고딕"/>
              </a:rPr>
              <a:t>• c₁ = </a:t>
            </a:r>
            <a:r>
              <a:rPr sz="1800" dirty="0" err="1">
                <a:solidFill>
                  <a:srgbClr val="000000"/>
                </a:solidFill>
                <a:latin typeface="맑은 고딕"/>
              </a:rPr>
              <a:t>Aᵀr+z</a:t>
            </a:r>
            <a:r>
              <a:rPr sz="1800" dirty="0">
                <a:solidFill>
                  <a:srgbClr val="000000"/>
                </a:solidFill>
                <a:latin typeface="맑은 고딕"/>
              </a:rPr>
              <a:t> = (160,111,37),   c₂ = </a:t>
            </a:r>
            <a:r>
              <a:rPr sz="1800" dirty="0" err="1">
                <a:solidFill>
                  <a:srgbClr val="000000"/>
                </a:solidFill>
                <a:latin typeface="맑은 고딕"/>
              </a:rPr>
              <a:t>bᵀr+z</a:t>
            </a:r>
            <a:r>
              <a:rPr sz="1800" dirty="0">
                <a:solidFill>
                  <a:srgbClr val="000000"/>
                </a:solidFill>
                <a:latin typeface="맑은 고딕"/>
              </a:rPr>
              <a:t>′+⌈229/2⌉·1 = 26</a:t>
            </a:r>
          </a:p>
          <a:p>
            <a:pPr>
              <a:lnSpc>
                <a:spcPct val="150000"/>
              </a:lnSpc>
              <a:spcAft>
                <a:spcPts val="800"/>
              </a:spcAft>
              <a:buNone/>
            </a:pPr>
            <a:r>
              <a:rPr sz="1800" dirty="0">
                <a:solidFill>
                  <a:srgbClr val="000000"/>
                </a:solidFill>
                <a:latin typeface="맑은 고딕"/>
              </a:rPr>
              <a:t>• </a:t>
            </a:r>
            <a:r>
              <a:rPr sz="1800" dirty="0" err="1">
                <a:solidFill>
                  <a:srgbClr val="000000"/>
                </a:solidFill>
                <a:latin typeface="맑은 고딕"/>
              </a:rPr>
              <a:t>복호화</a:t>
            </a:r>
            <a:r>
              <a:rPr sz="1800" dirty="0">
                <a:solidFill>
                  <a:srgbClr val="000000"/>
                </a:solidFill>
                <a:latin typeface="맑은 고딕"/>
              </a:rPr>
              <a:t> (Alice): c₂−</a:t>
            </a:r>
            <a:r>
              <a:rPr sz="1800" dirty="0" err="1">
                <a:solidFill>
                  <a:srgbClr val="000000"/>
                </a:solidFill>
                <a:latin typeface="맑은 고딕"/>
              </a:rPr>
              <a:t>sᵀc</a:t>
            </a:r>
            <a:r>
              <a:rPr sz="1800" dirty="0">
                <a:solidFill>
                  <a:srgbClr val="000000"/>
                </a:solidFill>
                <a:latin typeface="맑은 고딕"/>
              </a:rPr>
              <a:t>₁ ≡ 120 (mod 229)</a:t>
            </a:r>
          </a:p>
          <a:p>
            <a:pPr>
              <a:lnSpc>
                <a:spcPct val="150000"/>
              </a:lnSpc>
              <a:spcAft>
                <a:spcPts val="400"/>
              </a:spcAft>
              <a:buNone/>
            </a:pPr>
            <a:r>
              <a:rPr sz="1800" dirty="0">
                <a:solidFill>
                  <a:srgbClr val="000000"/>
                </a:solidFill>
                <a:latin typeface="맑은 고딕"/>
              </a:rPr>
              <a:t>• 120 </a:t>
            </a:r>
            <a:r>
              <a:rPr sz="1800" dirty="0" err="1">
                <a:solidFill>
                  <a:srgbClr val="000000"/>
                </a:solidFill>
                <a:latin typeface="맑은 고딕"/>
              </a:rPr>
              <a:t>mod_s</a:t>
            </a:r>
            <a:r>
              <a:rPr sz="1800" dirty="0">
                <a:solidFill>
                  <a:srgbClr val="000000"/>
                </a:solidFill>
                <a:latin typeface="맑은 고딕"/>
              </a:rPr>
              <a:t> 229 = −109  →  Round₂₂₉(−109) = 1  (−109 &lt; −229/4 ≈ −57.25)</a:t>
            </a:r>
          </a:p>
          <a:p>
            <a:pPr>
              <a:lnSpc>
                <a:spcPct val="150000"/>
              </a:lnSpc>
              <a:spcAft>
                <a:spcPts val="400"/>
              </a:spcAft>
              <a:buNone/>
            </a:pPr>
            <a:r>
              <a:rPr sz="1800" dirty="0">
                <a:solidFill>
                  <a:srgbClr val="000000"/>
                </a:solidFill>
                <a:latin typeface="맑은 고딕"/>
              </a:rPr>
              <a:t>• → </a:t>
            </a:r>
            <a:r>
              <a:rPr sz="1800" dirty="0" err="1">
                <a:solidFill>
                  <a:srgbClr val="000000"/>
                </a:solidFill>
                <a:latin typeface="맑은 고딕"/>
              </a:rPr>
              <a:t>평문</a:t>
            </a:r>
            <a:r>
              <a:rPr sz="1800" dirty="0">
                <a:solidFill>
                  <a:srgbClr val="000000"/>
                </a:solidFill>
                <a:latin typeface="맑은 고딕"/>
              </a:rPr>
              <a:t> m = 1 을 </a:t>
            </a:r>
            <a:r>
              <a:rPr sz="1800" dirty="0" err="1">
                <a:solidFill>
                  <a:srgbClr val="000000"/>
                </a:solidFill>
                <a:latin typeface="맑은 고딕"/>
              </a:rPr>
              <a:t>정확히</a:t>
            </a:r>
            <a:r>
              <a:rPr sz="1800" dirty="0">
                <a:solidFill>
                  <a:srgbClr val="000000"/>
                </a:solidFill>
                <a:latin typeface="맑은 고딕"/>
              </a:rPr>
              <a:t> </a:t>
            </a:r>
            <a:r>
              <a:rPr sz="1800" dirty="0" err="1">
                <a:solidFill>
                  <a:srgbClr val="000000"/>
                </a:solidFill>
                <a:latin typeface="맑은 고딕"/>
              </a:rPr>
              <a:t>복원</a:t>
            </a:r>
            <a:endParaRPr sz="1800" dirty="0">
              <a:solidFill>
                <a:srgbClr val="000000"/>
              </a:solidFill>
              <a:latin typeface="맑은 고딕"/>
            </a:endParaRPr>
          </a:p>
        </p:txBody>
      </p:sp>
      <p:pic>
        <p:nvPicPr>
          <p:cNvPr id="5" name="Picture 4" descr="mat_103.png"/>
          <p:cNvPicPr>
            <a:picLocks noChangeAspect="1"/>
          </p:cNvPicPr>
          <p:nvPr/>
        </p:nvPicPr>
        <p:blipFill>
          <a:blip r:embed="rId3"/>
          <a:stretch>
            <a:fillRect/>
          </a:stretch>
        </p:blipFill>
        <p:spPr>
          <a:xfrm>
            <a:off x="8503920" y="1737360"/>
            <a:ext cx="1816188" cy="128016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22A31-B7E1-DE4F-BD2E-6ADD8C9D3B94}"/>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7E3030C-FFCA-8B74-76CF-DF1C4EFDAA9A}"/>
              </a:ext>
            </a:extLst>
          </p:cNvPr>
          <p:cNvSpPr>
            <a:spLocks noGrp="1"/>
          </p:cNvSpPr>
          <p:nvPr>
            <p:ph type="title"/>
          </p:nvPr>
        </p:nvSpPr>
        <p:spPr/>
        <p:txBody>
          <a:bodyPr/>
          <a:lstStyle/>
          <a:p>
            <a:r>
              <a:rPr sz="2800" b="1">
                <a:solidFill>
                  <a:srgbClr val="000000"/>
                </a:solidFill>
                <a:latin typeface="맑은 고딕"/>
              </a:rPr>
              <a:t>복호화 정확성과 IND-CPA 안전성 (1/2)</a:t>
            </a:r>
          </a:p>
        </p:txBody>
      </p:sp>
      <p:sp>
        <p:nvSpPr>
          <p:cNvPr id="3" name="내용 개체 틀 2">
            <a:extLst>
              <a:ext uri="{FF2B5EF4-FFF2-40B4-BE49-F238E27FC236}">
                <a16:creationId xmlns:a16="http://schemas.microsoft.com/office/drawing/2014/main" id="{904863A8-7EA4-1EAB-D247-38A2D4F7EB5E}"/>
              </a:ext>
            </a:extLst>
          </p:cNvPr>
          <p:cNvSpPr>
            <a:spLocks noGrp="1"/>
          </p:cNvSpPr>
          <p:nvPr>
            <p:ph idx="1"/>
          </p:nvPr>
        </p:nvSpPr>
        <p:spPr>
          <a:xfrm>
            <a:off x="838200" y="1254792"/>
            <a:ext cx="10515600" cy="2691733"/>
          </a:xfrm>
        </p:spPr>
        <p:txBody>
          <a:bodyPr>
            <a:normAutofit/>
          </a:bodyPr>
          <a:lstStyle/>
          <a:p>
            <a:pPr>
              <a:spcAft>
                <a:spcPts val="800"/>
              </a:spcAft>
              <a:buFont typeface="Arial"/>
              <a:buChar char="•"/>
            </a:pPr>
            <a:r>
              <a:rPr sz="1800" b="0" dirty="0" err="1">
                <a:solidFill>
                  <a:srgbClr val="000000"/>
                </a:solidFill>
                <a:latin typeface="맑은 고딕"/>
              </a:rPr>
              <a:t>복호화</a:t>
            </a:r>
            <a:r>
              <a:rPr sz="1800" b="0" dirty="0">
                <a:solidFill>
                  <a:srgbClr val="000000"/>
                </a:solidFill>
                <a:latin typeface="맑은 고딕"/>
              </a:rPr>
              <a:t> </a:t>
            </a:r>
            <a:r>
              <a:rPr sz="1800" b="0" dirty="0" err="1">
                <a:solidFill>
                  <a:srgbClr val="000000"/>
                </a:solidFill>
                <a:latin typeface="맑은 고딕"/>
              </a:rPr>
              <a:t>정확성</a:t>
            </a:r>
            <a:endParaRPr sz="1800" b="0" dirty="0">
              <a:solidFill>
                <a:srgbClr val="222222"/>
              </a:solidFill>
              <a:latin typeface="맑은 고딕"/>
            </a:endParaRPr>
          </a:p>
          <a:p>
            <a:pPr lvl="1">
              <a:buFont typeface="Arial"/>
              <a:buChar char="•"/>
            </a:pPr>
            <a:r>
              <a:rPr b="0" dirty="0" err="1">
                <a:solidFill>
                  <a:srgbClr val="000000"/>
                </a:solidFill>
                <a:latin typeface="맑은 고딕"/>
              </a:rPr>
              <a:t>b^T</a:t>
            </a:r>
            <a:r>
              <a:rPr b="0" dirty="0">
                <a:solidFill>
                  <a:srgbClr val="000000"/>
                </a:solidFill>
                <a:latin typeface="맑은 고딕"/>
              </a:rPr>
              <a:t>=</a:t>
            </a:r>
            <a:r>
              <a:rPr b="0" dirty="0" err="1">
                <a:solidFill>
                  <a:srgbClr val="000000"/>
                </a:solidFill>
                <a:latin typeface="맑은 고딕"/>
              </a:rPr>
              <a:t>s^TA^T+e^T</a:t>
            </a:r>
            <a:r>
              <a:rPr b="0" dirty="0">
                <a:solidFill>
                  <a:srgbClr val="000000"/>
                </a:solidFill>
                <a:latin typeface="맑은 고딕"/>
              </a:rPr>
              <a:t> </a:t>
            </a:r>
            <a:r>
              <a:rPr b="0" dirty="0" err="1">
                <a:solidFill>
                  <a:srgbClr val="000000"/>
                </a:solidFill>
                <a:latin typeface="맑은 고딕"/>
              </a:rPr>
              <a:t>대입</a:t>
            </a:r>
            <a:r>
              <a:rPr b="0" dirty="0">
                <a:solidFill>
                  <a:srgbClr val="000000"/>
                </a:solidFill>
                <a:latin typeface="맑은 고딕"/>
              </a:rPr>
              <a:t>, </a:t>
            </a:r>
            <a:r>
              <a:rPr b="0" dirty="0" err="1">
                <a:solidFill>
                  <a:srgbClr val="000000"/>
                </a:solidFill>
                <a:latin typeface="맑은 고딕"/>
              </a:rPr>
              <a:t>s^TA^Tr</a:t>
            </a:r>
            <a:r>
              <a:rPr b="0" dirty="0">
                <a:solidFill>
                  <a:srgbClr val="000000"/>
                </a:solidFill>
                <a:latin typeface="맑은 고딕"/>
              </a:rPr>
              <a:t> </a:t>
            </a:r>
            <a:r>
              <a:rPr b="0" dirty="0" err="1">
                <a:solidFill>
                  <a:srgbClr val="000000"/>
                </a:solidFill>
                <a:latin typeface="맑은 고딕"/>
              </a:rPr>
              <a:t>상쇄</a:t>
            </a:r>
            <a:endParaRPr b="0" dirty="0">
              <a:solidFill>
                <a:srgbClr val="505050"/>
              </a:solidFill>
              <a:latin typeface="맑은 고딕"/>
            </a:endParaRPr>
          </a:p>
          <a:p>
            <a:pPr lvl="1">
              <a:buFont typeface="Arial"/>
              <a:buChar char="•"/>
            </a:pPr>
            <a:r>
              <a:rPr b="0" dirty="0" err="1">
                <a:solidFill>
                  <a:srgbClr val="000000"/>
                </a:solidFill>
                <a:latin typeface="맑은 고딕"/>
              </a:rPr>
              <a:t>복호화</a:t>
            </a:r>
            <a:r>
              <a:rPr b="0" dirty="0">
                <a:solidFill>
                  <a:srgbClr val="000000"/>
                </a:solidFill>
                <a:latin typeface="맑은 고딕"/>
              </a:rPr>
              <a:t> </a:t>
            </a:r>
            <a:r>
              <a:rPr b="0" dirty="0" err="1">
                <a:solidFill>
                  <a:srgbClr val="000000"/>
                </a:solidFill>
                <a:latin typeface="맑은 고딕"/>
              </a:rPr>
              <a:t>성공</a:t>
            </a:r>
            <a:r>
              <a:rPr b="0" dirty="0">
                <a:solidFill>
                  <a:srgbClr val="000000"/>
                </a:solidFill>
                <a:latin typeface="맑은 고딕"/>
              </a:rPr>
              <a:t> ⇔ |</a:t>
            </a:r>
            <a:r>
              <a:rPr b="0" dirty="0" err="1">
                <a:solidFill>
                  <a:srgbClr val="000000"/>
                </a:solidFill>
                <a:latin typeface="맑은 고딕"/>
              </a:rPr>
              <a:t>e^Tr−s^Tz+z</a:t>
            </a:r>
            <a:r>
              <a:rPr b="0" dirty="0">
                <a:solidFill>
                  <a:srgbClr val="000000"/>
                </a:solidFill>
                <a:latin typeface="맑은 고딕"/>
              </a:rPr>
              <a:t>′ </a:t>
            </a:r>
            <a:r>
              <a:rPr b="0" dirty="0" err="1">
                <a:solidFill>
                  <a:srgbClr val="000000"/>
                </a:solidFill>
                <a:latin typeface="맑은 고딕"/>
              </a:rPr>
              <a:t>mod_s</a:t>
            </a:r>
            <a:r>
              <a:rPr b="0" dirty="0">
                <a:solidFill>
                  <a:srgbClr val="000000"/>
                </a:solidFill>
                <a:latin typeface="맑은 고딕"/>
              </a:rPr>
              <a:t> q| &lt; q/4</a:t>
            </a:r>
          </a:p>
          <a:p>
            <a:pPr lvl="1">
              <a:buFont typeface="Arial"/>
              <a:buChar char="•"/>
            </a:pPr>
            <a:r>
              <a:rPr b="0" dirty="0">
                <a:solidFill>
                  <a:srgbClr val="000000"/>
                </a:solidFill>
                <a:latin typeface="맑은 고딕"/>
              </a:rPr>
              <a:t>B ≤ √(q/(4(2n+1))) </a:t>
            </a:r>
            <a:r>
              <a:rPr b="0" dirty="0" err="1">
                <a:solidFill>
                  <a:srgbClr val="000000"/>
                </a:solidFill>
                <a:latin typeface="맑은 고딕"/>
              </a:rPr>
              <a:t>이면</a:t>
            </a:r>
            <a:r>
              <a:rPr b="0" dirty="0">
                <a:solidFill>
                  <a:srgbClr val="000000"/>
                </a:solidFill>
                <a:latin typeface="맑은 고딕"/>
              </a:rPr>
              <a:t> </a:t>
            </a:r>
            <a:r>
              <a:rPr b="0" dirty="0" err="1">
                <a:solidFill>
                  <a:srgbClr val="000000"/>
                </a:solidFill>
                <a:latin typeface="맑은 고딕"/>
              </a:rPr>
              <a:t>좌표별</a:t>
            </a:r>
            <a:r>
              <a:rPr b="0" dirty="0">
                <a:solidFill>
                  <a:srgbClr val="000000"/>
                </a:solidFill>
                <a:latin typeface="맑은 고딕"/>
              </a:rPr>
              <a:t> </a:t>
            </a:r>
            <a:r>
              <a:rPr b="0" dirty="0" err="1">
                <a:solidFill>
                  <a:srgbClr val="000000"/>
                </a:solidFill>
                <a:latin typeface="맑은 고딕"/>
              </a:rPr>
              <a:t>상한으로</a:t>
            </a:r>
            <a:r>
              <a:rPr b="0" dirty="0">
                <a:solidFill>
                  <a:srgbClr val="000000"/>
                </a:solidFill>
                <a:latin typeface="맑은 고딕"/>
              </a:rPr>
              <a:t> 이 </a:t>
            </a:r>
            <a:r>
              <a:rPr b="0" dirty="0" err="1">
                <a:solidFill>
                  <a:srgbClr val="000000"/>
                </a:solidFill>
                <a:latin typeface="맑은 고딕"/>
              </a:rPr>
              <a:t>부등식이</a:t>
            </a:r>
            <a:r>
              <a:rPr b="0" dirty="0">
                <a:solidFill>
                  <a:srgbClr val="000000"/>
                </a:solidFill>
                <a:latin typeface="맑은 고딕"/>
              </a:rPr>
              <a:t> </a:t>
            </a:r>
            <a:r>
              <a:rPr b="0" dirty="0" err="1">
                <a:solidFill>
                  <a:srgbClr val="000000"/>
                </a:solidFill>
                <a:latin typeface="맑은 고딕"/>
              </a:rPr>
              <a:t>항상</a:t>
            </a:r>
            <a:r>
              <a:rPr b="0" dirty="0">
                <a:solidFill>
                  <a:srgbClr val="000000"/>
                </a:solidFill>
                <a:latin typeface="맑은 고딕"/>
              </a:rPr>
              <a:t> </a:t>
            </a:r>
            <a:r>
              <a:rPr b="0" dirty="0" err="1">
                <a:solidFill>
                  <a:srgbClr val="000000"/>
                </a:solidFill>
                <a:latin typeface="맑은 고딕"/>
              </a:rPr>
              <a:t>성립</a:t>
            </a:r>
            <a:endParaRPr b="0" dirty="0">
              <a:solidFill>
                <a:srgbClr val="505050"/>
              </a:solidFill>
              <a:latin typeface="맑은 고딕"/>
            </a:endParaRPr>
          </a:p>
        </p:txBody>
      </p:sp>
      <p:sp>
        <p:nvSpPr>
          <p:cNvPr id="4" name="슬라이드 번호 개체 틀 3">
            <a:extLst>
              <a:ext uri="{FF2B5EF4-FFF2-40B4-BE49-F238E27FC236}">
                <a16:creationId xmlns:a16="http://schemas.microsoft.com/office/drawing/2014/main" id="{62BFB31C-74EE-05B7-F41D-6C8CE75A137B}"/>
              </a:ext>
            </a:extLst>
          </p:cNvPr>
          <p:cNvSpPr>
            <a:spLocks noGrp="1"/>
          </p:cNvSpPr>
          <p:nvPr>
            <p:ph type="sldNum" sz="quarter" idx="12"/>
          </p:nvPr>
        </p:nvSpPr>
        <p:spPr/>
        <p:txBody>
          <a:bodyPr/>
          <a:lstStyle/>
          <a:p>
            <a:fld id="{4438A2D4-3867-488E-A04E-7BFFCAED45A6}" type="slidenum">
              <a:rPr lang="ko-KR" altLang="en-US" smtClean="0"/>
              <a:t>36</a:t>
            </a:fld>
            <a:endParaRPr lang="ko-KR" altLang="en-US"/>
          </a:p>
        </p:txBody>
      </p:sp>
    </p:spTree>
    <p:extLst>
      <p:ext uri="{BB962C8B-B14F-4D97-AF65-F5344CB8AC3E}">
        <p14:creationId xmlns:p14="http://schemas.microsoft.com/office/powerpoint/2010/main" val="11652340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000000"/>
                </a:solidFill>
                <a:latin typeface="맑은 고딕"/>
              </a:rPr>
              <a:t>복호화 정확성과 IND-CPA 안전성 (2/2)</a:t>
            </a:r>
          </a:p>
        </p:txBody>
      </p:sp>
      <p:sp>
        <p:nvSpPr>
          <p:cNvPr id="4" name="TextBox 3"/>
          <p:cNvSpPr txBox="1"/>
          <p:nvPr/>
        </p:nvSpPr>
        <p:spPr>
          <a:xfrm>
            <a:off x="830791" y="1400553"/>
            <a:ext cx="10984674" cy="972382"/>
          </a:xfrm>
          <a:prstGeom prst="rect">
            <a:avLst/>
          </a:prstGeom>
          <a:noFill/>
        </p:spPr>
        <p:txBody>
          <a:bodyPr wrap="none">
            <a:spAutoFit/>
          </a:bodyPr>
          <a:lstStyle/>
          <a:p>
            <a:pPr>
              <a:lnSpc>
                <a:spcPct val="150000"/>
              </a:lnSpc>
              <a:spcAft>
                <a:spcPts val="800"/>
              </a:spcAft>
              <a:buNone/>
            </a:pPr>
            <a:r>
              <a:rPr sz="1800" b="0" dirty="0">
                <a:solidFill>
                  <a:srgbClr val="000000"/>
                </a:solidFill>
                <a:latin typeface="맑은 고딕"/>
              </a:rPr>
              <a:t>• </a:t>
            </a:r>
            <a:r>
              <a:rPr sz="1800" b="0" dirty="0" err="1">
                <a:solidFill>
                  <a:srgbClr val="000000"/>
                </a:solidFill>
                <a:latin typeface="맑은 고딕"/>
              </a:rPr>
              <a:t>안전성</a:t>
            </a:r>
            <a:r>
              <a:rPr sz="1800" b="0" dirty="0">
                <a:solidFill>
                  <a:srgbClr val="000000"/>
                </a:solidFill>
                <a:latin typeface="맑은 고딕"/>
              </a:rPr>
              <a:t> (IND-CPA)</a:t>
            </a:r>
          </a:p>
          <a:p>
            <a:pPr lvl="1">
              <a:lnSpc>
                <a:spcPct val="150000"/>
              </a:lnSpc>
              <a:spcAft>
                <a:spcPts val="400"/>
              </a:spcAft>
            </a:pPr>
            <a:r>
              <a:rPr b="0" dirty="0">
                <a:solidFill>
                  <a:srgbClr val="000000"/>
                </a:solidFill>
                <a:latin typeface="맑은 고딕"/>
              </a:rPr>
              <a:t>• ss-DLWE </a:t>
            </a:r>
            <a:r>
              <a:rPr b="0" dirty="0" err="1">
                <a:solidFill>
                  <a:srgbClr val="000000"/>
                </a:solidFill>
                <a:latin typeface="맑은 고딕"/>
              </a:rPr>
              <a:t>가정</a:t>
            </a:r>
            <a:r>
              <a:rPr b="0" dirty="0">
                <a:solidFill>
                  <a:srgbClr val="000000"/>
                </a:solidFill>
                <a:latin typeface="맑은 고딕"/>
              </a:rPr>
              <a:t> </a:t>
            </a:r>
            <a:r>
              <a:rPr b="0" dirty="0" err="1">
                <a:solidFill>
                  <a:srgbClr val="000000"/>
                </a:solidFill>
                <a:latin typeface="맑은 고딕"/>
              </a:rPr>
              <a:t>하에</a:t>
            </a:r>
            <a:r>
              <a:rPr b="0" dirty="0">
                <a:solidFill>
                  <a:srgbClr val="000000"/>
                </a:solidFill>
                <a:latin typeface="맑은 고딕"/>
              </a:rPr>
              <a:t> (</a:t>
            </a:r>
            <a:r>
              <a:rPr b="0" dirty="0" err="1">
                <a:solidFill>
                  <a:srgbClr val="000000"/>
                </a:solidFill>
                <a:latin typeface="맑은 고딕"/>
              </a:rPr>
              <a:t>A,b</a:t>
            </a:r>
            <a:r>
              <a:rPr b="0" dirty="0">
                <a:solidFill>
                  <a:srgbClr val="000000"/>
                </a:solidFill>
                <a:latin typeface="맑은 고딕"/>
              </a:rPr>
              <a:t>), (</a:t>
            </a:r>
            <a:r>
              <a:rPr b="0" dirty="0" err="1">
                <a:solidFill>
                  <a:srgbClr val="000000"/>
                </a:solidFill>
                <a:latin typeface="맑은 고딕"/>
              </a:rPr>
              <a:t>A^Tr+z</a:t>
            </a:r>
            <a:r>
              <a:rPr b="0" dirty="0">
                <a:solidFill>
                  <a:srgbClr val="000000"/>
                </a:solidFill>
                <a:latin typeface="맑은 고딕"/>
              </a:rPr>
              <a:t>, </a:t>
            </a:r>
            <a:r>
              <a:rPr b="0" dirty="0" err="1">
                <a:solidFill>
                  <a:srgbClr val="000000"/>
                </a:solidFill>
                <a:latin typeface="맑은 고딕"/>
              </a:rPr>
              <a:t>b^Tr+z</a:t>
            </a:r>
            <a:r>
              <a:rPr b="0" dirty="0">
                <a:solidFill>
                  <a:srgbClr val="000000"/>
                </a:solidFill>
                <a:latin typeface="맑은 고딕"/>
              </a:rPr>
              <a:t>′) 는 </a:t>
            </a:r>
            <a:r>
              <a:rPr b="0" dirty="0" err="1">
                <a:solidFill>
                  <a:srgbClr val="000000"/>
                </a:solidFill>
                <a:latin typeface="맑은 고딕"/>
              </a:rPr>
              <a:t>균등</a:t>
            </a:r>
            <a:r>
              <a:rPr b="0" dirty="0">
                <a:solidFill>
                  <a:srgbClr val="000000"/>
                </a:solidFill>
                <a:latin typeface="맑은 고딕"/>
              </a:rPr>
              <a:t> </a:t>
            </a:r>
            <a:r>
              <a:rPr b="0" dirty="0" err="1">
                <a:solidFill>
                  <a:srgbClr val="000000"/>
                </a:solidFill>
                <a:latin typeface="맑은 고딕"/>
              </a:rPr>
              <a:t>난수와</a:t>
            </a:r>
            <a:r>
              <a:rPr b="0" dirty="0">
                <a:solidFill>
                  <a:srgbClr val="000000"/>
                </a:solidFill>
                <a:latin typeface="맑은 고딕"/>
              </a:rPr>
              <a:t> </a:t>
            </a:r>
            <a:r>
              <a:rPr b="0" dirty="0" err="1">
                <a:solidFill>
                  <a:srgbClr val="000000"/>
                </a:solidFill>
                <a:latin typeface="맑은 고딕"/>
              </a:rPr>
              <a:t>구별</a:t>
            </a:r>
            <a:r>
              <a:rPr b="0" dirty="0">
                <a:solidFill>
                  <a:srgbClr val="000000"/>
                </a:solidFill>
                <a:latin typeface="맑은 고딕"/>
              </a:rPr>
              <a:t> </a:t>
            </a:r>
            <a:r>
              <a:rPr b="0" dirty="0" err="1">
                <a:solidFill>
                  <a:srgbClr val="000000"/>
                </a:solidFill>
                <a:latin typeface="맑은 고딕"/>
              </a:rPr>
              <a:t>불가능</a:t>
            </a:r>
            <a:r>
              <a:rPr b="0" dirty="0">
                <a:solidFill>
                  <a:srgbClr val="000000"/>
                </a:solidFill>
                <a:latin typeface="맑은 고딕"/>
              </a:rPr>
              <a:t> → </a:t>
            </a:r>
            <a:r>
              <a:rPr b="0" dirty="0" err="1">
                <a:solidFill>
                  <a:srgbClr val="000000"/>
                </a:solidFill>
                <a:latin typeface="맑은 고딕"/>
              </a:rPr>
              <a:t>c₂가</a:t>
            </a:r>
            <a:r>
              <a:rPr b="0" dirty="0">
                <a:solidFill>
                  <a:srgbClr val="000000"/>
                </a:solidFill>
                <a:latin typeface="맑은 고딕"/>
              </a:rPr>
              <a:t> </a:t>
            </a:r>
            <a:r>
              <a:rPr b="0" dirty="0" err="1">
                <a:solidFill>
                  <a:srgbClr val="000000"/>
                </a:solidFill>
                <a:latin typeface="맑은 고딕"/>
              </a:rPr>
              <a:t>평문</a:t>
            </a:r>
            <a:r>
              <a:rPr b="0" dirty="0">
                <a:solidFill>
                  <a:srgbClr val="000000"/>
                </a:solidFill>
                <a:latin typeface="맑은 고딕"/>
              </a:rPr>
              <a:t> </a:t>
            </a:r>
            <a:r>
              <a:rPr b="0" dirty="0" err="1">
                <a:solidFill>
                  <a:srgbClr val="000000"/>
                </a:solidFill>
                <a:latin typeface="맑은 고딕"/>
              </a:rPr>
              <a:t>정보</a:t>
            </a:r>
            <a:r>
              <a:rPr b="0" dirty="0">
                <a:solidFill>
                  <a:srgbClr val="000000"/>
                </a:solidFill>
                <a:latin typeface="맑은 고딕"/>
              </a:rPr>
              <a:t> </a:t>
            </a:r>
            <a:r>
              <a:rPr b="0" dirty="0" err="1">
                <a:solidFill>
                  <a:srgbClr val="000000"/>
                </a:solidFill>
                <a:latin typeface="맑은 고딕"/>
              </a:rPr>
              <a:t>비노출</a:t>
            </a:r>
            <a:endParaRPr b="0" dirty="0">
              <a:solidFill>
                <a:srgbClr val="000000"/>
              </a:solidFill>
              <a:latin typeface="맑은 고딕"/>
            </a:endParaRP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3">
          <a:schemeClr val="lt1"/>
        </a:lnRef>
        <a:fillRef idx="1">
          <a:schemeClr val="accent6"/>
        </a:fillRef>
        <a:effectRef idx="1">
          <a:schemeClr val="accent6"/>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3261</TotalTime>
  <Words>6148</Words>
  <Application>Microsoft Office PowerPoint</Application>
  <PresentationFormat>와이드스크린</PresentationFormat>
  <Paragraphs>335</Paragraphs>
  <Slides>37</Slides>
  <Notes>37</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37</vt:i4>
      </vt:variant>
    </vt:vector>
  </HeadingPairs>
  <TitlesOfParts>
    <vt:vector size="40" baseType="lpstr">
      <vt:lpstr>맑은 고딕</vt:lpstr>
      <vt:lpstr>Arial</vt:lpstr>
      <vt:lpstr>Office 테마</vt:lpstr>
      <vt:lpstr>Post-Quantum Cryptography</vt:lpstr>
      <vt:lpstr>Plan</vt:lpstr>
      <vt:lpstr>SIS</vt:lpstr>
      <vt:lpstr>표기법</vt:lpstr>
      <vt:lpstr>SIS 정의</vt:lpstr>
      <vt:lpstr>SIS가 어려운 이유</vt:lpstr>
      <vt:lpstr>해의 존재성과 비유일성 (1/2)</vt:lpstr>
      <vt:lpstr>해의 존재성과 비유일성 (2/2)</vt:lpstr>
      <vt:lpstr>예제1 (1/2)</vt:lpstr>
      <vt:lpstr>예제1 (2/2)</vt:lpstr>
      <vt:lpstr>충돌 저항 해시 함수</vt:lpstr>
      <vt:lpstr>ISIS (Inhomogeneous SIS)</vt:lpstr>
      <vt:lpstr>SIS와 ISIS의 계산적 동치성</vt:lpstr>
      <vt:lpstr>Normal-form ISIS</vt:lpstr>
      <vt:lpstr>LWE</vt:lpstr>
      <vt:lpstr>표기법과 정의</vt:lpstr>
      <vt:lpstr>LWE가 어려운 이유</vt:lpstr>
      <vt:lpstr>SIS와의 구조적 대응</vt:lpstr>
      <vt:lpstr>예제2 (1/2)</vt:lpstr>
      <vt:lpstr>예제2 (2/2)</vt:lpstr>
      <vt:lpstr>Noise bound B (1/2)</vt:lpstr>
      <vt:lpstr>Noise bound B (2/2)</vt:lpstr>
      <vt:lpstr>해의 유일성</vt:lpstr>
      <vt:lpstr>유일성의 정량적 유도</vt:lpstr>
      <vt:lpstr>DLWE (Decisional LWE)</vt:lpstr>
      <vt:lpstr>LWE와 DLWE의 계산적 동치성(1)</vt:lpstr>
      <vt:lpstr>LWE와 DLWE의 계산적 동치성(2)</vt:lpstr>
      <vt:lpstr>ss-LWE (Short-Secret LWE)</vt:lpstr>
      <vt:lpstr>ss-LWE 유일성 조건</vt:lpstr>
      <vt:lpstr>ss-LWE 숫자 예제</vt:lpstr>
      <vt:lpstr>ss-LWE ≤ LWE</vt:lpstr>
      <vt:lpstr>LWE ≤ ss-LWE</vt:lpstr>
      <vt:lpstr>Lindner-Peikert 공개키 암호</vt:lpstr>
      <vt:lpstr>암호화·복호화</vt:lpstr>
      <vt:lpstr>Lindner-Peikert 숫자 예제</vt:lpstr>
      <vt:lpstr>복호화 정확성과 IND-CPA 안전성 (1/2)</vt:lpstr>
      <vt:lpstr>복호화 정확성과 IND-CPA 안전성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규빈 박</dc:creator>
  <cp:lastModifiedBy>규빈 박</cp:lastModifiedBy>
  <cp:revision>830</cp:revision>
  <dcterms:created xsi:type="dcterms:W3CDTF">2026-03-17T05:07:50Z</dcterms:created>
  <dcterms:modified xsi:type="dcterms:W3CDTF">2026-07-14T05:31:27Z</dcterms:modified>
</cp:coreProperties>
</file>