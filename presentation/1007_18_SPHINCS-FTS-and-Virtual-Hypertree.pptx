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2"/>
  </p:notesMasterIdLst>
  <p:sldIdLst>
    <p:sldId id="256" r:id="rId8"/>
    <p:sldId id="257" r:id="rId9"/>
    <p:sldId id="258" r:id="rId10"/>
    <p:sldId id="259" r:id="rId11"/>
    <p:sldId id="260" r:id="rId7"/>
    <p:sldId id="261" r:id="rId6"/>
    <p:sldId id="262" r:id="rId5"/>
    <p:sldId id="263" r:id="rId4"/>
    <p:sldId id="264" r:id="rId3"/>
    <p:sldId id="265" r:id="rId2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규빈 박" initials="규박" lastIdx="12" clrIdx="0">
    <p:extLst>
      <p:ext uri="{19B8F6BF-5375-455C-9EA6-DF929625EA0E}">
        <p15:presenceInfo xmlns:p15="http://schemas.microsoft.com/office/powerpoint/2012/main" userId="b405f47f44f6c53f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C083E6E3-FA7D-4D7B-A595-EF9225AFEA82}" styleName="밝은 스타일 1 - 강조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7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4" d="100"/>
          <a:sy n="64" d="100"/>
        </p:scale>
        <p:origin x="3192" y="8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0.xml"/><Relationship Id="rId3" Type="http://schemas.openxmlformats.org/officeDocument/2006/relationships/slide" Target="slides/slide9.xml"/><Relationship Id="rId4" Type="http://schemas.openxmlformats.org/officeDocument/2006/relationships/slide" Target="slides/slide8.xml"/><Relationship Id="rId5" Type="http://schemas.openxmlformats.org/officeDocument/2006/relationships/slide" Target="slides/slide7.xml"/><Relationship Id="rId6" Type="http://schemas.openxmlformats.org/officeDocument/2006/relationships/slide" Target="slides/slide6.xml"/><Relationship Id="rId7" Type="http://schemas.openxmlformats.org/officeDocument/2006/relationships/slide" Target="slides/slide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notesMaster" Target="notesMasters/notesMaster1.xml"/><Relationship Id="rId13" Type="http://schemas.openxmlformats.org/officeDocument/2006/relationships/commentAuthors" Target="commentAuthors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2B40C2-3351-40A2-B46D-4B4F877A79B2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3BC5EA-D886-4875-B891-B25A6CC4908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55287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배경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14304F"/>
              </a:gs>
              <a:gs pos="60000">
                <a:srgbClr val="0F2540"/>
              </a:gs>
              <a:gs pos="100000">
                <a:srgbClr val="0A1B2E"/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 lang="ko-KR"/>
          </a:p>
        </p:txBody>
      </p:sp>
      <p:grpSp>
        <p:nvGrpSpPr>
          <p:cNvPr id="200" name="격자 패턴"/>
          <p:cNvGrpSpPr/>
          <p:nvPr userDrawn="1"/>
        </p:nvGrpSpPr>
        <p:grpSpPr>
          <a:xfrm>
            <a:off x="9900000" y="4700000"/>
            <a:ext cx="2108200" cy="2108200"/>
            <a:chOff x="9900000" y="4700000"/>
            <a:chExt cx="2108200" cy="2108200"/>
          </a:xfrm>
        </p:grpSpPr>
        <p:sp>
          <p:nvSpPr>
            <p:cNvPr id="201" name="점 201"/>
            <p:cNvSpPr/>
            <p:nvPr userDrawn="1"/>
          </p:nvSpPr>
          <p:spPr>
            <a:xfrm>
              <a:off x="9900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02" name="점 202"/>
            <p:cNvSpPr/>
            <p:nvPr userDrawn="1"/>
          </p:nvSpPr>
          <p:spPr>
            <a:xfrm>
              <a:off x="10154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03" name="점 203"/>
            <p:cNvSpPr/>
            <p:nvPr userDrawn="1"/>
          </p:nvSpPr>
          <p:spPr>
            <a:xfrm>
              <a:off x="10408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04" name="점 204"/>
            <p:cNvSpPr/>
            <p:nvPr userDrawn="1"/>
          </p:nvSpPr>
          <p:spPr>
            <a:xfrm>
              <a:off x="10662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05" name="점 205"/>
            <p:cNvSpPr/>
            <p:nvPr userDrawn="1"/>
          </p:nvSpPr>
          <p:spPr>
            <a:xfrm>
              <a:off x="10916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06" name="점 206"/>
            <p:cNvSpPr/>
            <p:nvPr userDrawn="1"/>
          </p:nvSpPr>
          <p:spPr>
            <a:xfrm>
              <a:off x="11170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07" name="점 207"/>
            <p:cNvSpPr/>
            <p:nvPr userDrawn="1"/>
          </p:nvSpPr>
          <p:spPr>
            <a:xfrm>
              <a:off x="11424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08" name="점 208"/>
            <p:cNvSpPr/>
            <p:nvPr userDrawn="1"/>
          </p:nvSpPr>
          <p:spPr>
            <a:xfrm>
              <a:off x="11678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09" name="점 209"/>
            <p:cNvSpPr/>
            <p:nvPr userDrawn="1"/>
          </p:nvSpPr>
          <p:spPr>
            <a:xfrm>
              <a:off x="11932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10" name="점 210"/>
            <p:cNvSpPr/>
            <p:nvPr userDrawn="1"/>
          </p:nvSpPr>
          <p:spPr>
            <a:xfrm>
              <a:off x="9900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11" name="점 211"/>
            <p:cNvSpPr/>
            <p:nvPr userDrawn="1"/>
          </p:nvSpPr>
          <p:spPr>
            <a:xfrm>
              <a:off x="10154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12" name="점 212"/>
            <p:cNvSpPr/>
            <p:nvPr userDrawn="1"/>
          </p:nvSpPr>
          <p:spPr>
            <a:xfrm>
              <a:off x="10408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13" name="점 213"/>
            <p:cNvSpPr/>
            <p:nvPr userDrawn="1"/>
          </p:nvSpPr>
          <p:spPr>
            <a:xfrm>
              <a:off x="10662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14" name="점 214"/>
            <p:cNvSpPr/>
            <p:nvPr userDrawn="1"/>
          </p:nvSpPr>
          <p:spPr>
            <a:xfrm>
              <a:off x="10916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15" name="점 215"/>
            <p:cNvSpPr/>
            <p:nvPr userDrawn="1"/>
          </p:nvSpPr>
          <p:spPr>
            <a:xfrm>
              <a:off x="11170000" y="4954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16" name="점 216"/>
            <p:cNvSpPr/>
            <p:nvPr userDrawn="1"/>
          </p:nvSpPr>
          <p:spPr>
            <a:xfrm>
              <a:off x="11424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17" name="점 217"/>
            <p:cNvSpPr/>
            <p:nvPr userDrawn="1"/>
          </p:nvSpPr>
          <p:spPr>
            <a:xfrm>
              <a:off x="11678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18" name="점 218"/>
            <p:cNvSpPr/>
            <p:nvPr userDrawn="1"/>
          </p:nvSpPr>
          <p:spPr>
            <a:xfrm>
              <a:off x="11932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19" name="점 219"/>
            <p:cNvSpPr/>
            <p:nvPr userDrawn="1"/>
          </p:nvSpPr>
          <p:spPr>
            <a:xfrm>
              <a:off x="9900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20" name="점 220"/>
            <p:cNvSpPr/>
            <p:nvPr userDrawn="1"/>
          </p:nvSpPr>
          <p:spPr>
            <a:xfrm>
              <a:off x="10154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21" name="점 221"/>
            <p:cNvSpPr/>
            <p:nvPr userDrawn="1"/>
          </p:nvSpPr>
          <p:spPr>
            <a:xfrm>
              <a:off x="10408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22" name="점 222"/>
            <p:cNvSpPr/>
            <p:nvPr userDrawn="1"/>
          </p:nvSpPr>
          <p:spPr>
            <a:xfrm>
              <a:off x="10662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23" name="점 223"/>
            <p:cNvSpPr/>
            <p:nvPr userDrawn="1"/>
          </p:nvSpPr>
          <p:spPr>
            <a:xfrm>
              <a:off x="10916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24" name="점 224"/>
            <p:cNvSpPr/>
            <p:nvPr userDrawn="1"/>
          </p:nvSpPr>
          <p:spPr>
            <a:xfrm>
              <a:off x="11170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25" name="점 225"/>
            <p:cNvSpPr/>
            <p:nvPr userDrawn="1"/>
          </p:nvSpPr>
          <p:spPr>
            <a:xfrm>
              <a:off x="11424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26" name="점 226"/>
            <p:cNvSpPr/>
            <p:nvPr userDrawn="1"/>
          </p:nvSpPr>
          <p:spPr>
            <a:xfrm>
              <a:off x="11678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27" name="점 227"/>
            <p:cNvSpPr/>
            <p:nvPr userDrawn="1"/>
          </p:nvSpPr>
          <p:spPr>
            <a:xfrm>
              <a:off x="11932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28" name="점 228"/>
            <p:cNvSpPr/>
            <p:nvPr userDrawn="1"/>
          </p:nvSpPr>
          <p:spPr>
            <a:xfrm>
              <a:off x="9900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29" name="점 229"/>
            <p:cNvSpPr/>
            <p:nvPr userDrawn="1"/>
          </p:nvSpPr>
          <p:spPr>
            <a:xfrm>
              <a:off x="10154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30" name="점 230"/>
            <p:cNvSpPr/>
            <p:nvPr userDrawn="1"/>
          </p:nvSpPr>
          <p:spPr>
            <a:xfrm>
              <a:off x="10408000" y="5462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31" name="점 231"/>
            <p:cNvSpPr/>
            <p:nvPr userDrawn="1"/>
          </p:nvSpPr>
          <p:spPr>
            <a:xfrm>
              <a:off x="10662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32" name="점 232"/>
            <p:cNvSpPr/>
            <p:nvPr userDrawn="1"/>
          </p:nvSpPr>
          <p:spPr>
            <a:xfrm>
              <a:off x="10916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33" name="점 233"/>
            <p:cNvSpPr/>
            <p:nvPr userDrawn="1"/>
          </p:nvSpPr>
          <p:spPr>
            <a:xfrm>
              <a:off x="11170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34" name="점 234"/>
            <p:cNvSpPr/>
            <p:nvPr userDrawn="1"/>
          </p:nvSpPr>
          <p:spPr>
            <a:xfrm>
              <a:off x="11424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35" name="점 235"/>
            <p:cNvSpPr/>
            <p:nvPr userDrawn="1"/>
          </p:nvSpPr>
          <p:spPr>
            <a:xfrm>
              <a:off x="11678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36" name="점 236"/>
            <p:cNvSpPr/>
            <p:nvPr userDrawn="1"/>
          </p:nvSpPr>
          <p:spPr>
            <a:xfrm>
              <a:off x="11932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37" name="점 237"/>
            <p:cNvSpPr/>
            <p:nvPr userDrawn="1"/>
          </p:nvSpPr>
          <p:spPr>
            <a:xfrm>
              <a:off x="9900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38" name="점 238"/>
            <p:cNvSpPr/>
            <p:nvPr userDrawn="1"/>
          </p:nvSpPr>
          <p:spPr>
            <a:xfrm>
              <a:off x="10154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39" name="점 239"/>
            <p:cNvSpPr/>
            <p:nvPr userDrawn="1"/>
          </p:nvSpPr>
          <p:spPr>
            <a:xfrm>
              <a:off x="10408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40" name="점 240"/>
            <p:cNvSpPr/>
            <p:nvPr userDrawn="1"/>
          </p:nvSpPr>
          <p:spPr>
            <a:xfrm>
              <a:off x="10662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41" name="점 241"/>
            <p:cNvSpPr/>
            <p:nvPr userDrawn="1"/>
          </p:nvSpPr>
          <p:spPr>
            <a:xfrm>
              <a:off x="10916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42" name="점 242"/>
            <p:cNvSpPr/>
            <p:nvPr userDrawn="1"/>
          </p:nvSpPr>
          <p:spPr>
            <a:xfrm>
              <a:off x="11170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43" name="점 243"/>
            <p:cNvSpPr/>
            <p:nvPr userDrawn="1"/>
          </p:nvSpPr>
          <p:spPr>
            <a:xfrm>
              <a:off x="11424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44" name="점 244"/>
            <p:cNvSpPr/>
            <p:nvPr userDrawn="1"/>
          </p:nvSpPr>
          <p:spPr>
            <a:xfrm>
              <a:off x="11678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45" name="점 245"/>
            <p:cNvSpPr/>
            <p:nvPr userDrawn="1"/>
          </p:nvSpPr>
          <p:spPr>
            <a:xfrm>
              <a:off x="11932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46" name="점 246"/>
            <p:cNvSpPr/>
            <p:nvPr userDrawn="1"/>
          </p:nvSpPr>
          <p:spPr>
            <a:xfrm>
              <a:off x="9900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47" name="점 247"/>
            <p:cNvSpPr/>
            <p:nvPr userDrawn="1"/>
          </p:nvSpPr>
          <p:spPr>
            <a:xfrm>
              <a:off x="10154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48" name="점 248"/>
            <p:cNvSpPr/>
            <p:nvPr userDrawn="1"/>
          </p:nvSpPr>
          <p:spPr>
            <a:xfrm>
              <a:off x="10408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49" name="점 249"/>
            <p:cNvSpPr/>
            <p:nvPr userDrawn="1"/>
          </p:nvSpPr>
          <p:spPr>
            <a:xfrm>
              <a:off x="10662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50" name="점 250"/>
            <p:cNvSpPr/>
            <p:nvPr userDrawn="1"/>
          </p:nvSpPr>
          <p:spPr>
            <a:xfrm>
              <a:off x="10916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51" name="점 251"/>
            <p:cNvSpPr/>
            <p:nvPr userDrawn="1"/>
          </p:nvSpPr>
          <p:spPr>
            <a:xfrm>
              <a:off x="11170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52" name="점 252"/>
            <p:cNvSpPr/>
            <p:nvPr userDrawn="1"/>
          </p:nvSpPr>
          <p:spPr>
            <a:xfrm>
              <a:off x="11424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53" name="점 253"/>
            <p:cNvSpPr/>
            <p:nvPr userDrawn="1"/>
          </p:nvSpPr>
          <p:spPr>
            <a:xfrm>
              <a:off x="11678000" y="5970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54" name="점 254"/>
            <p:cNvSpPr/>
            <p:nvPr userDrawn="1"/>
          </p:nvSpPr>
          <p:spPr>
            <a:xfrm>
              <a:off x="11932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55" name="점 255"/>
            <p:cNvSpPr/>
            <p:nvPr userDrawn="1"/>
          </p:nvSpPr>
          <p:spPr>
            <a:xfrm>
              <a:off x="9900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56" name="점 256"/>
            <p:cNvSpPr/>
            <p:nvPr userDrawn="1"/>
          </p:nvSpPr>
          <p:spPr>
            <a:xfrm>
              <a:off x="10154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57" name="점 257"/>
            <p:cNvSpPr/>
            <p:nvPr userDrawn="1"/>
          </p:nvSpPr>
          <p:spPr>
            <a:xfrm>
              <a:off x="10408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58" name="점 258"/>
            <p:cNvSpPr/>
            <p:nvPr userDrawn="1"/>
          </p:nvSpPr>
          <p:spPr>
            <a:xfrm>
              <a:off x="10662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59" name="점 259"/>
            <p:cNvSpPr/>
            <p:nvPr userDrawn="1"/>
          </p:nvSpPr>
          <p:spPr>
            <a:xfrm>
              <a:off x="10916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60" name="점 260"/>
            <p:cNvSpPr/>
            <p:nvPr userDrawn="1"/>
          </p:nvSpPr>
          <p:spPr>
            <a:xfrm>
              <a:off x="11170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61" name="점 261"/>
            <p:cNvSpPr/>
            <p:nvPr userDrawn="1"/>
          </p:nvSpPr>
          <p:spPr>
            <a:xfrm>
              <a:off x="11424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62" name="점 262"/>
            <p:cNvSpPr/>
            <p:nvPr userDrawn="1"/>
          </p:nvSpPr>
          <p:spPr>
            <a:xfrm>
              <a:off x="11678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63" name="점 263"/>
            <p:cNvSpPr/>
            <p:nvPr userDrawn="1"/>
          </p:nvSpPr>
          <p:spPr>
            <a:xfrm>
              <a:off x="11932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64" name="점 264"/>
            <p:cNvSpPr/>
            <p:nvPr userDrawn="1"/>
          </p:nvSpPr>
          <p:spPr>
            <a:xfrm>
              <a:off x="9900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65" name="점 265"/>
            <p:cNvSpPr/>
            <p:nvPr userDrawn="1"/>
          </p:nvSpPr>
          <p:spPr>
            <a:xfrm>
              <a:off x="10154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66" name="점 266"/>
            <p:cNvSpPr/>
            <p:nvPr userDrawn="1"/>
          </p:nvSpPr>
          <p:spPr>
            <a:xfrm>
              <a:off x="10408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67" name="점 267"/>
            <p:cNvSpPr/>
            <p:nvPr userDrawn="1"/>
          </p:nvSpPr>
          <p:spPr>
            <a:xfrm>
              <a:off x="10662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68" name="점 268"/>
            <p:cNvSpPr/>
            <p:nvPr userDrawn="1"/>
          </p:nvSpPr>
          <p:spPr>
            <a:xfrm>
              <a:off x="10916000" y="6478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69" name="점 269"/>
            <p:cNvSpPr/>
            <p:nvPr userDrawn="1"/>
          </p:nvSpPr>
          <p:spPr>
            <a:xfrm>
              <a:off x="11170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70" name="점 270"/>
            <p:cNvSpPr/>
            <p:nvPr userDrawn="1"/>
          </p:nvSpPr>
          <p:spPr>
            <a:xfrm>
              <a:off x="11424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71" name="점 271"/>
            <p:cNvSpPr/>
            <p:nvPr userDrawn="1"/>
          </p:nvSpPr>
          <p:spPr>
            <a:xfrm>
              <a:off x="11678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72" name="점 272"/>
            <p:cNvSpPr/>
            <p:nvPr userDrawn="1"/>
          </p:nvSpPr>
          <p:spPr>
            <a:xfrm>
              <a:off x="11932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73" name="점 273"/>
            <p:cNvSpPr/>
            <p:nvPr userDrawn="1"/>
          </p:nvSpPr>
          <p:spPr>
            <a:xfrm>
              <a:off x="9900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74" name="점 274"/>
            <p:cNvSpPr/>
            <p:nvPr userDrawn="1"/>
          </p:nvSpPr>
          <p:spPr>
            <a:xfrm>
              <a:off x="10154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75" name="점 275"/>
            <p:cNvSpPr/>
            <p:nvPr userDrawn="1"/>
          </p:nvSpPr>
          <p:spPr>
            <a:xfrm>
              <a:off x="10408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76" name="점 276"/>
            <p:cNvSpPr/>
            <p:nvPr userDrawn="1"/>
          </p:nvSpPr>
          <p:spPr>
            <a:xfrm>
              <a:off x="10662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77" name="점 277"/>
            <p:cNvSpPr/>
            <p:nvPr userDrawn="1"/>
          </p:nvSpPr>
          <p:spPr>
            <a:xfrm>
              <a:off x="10916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78" name="점 278"/>
            <p:cNvSpPr/>
            <p:nvPr userDrawn="1"/>
          </p:nvSpPr>
          <p:spPr>
            <a:xfrm>
              <a:off x="11170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79" name="점 279"/>
            <p:cNvSpPr/>
            <p:nvPr userDrawn="1"/>
          </p:nvSpPr>
          <p:spPr>
            <a:xfrm>
              <a:off x="11424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80" name="점 280"/>
            <p:cNvSpPr/>
            <p:nvPr userDrawn="1"/>
          </p:nvSpPr>
          <p:spPr>
            <a:xfrm>
              <a:off x="11678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81" name="점 281"/>
            <p:cNvSpPr/>
            <p:nvPr userDrawn="1"/>
          </p:nvSpPr>
          <p:spPr>
            <a:xfrm>
              <a:off x="11932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</p:grpSp>
      <p:sp>
        <p:nvSpPr>
          <p:cNvPr id="85" name="히어로 강조 룰"/>
          <p:cNvSpPr/>
          <p:nvPr userDrawn="1"/>
        </p:nvSpPr>
        <p:spPr>
          <a:xfrm>
            <a:off x="1615440" y="2900040"/>
            <a:ext cx="762000" cy="0"/>
          </a:xfrm>
          <a:prstGeom prst="line">
            <a:avLst/>
          </a:prstGeom>
          <a:noFill/>
          <a:ln w="38100" cap="flat">
            <a:solidFill>
              <a:srgbClr val="2EC4D9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E38C119-E53F-2DA2-3F3A-62BF807009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438400"/>
            <a:ext cx="9525000" cy="1371600"/>
          </a:xfrm>
        </p:spPr>
        <p:txBody>
          <a:bodyPr anchor="b">
            <a:normAutofit/>
          </a:bodyPr>
          <a:lstStyle>
            <a:lvl1pPr algn="l">
              <a:lnSpc>
                <a:spcPct val="95000"/>
              </a:lnSpc>
              <a:defRPr sz="4000" b="0" spc="-40">
                <a:solidFill>
                  <a:srgbClr val="FFFFFF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4BB6797-A87E-4BFE-C9F3-8C995A6744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62400"/>
            <a:ext cx="9525000" cy="1143000"/>
          </a:xfrm>
        </p:spPr>
        <p:txBody>
          <a:bodyPr anchor="ctr">
            <a:normAutofit/>
          </a:bodyPr>
          <a:lstStyle>
            <a:lvl1pPr marL="0" indent="0" algn="l">
              <a:lnSpc>
                <a:spcPct val="115000"/>
              </a:lnSpc>
              <a:buNone/>
              <a:defRPr sz="2000">
                <a:solidFill>
                  <a:srgbClr val="8FB8C9"/>
                </a:solidFill>
              </a:defRPr>
            </a:lvl1pPr>
            <a:lvl2pPr marL="457200" indent="0" algn="l">
              <a:buNone/>
              <a:defRPr sz="2000"/>
            </a:lvl2pPr>
            <a:lvl3pPr marL="914400" indent="0" algn="l">
              <a:buNone/>
              <a:defRPr sz="1800"/>
            </a:lvl3pPr>
            <a:lvl4pPr marL="1371600" indent="0" algn="l">
              <a:buNone/>
              <a:defRPr sz="1600"/>
            </a:lvl4pPr>
            <a:lvl5pPr marL="1828800" indent="0" algn="l">
              <a:buNone/>
              <a:defRPr sz="1600"/>
            </a:lvl5pPr>
            <a:lvl6pPr marL="2286000" indent="0" algn="l">
              <a:buNone/>
              <a:defRPr sz="1600"/>
            </a:lvl6pPr>
            <a:lvl7pPr marL="2743200" indent="0" algn="l">
              <a:buNone/>
              <a:defRPr sz="1600"/>
            </a:lvl7pPr>
            <a:lvl8pPr marL="3200400" indent="0" algn="l">
              <a:buNone/>
              <a:defRPr sz="1600"/>
            </a:lvl8pPr>
            <a:lvl9pPr marL="3657600" indent="0" algn="l">
              <a:buNone/>
              <a:defRPr sz="1600"/>
            </a:lvl9pPr>
          </a:lstStyle>
          <a:p>
            <a:r>
              <a:rPr lang="ko-KR" altLang="en-US" dirty="0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FD1BD7-7E65-3772-3007-1F34DBA0FA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2ADF637E-82D6-4563-BCF0-C9101F2B5148}" type="datetime1">
              <a:rPr lang="ko-KR" altLang="en-US" smtClean="0"/>
              <a:pPr/>
              <a:t>2026-07-29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8CF5ED1-6997-CD09-21BF-44F1DD2397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040E17D-D377-3A02-4E70-6AAE5C12D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4438A2D4-3867-488E-A04E-7BFFCAED45A6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77359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1FD09-61A8-64FE-609A-5BC9FD80E7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 anchor="b">
            <a:normAutofit/>
          </a:bodyPr>
          <a:lstStyle>
            <a:lvl1pPr algn="l">
              <a:defRPr sz="2800" b="0" spc="-3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7A10CA-AA0F-BD51-5B8E-5AE0726F06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anchor="t">
            <a:normAutofit/>
          </a:bodyPr>
          <a:lstStyle>
            <a:lvl1pPr>
              <a:lnSpc>
                <a:spcPct val="150000"/>
              </a:lnSpc>
              <a:defRPr sz="1800"/>
            </a:lvl1pPr>
            <a:lvl2pPr>
              <a:lnSpc>
                <a:spcPct val="150000"/>
              </a:lnSpc>
              <a:defRPr sz="1800"/>
            </a:lvl2pPr>
            <a:lvl3pPr>
              <a:lnSpc>
                <a:spcPct val="150000"/>
              </a:lnSpc>
              <a:defRPr sz="1800"/>
            </a:lvl3pPr>
            <a:lvl4pPr>
              <a:lnSpc>
                <a:spcPct val="150000"/>
              </a:lnSpc>
              <a:defRPr sz="1800"/>
            </a:lvl4pPr>
            <a:lvl5pPr>
              <a:lnSpc>
                <a:spcPct val="150000"/>
              </a:lnSpc>
              <a:defRPr sz="18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444F1B2-7ED6-C36F-405B-74D10A4669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58CD677-7AD2-4A27-94BD-C65458D22428}" type="datetime1">
              <a:rPr lang="ko-KR" altLang="en-US" smtClean="0"/>
              <a:pPr/>
              <a:t>2026-07-29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B54CE5-BA49-9B1F-44F6-BB68039676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438A2D4-3867-488E-A04E-7BFFCAED45A6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49749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배경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14304F"/>
              </a:gs>
              <a:gs pos="60000">
                <a:srgbClr val="0F2540"/>
              </a:gs>
              <a:gs pos="100000">
                <a:srgbClr val="0A1B2E"/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 lang="ko-KR"/>
          </a:p>
        </p:txBody>
      </p:sp>
      <p:grpSp>
        <p:nvGrpSpPr>
          <p:cNvPr id="300" name="격자 패턴"/>
          <p:cNvGrpSpPr/>
          <p:nvPr userDrawn="1"/>
        </p:nvGrpSpPr>
        <p:grpSpPr>
          <a:xfrm>
            <a:off x="10033800" y="4300000"/>
            <a:ext cx="2108200" cy="1854200"/>
            <a:chOff x="10033800" y="4300000"/>
            <a:chExt cx="2108200" cy="1854200"/>
          </a:xfrm>
        </p:grpSpPr>
        <p:sp>
          <p:nvSpPr>
            <p:cNvPr id="301" name="점 301"/>
            <p:cNvSpPr/>
            <p:nvPr userDrawn="1"/>
          </p:nvSpPr>
          <p:spPr>
            <a:xfrm>
              <a:off x="10033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02" name="점 302"/>
            <p:cNvSpPr/>
            <p:nvPr userDrawn="1"/>
          </p:nvSpPr>
          <p:spPr>
            <a:xfrm>
              <a:off x="10287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03" name="점 303"/>
            <p:cNvSpPr/>
            <p:nvPr userDrawn="1"/>
          </p:nvSpPr>
          <p:spPr>
            <a:xfrm>
              <a:off x="10541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04" name="점 304"/>
            <p:cNvSpPr/>
            <p:nvPr userDrawn="1"/>
          </p:nvSpPr>
          <p:spPr>
            <a:xfrm>
              <a:off x="10795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05" name="점 305"/>
            <p:cNvSpPr/>
            <p:nvPr userDrawn="1"/>
          </p:nvSpPr>
          <p:spPr>
            <a:xfrm>
              <a:off x="11049800" y="4300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06" name="점 306"/>
            <p:cNvSpPr/>
            <p:nvPr userDrawn="1"/>
          </p:nvSpPr>
          <p:spPr>
            <a:xfrm>
              <a:off x="11303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07" name="점 307"/>
            <p:cNvSpPr/>
            <p:nvPr userDrawn="1"/>
          </p:nvSpPr>
          <p:spPr>
            <a:xfrm>
              <a:off x="11557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08" name="점 308"/>
            <p:cNvSpPr/>
            <p:nvPr userDrawn="1"/>
          </p:nvSpPr>
          <p:spPr>
            <a:xfrm>
              <a:off x="11811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09" name="점 309"/>
            <p:cNvSpPr/>
            <p:nvPr userDrawn="1"/>
          </p:nvSpPr>
          <p:spPr>
            <a:xfrm>
              <a:off x="12065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10" name="점 310"/>
            <p:cNvSpPr/>
            <p:nvPr userDrawn="1"/>
          </p:nvSpPr>
          <p:spPr>
            <a:xfrm>
              <a:off x="10033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11" name="점 311"/>
            <p:cNvSpPr/>
            <p:nvPr userDrawn="1"/>
          </p:nvSpPr>
          <p:spPr>
            <a:xfrm>
              <a:off x="10287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12" name="점 312"/>
            <p:cNvSpPr/>
            <p:nvPr userDrawn="1"/>
          </p:nvSpPr>
          <p:spPr>
            <a:xfrm>
              <a:off x="10541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13" name="점 313"/>
            <p:cNvSpPr/>
            <p:nvPr userDrawn="1"/>
          </p:nvSpPr>
          <p:spPr>
            <a:xfrm>
              <a:off x="10795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14" name="점 314"/>
            <p:cNvSpPr/>
            <p:nvPr userDrawn="1"/>
          </p:nvSpPr>
          <p:spPr>
            <a:xfrm>
              <a:off x="11049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15" name="점 315"/>
            <p:cNvSpPr/>
            <p:nvPr userDrawn="1"/>
          </p:nvSpPr>
          <p:spPr>
            <a:xfrm>
              <a:off x="11303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16" name="점 316"/>
            <p:cNvSpPr/>
            <p:nvPr userDrawn="1"/>
          </p:nvSpPr>
          <p:spPr>
            <a:xfrm>
              <a:off x="11557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17" name="점 317"/>
            <p:cNvSpPr/>
            <p:nvPr userDrawn="1"/>
          </p:nvSpPr>
          <p:spPr>
            <a:xfrm>
              <a:off x="11811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18" name="점 318"/>
            <p:cNvSpPr/>
            <p:nvPr userDrawn="1"/>
          </p:nvSpPr>
          <p:spPr>
            <a:xfrm>
              <a:off x="12065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19" name="점 319"/>
            <p:cNvSpPr/>
            <p:nvPr userDrawn="1"/>
          </p:nvSpPr>
          <p:spPr>
            <a:xfrm>
              <a:off x="10033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20" name="점 320"/>
            <p:cNvSpPr/>
            <p:nvPr userDrawn="1"/>
          </p:nvSpPr>
          <p:spPr>
            <a:xfrm>
              <a:off x="10287800" y="4808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21" name="점 321"/>
            <p:cNvSpPr/>
            <p:nvPr userDrawn="1"/>
          </p:nvSpPr>
          <p:spPr>
            <a:xfrm>
              <a:off x="10541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22" name="점 322"/>
            <p:cNvSpPr/>
            <p:nvPr userDrawn="1"/>
          </p:nvSpPr>
          <p:spPr>
            <a:xfrm>
              <a:off x="10795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23" name="점 323"/>
            <p:cNvSpPr/>
            <p:nvPr userDrawn="1"/>
          </p:nvSpPr>
          <p:spPr>
            <a:xfrm>
              <a:off x="11049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24" name="점 324"/>
            <p:cNvSpPr/>
            <p:nvPr userDrawn="1"/>
          </p:nvSpPr>
          <p:spPr>
            <a:xfrm>
              <a:off x="11303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25" name="점 325"/>
            <p:cNvSpPr/>
            <p:nvPr userDrawn="1"/>
          </p:nvSpPr>
          <p:spPr>
            <a:xfrm>
              <a:off x="11557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26" name="점 326"/>
            <p:cNvSpPr/>
            <p:nvPr userDrawn="1"/>
          </p:nvSpPr>
          <p:spPr>
            <a:xfrm>
              <a:off x="11811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27" name="점 327"/>
            <p:cNvSpPr/>
            <p:nvPr userDrawn="1"/>
          </p:nvSpPr>
          <p:spPr>
            <a:xfrm>
              <a:off x="12065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28" name="점 328"/>
            <p:cNvSpPr/>
            <p:nvPr userDrawn="1"/>
          </p:nvSpPr>
          <p:spPr>
            <a:xfrm>
              <a:off x="10033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29" name="점 329"/>
            <p:cNvSpPr/>
            <p:nvPr userDrawn="1"/>
          </p:nvSpPr>
          <p:spPr>
            <a:xfrm>
              <a:off x="10287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30" name="점 330"/>
            <p:cNvSpPr/>
            <p:nvPr userDrawn="1"/>
          </p:nvSpPr>
          <p:spPr>
            <a:xfrm>
              <a:off x="10541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31" name="점 331"/>
            <p:cNvSpPr/>
            <p:nvPr userDrawn="1"/>
          </p:nvSpPr>
          <p:spPr>
            <a:xfrm>
              <a:off x="10795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32" name="점 332"/>
            <p:cNvSpPr/>
            <p:nvPr userDrawn="1"/>
          </p:nvSpPr>
          <p:spPr>
            <a:xfrm>
              <a:off x="11049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33" name="점 333"/>
            <p:cNvSpPr/>
            <p:nvPr userDrawn="1"/>
          </p:nvSpPr>
          <p:spPr>
            <a:xfrm>
              <a:off x="11303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34" name="점 334"/>
            <p:cNvSpPr/>
            <p:nvPr userDrawn="1"/>
          </p:nvSpPr>
          <p:spPr>
            <a:xfrm>
              <a:off x="11557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35" name="점 335"/>
            <p:cNvSpPr/>
            <p:nvPr userDrawn="1"/>
          </p:nvSpPr>
          <p:spPr>
            <a:xfrm>
              <a:off x="11811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36" name="점 336"/>
            <p:cNvSpPr/>
            <p:nvPr userDrawn="1"/>
          </p:nvSpPr>
          <p:spPr>
            <a:xfrm>
              <a:off x="12065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37" name="점 337"/>
            <p:cNvSpPr/>
            <p:nvPr userDrawn="1"/>
          </p:nvSpPr>
          <p:spPr>
            <a:xfrm>
              <a:off x="10033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38" name="점 338"/>
            <p:cNvSpPr/>
            <p:nvPr userDrawn="1"/>
          </p:nvSpPr>
          <p:spPr>
            <a:xfrm>
              <a:off x="10287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39" name="점 339"/>
            <p:cNvSpPr/>
            <p:nvPr userDrawn="1"/>
          </p:nvSpPr>
          <p:spPr>
            <a:xfrm>
              <a:off x="10541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40" name="점 340"/>
            <p:cNvSpPr/>
            <p:nvPr userDrawn="1"/>
          </p:nvSpPr>
          <p:spPr>
            <a:xfrm>
              <a:off x="10795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41" name="점 341"/>
            <p:cNvSpPr/>
            <p:nvPr userDrawn="1"/>
          </p:nvSpPr>
          <p:spPr>
            <a:xfrm>
              <a:off x="11049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42" name="점 342"/>
            <p:cNvSpPr/>
            <p:nvPr userDrawn="1"/>
          </p:nvSpPr>
          <p:spPr>
            <a:xfrm>
              <a:off x="11303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43" name="점 343"/>
            <p:cNvSpPr/>
            <p:nvPr userDrawn="1"/>
          </p:nvSpPr>
          <p:spPr>
            <a:xfrm>
              <a:off x="11557800" y="5316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44" name="점 344"/>
            <p:cNvSpPr/>
            <p:nvPr userDrawn="1"/>
          </p:nvSpPr>
          <p:spPr>
            <a:xfrm>
              <a:off x="11811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45" name="점 345"/>
            <p:cNvSpPr/>
            <p:nvPr userDrawn="1"/>
          </p:nvSpPr>
          <p:spPr>
            <a:xfrm>
              <a:off x="12065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46" name="점 346"/>
            <p:cNvSpPr/>
            <p:nvPr userDrawn="1"/>
          </p:nvSpPr>
          <p:spPr>
            <a:xfrm>
              <a:off x="10033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47" name="점 347"/>
            <p:cNvSpPr/>
            <p:nvPr userDrawn="1"/>
          </p:nvSpPr>
          <p:spPr>
            <a:xfrm>
              <a:off x="10287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48" name="점 348"/>
            <p:cNvSpPr/>
            <p:nvPr userDrawn="1"/>
          </p:nvSpPr>
          <p:spPr>
            <a:xfrm>
              <a:off x="10541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49" name="점 349"/>
            <p:cNvSpPr/>
            <p:nvPr userDrawn="1"/>
          </p:nvSpPr>
          <p:spPr>
            <a:xfrm>
              <a:off x="10795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50" name="점 350"/>
            <p:cNvSpPr/>
            <p:nvPr userDrawn="1"/>
          </p:nvSpPr>
          <p:spPr>
            <a:xfrm>
              <a:off x="11049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51" name="점 351"/>
            <p:cNvSpPr/>
            <p:nvPr userDrawn="1"/>
          </p:nvSpPr>
          <p:spPr>
            <a:xfrm>
              <a:off x="11303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52" name="점 352"/>
            <p:cNvSpPr/>
            <p:nvPr userDrawn="1"/>
          </p:nvSpPr>
          <p:spPr>
            <a:xfrm>
              <a:off x="11557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53" name="점 353"/>
            <p:cNvSpPr/>
            <p:nvPr userDrawn="1"/>
          </p:nvSpPr>
          <p:spPr>
            <a:xfrm>
              <a:off x="11811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54" name="점 354"/>
            <p:cNvSpPr/>
            <p:nvPr userDrawn="1"/>
          </p:nvSpPr>
          <p:spPr>
            <a:xfrm>
              <a:off x="12065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55" name="점 355"/>
            <p:cNvSpPr/>
            <p:nvPr userDrawn="1"/>
          </p:nvSpPr>
          <p:spPr>
            <a:xfrm>
              <a:off x="10033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56" name="점 356"/>
            <p:cNvSpPr/>
            <p:nvPr userDrawn="1"/>
          </p:nvSpPr>
          <p:spPr>
            <a:xfrm>
              <a:off x="10287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57" name="점 357"/>
            <p:cNvSpPr/>
            <p:nvPr userDrawn="1"/>
          </p:nvSpPr>
          <p:spPr>
            <a:xfrm>
              <a:off x="10541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58" name="점 358"/>
            <p:cNvSpPr/>
            <p:nvPr userDrawn="1"/>
          </p:nvSpPr>
          <p:spPr>
            <a:xfrm>
              <a:off x="10795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59" name="점 359"/>
            <p:cNvSpPr/>
            <p:nvPr userDrawn="1"/>
          </p:nvSpPr>
          <p:spPr>
            <a:xfrm>
              <a:off x="11049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60" name="점 360"/>
            <p:cNvSpPr/>
            <p:nvPr userDrawn="1"/>
          </p:nvSpPr>
          <p:spPr>
            <a:xfrm>
              <a:off x="11303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61" name="점 361"/>
            <p:cNvSpPr/>
            <p:nvPr userDrawn="1"/>
          </p:nvSpPr>
          <p:spPr>
            <a:xfrm>
              <a:off x="11557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62" name="점 362"/>
            <p:cNvSpPr/>
            <p:nvPr userDrawn="1"/>
          </p:nvSpPr>
          <p:spPr>
            <a:xfrm>
              <a:off x="11811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63" name="점 363"/>
            <p:cNvSpPr/>
            <p:nvPr userDrawn="1"/>
          </p:nvSpPr>
          <p:spPr>
            <a:xfrm>
              <a:off x="12065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64" name="점 364"/>
            <p:cNvSpPr/>
            <p:nvPr userDrawn="1"/>
          </p:nvSpPr>
          <p:spPr>
            <a:xfrm>
              <a:off x="10033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65" name="점 365"/>
            <p:cNvSpPr/>
            <p:nvPr userDrawn="1"/>
          </p:nvSpPr>
          <p:spPr>
            <a:xfrm>
              <a:off x="10287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66" name="점 366"/>
            <p:cNvSpPr/>
            <p:nvPr userDrawn="1"/>
          </p:nvSpPr>
          <p:spPr>
            <a:xfrm>
              <a:off x="10541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67" name="점 367"/>
            <p:cNvSpPr/>
            <p:nvPr userDrawn="1"/>
          </p:nvSpPr>
          <p:spPr>
            <a:xfrm>
              <a:off x="10795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68" name="점 368"/>
            <p:cNvSpPr/>
            <p:nvPr userDrawn="1"/>
          </p:nvSpPr>
          <p:spPr>
            <a:xfrm>
              <a:off x="11049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69" name="점 369"/>
            <p:cNvSpPr/>
            <p:nvPr userDrawn="1"/>
          </p:nvSpPr>
          <p:spPr>
            <a:xfrm>
              <a:off x="11303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70" name="점 370"/>
            <p:cNvSpPr/>
            <p:nvPr userDrawn="1"/>
          </p:nvSpPr>
          <p:spPr>
            <a:xfrm>
              <a:off x="11557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71" name="점 371"/>
            <p:cNvSpPr/>
            <p:nvPr userDrawn="1"/>
          </p:nvSpPr>
          <p:spPr>
            <a:xfrm>
              <a:off x="11811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72" name="점 372"/>
            <p:cNvSpPr/>
            <p:nvPr userDrawn="1"/>
          </p:nvSpPr>
          <p:spPr>
            <a:xfrm>
              <a:off x="12065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</p:grpSp>
      <p:sp>
        <p:nvSpPr>
          <p:cNvPr id="85" name="구역 강조 룰"/>
          <p:cNvSpPr/>
          <p:nvPr userDrawn="1"/>
        </p:nvSpPr>
        <p:spPr>
          <a:xfrm>
            <a:off x="929640" y="2971800"/>
            <a:ext cx="762000" cy="0"/>
          </a:xfrm>
          <a:prstGeom prst="line">
            <a:avLst/>
          </a:prstGeom>
          <a:noFill/>
          <a:ln w="38100" cap="flat">
            <a:solidFill>
              <a:srgbClr val="2EC4D9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21E2741-8F1E-BB08-8064-ABB3B5172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048000"/>
            <a:ext cx="10515600" cy="800100"/>
          </a:xfrm>
        </p:spPr>
        <p:txBody>
          <a:bodyPr anchor="b"/>
          <a:lstStyle>
            <a:lvl1pPr algn="l">
              <a:defRPr sz="4400" b="0" spc="-4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FE217DB-F68B-0B02-0EE9-FC6D375A39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962400"/>
            <a:ext cx="10515600" cy="1143000"/>
          </a:xfrm>
        </p:spPr>
        <p:txBody>
          <a:bodyPr/>
          <a:lstStyle>
            <a:lvl1pPr marL="0" indent="0">
              <a:buNone/>
              <a:defRPr sz="2400">
                <a:solidFill>
                  <a:srgbClr val="8FB8C9"/>
                </a:solidFill>
              </a:defRPr>
            </a:lvl1pPr>
            <a:lvl2pPr marL="457200" indent="0">
              <a:buNone/>
              <a:defRPr sz="2000">
                <a:solidFill>
                  <a:srgbClr val="8FB8C9"/>
                </a:solidFill>
              </a:defRPr>
            </a:lvl2pPr>
            <a:lvl3pPr marL="914400" indent="0">
              <a:buNone/>
              <a:defRPr sz="1800">
                <a:solidFill>
                  <a:srgbClr val="8FB8C9"/>
                </a:solidFill>
              </a:defRPr>
            </a:lvl3pPr>
            <a:lvl4pPr marL="1371600" indent="0">
              <a:buNone/>
              <a:defRPr sz="1600">
                <a:solidFill>
                  <a:srgbClr val="8FB8C9"/>
                </a:solidFill>
              </a:defRPr>
            </a:lvl4pPr>
            <a:lvl5pPr marL="1828800" indent="0">
              <a:buNone/>
              <a:defRPr sz="1600">
                <a:solidFill>
                  <a:srgbClr val="8FB8C9"/>
                </a:solidFill>
              </a:defRPr>
            </a:lvl5pPr>
            <a:lvl6pPr marL="2286000" indent="0">
              <a:buNone/>
              <a:defRPr sz="1600">
                <a:solidFill>
                  <a:srgbClr val="8FB8C9"/>
                </a:solidFill>
              </a:defRPr>
            </a:lvl6pPr>
            <a:lvl7pPr marL="2743200" indent="0">
              <a:buNone/>
              <a:defRPr sz="1600">
                <a:solidFill>
                  <a:srgbClr val="8FB8C9"/>
                </a:solidFill>
              </a:defRPr>
            </a:lvl7pPr>
            <a:lvl8pPr marL="3200400" indent="0">
              <a:buNone/>
              <a:defRPr sz="1600">
                <a:solidFill>
                  <a:srgbClr val="8FB8C9"/>
                </a:solidFill>
              </a:defRPr>
            </a:lvl8pPr>
            <a:lvl9pPr marL="3657600" indent="0">
              <a:buNone/>
              <a:defRPr sz="1600">
                <a:solidFill>
                  <a:srgbClr val="8FB8C9"/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6F4ECD6-4F10-FAB4-9EC7-0A9BDDBBF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2BEF52EC-B397-4D0A-AE91-E0D6840C85A1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B089ED4-E191-9BE2-6362-00E940AF7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322432-D7EA-093F-001B-BC7E0D49E1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4730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62A7E8-82BA-7B6E-F6E9-A98D3ECFFB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CAEFAB5-2BD5-B266-2B90-5DF6C6BE75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DC97A80-9CA9-6C9D-98D1-D8A829894B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03A760F-4119-02E0-9047-FD4EFB030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D6007-6A42-4C9B-B218-6A32B3A38C67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99B3A7E-6DE5-9DF0-CCF3-4E15062167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6664016-7B2A-6313-FDC2-8FA33EAC9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7087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54C69-8E55-E9AE-CBD6-A0F2276D9E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0B86DB8-CC8D-914E-CEFA-5DF480196E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B176446-C17B-7FD5-8DB2-B982801142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95D4D2A-9477-8669-492E-C33F3E9CD4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1BF0716-4A26-4EAB-6A93-C6203A8072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0F37FBA-7D77-22F4-B534-1653B07AD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6658DF-8B5F-4351-A42C-BF3495DE7ABE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8DA361B-5E51-3A84-F540-036EB166C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AD90B8D-AC97-0E06-ED03-C9645D4A4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78775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F5235F-156B-75D6-B91A-2D25D5F31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0398CE0-1B1D-EF93-936A-A286EA577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59C48-8150-4FAB-8BEF-6AD61CFC9BBE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F4DC0FF-921E-80C0-450A-7B405750E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8CF709D-D3DC-4D1F-45FC-9F2F2C180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29880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E4D47D0-9EAC-3C67-62F1-6CC1BEC6F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41DBCF-1091-470D-AC72-5CF3D00280AC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A75CACA-850A-EA99-2A04-D33838FCCA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04249E-807B-C0AC-5C11-E3AD439D7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90958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EF82BF-B27F-0EAB-B809-971BA3CE8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4868F8-4EB2-B804-3AD6-7256AF1C6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C3E5F92-B2C2-8AB1-01C1-ED72DF18A6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243173C-11BF-A2F6-F013-59378849A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4AE7C-57FB-4DBB-B90C-59145D637BF6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3D47E49-717B-A5BA-FB22-E4F74A03B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C7ED0F3-0EAE-43B7-F5D2-9F776B23F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2319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3DE7BB-65A1-98A0-61B2-9BA86EB8B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393FC40-79A0-A826-1CA9-EE7B1B8BF9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EB9879E-8AC3-D682-707C-4CCA3AC04C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C97A2B9-9192-6241-C6C5-2D7D678EE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D92253-43A0-46E3-918E-3929407A8C01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B7311CB-F5C2-2F43-5CDB-47B621DB1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B7E252D-5421-B82E-B9DC-97D8A4F11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43450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A5921C-217D-706E-B4C1-8C4B415A8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A49194-22FD-90CC-72D7-93BB89EBF3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3072F4-8B76-D6AF-7D51-73F346613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178607-39E6-4CB2-B3CB-AB428B3B6195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903EEA5-CFF1-3A25-3757-289E51F27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CA5D0D-C1A0-3A92-3E15-E7442EE12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9845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44A25BF-197E-B63E-7A73-089055E7BC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D6C20F-2716-6230-FC15-8E28D820B1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32C15CE-BE12-96E8-58E3-B89CE71B76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78A2F2-325F-46A6-8956-F2A49A35BAF8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3C669E-1E2D-2737-7F44-4EF88AEE2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1D9548-61EF-5EA9-3163-3C25E9287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979052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제목 헤어라인"/>
          <p:cNvSpPr/>
          <p:nvPr userDrawn="1"/>
        </p:nvSpPr>
        <p:spPr>
          <a:xfrm>
            <a:off x="929640" y="944880"/>
            <a:ext cx="10332720" cy="0"/>
          </a:xfrm>
          <a:prstGeom prst="line">
            <a:avLst/>
          </a:prstGeom>
          <a:noFill/>
          <a:ln w="9525" cap="flat">
            <a:solidFill>
              <a:srgbClr val="E4EAF0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91" name="제목 강조 룰"/>
          <p:cNvSpPr/>
          <p:nvPr userDrawn="1"/>
        </p:nvSpPr>
        <p:spPr>
          <a:xfrm>
            <a:off x="929640" y="944880"/>
            <a:ext cx="685800" cy="0"/>
          </a:xfrm>
          <a:prstGeom prst="line">
            <a:avLst/>
          </a:prstGeom>
          <a:noFill/>
          <a:ln w="28575" cap="flat">
            <a:solidFill>
              <a:srgbClr val="2EC4D9"/>
            </a:solidFill>
          </a:ln>
        </p:spPr>
        <p:txBody>
          <a:bodyPr/>
          <a:lstStyle/>
          <a:p>
            <a:endParaRPr lang="ko-KR"/>
          </a:p>
        </p:txBody>
      </p:sp>
      <p:grpSp>
        <p:nvGrpSpPr>
          <p:cNvPr id="100" name="격자 패턴"/>
          <p:cNvGrpSpPr/>
          <p:nvPr userDrawn="1"/>
        </p:nvGrpSpPr>
        <p:grpSpPr>
          <a:xfrm>
            <a:off x="11029950" y="6076950"/>
            <a:ext cx="1009650" cy="628650"/>
            <a:chOff x="11029950" y="6076950"/>
            <a:chExt cx="1009650" cy="628650"/>
          </a:xfrm>
        </p:grpSpPr>
        <p:sp>
          <p:nvSpPr>
            <p:cNvPr id="101" name="점 101"/>
            <p:cNvSpPr/>
            <p:nvPr userDrawn="1"/>
          </p:nvSpPr>
          <p:spPr>
            <a:xfrm>
              <a:off x="11029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02" name="점 102"/>
            <p:cNvSpPr/>
            <p:nvPr userDrawn="1"/>
          </p:nvSpPr>
          <p:spPr>
            <a:xfrm>
              <a:off x="112204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03" name="점 103"/>
            <p:cNvSpPr/>
            <p:nvPr userDrawn="1"/>
          </p:nvSpPr>
          <p:spPr>
            <a:xfrm>
              <a:off x="11410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04" name="점 104"/>
            <p:cNvSpPr/>
            <p:nvPr userDrawn="1"/>
          </p:nvSpPr>
          <p:spPr>
            <a:xfrm>
              <a:off x="11601450" y="60769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05" name="점 105"/>
            <p:cNvSpPr/>
            <p:nvPr userDrawn="1"/>
          </p:nvSpPr>
          <p:spPr>
            <a:xfrm>
              <a:off x="11791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06" name="점 106"/>
            <p:cNvSpPr/>
            <p:nvPr userDrawn="1"/>
          </p:nvSpPr>
          <p:spPr>
            <a:xfrm>
              <a:off x="119824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07" name="점 107"/>
            <p:cNvSpPr/>
            <p:nvPr userDrawn="1"/>
          </p:nvSpPr>
          <p:spPr>
            <a:xfrm>
              <a:off x="11029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08" name="점 108"/>
            <p:cNvSpPr/>
            <p:nvPr userDrawn="1"/>
          </p:nvSpPr>
          <p:spPr>
            <a:xfrm>
              <a:off x="11220450" y="62674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09" name="점 109"/>
            <p:cNvSpPr/>
            <p:nvPr userDrawn="1"/>
          </p:nvSpPr>
          <p:spPr>
            <a:xfrm>
              <a:off x="11410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10" name="점 110"/>
            <p:cNvSpPr/>
            <p:nvPr userDrawn="1"/>
          </p:nvSpPr>
          <p:spPr>
            <a:xfrm>
              <a:off x="116014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11" name="점 111"/>
            <p:cNvSpPr/>
            <p:nvPr userDrawn="1"/>
          </p:nvSpPr>
          <p:spPr>
            <a:xfrm>
              <a:off x="11791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12" name="점 112"/>
            <p:cNvSpPr/>
            <p:nvPr userDrawn="1"/>
          </p:nvSpPr>
          <p:spPr>
            <a:xfrm>
              <a:off x="119824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13" name="점 113"/>
            <p:cNvSpPr/>
            <p:nvPr userDrawn="1"/>
          </p:nvSpPr>
          <p:spPr>
            <a:xfrm>
              <a:off x="11029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14" name="점 114"/>
            <p:cNvSpPr/>
            <p:nvPr userDrawn="1"/>
          </p:nvSpPr>
          <p:spPr>
            <a:xfrm>
              <a:off x="11220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15" name="점 115"/>
            <p:cNvSpPr/>
            <p:nvPr userDrawn="1"/>
          </p:nvSpPr>
          <p:spPr>
            <a:xfrm>
              <a:off x="11410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16" name="점 116"/>
            <p:cNvSpPr/>
            <p:nvPr userDrawn="1"/>
          </p:nvSpPr>
          <p:spPr>
            <a:xfrm>
              <a:off x="11601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17" name="점 117"/>
            <p:cNvSpPr/>
            <p:nvPr userDrawn="1"/>
          </p:nvSpPr>
          <p:spPr>
            <a:xfrm>
              <a:off x="11791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18" name="점 118"/>
            <p:cNvSpPr/>
            <p:nvPr userDrawn="1"/>
          </p:nvSpPr>
          <p:spPr>
            <a:xfrm>
              <a:off x="11982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19" name="점 119"/>
            <p:cNvSpPr/>
            <p:nvPr userDrawn="1"/>
          </p:nvSpPr>
          <p:spPr>
            <a:xfrm>
              <a:off x="110299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20" name="점 120"/>
            <p:cNvSpPr/>
            <p:nvPr userDrawn="1"/>
          </p:nvSpPr>
          <p:spPr>
            <a:xfrm>
              <a:off x="11220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21" name="점 121"/>
            <p:cNvSpPr/>
            <p:nvPr userDrawn="1"/>
          </p:nvSpPr>
          <p:spPr>
            <a:xfrm>
              <a:off x="11410950" y="66484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22" name="점 122"/>
            <p:cNvSpPr/>
            <p:nvPr userDrawn="1"/>
          </p:nvSpPr>
          <p:spPr>
            <a:xfrm>
              <a:off x="11601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23" name="점 123"/>
            <p:cNvSpPr/>
            <p:nvPr userDrawn="1"/>
          </p:nvSpPr>
          <p:spPr>
            <a:xfrm>
              <a:off x="117919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24" name="점 124"/>
            <p:cNvSpPr/>
            <p:nvPr userDrawn="1"/>
          </p:nvSpPr>
          <p:spPr>
            <a:xfrm>
              <a:off x="11982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</p:grp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3AFC0F6-4140-2489-D0A3-0A632697E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6866"/>
            <a:ext cx="10515600" cy="662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5E886E5-5DD8-BA48-583F-AAA217E8DD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23922"/>
            <a:ext cx="10515600" cy="47530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69862E1-2ECD-F622-0F74-FDC2E7199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30000"/>
            <a:ext cx="3200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fld id="{75D61A29-800E-482A-B0FD-5A04401ECD92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2E1796-7D1E-1254-446E-8BAA61680C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200000" y="633000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B692A8-3D04-14CA-0956-516C70492A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30000"/>
            <a:ext cx="2286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6133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800" b="0" kern="1200" spc="-30">
          <a:solidFill>
            <a:srgbClr val="0F254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Clr>
          <a:srgbClr val="2EC4D9"/>
        </a:buClr>
        <a:buSzPct val="80000"/>
        <a:buFont typeface="Arial" panose="020B0604020202020204" pitchFamily="34" charset="0"/>
        <a:buChar char="●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10000"/>
        <a:buFont typeface="Arial" panose="020B0604020202020204" pitchFamily="34" charset="0"/>
        <a:buChar char="○"/>
        <a:defRPr sz="2400" kern="1200">
          <a:solidFill>
            <a:schemeClr val="tx1">
              <a:alpha val="88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8FB8C9"/>
        </a:buClr>
        <a:buSzPct val="80000"/>
        <a:buFont typeface="Arial" panose="020B0604020202020204" pitchFamily="34" charset="0"/>
        <a:buChar char="•"/>
        <a:defRPr sz="20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Post-Quantum Cryptography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18. SPHINCS+: Few-Time Signatures and Virtual Hypertrees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/>
          <a:lstStyle/>
          <a:p>
            <a:pPr marL="342900" indent="-342900">
              <a:buAutoNum type="arabicPeriod"/>
            </a:pPr>
            <a:r>
              <a:rPr sz="1800"/>
              <a:t>상태 없애기: 무작위 리프</a:t>
            </a:r>
          </a:p>
          <a:p>
            <a:pPr marL="342900" indent="-342900">
              <a:buAutoNum type="arabicPeriod"/>
            </a:pPr>
            <a:r>
              <a:rPr sz="1800"/>
              <a:t>FTS와 HORS</a:t>
            </a:r>
          </a:p>
          <a:p>
            <a:pPr marL="342900" indent="-342900">
              <a:buAutoNum type="arabicPeriod"/>
            </a:pPr>
            <a:r>
              <a:rPr sz="1800"/>
              <a:t>FTS를 Merkle 트리 리프에</a:t>
            </a:r>
          </a:p>
          <a:p>
            <a:pPr marL="342900" indent="-342900">
              <a:buAutoNum type="arabicPeriod"/>
            </a:pPr>
            <a:r>
              <a:rPr sz="1800"/>
              <a:t>가상 하이퍼트리</a:t>
            </a:r>
          </a:p>
          <a:p>
            <a:pPr marL="342900" indent="-342900">
              <a:buAutoNum type="arabicPeriod"/>
            </a:pPr>
            <a:r>
              <a:rPr sz="1800"/>
              <a:t>정리와 평가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상태 없애기: 무작위 리프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Part 1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상태 유지형은 왜 번거로운가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1463040"/>
          </a:xfrm>
        </p:spPr>
        <p:txBody>
          <a:bodyPr/>
          <a:lstStyle/>
          <a:p>
            <a:pPr/>
            <a:r>
              <a:rPr sz="1800"/>
              <a:t>LMS·HSS, XMSS·XMSS</a:t>
            </a:r>
            <a:r>
              <a:rPr sz="1800" baseline="30000"/>
              <a:t>MT</a:t>
            </a:r>
            <a:r>
              <a:rPr sz="1800"/>
              <a:t>는 모두 상태 유지형 서명 스킴이다</a:t>
            </a:r>
          </a:p>
          <a:p>
            <a:pPr/>
            <a:r>
              <a:rPr sz="1800"/>
              <a:t>서명자가 어느 OTS 키를 이미 썼는지 계속 추적해야 한다</a:t>
            </a:r>
          </a:p>
          <a:p>
            <a:pPr/>
            <a:r>
              <a:rPr sz="1800"/>
              <a:t>OTS 개인키를 한 번이라도 재사용하면 안전성이 깨지기 때문이다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  <p:pic>
        <p:nvPicPr>
          <p:cNvPr id="5" name="Picture 4" descr="상태 유지 하이퍼트리: 층 1 트리의 리프가 층 2 트리의 루트에 서명하고, 층 2 리프가 메시지에 서명한다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9732" y="2788920"/>
            <a:ext cx="5958631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SPHINCS+ 핵심 아이디어, SLH-DSA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/>
          <a:lstStyle/>
          <a:p>
            <a:pPr/>
            <a:r>
              <a:rPr sz="1800"/>
              <a:t>Bernstein 등이 설계해 2024년 NIST가 표준화한 상태 없는 해시 기반 서명</a:t>
            </a:r>
          </a:p>
          <a:p>
            <a:pPr lvl="1"/>
            <a:r>
              <a:rPr sz="1800"/>
              <a:t>FIPS 205의 공식 이름: SLH-DSA (Stateless Hash-Based Digital Signature Algorithm)</a:t>
            </a:r>
          </a:p>
          <a:p>
            <a:pPr marL="342900" indent="-342900">
              <a:buAutoNum type="arabicPeriod"/>
            </a:pPr>
            <a:r>
              <a:rPr sz="1800"/>
              <a:t>리프가 매우 많은 하이퍼트리를 만든다. 리프는 OTS 키쌍이다</a:t>
            </a:r>
          </a:p>
          <a:p>
            <a:pPr marL="342900" indent="-342900">
              <a:buAutoNum type="arabicPeriod"/>
            </a:pPr>
            <a:r>
              <a:rPr sz="1800"/>
              <a:t>서명할 때마다 리프를 무작위로 하나 고른다</a:t>
            </a:r>
          </a:p>
          <a:p>
            <a:pPr marL="342900" indent="-342900">
              <a:buAutoNum type="arabicPeriod"/>
            </a:pPr>
            <a:r>
              <a:rPr sz="1800"/>
              <a:t>어떤 키쌍을 썼는지 기억할 필요가 없다 — 상태가 없다</a:t>
            </a:r>
          </a:p>
          <a:p>
            <a:pPr marL="342900" indent="-342900">
              <a:buAutoNum type="arabicPeriod"/>
            </a:pPr>
            <a:r>
              <a:rPr sz="1800"/>
              <a:t>서명할 수 있는 메시지 총수에 상한을 두어, 키 재사용 확률을 무시할 수 있게 한다</a:t>
            </a:r>
          </a:p>
          <a:p>
            <a:pPr/>
            <a:r>
              <a:rPr sz="1800"/>
              <a:t>이 기본 아이디어에 여러 최적화가 더해졌다. 그중 핵심이 FTS와 가상 하이퍼트리다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재사용 확률 = 생일 역설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/>
              <a:lstStyle/>
              <a:p>
                <a:pPr/>
                <a:r>
                  <a:rPr sz="1800"/>
                  <a:t>트리 전체 높이 </a:t>
                </a:r>
                <a14:m xmlns:m="http://schemas.openxmlformats.org/officeDocument/2006/math">
                  <m:oMath xmlns:mml="http://www.w3.org/1998/Math/MathML">
                    <m:r>
                      <a:rPr lang="en-US" i="1">
                        <a:latin typeface="Cambria Math"/>
                      </a:rPr>
                      <m:t>D</m:t>
                    </m:r>
                  </m:oMath>
                </a14:m>
                <a:r>
                  <a:rPr sz="1800"/>
                  <a:t>, 리프(OTS 키쌍) 수 </a:t>
                </a:r>
                <a14:m xmlns:m="http://schemas.openxmlformats.org/officeDocument/2006/math">
                  <m:oMath xmlns:mml="http://www.w3.org/1998/Math/MathML">
                    <m:r>
                      <a:rPr lang="en-US" i="1">
                        <a:latin typeface="Cambria Math"/>
                      </a:rPr>
                      <m:t>N=</m:t>
                    </m:r>
                    <m:sSup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D</m:t>
                        </m:r>
                      </m:sup>
                    </m:sSup>
                  </m:oMath>
                </a14:m>
                <a:r>
                  <a:rPr sz="1800"/>
                  <a:t>, 서명할 메시지 수의 상한 </a:t>
                </a:r>
                <a14:m xmlns:m="http://schemas.openxmlformats.org/officeDocument/2006/math">
                  <m:oMath xmlns:mml="http://www.w3.org/1998/Math/MathML">
                    <m:r>
                      <a:rPr lang="en-US" i="1">
                        <a:latin typeface="Cambria Math"/>
                      </a:rPr>
                      <m:t>S</m:t>
                    </m:r>
                  </m:oMath>
                </a14:m>
              </a:p>
              <a:p>
                <a:pPr/>
                <a:r>
                  <a:rPr sz="1800"/>
                  <a:t>리프를 무작위로 고르면 생일 역설이 적용된다. 서로 다른 두 메시지가 같은 리프를 고를 확률은 </a:t>
                </a:r>
                <a14:m xmlns:m="http://schemas.openxmlformats.org/officeDocument/2006/math">
                  <m:oMath xmlns:mml="http://www.w3.org/1998/Math/MathML">
                    <m:f>
                      <m:fPr>
                        <m:type m:val="lin"/>
                      </m:fPr>
                      <m:num>
                        <m:r>
                          <a:rPr lang="en-US" i="1">
                            <a:latin typeface="Cambria Math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/>
                          </a:rPr>
                          <m:t>N</m:t>
                        </m:r>
                      </m:den>
                    </m:f>
                  </m:oMath>
                </a14:m>
                <a:r>
                  <a:rPr sz="1800"/>
                  <a:t>, 메시지 쌍은 </a:t>
                </a:r>
                <a14:m xmlns:m="http://schemas.openxmlformats.org/officeDocument/2006/math">
                  <m:oMath xmlns:mml="http://www.w3.org/1998/Math/MathML">
                    <m:d>
                      <m:dPr>
                        <m:begChr m:val="("/>
                        <m:endChr m:val=")"/>
                      </m:dPr>
                      <m:e>
                        <m:f>
                          <m:fPr>
                            <m:type m:val="noBar"/>
                          </m:fPr>
                          <m:num>
                            <m:r>
                              <a:rPr lang="en-US" i="1">
                                <a:latin typeface="Cambria Math"/>
                              </a:rPr>
                              <m:t>S</m:t>
                            </m:r>
                          </m:num>
                          <m:den>
                            <m:r>
                              <a:rPr lang="en-US" i="1">
                                <a:latin typeface="Cambria Math"/>
                              </a:rPr>
                              <m:t>2</m:t>
                            </m:r>
                          </m:den>
                        </m:f>
                      </m:e>
                    </m:d>
                  </m:oMath>
                </a14:m>
                <a:r>
                  <a:rPr sz="1800"/>
                  <a:t>개다</a:t>
                </a:r>
              </a:p>
              <a:p>
                <a:pPr/>
                <a:r>
                  <a:rPr sz="1800"/>
                  <a:t>합집합 상한으로, 어떤 OTS 키가 두 메시지 이상에 쓰일 확률은 최대</a:t>
                </a:r>
              </a:p>
              <a:p>
                <a:pPr marL="0" indent="0">
                  <a:buNone/>
                </a:pPr>
                <a14:m xmlns:m="http://schemas.openxmlformats.org/officeDocument/2006/math">
                  <m:oMathPara>
                    <m:oMathParaPr>
                      <m:jc m:val="centerGroup"/>
                    </m:oMathParaPr>
                    <m:oMath xmlns:mml="http://www.w3.org/1998/Math/MathML">
                      <m:r>
                        <a:rPr lang="en-US" i="1">
                          <a:latin typeface="Cambria Math"/>
                        </a:rPr>
                        <m:t>p</m:t>
                      </m:r>
                      <m:r>
                        <a:rPr lang="en-US" i="0">
                          <a:latin typeface="Cambria Math"/>
                        </a:rPr>
                        <m:rPr>
                          <m:nor/>
                        </m:rPr>
                        <m:t> </m:t>
                      </m:r>
                      <m:r>
                        <a:rPr lang="en-US" i="1">
                          <a:latin typeface="Cambria Math"/>
                        </a:rPr>
                        <m:t>≤</m:t>
                      </m:r>
                      <m:r>
                        <a:rPr lang="en-US" i="0">
                          <a:latin typeface="Cambria Math"/>
                        </a:rPr>
                        <m:rPr>
                          <m:nor/>
                        </m:rPr>
                        <m:t> </m:t>
                      </m:r>
                      <m:d>
                        <m:dPr>
                          <m:begChr m:val="("/>
                          <m:endChr m:val=")"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a:rPr lang="en-US" i="1">
                                  <a:latin typeface="Cambria Math"/>
                                </a:rPr>
                                <m:t>S</m:t>
                              </m:r>
                            </m:num>
                            <m:den>
                              <m:r>
                                <a:rPr lang="en-US" i="1">
                                  <a:latin typeface="Cambria Math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i="1">
                          <a:latin typeface="Cambria Math"/>
                        </a:rPr>
                        <m:t>·</m:t>
                      </m:r>
                      <m:f>
                        <m:fPr>
                          <m:type m:val="bar"/>
                        </m:fPr>
                        <m:num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/>
                            </a:rPr>
                            <m:t>N</m:t>
                          </m:r>
                        </m:den>
                      </m:f>
                      <m:r>
                        <a:rPr lang="en-US" i="0">
                          <a:latin typeface="Cambria Math"/>
                        </a:rPr>
                        <m:rPr>
                          <m:nor/>
                        </m:rPr>
                        <m:t> </m:t>
                      </m:r>
                      <m:r>
                        <a:rPr lang="en-US" i="1">
                          <a:latin typeface="Cambria Math"/>
                        </a:rPr>
                        <m:t>≈</m:t>
                      </m:r>
                      <m:r>
                        <a:rPr lang="en-US" i="0">
                          <a:latin typeface="Cambria Math"/>
                        </a:rPr>
                        <m:rPr>
                          <m:nor/>
                        </m:rPr>
                        <m:t> </m:t>
                      </m:r>
                      <m:f>
                        <m:fPr>
                          <m:type m:val="bar"/>
                        </m:fPr>
                        <m:num>
                          <m:sSup>
                            <m:e>
                              <m:r>
                                <a:rPr lang="en-US" i="1">
                                  <a:latin typeface="Cambria Math"/>
                                </a:rPr>
                                <m:t>S</m:t>
                              </m:r>
                            </m:e>
                            <m:sup>
                              <m:r>
                                <a:rPr lang="en-US" i="1"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i="1">
                              <a:latin typeface="Cambria Math"/>
                            </a:rPr>
                            <m:t>2N</m:t>
                          </m:r>
                        </m:den>
                      </m:f>
                      <m:r>
                        <a:rPr lang="en-US" i="0">
                          <a:latin typeface="Cambria Math"/>
                        </a:rPr>
                        <m:rPr>
                          <m:nor/>
                        </m:rPr>
                        <m:t> </m:t>
                      </m:r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a:rPr lang="en-US" i="0">
                          <a:latin typeface="Cambria Math"/>
                        </a:rPr>
                        <m:rPr>
                          <m:nor/>
                        </m:rPr>
                        <m:t> </m:t>
                      </m:r>
                      <m:f>
                        <m:fPr>
                          <m:type m:val="bar"/>
                        </m:fPr>
                        <m:num>
                          <m:sSup>
                            <m:e>
                              <m:r>
                                <a:rPr lang="en-US" i="1">
                                  <a:latin typeface="Cambria Math"/>
                                </a:rPr>
                                <m:t>S</m:t>
                              </m:r>
                            </m:e>
                            <m:sup>
                              <m:r>
                                <a:rPr lang="en-US" i="1"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e>
                              <m:r>
                                <a:rPr lang="en-US" i="1">
                                  <a:latin typeface="Cambria Math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i="1">
                                  <a:latin typeface="Cambria Math"/>
                                </a:rPr>
                                <m:t>D+1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  <a:p>
                <a:pPr/>
                <a:r>
                  <a:rPr sz="1800"/>
                  <a:t>이 값이 무시할 수 있을 만큼 작도록 </a:t>
                </a:r>
                <a14:m xmlns:m="http://schemas.openxmlformats.org/officeDocument/2006/math">
                  <m:oMath xmlns:mml="http://www.w3.org/1998/Math/MathML">
                    <m:r>
                      <a:rPr lang="en-US" i="1">
                        <a:latin typeface="Cambria Math"/>
                      </a:rPr>
                      <m:t>D</m:t>
                    </m:r>
                  </m:oMath>
                </a14:m>
                <a:r>
                  <a:rPr sz="1800"/>
                  <a:t>와 </a:t>
                </a:r>
                <a14:m xmlns:m="http://schemas.openxmlformats.org/officeDocument/2006/math">
                  <m:oMath xmlns:mml="http://www.w3.org/1998/Math/MathML">
                    <m:r>
                      <a:rPr lang="en-US" i="1">
                        <a:latin typeface="Cambria Math"/>
                      </a:rPr>
                      <m:t>S</m:t>
                    </m:r>
                  </m:oMath>
                </a14:m>
                <a:r>
                  <a:rPr sz="1800"/>
                  <a:t>를 정한다</a:t>
                </a:r>
              </a:p>
            </p:txBody>
          </p:sp>
        </mc:Choice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예제: S = 2</a:t>
            </a:r>
            <a:r>
              <a:rPr baseline="30000"/>
              <a:t>40</a:t>
            </a:r>
            <a:r>
              <a:rPr/>
              <a:t>이면 높이 207이 필요하다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/>
              <a:lstStyle/>
              <a:p>
                <a:pPr/>
                <a14:m xmlns:m="http://schemas.openxmlformats.org/officeDocument/2006/math">
                  <m:oMath xmlns:mml="http://www.w3.org/1998/Math/MathML">
                    <m:r>
                      <a:rPr lang="en-US" i="1">
                        <a:latin typeface="Cambria Math"/>
                      </a:rPr>
                      <m:t>S=</m:t>
                    </m:r>
                    <m:sSup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40</m:t>
                        </m:r>
                      </m:sup>
                    </m:sSup>
                  </m:oMath>
                </a14:m>
                <a:r>
                  <a:rPr sz="1800"/>
                  <a:t>, </a:t>
                </a:r>
                <a14:m xmlns:m="http://schemas.openxmlformats.org/officeDocument/2006/math">
                  <m:oMath xmlns:mml="http://www.w3.org/1998/Math/MathML">
                    <m:r>
                      <a:rPr lang="en-US" i="1">
                        <a:latin typeface="Cambria Math"/>
                      </a:rPr>
                      <m:t>D=207</m:t>
                    </m:r>
                  </m:oMath>
                </a14:m>
                <a:r>
                  <a:rPr sz="1800"/>
                  <a:t>이면:</a:t>
                </a:r>
              </a:p>
              <a:p>
                <a:pPr marL="0" indent="0">
                  <a:buNone/>
                </a:pPr>
                <a14:m xmlns:m="http://schemas.openxmlformats.org/officeDocument/2006/math">
                  <m:oMathPara>
                    <m:oMathParaPr>
                      <m:jc m:val="centerGroup"/>
                    </m:oMathParaPr>
                    <m:oMath xmlns:mml="http://www.w3.org/1998/Math/MathML">
                      <m:r>
                        <a:rPr lang="en-US" i="1">
                          <a:latin typeface="Cambria Math"/>
                        </a:rPr>
                        <m:t>p</m:t>
                      </m:r>
                      <m:r>
                        <a:rPr lang="en-US" i="0">
                          <a:latin typeface="Cambria Math"/>
                        </a:rPr>
                        <m:rPr>
                          <m:nor/>
                        </m:rPr>
                        <m:t> </m:t>
                      </m:r>
                      <m:r>
                        <a:rPr lang="en-US" i="1">
                          <a:latin typeface="Cambria Math"/>
                        </a:rPr>
                        <m:t>≤</m:t>
                      </m:r>
                      <m:r>
                        <a:rPr lang="en-US" i="0">
                          <a:latin typeface="Cambria Math"/>
                        </a:rPr>
                        <m:rPr>
                          <m:nor/>
                        </m:rPr>
                        <m:t> </m:t>
                      </m:r>
                      <m:f>
                        <m:fPr>
                          <m:type m:val="bar"/>
                        </m:fPr>
                        <m:num>
                          <m:sSup>
                            <m:e>
                              <m:r>
                                <a:rPr lang="en-US" i="1">
                                  <a:latin typeface="Cambria Math"/>
                                </a:rPr>
                                <m:t>S</m:t>
                              </m:r>
                            </m:e>
                            <m:sup>
                              <m:r>
                                <a:rPr lang="en-US" i="1"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e>
                              <m:r>
                                <a:rPr lang="en-US" i="1">
                                  <a:latin typeface="Cambria Math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i="1">
                                  <a:latin typeface="Cambria Math"/>
                                </a:rPr>
                                <m:t>D+1</m:t>
                              </m:r>
                            </m:sup>
                          </m:sSup>
                        </m:den>
                      </m:f>
                      <m:r>
                        <a:rPr lang="en-US" i="0">
                          <a:latin typeface="Cambria Math"/>
                        </a:rPr>
                        <m:rPr>
                          <m:nor/>
                        </m:rPr>
                        <m:t> </m:t>
                      </m:r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a:rPr lang="en-US" i="0">
                          <a:latin typeface="Cambria Math"/>
                        </a:rPr>
                        <m:rPr>
                          <m:nor/>
                        </m:rPr>
                        <m:t> </m:t>
                      </m:r>
                      <m:f>
                        <m:fPr>
                          <m:type m:val="bar"/>
                        </m:fPr>
                        <m:num>
                          <m:sSup>
                            <m:e>
                              <m:r>
                                <a:rPr lang="en-US" i="1">
                                  <a:latin typeface="Cambria Math"/>
                                </a:rPr>
                                <m:t>(</m:t>
                              </m:r>
                              <m:sSup>
                                <m:e>
                                  <m:r>
                                    <a:rPr lang="en-US" i="1">
                                      <a:latin typeface="Cambria Math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/>
                                    </a:rPr>
                                    <m:t>40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i="1"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e>
                              <m:r>
                                <a:rPr lang="en-US" i="1">
                                  <a:latin typeface="Cambria Math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i="1">
                                  <a:latin typeface="Cambria Math"/>
                                </a:rPr>
                                <m:t>208</m:t>
                              </m:r>
                            </m:sup>
                          </m:sSup>
                        </m:den>
                      </m:f>
                      <m:r>
                        <a:rPr lang="en-US" i="0">
                          <a:latin typeface="Cambria Math"/>
                        </a:rPr>
                        <m:rPr>
                          <m:nor/>
                        </m:rPr>
                        <m:t> </m:t>
                      </m:r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a:rPr lang="en-US" i="0">
                          <a:latin typeface="Cambria Math"/>
                        </a:rPr>
                        <m:rPr>
                          <m:nor/>
                        </m:rPr>
                        <m:t> </m:t>
                      </m:r>
                      <m:sSup>
                        <m:e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80−208</m:t>
                          </m:r>
                        </m:sup>
                      </m:sSup>
                      <m:r>
                        <a:rPr lang="en-US" i="0">
                          <a:latin typeface="Cambria Math"/>
                        </a:rPr>
                        <m:rPr>
                          <m:nor/>
                        </m:rPr>
                        <m:t> </m:t>
                      </m:r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a:rPr lang="en-US" i="0">
                          <a:latin typeface="Cambria Math"/>
                        </a:rPr>
                        <m:rPr>
                          <m:nor/>
                        </m:rPr>
                        <m:t> </m:t>
                      </m:r>
                      <m:sSup>
                        <m:e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−128</m:t>
                          </m:r>
                        </m:sup>
                      </m:sSup>
                    </m:oMath>
                  </m:oMathPara>
                </a14:m>
              </a:p>
              <a:p>
                <a:pPr/>
                <a:r>
                  <a:rPr sz="1800"/>
                  <a:t>확률은 무시할 수 있을 만큼 작다</a:t>
                </a:r>
              </a:p>
              <a:p>
                <a:pPr/>
                <a:r>
                  <a:rPr sz="1800"/>
                  <a:t>하지만 리프가 </a:t>
                </a:r>
                <a14:m xmlns:m="http://schemas.openxmlformats.org/officeDocument/2006/math">
                  <m:oMath xmlns:mml="http://www.w3.org/1998/Math/MathML">
                    <m:sSup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207</m:t>
                        </m:r>
                      </m:sup>
                    </m:sSup>
                  </m:oMath>
                </a14:m>
                <a:r>
                  <a:rPr sz="1800"/>
                  <a:t>개인 높이 207 Merkle 트리는 만들 수 없다</a:t>
                </a:r>
              </a:p>
              <a:p>
                <a:pPr/>
                <a:r>
                  <a:rPr sz="1800"/>
                  <a:t>OTS 리프만으로는 부족하다. 리프 하나가 서명 몇 번은 견디는 키여야 트리를 낮출 수 있다</a:t>
                </a:r>
              </a:p>
            </p:txBody>
          </p:sp>
        </mc:Choice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FTS와 HORS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Part 2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FTS: 서명 하나가 개인키를 조금만 노출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2103120"/>
          </a:xfrm>
        </p:spPr>
        <p:txBody>
          <a:bodyPr/>
          <a:lstStyle/>
          <a:p>
            <a:pPr/>
            <a:r>
              <a:rPr sz="1800"/>
              <a:t>FTS(Few-Time Signature): 보안이 약해지기 전까지 소수의 메시지에 서명할 수 있는 스킴</a:t>
            </a:r>
          </a:p>
          <a:p>
            <a:pPr/>
            <a:r>
              <a:rPr sz="1800"/>
              <a:t>핵심: 서명 하나가 개인키 성분을 조금만 드러낸다</a:t>
            </a:r>
          </a:p>
          <a:p>
            <a:pPr/>
            <a:r>
              <a:rPr sz="1800"/>
              <a:t>HORS (Hashing to Obtain Random Subset): Reyzin과 Reyzin이 2002년에 제안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38200" y="3566160"/>
          <a:ext cx="10515599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2867890"/>
                <a:gridCol w="3441469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chemeClr val="bg1"/>
                          </a:solidFill>
                        </a:rPr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chemeClr val="bg1"/>
                          </a:solidFill>
                        </a:rPr>
                        <a:t>Lamport OTS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chemeClr val="bg1"/>
                          </a:solidFill>
                        </a:rPr>
                        <a:t>FTS (HORS)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안전하게 서명할 수 있는 횟수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1회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약 5~10회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서명 하나가 노출하는 개인키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절반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일부 (최대 k개 성분)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HORS 파라미터와 키 생성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5760720" cy="4701089"/>
              </a:xfrm>
            </p:spPr>
            <p:txBody>
              <a:bodyPr/>
              <a:lstStyle/>
              <a:p>
                <a:pPr/>
                <a:r>
                  <a:rPr sz="1800"/>
                  <a:t>n비트 역상 저항 해시 </a:t>
                </a:r>
                <a14:m xmlns:m="http://schemas.openxmlformats.org/officeDocument/2006/math">
                  <m:oMath xmlns:mml="http://www.w3.org/1998/Math/MathML">
                    <m:r>
                      <a:rPr lang="en-US" i="1">
                        <a:latin typeface="Cambria Math"/>
                      </a:rPr>
                      <m:t>G</m:t>
                    </m:r>
                  </m:oMath>
                </a14:m>
                <a:r>
                  <a:rPr sz="1800"/>
                  <a:t>, n비트 제2역상 저항 해시 </a:t>
                </a:r>
                <a14:m xmlns:m="http://schemas.openxmlformats.org/officeDocument/2006/math">
                  <m:oMath xmlns:mml="http://www.w3.org/1998/Math/MathML">
                    <m:r>
                      <a:rPr lang="en-US" i="1">
                        <a:latin typeface="Cambria Math"/>
                      </a:rPr>
                      <m:t>H</m:t>
                    </m:r>
                  </m:oMath>
                </a14:m>
              </a:p>
              <a:p>
                <a:pPr/>
                <a:r>
                  <a:rPr sz="1800"/>
                  <a:t>n의 약수 </a:t>
                </a:r>
                <a14:m xmlns:m="http://schemas.openxmlformats.org/officeDocument/2006/math">
                  <m:oMath xmlns:mml="http://www.w3.org/1998/Math/MathML">
                    <m:r>
                      <a:rPr lang="en-US" i="1">
                        <a:latin typeface="Cambria Math"/>
                      </a:rPr>
                      <m:t>k</m:t>
                    </m:r>
                  </m:oMath>
                </a14:m>
                <a:r>
                  <a:rPr sz="1800"/>
                  <a:t>를 고르고 </a:t>
                </a:r>
                <a14:m xmlns:m="http://schemas.openxmlformats.org/officeDocument/2006/math">
                  <m:oMath xmlns:mml="http://www.w3.org/1998/Math/MathML">
                    <m:r>
                      <a:rPr lang="en-US" i="1">
                        <a:latin typeface="Cambria Math"/>
                      </a:rPr>
                      <m:t>m</m:t>
                    </m:r>
                  </m:oMath>
                </a14:m>
                <a:r>
                  <a:rPr sz="1800"/>
                  <a:t>과 </a:t>
                </a:r>
                <a14:m xmlns:m="http://schemas.openxmlformats.org/officeDocument/2006/math">
                  <m:oMath xmlns:mml="http://www.w3.org/1998/Math/MathML">
                    <m:r>
                      <a:rPr lang="en-US" i="1">
                        <a:latin typeface="Cambria Math"/>
                      </a:rPr>
                      <m:t>t</m:t>
                    </m:r>
                  </m:oMath>
                </a14:m>
                <a:r>
                  <a:rPr sz="1800"/>
                  <a:t>를 정한다</a:t>
                </a:r>
              </a:p>
              <a:p>
                <a:pPr marL="0" indent="0">
                  <a:buNone/>
                </a:pPr>
                <a14:m xmlns:m="http://schemas.openxmlformats.org/officeDocument/2006/math">
                  <m:oMathPara>
                    <m:oMathParaPr>
                      <m:jc m:val="centerGroup"/>
                    </m:oMathParaPr>
                    <m:oMath xmlns:mml="http://www.w3.org/1998/Math/MathML">
                      <m:r>
                        <a:rPr lang="en-US" i="1">
                          <a:latin typeface="Cambria Math"/>
                        </a:rPr>
                        <m:t>m=</m:t>
                      </m:r>
                      <m:f>
                        <m:fPr>
                          <m:type m:val="bar"/>
                        </m:fPr>
                        <m:num>
                          <m:r>
                            <a:rPr lang="en-US" i="1">
                              <a:latin typeface="Cambria Math"/>
                            </a:rPr>
                            <m:t>n</m:t>
                          </m:r>
                        </m:num>
                        <m:den>
                          <m:r>
                            <a:rPr lang="en-US" i="1">
                              <a:latin typeface="Cambria Math"/>
                            </a:rPr>
                            <m:t>k</m:t>
                          </m:r>
                        </m:den>
                      </m:f>
                      <m:r>
                        <a:rPr lang="en-US" i="1">
                          <a:latin typeface="Cambria Math"/>
                        </a:rPr>
                        <m:t>,</m:t>
                      </m:r>
                      <m:r>
                        <a:rPr lang="en-US" i="0">
                          <a:latin typeface="Cambria Math"/>
                        </a:rPr>
                        <m:rPr>
                          <m:nor/>
                        </m:rPr>
                        <m:t>   </m:t>
                      </m:r>
                      <m:r>
                        <a:rPr lang="en-US" i="1">
                          <a:latin typeface="Cambria Math"/>
                        </a:rPr>
                        <m:t>t=</m:t>
                      </m:r>
                      <m:sSup>
                        <m:e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m</m:t>
                          </m:r>
                        </m:sup>
                      </m:sSup>
                    </m:oMath>
                  </m:oMathPara>
                </a14:m>
              </a:p>
              <a:p>
                <a:pPr/>
                <a:r>
                  <a:rPr sz="1800"/>
                  <a:t>예: </a:t>
                </a:r>
                <a14:m xmlns:m="http://schemas.openxmlformats.org/officeDocument/2006/math">
                  <m:oMath xmlns:mml="http://www.w3.org/1998/Math/MathML">
                    <m:r>
                      <a:rPr lang="en-US" i="1">
                        <a:latin typeface="Cambria Math"/>
                      </a:rPr>
                      <m:t>n=256,</m:t>
                    </m:r>
                    <m:r>
                      <a:rPr lang="en-US" i="0">
                        <a:latin typeface="Cambria Math"/>
                      </a:rPr>
                      <m:rPr>
                        <m:nor/>
                      </m:rPr>
                      <m:t> </m:t>
                    </m:r>
                    <m:r>
                      <a:rPr lang="en-US" i="1">
                        <a:latin typeface="Cambria Math"/>
                      </a:rPr>
                      <m:t>k=16</m:t>
                    </m:r>
                  </m:oMath>
                </a14:m>
                <a:r>
                  <a:rPr sz="1800"/>
                  <a:t> </a:t>
                </a:r>
                <a14:m xmlns:m="http://schemas.openxmlformats.org/officeDocument/2006/math">
                  <m:oMath xmlns:mml="http://www.w3.org/1998/Math/MathML">
                    <m:r>
                      <a:rPr lang="en-US" i="1">
                        <a:latin typeface="Cambria Math"/>
                      </a:rPr>
                      <m:t>⇒</m:t>
                    </m:r>
                  </m:oMath>
                </a14:m>
                <a:r>
                  <a:rPr sz="1800"/>
                  <a:t> </a:t>
                </a:r>
                <a14:m xmlns:m="http://schemas.openxmlformats.org/officeDocument/2006/math">
                  <m:oMath xmlns:mml="http://www.w3.org/1998/Math/MathML">
                    <m:r>
                      <a:rPr lang="en-US" i="1">
                        <a:latin typeface="Cambria Math"/>
                      </a:rPr>
                      <m:t>m=16,</m:t>
                    </m:r>
                    <m:r>
                      <a:rPr lang="en-US" i="0">
                        <a:latin typeface="Cambria Math"/>
                      </a:rPr>
                      <m:rPr>
                        <m:nor/>
                      </m:rPr>
                      <m:t> </m:t>
                    </m:r>
                    <m:r>
                      <a:rPr lang="en-US" i="1">
                        <a:latin typeface="Cambria Math"/>
                      </a:rPr>
                      <m:t>t=</m:t>
                    </m:r>
                    <m:sSup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16</m:t>
                        </m:r>
                      </m:sup>
                    </m:sSup>
                  </m:oMath>
                </a14:m>
              </a:p>
              <a:p>
                <a:pPr/>
                <a:r>
                  <a:rPr sz="1800"/>
                  <a:t>키 생성: 무작위 n비트 </a:t>
                </a:r>
                <a14:m xmlns:m="http://schemas.openxmlformats.org/officeDocument/2006/math">
                  <m:oMath xmlns:mml="http://www.w3.org/1998/Math/MathML">
                    <m:sSub>
                      <m:e>
                        <m:r>
                          <a:rPr lang="en-US" i="1">
                            <a:latin typeface="Cambria Math"/>
                          </a:rPr>
                          <m:t>x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i</m:t>
                        </m:r>
                      </m:sub>
                    </m:sSub>
                  </m:oMath>
                </a14:m>
                <a:r>
                  <a:rPr sz="1800"/>
                  <a:t>에 대해 </a:t>
                </a:r>
                <a14:m xmlns:m="http://schemas.openxmlformats.org/officeDocument/2006/math">
                  <m:oMath xmlns:mml="http://www.w3.org/1998/Math/MathML">
                    <m:sSub>
                      <m:e>
                        <m:r>
                          <a:rPr lang="en-US" i="1">
                            <a:latin typeface="Cambria Math"/>
                          </a:rPr>
                          <m:t>y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i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=G(</m:t>
                    </m:r>
                    <m:sSub>
                      <m:e>
                        <m:r>
                          <a:rPr lang="en-US" i="1">
                            <a:latin typeface="Cambria Math"/>
                          </a:rPr>
                          <m:t>x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i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/>
                  <a:t> (</a:t>
                </a:r>
                <a14:m xmlns:m="http://schemas.openxmlformats.org/officeDocument/2006/math">
                  <m:oMath xmlns:mml="http://www.w3.org/1998/Math/MathML">
                    <m:r>
                      <a:rPr lang="en-US" i="1">
                        <a:latin typeface="Cambria Math"/>
                      </a:rPr>
                      <m:t>0≤i≤t−1</m:t>
                    </m:r>
                  </m:oMath>
                </a14:m>
                <a:r>
                  <a:rPr sz="1800"/>
                  <a:t>)</a:t>
                </a:r>
              </a:p>
              <a:p>
                <a:pPr/>
                <a:r>
                  <a:rPr sz="1800"/>
                  <a:t>개인키 </a:t>
                </a:r>
                <a14:m xmlns:m="http://schemas.openxmlformats.org/officeDocument/2006/math">
                  <m:oMath xmlns:mml="http://www.w3.org/1998/Math/MathML">
                    <m:r>
                      <a:rPr lang="en-US" i="1">
                        <a:latin typeface="Cambria Math"/>
                      </a:rPr>
                      <m:t>X=(</m:t>
                    </m:r>
                    <m:sSub>
                      <m:e>
                        <m:r>
                          <a:rPr lang="en-US" i="1">
                            <a:latin typeface="Cambria Math"/>
                          </a:rPr>
                          <m:t>x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,…,</m:t>
                    </m:r>
                    <m:sSub>
                      <m:e>
                        <m:r>
                          <a:rPr lang="en-US" i="1">
                            <a:latin typeface="Cambria Math"/>
                          </a:rPr>
                          <m:t>x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t−1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/>
                  <a:t>, 공개키 </a:t>
                </a:r>
                <a14:m xmlns:m="http://schemas.openxmlformats.org/officeDocument/2006/math">
                  <m:oMath xmlns:mml="http://www.w3.org/1998/Math/MathML">
                    <m:r>
                      <a:rPr lang="en-US" i="1">
                        <a:latin typeface="Cambria Math"/>
                      </a:rPr>
                      <m:t>Y=(</m:t>
                    </m:r>
                    <m:sSub>
                      <m:e>
                        <m:r>
                          <a:rPr lang="en-US" i="1">
                            <a:latin typeface="Cambria Math"/>
                          </a:rPr>
                          <m:t>y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,…,</m:t>
                    </m:r>
                    <m:sSub>
                      <m:e>
                        <m:r>
                          <a:rPr lang="en-US" i="1">
                            <a:latin typeface="Cambria Math"/>
                          </a:rPr>
                          <m:t>y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t−1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</a:p>
            </p:txBody>
          </p:sp>
        </mc:Choice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  <p:pic>
        <p:nvPicPr>
          <p:cNvPr id="5" name="Picture 4" descr="HORS 키 생성: 개인키 x_i에 G를 적용해 공개키 y_i를 얻는다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936865"/>
            <a:ext cx="4937760" cy="344146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HORS 서명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5212080" cy="4701089"/>
              </a:xfrm>
            </p:spPr>
            <p:txBody>
              <a:bodyPr/>
              <a:lstStyle/>
              <a:p>
                <a:pPr marL="342900" indent="-342900">
                  <a:buAutoNum type="arabicPeriod"/>
                </a:pPr>
                <a:r>
                  <a:rPr sz="1800"/>
                  <a:t>무작위 문자열 </a:t>
                </a:r>
                <a14:m xmlns:m="http://schemas.openxmlformats.org/officeDocument/2006/math">
                  <m:oMath xmlns:mml="http://www.w3.org/1998/Math/MathML">
                    <m:r>
                      <a:rPr lang="en-US" i="1">
                        <a:latin typeface="Cambria Math"/>
                      </a:rPr>
                      <m:t>C</m:t>
                    </m:r>
                  </m:oMath>
                </a14:m>
                <a:r>
                  <a:rPr sz="1800"/>
                  <a:t>(randomizer)를 고르고 </a:t>
                </a:r>
                <a14:m xmlns:m="http://schemas.openxmlformats.org/officeDocument/2006/math">
                  <m:oMath xmlns:mml="http://www.w3.org/1998/Math/MathML">
                    <m:r>
                      <a:rPr lang="en-US" i="1">
                        <a:latin typeface="Cambria Math"/>
                      </a:rPr>
                      <m:t>h=H(C,M)</m:t>
                    </m:r>
                  </m:oMath>
                </a14:m>
                <a:r>
                  <a:rPr sz="1800"/>
                  <a:t>을 계산한다</a:t>
                </a:r>
              </a:p>
              <a:p>
                <a:pPr marL="342900" indent="-342900">
                  <a:buAutoNum type="arabicPeriod"/>
                </a:pPr>
                <a:r>
                  <a:rPr sz="1800"/>
                  <a:t>h를 m비트씩 k조각으로 쪼갠다: </a:t>
                </a:r>
                <a14:m xmlns:m="http://schemas.openxmlformats.org/officeDocument/2006/math">
                  <m:oMath xmlns:mml="http://www.w3.org/1998/Math/MathML">
                    <m:r>
                      <a:rPr lang="en-US" i="1">
                        <a:latin typeface="Cambria Math"/>
                      </a:rPr>
                      <m:t>h=(</m:t>
                    </m:r>
                    <m:sSub>
                      <m:e>
                        <m:r>
                          <a:rPr lang="en-US" i="1"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,…,</m:t>
                    </m:r>
                    <m:sSub>
                      <m:e>
                        <m:r>
                          <a:rPr lang="en-US" i="1"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k−1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/>
                  <a:t> (</a:t>
                </a:r>
                <a14:m xmlns:m="http://schemas.openxmlformats.org/officeDocument/2006/math">
                  <m:oMath xmlns:mml="http://www.w3.org/1998/Math/MathML">
                    <m:r>
                      <a:rPr lang="en-US" i="1">
                        <a:latin typeface="Cambria Math"/>
                      </a:rPr>
                      <m:t>k·m=n</m:t>
                    </m:r>
                  </m:oMath>
                </a14:m>
                <a:r>
                  <a:rPr sz="1800"/>
                  <a:t>)</a:t>
                </a:r>
              </a:p>
              <a:p>
                <a:pPr marL="342900" indent="-342900">
                  <a:buAutoNum type="arabicPeriod"/>
                </a:pPr>
                <a:r>
                  <a:rPr sz="1800"/>
                  <a:t>서명 벡터의 j번째 성분은 </a:t>
                </a:r>
                <a14:m xmlns:m="http://schemas.openxmlformats.org/officeDocument/2006/math">
                  <m:oMath xmlns:mml="http://www.w3.org/1998/Math/MathML">
                    <m:sSub>
                      <m:e>
                        <m:r>
                          <a:rPr lang="en-US" i="1">
                            <a:latin typeface="Cambria Math"/>
                          </a:rPr>
                          <m:t>s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j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e>
                        <m:r>
                          <a:rPr lang="en-US" i="1">
                            <a:latin typeface="Cambria Math"/>
                          </a:rPr>
                          <m:t>x</m:t>
                        </m:r>
                      </m:e>
                      <m:sub>
                        <m:sSub>
                          <m:e>
                            <m:r>
                              <a:rPr lang="en-US" i="1">
                                <a:latin typeface="Cambria Math"/>
                              </a:rPr>
                              <m:t>h</m:t>
                            </m:r>
                          </m:e>
                          <m:sub>
                            <m:r>
                              <a:rPr lang="en-US" i="1">
                                <a:latin typeface="Cambria Math"/>
                              </a:rPr>
                              <m:t>j</m:t>
                            </m:r>
                          </m:sub>
                        </m:sSub>
                      </m:sub>
                    </m:sSub>
                  </m:oMath>
                </a14:m>
                <a:r>
                  <a:rPr sz="1800"/>
                  <a:t> — h</a:t>
                </a:r>
                <a:r>
                  <a:rPr sz="1800" baseline="-25000"/>
                  <a:t>j</a:t>
                </a:r>
                <a:r>
                  <a:rPr sz="1800"/>
                  <a:t>가 가리키는 개인키 성분이다</a:t>
                </a:r>
              </a:p>
              <a:p>
                <a:pPr marL="342900" indent="-342900">
                  <a:buAutoNum type="arabicPeriod"/>
                </a:pPr>
                <a:r>
                  <a:rPr sz="1800"/>
                  <a:t>서명은 </a:t>
                </a:r>
                <a14:m xmlns:m="http://schemas.openxmlformats.org/officeDocument/2006/math">
                  <m:oMath xmlns:mml="http://www.w3.org/1998/Math/MathML">
                    <m:r>
                      <a:rPr lang="en-US" i="1">
                        <a:latin typeface="Cambria Math"/>
                      </a:rPr>
                      <m:t>(C,</m:t>
                    </m:r>
                    <m:r>
                      <a:rPr lang="en-US" i="0">
                        <a:latin typeface="Cambria Math"/>
                      </a:rPr>
                      <m:rPr>
                        <m:nor/>
                      </m:rPr>
                      <m:t> </m:t>
                    </m:r>
                    <m:r>
                      <a:rPr lang="en-US" i="1">
                        <a:latin typeface="Cambria Math"/>
                      </a:rPr>
                      <m:t>S)</m:t>
                    </m:r>
                  </m:oMath>
                </a14:m>
                <a:r>
                  <a:rPr sz="1800"/>
                  <a:t>, </a:t>
                </a:r>
                <a14:m xmlns:m="http://schemas.openxmlformats.org/officeDocument/2006/math">
                  <m:oMath xmlns:mml="http://www.w3.org/1998/Math/MathML">
                    <m:r>
                      <a:rPr lang="en-US" i="1">
                        <a:latin typeface="Cambria Math"/>
                      </a:rPr>
                      <m:t>S=(</m:t>
                    </m:r>
                    <m:sSub>
                      <m:e>
                        <m:r>
                          <a:rPr lang="en-US" i="1">
                            <a:latin typeface="Cambria Math"/>
                          </a:rPr>
                          <m:t>s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,…,</m:t>
                    </m:r>
                    <m:sSub>
                      <m:e>
                        <m:r>
                          <a:rPr lang="en-US" i="1">
                            <a:latin typeface="Cambria Math"/>
                          </a:rPr>
                          <m:t>s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k−1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/>
                  <a:t>. 성분이 겹칠 수 있어 t개 중 최대 k개만 노출한다</a:t>
                </a:r>
              </a:p>
              <a:p>
                <a:pPr marL="342900" indent="-342900">
                  <a:buAutoNum type="arabicPeriod"/>
                </a:pPr>
                <a:r>
                  <a:rPr sz="1800"/>
                  <a:t>예: </a:t>
                </a:r>
                <a14:m xmlns:m="http://schemas.openxmlformats.org/officeDocument/2006/math">
                  <m:oMath xmlns:mml="http://www.w3.org/1998/Math/MathML">
                    <m:r>
                      <a:rPr lang="en-US" i="1">
                        <a:latin typeface="Cambria Math"/>
                      </a:rPr>
                      <m:t>h=(2,3,0,…)</m:t>
                    </m:r>
                  </m:oMath>
                </a14:m>
                <a:r>
                  <a:rPr sz="1800"/>
                  <a:t> </a:t>
                </a:r>
                <a14:m xmlns:m="http://schemas.openxmlformats.org/officeDocument/2006/math">
                  <m:oMath xmlns:mml="http://www.w3.org/1998/Math/MathML">
                    <m:r>
                      <a:rPr lang="en-US" i="1">
                        <a:latin typeface="Cambria Math"/>
                      </a:rPr>
                      <m:t>⇒</m:t>
                    </m:r>
                  </m:oMath>
                </a14:m>
                <a:r>
                  <a:rPr sz="1800"/>
                  <a:t> </a:t>
                </a:r>
                <a14:m xmlns:m="http://schemas.openxmlformats.org/officeDocument/2006/math">
                  <m:oMath xmlns:mml="http://www.w3.org/1998/Math/MathML">
                    <m:sSub>
                      <m:e>
                        <m:r>
                          <a:rPr lang="en-US" i="1">
                            <a:latin typeface="Cambria Math"/>
                          </a:rPr>
                          <m:t>s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e>
                        <m:r>
                          <a:rPr lang="en-US" i="1">
                            <a:latin typeface="Cambria Math"/>
                          </a:rPr>
                          <m:t>x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0">
                        <a:latin typeface="Cambria Math"/>
                      </a:rPr>
                      <m:rPr>
                        <m:nor/>
                      </m:rPr>
                      <m:t> </m:t>
                    </m:r>
                    <m:sSub>
                      <m:e>
                        <m:r>
                          <a:rPr lang="en-US" i="1">
                            <a:latin typeface="Cambria Math"/>
                          </a:rPr>
                          <m:t>s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e>
                        <m:r>
                          <a:rPr lang="en-US" i="1">
                            <a:latin typeface="Cambria Math"/>
                          </a:rPr>
                          <m:t>x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3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0">
                        <a:latin typeface="Cambria Math"/>
                      </a:rPr>
                      <m:rPr>
                        <m:nor/>
                      </m:rPr>
                      <m:t> </m:t>
                    </m:r>
                    <m:sSub>
                      <m:e>
                        <m:r>
                          <a:rPr lang="en-US" i="1">
                            <a:latin typeface="Cambria Math"/>
                          </a:rPr>
                          <m:t>s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e>
                        <m:r>
                          <a:rPr lang="en-US" i="1">
                            <a:latin typeface="Cambria Math"/>
                          </a:rPr>
                          <m:t>x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</m:oMath>
                </a14:m>
              </a:p>
            </p:txBody>
          </p:sp>
        </mc:Choice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  <p:pic>
        <p:nvPicPr>
          <p:cNvPr id="5" name="Picture 4" descr="HORS 서명 생성: H(C,M)=(2,3,0,...,3)이 가리키는 개인키 성분 x_2, x_3, x_0, ...을 서명 S로 낸다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362456"/>
            <a:ext cx="5760720" cy="449884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HORS 검증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5760720" cy="4701089"/>
              </a:xfrm>
            </p:spPr>
            <p:txBody>
              <a:bodyPr/>
              <a:lstStyle/>
              <a:p>
                <a:pPr marL="342900" indent="-342900">
                  <a:buAutoNum type="arabicPeriod"/>
                </a:pPr>
                <a:r>
                  <a:rPr sz="1800"/>
                  <a:t>Alice의 공개키 </a:t>
                </a:r>
                <a14:m xmlns:m="http://schemas.openxmlformats.org/officeDocument/2006/math">
                  <m:oMath xmlns:mml="http://www.w3.org/1998/Math/MathML">
                    <m:r>
                      <a:rPr lang="en-US" i="1">
                        <a:latin typeface="Cambria Math"/>
                      </a:rPr>
                      <m:t>Y</m:t>
                    </m:r>
                  </m:oMath>
                </a14:m>
                <a:r>
                  <a:rPr sz="1800"/>
                  <a:t>의 진짜 사본을 구한다</a:t>
                </a:r>
              </a:p>
              <a:p>
                <a:pPr marL="342900" indent="-342900">
                  <a:buAutoNum type="arabicPeriod"/>
                </a:pPr>
                <a14:m xmlns:m="http://schemas.openxmlformats.org/officeDocument/2006/math">
                  <m:oMath xmlns:mml="http://www.w3.org/1998/Math/MathML">
                    <m:r>
                      <a:rPr lang="en-US" i="1">
                        <a:latin typeface="Cambria Math"/>
                      </a:rPr>
                      <m:t>h=H(C,M)</m:t>
                    </m:r>
                  </m:oMath>
                </a14:m>
                <a:r>
                  <a:rPr sz="1800"/>
                  <a:t>을 계산해 m비트씩 k조각으로 쪼갠다</a:t>
                </a:r>
              </a:p>
              <a:p>
                <a:pPr marL="342900" indent="-342900">
                  <a:buAutoNum type="arabicPeriod"/>
                </a:pPr>
                <a:r>
                  <a:rPr sz="1800"/>
                  <a:t>모든 </a:t>
                </a:r>
                <a14:m xmlns:m="http://schemas.openxmlformats.org/officeDocument/2006/math">
                  <m:oMath xmlns:mml="http://www.w3.org/1998/Math/MathML">
                    <m:r>
                      <a:rPr lang="en-US" i="1">
                        <a:latin typeface="Cambria Math"/>
                      </a:rPr>
                      <m:t>0≤j≤k−1</m:t>
                    </m:r>
                  </m:oMath>
                </a14:m>
                <a:r>
                  <a:rPr sz="1800"/>
                  <a:t>에 대해 </a:t>
                </a:r>
                <a14:m xmlns:m="http://schemas.openxmlformats.org/officeDocument/2006/math">
                  <m:oMath xmlns:mml="http://www.w3.org/1998/Math/MathML">
                    <m:r>
                      <a:rPr lang="en-US" i="1">
                        <a:latin typeface="Cambria Math"/>
                      </a:rPr>
                      <m:t>G(</m:t>
                    </m:r>
                    <m:sSub>
                      <m:e>
                        <m:r>
                          <a:rPr lang="en-US" i="1">
                            <a:latin typeface="Cambria Math"/>
                          </a:rPr>
                          <m:t>s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j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  <m:r>
                      <a:rPr lang="en-US" i="0">
                        <a:latin typeface="Cambria Math"/>
                      </a:rPr>
                      <m:rPr>
                        <m:nor/>
                      </m:rPr>
                      <m:t> </m:t>
                    </m:r>
                    <m:limUpp>
                      <m:e>
                        <m:r>
                          <a:rPr lang="en-US" i="1">
                            <a:latin typeface="Cambria Math"/>
                          </a:rPr>
                          <m:t>=</m:t>
                        </m:r>
                      </m:e>
                      <m:lim>
                        <m:r>
                          <a:rPr lang="en-US" i="1">
                            <a:latin typeface="Cambria Math"/>
                          </a:rPr>
                          <m:t>?</m:t>
                        </m:r>
                      </m:lim>
                    </m:limUpp>
                    <m:r>
                      <a:rPr lang="en-US" i="0">
                        <a:latin typeface="Cambria Math"/>
                      </a:rPr>
                      <m:rPr>
                        <m:nor/>
                      </m:rPr>
                      <m:t> </m:t>
                    </m:r>
                    <m:sSub>
                      <m:e>
                        <m:r>
                          <a:rPr lang="en-US" i="1">
                            <a:latin typeface="Cambria Math"/>
                          </a:rPr>
                          <m:t>y</m:t>
                        </m:r>
                      </m:e>
                      <m:sub>
                        <m:sSub>
                          <m:e>
                            <m:r>
                              <a:rPr lang="en-US" i="1">
                                <a:latin typeface="Cambria Math"/>
                              </a:rPr>
                              <m:t>h</m:t>
                            </m:r>
                          </m:e>
                          <m:sub>
                            <m:r>
                              <a:rPr lang="en-US" i="1">
                                <a:latin typeface="Cambria Math"/>
                              </a:rPr>
                              <m:t>j</m:t>
                            </m:r>
                          </m:sub>
                        </m:sSub>
                      </m:sub>
                    </m:sSub>
                  </m:oMath>
                </a14:m>
                <a:r>
                  <a:rPr sz="1800"/>
                  <a:t>이면 수락한다</a:t>
                </a:r>
              </a:p>
              <a:p>
                <a:pPr marL="342900" indent="-342900">
                  <a:buAutoNum type="arabicPeriod"/>
                </a:pPr>
                <a:r>
                  <a:rPr sz="1800"/>
                  <a:t>예: </a:t>
                </a:r>
                <a14:m xmlns:m="http://schemas.openxmlformats.org/officeDocument/2006/math">
                  <m:oMath xmlns:mml="http://www.w3.org/1998/Math/MathML">
                    <m:r>
                      <a:rPr lang="en-US" i="1">
                        <a:latin typeface="Cambria Math"/>
                      </a:rPr>
                      <m:t>h=(2,3,0,…)</m:t>
                    </m:r>
                  </m:oMath>
                </a14:m>
                <a:r>
                  <a:rPr sz="1800"/>
                  <a:t>이면 </a:t>
                </a:r>
                <a14:m xmlns:m="http://schemas.openxmlformats.org/officeDocument/2006/math">
                  <m:oMath xmlns:mml="http://www.w3.org/1998/Math/MathML">
                    <m:r>
                      <a:rPr lang="en-US" i="1">
                        <a:latin typeface="Cambria Math"/>
                      </a:rPr>
                      <m:t>G(</m:t>
                    </m:r>
                    <m:sSub>
                      <m:e>
                        <m:r>
                          <a:rPr lang="en-US" i="1">
                            <a:latin typeface="Cambria Math"/>
                          </a:rPr>
                          <m:t>s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)=</m:t>
                    </m:r>
                    <m:sSub>
                      <m:e>
                        <m:r>
                          <a:rPr lang="en-US" i="1">
                            <a:latin typeface="Cambria Math"/>
                          </a:rPr>
                          <m:t>y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0">
                        <a:latin typeface="Cambria Math"/>
                      </a:rPr>
                      <m:rPr>
                        <m:nor/>
                      </m:rPr>
                      <m:t> </m:t>
                    </m:r>
                    <m:r>
                      <a:rPr lang="en-US" i="1">
                        <a:latin typeface="Cambria Math"/>
                      </a:rPr>
                      <m:t>G(</m:t>
                    </m:r>
                    <m:sSub>
                      <m:e>
                        <m:r>
                          <a:rPr lang="en-US" i="1">
                            <a:latin typeface="Cambria Math"/>
                          </a:rPr>
                          <m:t>s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)=</m:t>
                    </m:r>
                    <m:sSub>
                      <m:e>
                        <m:r>
                          <a:rPr lang="en-US" i="1">
                            <a:latin typeface="Cambria Math"/>
                          </a:rPr>
                          <m:t>y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3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0">
                        <a:latin typeface="Cambria Math"/>
                      </a:rPr>
                      <m:rPr>
                        <m:nor/>
                      </m:rPr>
                      <m:t> </m:t>
                    </m:r>
                    <m:r>
                      <a:rPr lang="en-US" i="1">
                        <a:latin typeface="Cambria Math"/>
                      </a:rPr>
                      <m:t>G(</m:t>
                    </m:r>
                    <m:sSub>
                      <m:e>
                        <m:r>
                          <a:rPr lang="en-US" i="1">
                            <a:latin typeface="Cambria Math"/>
                          </a:rPr>
                          <m:t>s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)=</m:t>
                    </m:r>
                    <m:sSub>
                      <m:e>
                        <m:r>
                          <a:rPr lang="en-US" i="1">
                            <a:latin typeface="Cambria Math"/>
                          </a:rPr>
                          <m:t>y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</m:oMath>
                </a14:m>
                <a:r>
                  <a:rPr sz="1800"/>
                  <a:t>을 확인한다</a:t>
                </a:r>
              </a:p>
            </p:txBody>
          </p:sp>
        </mc:Choice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  <p:pic>
        <p:nvPicPr>
          <p:cNvPr id="5" name="Picture 4" descr="HORS 검증: 서명 성분 s_j에 G를 적용해 공개키 y_(h_j)와 비교한다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7827" y="1280160"/>
            <a:ext cx="3980985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안전성: c개 서명 뒤의 위조 확률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/>
              <a:lstStyle/>
              <a:p>
                <a:pPr/>
                <a:r>
                  <a:rPr sz="1800"/>
                  <a:t>Alice가 </a:t>
                </a:r>
                <a14:m xmlns:m="http://schemas.openxmlformats.org/officeDocument/2006/math">
                  <m:oMath xmlns:mml="http://www.w3.org/1998/Math/MathML">
                    <m:r>
                      <a:rPr lang="en-US" i="1">
                        <a:latin typeface="Cambria Math"/>
                      </a:rPr>
                      <m:t>c</m:t>
                    </m:r>
                  </m:oMath>
                </a14:m>
                <a:r>
                  <a:rPr sz="1800"/>
                  <a:t>개 메시지에 서명했고 공격자가 메시지와 서명을 모두 모았다고 하자</a:t>
                </a:r>
              </a:p>
              <a:p>
                <a:pPr/>
                <a:r>
                  <a:rPr sz="1800"/>
                  <a:t>randomizer </a:t>
                </a:r>
                <a14:m xmlns:m="http://schemas.openxmlformats.org/officeDocument/2006/math">
                  <m:oMath xmlns:mml="http://www.w3.org/1998/Math/MathML">
                    <m:sSub>
                      <m:e>
                        <m:r>
                          <a:rPr lang="en-US" i="1">
                            <a:latin typeface="Cambria Math"/>
                          </a:rPr>
                          <m:t>C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i</m:t>
                        </m:r>
                      </m:sub>
                    </m:sSub>
                  </m:oMath>
                </a14:m>
                <a:r>
                  <a:rPr sz="1800"/>
                  <a:t>는 Alice가 고르므로 공격자는 해시값 </a:t>
                </a:r>
                <a14:m xmlns:m="http://schemas.openxmlformats.org/officeDocument/2006/math">
                  <m:oMath xmlns:mml="http://www.w3.org/1998/Math/MathML">
                    <m:sSub>
                      <m:e>
                        <m:r>
                          <a:rPr lang="en-US" i="1"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i</m:t>
                        </m:r>
                      </m:sub>
                    </m:sSub>
                  </m:oMath>
                </a14:m>
                <a:r>
                  <a:rPr sz="1800"/>
                  <a:t>에 영향을 줄 수 없다</a:t>
                </a:r>
              </a:p>
              <a:p>
                <a:pPr/>
                <a:r>
                  <a:rPr sz="1800"/>
                  <a:t>H가 무작위 값을 낸다면 서명 </a:t>
                </a:r>
                <a14:m xmlns:m="http://schemas.openxmlformats.org/officeDocument/2006/math">
                  <m:oMath xmlns:mml="http://www.w3.org/1998/Math/MathML">
                    <m:r>
                      <a:rPr lang="en-US" i="1">
                        <a:latin typeface="Cambria Math"/>
                      </a:rPr>
                      <m:t>c</m:t>
                    </m:r>
                  </m:oMath>
                </a14:m>
                <a:r>
                  <a:rPr sz="1800"/>
                  <a:t>개가 노출하는 성분은 t개 중 최대 </a:t>
                </a:r>
                <a14:m xmlns:m="http://schemas.openxmlformats.org/officeDocument/2006/math">
                  <m:oMath xmlns:mml="http://www.w3.org/1998/Math/MathML">
                    <m:r>
                      <a:rPr lang="en-US" i="1">
                        <a:latin typeface="Cambria Math"/>
                      </a:rPr>
                      <m:t>ck</m:t>
                    </m:r>
                  </m:oMath>
                </a14:m>
                <a:r>
                  <a:rPr sz="1800"/>
                  <a:t>개다</a:t>
                </a:r>
              </a:p>
              <a:p>
                <a:pPr/>
                <a:r>
                  <a:rPr sz="1800"/>
                  <a:t>위조하려면 메시지와 randomizer를 찾아, h의 k조각이 가리키는 성분이 모두 이미 노출된 것이어야 한다</a:t>
                </a:r>
              </a:p>
              <a:p>
                <a:pPr marL="0" indent="0">
                  <a:buNone/>
                </a:pPr>
                <a14:m xmlns:m="http://schemas.openxmlformats.org/officeDocument/2006/math">
                  <m:oMathPara>
                    <m:oMathParaPr>
                      <m:jc m:val="centerGroup"/>
                    </m:oMathParaPr>
                    <m:oMath xmlns:mml="http://www.w3.org/1998/Math/MathML">
                      <m:r>
                        <a:rPr lang="en-US" i="0">
                          <a:latin typeface="Cambria Math"/>
                        </a:rPr>
                        <m:rPr>
                          <m:sty m:val="p"/>
                        </m:rPr>
                        <m:t>Pr</m:t>
                      </m:r>
                      <m:r>
                        <a:rPr lang="en-US" i="1">
                          <a:latin typeface="Cambria Math"/>
                        </a:rPr>
                        <m:t>[</m:t>
                      </m:r>
                      <m:r>
                        <a:rPr lang="en-US" i="0">
                          <a:latin typeface="Cambria Math"/>
                        </a:rPr>
                        <m:rPr>
                          <m:nor/>
                        </m:rPr>
                        <m:t>위조</m:t>
                      </m:r>
                      <m:r>
                        <a:rPr lang="en-US" i="1">
                          <a:latin typeface="Cambria Math"/>
                        </a:rPr>
                        <m:t>]</m:t>
                      </m:r>
                      <m:r>
                        <a:rPr lang="en-US" i="0">
                          <a:latin typeface="Cambria Math"/>
                        </a:rPr>
                        <m:rPr>
                          <m:nor/>
                        </m:rPr>
                        <m:t> </m:t>
                      </m:r>
                      <m:r>
                        <a:rPr lang="en-US" i="1">
                          <a:latin typeface="Cambria Math"/>
                        </a:rPr>
                        <m:t>≤</m:t>
                      </m:r>
                      <m:r>
                        <a:rPr lang="en-US" i="0">
                          <a:latin typeface="Cambria Math"/>
                        </a:rPr>
                        <m:rPr>
                          <m:nor/>
                        </m:rPr>
                        <m:t> </m:t>
                      </m:r>
                      <m:sSup>
                        <m:e>
                          <m:d>
                            <m:dPr>
                              <m:begChr m:val="("/>
                              <m:endChr m:val=")"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a:rPr lang="en-US" i="1">
                                      <a:latin typeface="Cambria Math"/>
                                    </a:rPr>
                                    <m:t>ck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/>
                                    </a:rPr>
                                    <m:t>t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k</m:t>
                          </m:r>
                        </m:sup>
                      </m:sSup>
                    </m:oMath>
                  </m:oMathPara>
                </a14:m>
              </a:p>
              <a:p>
                <a:pPr/>
                <a:r>
                  <a:rPr sz="1800"/>
                  <a:t>이 값이 아주 작으면 </a:t>
                </a:r>
                <a14:m xmlns:m="http://schemas.openxmlformats.org/officeDocument/2006/math">
                  <m:oMath xmlns:mml="http://www.w3.org/1998/Math/MathML">
                    <m:r>
                      <a:rPr lang="en-US" i="1">
                        <a:latin typeface="Cambria Math"/>
                      </a:rPr>
                      <m:t>c</m:t>
                    </m:r>
                  </m:oMath>
                </a14:m>
                <a:r>
                  <a:rPr sz="1800"/>
                  <a:t>개까지 안전하게 서명할 수 있다</a:t>
                </a:r>
              </a:p>
            </p:txBody>
          </p:sp>
        </mc:Choice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예제: c = 5일 때 위조 확률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/>
              <a:lstStyle/>
              <a:p>
                <a:pPr/>
                <a14:m xmlns:m="http://schemas.openxmlformats.org/officeDocument/2006/math">
                  <m:oMath xmlns:mml="http://www.w3.org/1998/Math/MathML">
                    <m:r>
                      <a:rPr lang="en-US" i="1">
                        <a:latin typeface="Cambria Math"/>
                      </a:rPr>
                      <m:t>n=256,</m:t>
                    </m:r>
                    <m:r>
                      <a:rPr lang="en-US" i="0">
                        <a:latin typeface="Cambria Math"/>
                      </a:rPr>
                      <m:rPr>
                        <m:nor/>
                      </m:rPr>
                      <m:t> </m:t>
                    </m:r>
                    <m:r>
                      <a:rPr lang="en-US" i="1">
                        <a:latin typeface="Cambria Math"/>
                      </a:rPr>
                      <m:t>k=16,</m:t>
                    </m:r>
                    <m:r>
                      <a:rPr lang="en-US" i="0">
                        <a:latin typeface="Cambria Math"/>
                      </a:rPr>
                      <m:rPr>
                        <m:nor/>
                      </m:rPr>
                      <m:t> </m:t>
                    </m:r>
                    <m:r>
                      <a:rPr lang="en-US" i="1">
                        <a:latin typeface="Cambria Math"/>
                      </a:rPr>
                      <m:t>m=16,</m:t>
                    </m:r>
                    <m:r>
                      <a:rPr lang="en-US" i="0">
                        <a:latin typeface="Cambria Math"/>
                      </a:rPr>
                      <m:rPr>
                        <m:nor/>
                      </m:rPr>
                      <m:t> </m:t>
                    </m:r>
                    <m:r>
                      <a:rPr lang="en-US" i="1">
                        <a:latin typeface="Cambria Math"/>
                      </a:rPr>
                      <m:t>t=</m:t>
                    </m:r>
                    <m:sSup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16</m:t>
                        </m:r>
                      </m:sup>
                    </m:sSup>
                  </m:oMath>
                </a14:m>
                <a:r>
                  <a:rPr sz="1800"/>
                  <a:t>에서 </a:t>
                </a:r>
                <a14:m xmlns:m="http://schemas.openxmlformats.org/officeDocument/2006/math">
                  <m:oMath xmlns:mml="http://www.w3.org/1998/Math/MathML">
                    <m:r>
                      <a:rPr lang="en-US" i="1">
                        <a:latin typeface="Cambria Math"/>
                      </a:rPr>
                      <m:t>c=5</m:t>
                    </m:r>
                  </m:oMath>
                </a14:m>
                <a:r>
                  <a:rPr sz="1800"/>
                  <a:t>개에 서명했다</a:t>
                </a:r>
              </a:p>
              <a:p>
                <a:pPr marL="0" indent="0">
                  <a:buNone/>
                </a:pPr>
                <a14:m xmlns:m="http://schemas.openxmlformats.org/officeDocument/2006/math">
                  <m:oMathPara>
                    <m:oMathParaPr>
                      <m:jc m:val="centerGroup"/>
                    </m:oMathParaPr>
                    <m:oMath xmlns:mml="http://www.w3.org/1998/Math/MathML">
                      <m:f>
                        <m:fPr>
                          <m:type m:val="bar"/>
                        </m:fPr>
                        <m:num>
                          <m:r>
                            <a:rPr lang="en-US" i="1">
                              <a:latin typeface="Cambria Math"/>
                            </a:rPr>
                            <m:t>ck</m:t>
                          </m:r>
                        </m:num>
                        <m:den>
                          <m:r>
                            <a:rPr lang="en-US" i="1">
                              <a:latin typeface="Cambria Math"/>
                            </a:rPr>
                            <m:t>t</m:t>
                          </m:r>
                        </m:den>
                      </m:f>
                      <m:r>
                        <a:rPr lang="en-US" i="1">
                          <a:latin typeface="Cambria Math"/>
                        </a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a:rPr lang="en-US" i="1">
                              <a:latin typeface="Cambria Math"/>
                            </a:rPr>
                            <m:t>80</m:t>
                          </m:r>
                        </m:num>
                        <m:den>
                          <m:sSup>
                            <m:e>
                              <m:r>
                                <a:rPr lang="en-US" i="1">
                                  <a:latin typeface="Cambria Math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i="1">
                                  <a:latin typeface="Cambria Math"/>
                                </a:rPr>
                                <m:t>16</m:t>
                              </m:r>
                            </m:sup>
                          </m:sSup>
                        </m:den>
                      </m:f>
                      <m:r>
                        <a:rPr lang="en-US" i="1">
                          <a:latin typeface="Cambria Math"/>
                        </a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a:rPr lang="en-US" i="1">
                              <a:latin typeface="Cambria Math"/>
                            </a:rPr>
                            <m:t>5</m:t>
                          </m:r>
                        </m:num>
                        <m:den>
                          <m:sSup>
                            <m:e>
                              <m:r>
                                <a:rPr lang="en-US" i="1">
                                  <a:latin typeface="Cambria Math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i="1">
                                  <a:latin typeface="Cambria Math"/>
                                </a:rPr>
                                <m:t>12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  <a:p>
                <a:pPr marL="0" indent="0">
                  <a:buNone/>
                </a:pPr>
                <a14:m xmlns:m="http://schemas.openxmlformats.org/officeDocument/2006/math">
                  <m:oMathPara>
                    <m:oMathParaPr>
                      <m:jc m:val="centerGroup"/>
                    </m:oMathParaPr>
                    <m:oMath xmlns:mml="http://www.w3.org/1998/Math/MathML">
                      <m:sSup>
                        <m:e>
                          <m:d>
                            <m:dPr>
                              <m:begChr m:val="("/>
                              <m:endChr m:val=")"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a:rPr lang="en-US" i="1">
                                      <a:latin typeface="Cambria Math"/>
                                    </a:rPr>
                                    <m:t>ck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/>
                                    </a:rPr>
                                    <m:t>t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k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endChr m:val=")"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a:rPr lang="en-US" i="1">
                                      <a:latin typeface="Cambria Math"/>
                                    </a:rPr>
                                    <m:t>5</m:t>
                                  </m:r>
                                </m:num>
                                <m:den>
                                  <m:sSup>
                                    <m:e>
                                      <m:r>
                                        <a:rPr lang="en-US" i="1">
                                          <a:latin typeface="Cambria Math"/>
                                        </a:rPr>
                                        <m:t>2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/>
                                        </a:rPr>
                                        <m:t>12</m:t>
                                      </m:r>
                                    </m:sup>
                                  </m:sSup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16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=</m:t>
                      </m:r>
                      <m:sSup>
                        <m:e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16</m:t>
                          </m:r>
                          <m:r>
                            <a:rPr lang="en-US" i="0">
                              <a:latin typeface="Cambria Math"/>
                            </a:rPr>
                            <m:rPr>
                              <m:nor/>
                            </m:rPr>
                            <m:t> </m:t>
                          </m:r>
                          <m:r>
                            <a:rPr lang="en-US" i="1">
                              <a:latin typeface="Cambria Math"/>
                            </a:rPr>
                            <m:t>(</m:t>
                          </m:r>
                          <m:sSub>
                            <m:e>
                              <m:r>
                                <a:rPr lang="en-US" i="0">
                                  <a:latin typeface="Cambria Math"/>
                                </a:rPr>
                                <m:rPr>
                                  <m:sty m:val="p"/>
                                </m:rPr>
                                <m:t>log</m:t>
                              </m:r>
                            </m:e>
                            <m:sub>
                              <m:r>
                                <a:rPr lang="en-US" i="1">
                                  <a:latin typeface="Cambria Math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>
                              <a:latin typeface="Cambria Math"/>
                            </a:rPr>
                            <m:t>5</m:t>
                          </m:r>
                          <m:r>
                            <a:rPr lang="en-US" i="0">
                              <a:latin typeface="Cambria Math"/>
                            </a:rPr>
                            <m:rPr>
                              <m:nor/>
                            </m:rPr>
                            <m:t> </m:t>
                          </m:r>
                          <m:r>
                            <a:rPr lang="en-US" i="1">
                              <a:latin typeface="Cambria Math"/>
                            </a:rPr>
                            <m:t>−</m:t>
                          </m:r>
                          <m:r>
                            <a:rPr lang="en-US" i="0">
                              <a:latin typeface="Cambria Math"/>
                            </a:rPr>
                            <m:rPr>
                              <m:nor/>
                            </m:rPr>
                            <m:t> </m:t>
                          </m:r>
                          <m:r>
                            <a:rPr lang="en-US" i="1">
                              <a:latin typeface="Cambria Math"/>
                            </a:rPr>
                            <m:t>12)</m:t>
                          </m:r>
                        </m:sup>
                      </m:sSup>
                    </m:oMath>
                  </m:oMathPara>
                </a14:m>
              </a:p>
              <a:p>
                <a:pPr marL="0" indent="0">
                  <a:buNone/>
                </a:pPr>
                <a14:m xmlns:m="http://schemas.openxmlformats.org/officeDocument/2006/math">
                  <m:oMathPara>
                    <m:oMathParaPr>
                      <m:jc m:val="centerGroup"/>
                    </m:oMathParaPr>
                    <m:oMath xmlns:mml="http://www.w3.org/1998/Math/MathML">
                      <m:r>
                        <a:rPr lang="en-US" i="1">
                          <a:latin typeface="Cambria Math"/>
                        </a:rPr>
                        <m:t>≈</m:t>
                      </m:r>
                      <m:r>
                        <a:rPr lang="en-US" i="0">
                          <a:latin typeface="Cambria Math"/>
                        </a:rPr>
                        <m:rPr>
                          <m:nor/>
                        </m:rPr>
                        <m:t> </m:t>
                      </m:r>
                      <m:sSup>
                        <m:e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−154.85</m:t>
                          </m:r>
                        </m:sup>
                      </m:sSup>
                    </m:oMath>
                  </m:oMathPara>
                </a14:m>
              </a:p>
              <a:p>
                <a:pPr/>
                <a:r>
                  <a:rPr sz="1800"/>
                  <a:t>무시할 수 있을 만큼 작으므로 최대 5개까지 안전하게 서명할 수 있다</a:t>
                </a:r>
              </a:p>
              <a:p>
                <a:pPr/>
                <a:r>
                  <a:rPr sz="1800"/>
                  <a:t>이 값은 시도 한 번당 상한이다. </a:t>
                </a:r>
                <a14:m xmlns:m="http://schemas.openxmlformats.org/officeDocument/2006/math">
                  <m:oMath xmlns:mml="http://www.w3.org/1998/Math/MathML">
                    <m:sSup>
                      <m:e>
                        <m:r>
                          <a:rPr lang="en-US" i="1">
                            <a:latin typeface="Cambria Math"/>
                          </a:rPr>
                          <m:t>C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*</m:t>
                        </m:r>
                      </m:sup>
                    </m:sSup>
                  </m:oMath>
                </a14:m>
                <a:r>
                  <a:rPr sz="1800"/>
                  <a:t>를 바꿔 </a:t>
                </a:r>
                <a14:m xmlns:m="http://schemas.openxmlformats.org/officeDocument/2006/math">
                  <m:oMath xmlns:mml="http://www.w3.org/1998/Math/MathML">
                    <m:r>
                      <a:rPr lang="en-US" i="1">
                        <a:latin typeface="Cambria Math"/>
                      </a:rPr>
                      <m:t>q</m:t>
                    </m:r>
                  </m:oMath>
                </a14:m>
                <a:r>
                  <a:rPr sz="1800"/>
                  <a:t>번 시도하면 </a:t>
                </a:r>
                <a14:m xmlns:m="http://schemas.openxmlformats.org/officeDocument/2006/math">
                  <m:oMath xmlns:mml="http://www.w3.org/1998/Math/MathML">
                    <m:r>
                      <a:rPr lang="en-US" i="1">
                        <a:latin typeface="Cambria Math"/>
                      </a:rPr>
                      <m:t>q</m:t>
                    </m:r>
                    <m:r>
                      <a:rPr lang="en-US" i="1">
                        <a:latin typeface="Cambria Math"/>
                      </a:rPr>
                      <m:t>(ck/t</m:t>
                    </m:r>
                    <m:sSup>
                      <m:e>
                        <m:r>
                          <a:rPr lang="en-US" i="1">
                            <a:latin typeface="Cambria Math"/>
                          </a:rPr>
                          <m:t>)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k</m:t>
                        </m:r>
                      </m:sup>
                    </m:sSup>
                  </m:oMath>
                </a14:m>
                <a:r>
                  <a:rPr sz="1800"/>
                  <a:t>이므로 위조에는 약 2</a:t>
                </a:r>
                <a:r>
                  <a:rPr sz="1800" baseline="30000"/>
                  <a:t>154</a:t>
                </a:r>
                <a:r>
                  <a:rPr sz="1800"/>
                  <a:t>번의 해시 평가가 필요하다</a:t>
                </a:r>
              </a:p>
            </p:txBody>
          </p:sp>
        </mc:Choice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HORS의 약점: 공개키가 크다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1005840"/>
          </a:xfrm>
        </p:spPr>
        <p:txBody>
          <a:bodyPr/>
          <a:lstStyle/>
          <a:p>
            <a:pPr/>
            <a:r>
              <a:rPr sz="1800"/>
              <a:t>공개키는 t개의 n비트 값 y</a:t>
            </a:r>
            <a:r>
              <a:rPr sz="1800" baseline="-25000"/>
              <a:t>i</a:t>
            </a:r>
            <a:r>
              <a:rPr sz="1800"/>
              <a:t> 전체다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38200" y="2194560"/>
          <a:ext cx="10515599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7890"/>
                <a:gridCol w="3441469"/>
                <a:gridCol w="4206240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chemeClr val="bg1"/>
                          </a:solidFill>
                        </a:rPr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chemeClr val="bg1"/>
                          </a:solidFill>
                        </a:rPr>
                        <a:t>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chemeClr val="bg1"/>
                          </a:solidFill>
                        </a:rPr>
                        <a:t>값 (n=256, t=2</a:t>
                      </a:r>
                      <a:r>
                        <a:rPr sz="1800" baseline="30000" b="1">
                          <a:solidFill>
                            <a:schemeClr val="bg1"/>
                          </a:solidFill>
                        </a:rPr>
                        <a:t>16</a:t>
                      </a:r>
                      <a:r>
                        <a:rPr sz="1800" b="1">
                          <a:solidFill>
                            <a:schemeClr val="bg1"/>
                          </a:solidFill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공개키 비트 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n · 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2</a:t>
                      </a:r>
                      <a:r>
                        <a:rPr sz="1800" baseline="30000"/>
                        <a:t>8</a:t>
                      </a:r>
                      <a:r>
                        <a:rPr sz="1800"/>
                        <a:t> · 2</a:t>
                      </a:r>
                      <a:r>
                        <a:rPr sz="1800" baseline="30000"/>
                        <a:t>16</a:t>
                      </a:r>
                      <a:r>
                        <a:rPr sz="1800"/>
                        <a:t> = 2</a:t>
                      </a:r>
                      <a:r>
                        <a:rPr sz="1800" baseline="30000"/>
                        <a:t>24</a:t>
                      </a:r>
                      <a:r>
                        <a:rPr sz="1800"/>
                        <a:t> 비트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공개키 크기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n·t / 8 바이트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2</a:t>
                      </a:r>
                      <a:r>
                        <a:rPr sz="1800" baseline="30000"/>
                        <a:t>21</a:t>
                      </a:r>
                      <a:r>
                        <a:rPr sz="1800"/>
                        <a:t> B = 2 MiB (약 2.1 MB)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결론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공개키를 압축해야 한다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Merkle 트리를 쓴다 (HORST)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HORST: Merkle 트리로 공개키 압축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2103120"/>
              </a:xfrm>
            </p:spPr>
            <p:txBody>
              <a:bodyPr/>
              <a:lstStyle/>
              <a:p>
                <a:pPr/>
                <a:r>
                  <a:rPr sz="1800"/>
                  <a:t>공개키 성분 </a:t>
                </a:r>
                <a14:m xmlns:m="http://schemas.openxmlformats.org/officeDocument/2006/math">
                  <m:oMath xmlns:mml="http://www.w3.org/1998/Math/MathML">
                    <m:sSub>
                      <m:e>
                        <m:r>
                          <a:rPr lang="en-US" i="1">
                            <a:latin typeface="Cambria Math"/>
                          </a:rPr>
                          <m:t>y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,…,</m:t>
                    </m:r>
                    <m:sSub>
                      <m:e>
                        <m:r>
                          <a:rPr lang="en-US" i="1">
                            <a:latin typeface="Cambria Math"/>
                          </a:rPr>
                          <m:t>y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t−1</m:t>
                        </m:r>
                      </m:sub>
                    </m:sSub>
                  </m:oMath>
                </a14:m>
                <a:r>
                  <a:rPr sz="1800"/>
                  <a:t>을 높이 </a:t>
                </a:r>
                <a14:m xmlns:m="http://schemas.openxmlformats.org/officeDocument/2006/math">
                  <m:oMath xmlns:mml="http://www.w3.org/1998/Math/MathML">
                    <m:r>
                      <a:rPr lang="en-US" i="1">
                        <a:latin typeface="Cambria Math"/>
                      </a:rPr>
                      <m:t>m</m:t>
                    </m:r>
                  </m:oMath>
                </a14:m>
                <a:r>
                  <a:rPr sz="1800"/>
                  <a:t>인 Merkle 트리의 리프에 둔다 (</a:t>
                </a:r>
                <a14:m xmlns:m="http://schemas.openxmlformats.org/officeDocument/2006/math">
                  <m:oMath xmlns:mml="http://www.w3.org/1998/Math/MathML">
                    <m:r>
                      <a:rPr lang="en-US" i="1">
                        <a:latin typeface="Cambria Math"/>
                      </a:rPr>
                      <m:t>t=</m:t>
                    </m:r>
                    <m:sSup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m</m:t>
                        </m:r>
                      </m:sup>
                    </m:sSup>
                  </m:oMath>
                </a14:m>
                <a:r>
                  <a:rPr sz="1800"/>
                  <a:t>)</a:t>
                </a:r>
              </a:p>
              <a:p>
                <a:pPr/>
                <a:r>
                  <a:rPr sz="1800"/>
                  <a:t>트리 루트가 공개키가 되어 크기가 아주 작아진다</a:t>
                </a:r>
              </a:p>
              <a:p>
                <a:pPr/>
                <a:r>
                  <a:rPr sz="1800"/>
                  <a:t>서명에 검증에 필요한 공개키 성분과 각 성분의 인증 경로가 함께 들어간다</a:t>
                </a:r>
              </a:p>
            </p:txBody>
          </p:sp>
        </mc:Choice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38200" y="3566160"/>
          <a:ext cx="10515599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7890"/>
                <a:gridCol w="3441469"/>
                <a:gridCol w="4206240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chemeClr val="bg1"/>
                          </a:solidFill>
                        </a:rPr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chemeClr val="bg1"/>
                          </a:solidFill>
                        </a:rPr>
                        <a:t>HORS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chemeClr val="bg1"/>
                          </a:solidFill>
                        </a:rPr>
                        <a:t>HORST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공개키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y</a:t>
                      </a:r>
                      <a:r>
                        <a:rPr sz="1800" baseline="-25000"/>
                        <a:t>i</a:t>
                      </a:r>
                      <a:r>
                        <a:rPr sz="1800"/>
                        <a:t> 전체 (n·t 비트)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트리 루트 하나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서명 구성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C, 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C, S, 필요한 y 성분, 인증 경로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공개키 성분 확인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공개키와 직접 비교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인증 경로로 루트와 비교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FTS를 Merkle 트리 리프에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Part 3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다중 충돌 생일 역설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/>
              <a:lstStyle/>
              <a:p>
                <a:pPr/>
                <a:r>
                  <a:rPr sz="1800"/>
                  <a:t>리프마다 FTS 키쌍을 두고, 서명 때 무작위 리프를 골라 그 FTS 개인키로 서명한다</a:t>
                </a:r>
              </a:p>
              <a:p>
                <a:pPr/>
                <a:r>
                  <a:rPr sz="1800"/>
                  <a:t>서명할 메시지 수의 상한 </a:t>
                </a:r>
                <a14:m xmlns:m="http://schemas.openxmlformats.org/officeDocument/2006/math">
                  <m:oMath xmlns:mml="http://www.w3.org/1998/Math/MathML">
                    <m:r>
                      <a:rPr lang="en-US" i="1">
                        <a:latin typeface="Cambria Math"/>
                      </a:rPr>
                      <m:t>S</m:t>
                    </m:r>
                  </m:oMath>
                </a14:m>
                <a:r>
                  <a:rPr sz="1800"/>
                  <a:t>, 리프 수 </a:t>
                </a:r>
                <a14:m xmlns:m="http://schemas.openxmlformats.org/officeDocument/2006/math">
                  <m:oMath xmlns:mml="http://www.w3.org/1998/Math/MathML">
                    <m:r>
                      <a:rPr lang="en-US" i="1">
                        <a:latin typeface="Cambria Math"/>
                      </a:rPr>
                      <m:t>N=</m:t>
                    </m:r>
                    <m:sSup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D</m:t>
                        </m:r>
                      </m:sup>
                    </m:sSup>
                  </m:oMath>
                </a14:m>
                <a:r>
                  <a:rPr sz="1800"/>
                  <a:t>. 다중 충돌로 일반화한 생일 역설에 따르면</a:t>
                </a:r>
              </a:p>
              <a:p>
                <a:pPr/>
                <a:r>
                  <a:rPr sz="1800"/>
                  <a:t>어떤 FTS 키가 c번 이상 쓰일 확률은 최대</a:t>
                </a:r>
              </a:p>
              <a:p>
                <a:pPr marL="0" indent="0">
                  <a:buNone/>
                </a:pPr>
                <a14:m xmlns:m="http://schemas.openxmlformats.org/officeDocument/2006/math">
                  <m:oMathPara>
                    <m:oMathParaPr>
                      <m:jc m:val="centerGroup"/>
                    </m:oMathParaPr>
                    <m:oMath xmlns:mml="http://www.w3.org/1998/Math/MathML">
                      <m:r>
                        <a:rPr lang="en-US" i="1">
                          <a:latin typeface="Cambria Math"/>
                        </a:rPr>
                        <m:t>p</m:t>
                      </m:r>
                      <m:r>
                        <a:rPr lang="en-US" i="0">
                          <a:latin typeface="Cambria Math"/>
                        </a:rPr>
                        <m:rPr>
                          <m:nor/>
                        </m:rPr>
                        <m:t> </m:t>
                      </m:r>
                      <m:r>
                        <a:rPr lang="en-US" i="1">
                          <a:latin typeface="Cambria Math"/>
                        </a:rPr>
                        <m:t>≤</m:t>
                      </m:r>
                      <m:r>
                        <a:rPr lang="en-US" i="0">
                          <a:latin typeface="Cambria Math"/>
                        </a:rPr>
                        <m:rPr>
                          <m:nor/>
                        </m:rPr>
                        <m:t> </m:t>
                      </m:r>
                      <m:f>
                        <m:fPr>
                          <m:type m:val="bar"/>
                        </m:fPr>
                        <m:num>
                          <m:sSup>
                            <m:e>
                              <m:r>
                                <a:rPr lang="en-US" i="1">
                                  <a:latin typeface="Cambria Math"/>
                                </a:rPr>
                                <m:t>S</m:t>
                              </m:r>
                            </m:e>
                            <m:sup>
                              <m:r>
                                <a:rPr lang="en-US" i="1">
                                  <a:latin typeface="Cambria Math"/>
                                </a:rPr>
                                <m:t>c</m:t>
                              </m:r>
                            </m:sup>
                          </m:sSup>
                        </m:num>
                        <m:den>
                          <m:r>
                            <a:rPr lang="en-US" i="1">
                              <a:latin typeface="Cambria Math"/>
                            </a:rPr>
                            <m:t>c!</m:t>
                          </m:r>
                          <m:r>
                            <a:rPr lang="en-US" i="0">
                              <a:latin typeface="Cambria Math"/>
                            </a:rPr>
                            <m:rPr>
                              <m:nor/>
                            </m:rPr>
                            <m:t> </m:t>
                          </m:r>
                          <m:r>
                            <a:rPr lang="en-US" i="1">
                              <a:latin typeface="Cambria Math"/>
                            </a:rPr>
                            <m:t>·</m:t>
                          </m:r>
                          <m:r>
                            <a:rPr lang="en-US" i="0">
                              <a:latin typeface="Cambria Math"/>
                            </a:rPr>
                            <m:rPr>
                              <m:nor/>
                            </m:rPr>
                            <m:t> </m:t>
                          </m:r>
                          <m:sSup>
                            <m:e>
                              <m:r>
                                <a:rPr lang="en-US" i="1">
                                  <a:latin typeface="Cambria Math"/>
                                </a:rPr>
                                <m:t>N</m:t>
                              </m:r>
                            </m:e>
                            <m:sup>
                              <m:r>
                                <a:rPr lang="en-US" i="1">
                                  <a:latin typeface="Cambria Math"/>
                                </a:rPr>
                                <m:t>c−1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  <a:p>
                <a:pPr/>
                <a:r>
                  <a:rPr sz="1800"/>
                  <a:t>확인: </a:t>
                </a:r>
                <a14:m xmlns:m="http://schemas.openxmlformats.org/officeDocument/2006/math">
                  <m:oMath xmlns:mml="http://www.w3.org/1998/Math/MathML">
                    <m:r>
                      <a:rPr lang="en-US" i="1">
                        <a:latin typeface="Cambria Math"/>
                      </a:rPr>
                      <m:t>c=2</m:t>
                    </m:r>
                  </m:oMath>
                </a14:m>
                <a:r>
                  <a:rPr sz="1800"/>
                  <a:t>이면 </a:t>
                </a:r>
                <a14:m xmlns:m="http://schemas.openxmlformats.org/officeDocument/2006/math">
                  <m:oMath xmlns:mml="http://www.w3.org/1998/Math/MathML"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a:rPr lang="en-US" i="1">
                                <a:latin typeface="Cambria Math"/>
                              </a:rPr>
                              <m:t>S</m:t>
                            </m:r>
                          </m:e>
                          <m:sup>
                            <m:r>
                              <a:rPr lang="en-US" i="1">
                                <a:latin typeface="Cambria Math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i="1">
                            <a:latin typeface="Cambria Math"/>
                          </a:rPr>
                          <m:t>2!</m:t>
                        </m:r>
                        <m:r>
                          <a:rPr lang="en-US" i="0">
                            <a:latin typeface="Cambria Math"/>
                          </a:rPr>
                          <m:rPr>
                            <m:nor/>
                          </m:rPr>
                          <m:t> </m:t>
                        </m:r>
                        <m:r>
                          <a:rPr lang="en-US" i="1">
                            <a:latin typeface="Cambria Math"/>
                          </a:rPr>
                          <m:t>·</m:t>
                        </m:r>
                        <m:r>
                          <a:rPr lang="en-US" i="0">
                            <a:latin typeface="Cambria Math"/>
                          </a:rPr>
                          <m:rPr>
                            <m:nor/>
                          </m:rPr>
                          <m:t> </m:t>
                        </m:r>
                        <m:r>
                          <a:rPr lang="en-US" i="1">
                            <a:latin typeface="Cambria Math"/>
                          </a:rPr>
                          <m:t>N</m:t>
                        </m:r>
                      </m:den>
                    </m:f>
                    <m:r>
                      <a:rPr lang="en-US" i="1">
                        <a:latin typeface="Cambria Math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a:rPr lang="en-US" i="1">
                                <a:latin typeface="Cambria Math"/>
                              </a:rPr>
                              <m:t>S</m:t>
                            </m:r>
                          </m:e>
                          <m:sup>
                            <m:r>
                              <a:rPr lang="en-US" i="1">
                                <a:latin typeface="Cambria Math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i="1">
                            <a:latin typeface="Cambria Math"/>
                          </a:rPr>
                          <m:t>2N</m:t>
                        </m:r>
                      </m:den>
                    </m:f>
                  </m:oMath>
                </a14:m>
                <a:r>
                  <a:rPr sz="1800"/>
                  <a:t>으로 OTS의 식과 일치한다</a:t>
                </a:r>
              </a:p>
            </p:txBody>
          </p:sp>
        </mc:Choice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상한 유도: 합집합 상한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/>
              <a:lstStyle/>
              <a:p>
                <a:pPr/>
                <a:r>
                  <a:rPr sz="1800"/>
                  <a:t>메시지 </a:t>
                </a:r>
                <a14:m xmlns:m="http://schemas.openxmlformats.org/officeDocument/2006/math">
                  <m:oMath xmlns:mml="http://www.w3.org/1998/Math/MathML">
                    <m:r>
                      <a:rPr lang="en-US" i="1">
                        <a:latin typeface="Cambria Math"/>
                      </a:rPr>
                      <m:t>c</m:t>
                    </m:r>
                  </m:oMath>
                </a14:m>
                <a:r>
                  <a:rPr sz="1800"/>
                  <a:t>개를 고정한다. 모두 같은 리프를 고를 확률은 </a:t>
                </a:r>
                <a14:m xmlns:m="http://schemas.openxmlformats.org/officeDocument/2006/math">
                  <m:oMath xmlns:mml="http://www.w3.org/1998/Math/MathML">
                    <m:sSup>
                      <m:e>
                        <m:r>
                          <a:rPr lang="en-US" i="1">
                            <a:latin typeface="Cambria Math"/>
                          </a:rPr>
                          <m:t>N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−(c−1)</m:t>
                        </m:r>
                      </m:sup>
                    </m:sSup>
                  </m:oMath>
                </a14:m>
                <a:r>
                  <a:rPr sz="1800"/>
                  <a:t> (첫 메시지가 리프를 정하면 나머지 </a:t>
                </a:r>
                <a14:m xmlns:m="http://schemas.openxmlformats.org/officeDocument/2006/math">
                  <m:oMath xmlns:mml="http://www.w3.org/1998/Math/MathML">
                    <m:r>
                      <a:rPr lang="en-US" i="1">
                        <a:latin typeface="Cambria Math"/>
                      </a:rPr>
                      <m:t>c−1</m:t>
                    </m:r>
                  </m:oMath>
                </a14:m>
                <a:r>
                  <a:rPr sz="1800"/>
                  <a:t>개가 그 리프를 맞힌다)</a:t>
                </a:r>
              </a:p>
              <a:p>
                <a:pPr/>
                <a:r>
                  <a:rPr sz="1800"/>
                  <a:t>메시지 </a:t>
                </a:r>
                <a14:m xmlns:m="http://schemas.openxmlformats.org/officeDocument/2006/math">
                  <m:oMath xmlns:mml="http://www.w3.org/1998/Math/MathML">
                    <m:r>
                      <a:rPr lang="en-US" i="1">
                        <a:latin typeface="Cambria Math"/>
                      </a:rPr>
                      <m:t>c</m:t>
                    </m:r>
                  </m:oMath>
                </a14:m>
                <a:r>
                  <a:rPr sz="1800"/>
                  <a:t>개를 뽑는 방법은 </a:t>
                </a:r>
                <a14:m xmlns:m="http://schemas.openxmlformats.org/officeDocument/2006/math">
                  <m:oMath xmlns:mml="http://www.w3.org/1998/Math/MathML">
                    <m:d>
                      <m:dPr>
                        <m:begChr m:val="("/>
                        <m:endChr m:val=")"/>
                      </m:dPr>
                      <m:e>
                        <m:f>
                          <m:fPr>
                            <m:type m:val="noBar"/>
                          </m:fPr>
                          <m:num>
                            <m:r>
                              <a:rPr lang="en-US" i="1">
                                <a:latin typeface="Cambria Math"/>
                              </a:rPr>
                              <m:t>S</m:t>
                            </m:r>
                          </m:num>
                          <m:den>
                            <m:r>
                              <a:rPr lang="en-US" i="1">
                                <a:latin typeface="Cambria Math"/>
                              </a:rPr>
                              <m:t>c</m:t>
                            </m:r>
                          </m:den>
                        </m:f>
                      </m:e>
                    </m:d>
                  </m:oMath>
                </a14:m>
                <a:r>
                  <a:rPr sz="1800"/>
                  <a:t>가지다. 합집합 상한으로</a:t>
                </a:r>
              </a:p>
              <a:p>
                <a:pPr marL="0" indent="0">
                  <a:buNone/>
                </a:pPr>
                <a14:m xmlns:m="http://schemas.openxmlformats.org/officeDocument/2006/math">
                  <m:oMathPara>
                    <m:oMathParaPr>
                      <m:jc m:val="centerGroup"/>
                    </m:oMathParaPr>
                    <m:oMath xmlns:mml="http://www.w3.org/1998/Math/MathML">
                      <m:r>
                        <a:rPr lang="en-US" i="1">
                          <a:latin typeface="Cambria Math"/>
                        </a:rPr>
                        <m:t>p</m:t>
                      </m:r>
                      <m:r>
                        <a:rPr lang="en-US" i="0">
                          <a:latin typeface="Cambria Math"/>
                        </a:rPr>
                        <m:rPr>
                          <m:nor/>
                        </m:rPr>
                        <m:t> </m:t>
                      </m:r>
                      <m:r>
                        <a:rPr lang="en-US" i="1">
                          <a:latin typeface="Cambria Math"/>
                        </a:rPr>
                        <m:t>≤</m:t>
                      </m:r>
                      <m:r>
                        <a:rPr lang="en-US" i="0">
                          <a:latin typeface="Cambria Math"/>
                        </a:rPr>
                        <m:rPr>
                          <m:nor/>
                        </m:rPr>
                        <m:t> </m:t>
                      </m:r>
                      <m:d>
                        <m:dPr>
                          <m:begChr m:val="("/>
                          <m:endChr m:val=")"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a:rPr lang="en-US" i="1">
                                  <a:latin typeface="Cambria Math"/>
                                </a:rPr>
                                <m:t>S</m:t>
                              </m:r>
                            </m:num>
                            <m:den>
                              <m:r>
                                <a:rPr lang="en-US" i="1">
                                  <a:latin typeface="Cambria Math"/>
                                </a:rPr>
                                <m:t>c</m:t>
                              </m:r>
                            </m:den>
                          </m:f>
                        </m:e>
                      </m:d>
                      <m:r>
                        <a:rPr lang="en-US" i="1">
                          <a:latin typeface="Cambria Math"/>
                        </a:rPr>
                        <m:t>·</m:t>
                      </m:r>
                      <m:f>
                        <m:fPr>
                          <m:type m:val="bar"/>
                        </m:fPr>
                        <m:num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num>
                        <m:den>
                          <m:sSup>
                            <m:e>
                              <m:r>
                                <a:rPr lang="en-US" i="1">
                                  <a:latin typeface="Cambria Math"/>
                                </a:rPr>
                                <m:t>N</m:t>
                              </m:r>
                            </m:e>
                            <m:sup>
                              <m:r>
                                <a:rPr lang="en-US" i="1">
                                  <a:latin typeface="Cambria Math"/>
                                </a:rPr>
                                <m:t>c−1</m:t>
                              </m:r>
                            </m:sup>
                          </m:sSup>
                        </m:den>
                      </m:f>
                      <m:r>
                        <a:rPr lang="en-US" i="0">
                          <a:latin typeface="Cambria Math"/>
                        </a:rPr>
                        <m:rPr>
                          <m:nor/>
                        </m:rPr>
                        <m:t> </m:t>
                      </m:r>
                      <m:r>
                        <a:rPr lang="en-US" i="1">
                          <a:latin typeface="Cambria Math"/>
                        </a:rPr>
                        <m:t>≈</m:t>
                      </m:r>
                      <m:r>
                        <a:rPr lang="en-US" i="0">
                          <a:latin typeface="Cambria Math"/>
                        </a:rPr>
                        <m:rPr>
                          <m:nor/>
                        </m:rPr>
                        <m:t> </m:t>
                      </m:r>
                      <m:f>
                        <m:fPr>
                          <m:type m:val="bar"/>
                        </m:fPr>
                        <m:num>
                          <m:sSup>
                            <m:e>
                              <m:r>
                                <a:rPr lang="en-US" i="1">
                                  <a:latin typeface="Cambria Math"/>
                                </a:rPr>
                                <m:t>S</m:t>
                              </m:r>
                            </m:e>
                            <m:sup>
                              <m:r>
                                <a:rPr lang="en-US" i="1">
                                  <a:latin typeface="Cambria Math"/>
                                </a:rPr>
                                <m:t>c</m:t>
                              </m:r>
                            </m:sup>
                          </m:sSup>
                        </m:num>
                        <m:den>
                          <m:r>
                            <a:rPr lang="en-US" i="1">
                              <a:latin typeface="Cambria Math"/>
                            </a:rPr>
                            <m:t>c!</m:t>
                          </m:r>
                          <m:r>
                            <a:rPr lang="en-US" i="0">
                              <a:latin typeface="Cambria Math"/>
                            </a:rPr>
                            <m:rPr>
                              <m:nor/>
                            </m:rPr>
                            <m:t> </m:t>
                          </m:r>
                          <m:r>
                            <a:rPr lang="en-US" i="1">
                              <a:latin typeface="Cambria Math"/>
                            </a:rPr>
                            <m:t>·</m:t>
                          </m:r>
                          <m:r>
                            <a:rPr lang="en-US" i="0">
                              <a:latin typeface="Cambria Math"/>
                            </a:rPr>
                            <m:rPr>
                              <m:nor/>
                            </m:rPr>
                            <m:t> </m:t>
                          </m:r>
                          <m:sSup>
                            <m:e>
                              <m:r>
                                <a:rPr lang="en-US" i="1">
                                  <a:latin typeface="Cambria Math"/>
                                </a:rPr>
                                <m:t>N</m:t>
                              </m:r>
                            </m:e>
                            <m:sup>
                              <m:r>
                                <a:rPr lang="en-US" i="1">
                                  <a:latin typeface="Cambria Math"/>
                                </a:rPr>
                                <m:t>c−1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  <a:p>
                <a:pPr/>
                <a:r>
                  <a:rPr sz="1800"/>
                  <a:t>근사는 </a:t>
                </a:r>
                <a14:m xmlns:m="http://schemas.openxmlformats.org/officeDocument/2006/math">
                  <m:oMath xmlns:mml="http://www.w3.org/1998/Math/MathML">
                    <m:r>
                      <a:rPr lang="en-US" i="1">
                        <a:latin typeface="Cambria Math"/>
                      </a:rPr>
                      <m:t>S≫c</m:t>
                    </m:r>
                  </m:oMath>
                </a14:m>
                <a:r>
                  <a:rPr sz="1800"/>
                  <a:t>일 때 </a:t>
                </a:r>
                <a14:m xmlns:m="http://schemas.openxmlformats.org/officeDocument/2006/math">
                  <m:oMath xmlns:mml="http://www.w3.org/1998/Math/MathML">
                    <m:d>
                      <m:dPr>
                        <m:begChr m:val="("/>
                        <m:endChr m:val=")"/>
                      </m:dPr>
                      <m:e>
                        <m:f>
                          <m:fPr>
                            <m:type m:val="noBar"/>
                          </m:fPr>
                          <m:num>
                            <m:r>
                              <a:rPr lang="en-US" i="1">
                                <a:latin typeface="Cambria Math"/>
                              </a:rPr>
                              <m:t>S</m:t>
                            </m:r>
                          </m:num>
                          <m:den>
                            <m:r>
                              <a:rPr lang="en-US" i="1">
                                <a:latin typeface="Cambria Math"/>
                              </a:rPr>
                              <m:t>c</m:t>
                            </m:r>
                          </m:den>
                        </m:f>
                      </m:e>
                    </m:d>
                    <m:r>
                      <a:rPr lang="en-US" i="1">
                        <a:latin typeface="Cambria Math"/>
                      </a:rPr>
                      <m:t>≈</m:t>
                    </m:r>
                    <m:sSup>
                      <m:e>
                        <m:r>
                          <a:rPr lang="en-US" i="1">
                            <a:latin typeface="Cambria Math"/>
                          </a:rPr>
                          <m:t>S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c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/c!</m:t>
                    </m:r>
                  </m:oMath>
                </a14:m>
                <a:r>
                  <a:rPr sz="1800"/>
                  <a:t>를 쓴 것이다</a:t>
                </a:r>
              </a:p>
              <a:p>
                <a:pPr/>
                <a:r>
                  <a:rPr sz="1800"/>
                  <a:t/>
                </a:r>
                <a14:m xmlns:m="http://schemas.openxmlformats.org/officeDocument/2006/math">
                  <m:oMath xmlns:mml="http://www.w3.org/1998/Math/MathML">
                    <m:r>
                      <a:rPr lang="en-US" i="1">
                        <a:latin typeface="Cambria Math"/>
                      </a:rPr>
                      <m:t>c=2</m:t>
                    </m:r>
                  </m:oMath>
                </a14:m>
                <a:r>
                  <a:rPr sz="1800"/>
                  <a:t>이면 쌍이 </a:t>
                </a:r>
                <a14:m xmlns:m="http://schemas.openxmlformats.org/officeDocument/2006/math">
                  <m:oMath xmlns:mml="http://www.w3.org/1998/Math/MathML">
                    <m:d>
                      <m:dPr>
                        <m:begChr m:val="("/>
                        <m:endChr m:val=")"/>
                      </m:dPr>
                      <m:e>
                        <m:f>
                          <m:fPr>
                            <m:type m:val="noBar"/>
                          </m:fPr>
                          <m:num>
                            <m:r>
                              <a:rPr lang="en-US" i="1">
                                <a:latin typeface="Cambria Math"/>
                              </a:rPr>
                              <m:t>S</m:t>
                            </m:r>
                          </m:num>
                          <m:den>
                            <m:r>
                              <a:rPr lang="en-US" i="1">
                                <a:latin typeface="Cambria Math"/>
                              </a:rPr>
                              <m:t>2</m:t>
                            </m:r>
                          </m:den>
                        </m:f>
                      </m:e>
                    </m:d>
                  </m:oMath>
                </a14:m>
                <a:r>
                  <a:rPr sz="1800"/>
                  <a:t>개, 확률이 </a:t>
                </a:r>
                <a14:m xmlns:m="http://schemas.openxmlformats.org/officeDocument/2006/math">
                  <m:oMath xmlns:mml="http://www.w3.org/1998/Math/MathML">
                    <m:f>
                      <m:fPr>
                        <m:type m:val="lin"/>
                      </m:fPr>
                      <m:num>
                        <m:r>
                          <a:rPr lang="en-US" i="1">
                            <a:latin typeface="Cambria Math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/>
                          </a:rPr>
                          <m:t>N</m:t>
                        </m:r>
                      </m:den>
                    </m:f>
                  </m:oMath>
                </a14:m>
                <a:r>
                  <a:rPr sz="1800"/>
                  <a:t>이라 앞의 OTS 유도와 같다</a:t>
                </a:r>
              </a:p>
            </p:txBody>
          </p:sp>
        </mc:Choice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예제: 높이 207에서 80으로, 그래도 만들 수 없다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1828800"/>
              </a:xfrm>
            </p:spPr>
            <p:txBody>
              <a:bodyPr/>
              <a:lstStyle/>
              <a:p>
                <a:pPr/>
                <a14:m xmlns:m="http://schemas.openxmlformats.org/officeDocument/2006/math">
                  <m:oMath xmlns:mml="http://www.w3.org/1998/Math/MathML">
                    <m:r>
                      <a:rPr lang="en-US" i="1">
                        <a:latin typeface="Cambria Math"/>
                      </a:rPr>
                      <m:t>S=</m:t>
                    </m:r>
                    <m:sSup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40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0">
                        <a:latin typeface="Cambria Math"/>
                      </a:rPr>
                      <m:rPr>
                        <m:nor/>
                      </m:rPr>
                      <m:t> </m:t>
                    </m:r>
                    <m:r>
                      <a:rPr lang="en-US" i="1">
                        <a:latin typeface="Cambria Math"/>
                      </a:rPr>
                      <m:t>c=5,</m:t>
                    </m:r>
                    <m:r>
                      <a:rPr lang="en-US" i="0">
                        <a:latin typeface="Cambria Math"/>
                      </a:rPr>
                      <m:rPr>
                        <m:nor/>
                      </m:rPr>
                      <m:t> </m:t>
                    </m:r>
                    <m:r>
                      <a:rPr lang="en-US" i="1">
                        <a:latin typeface="Cambria Math"/>
                      </a:rPr>
                      <m:t>D=80</m:t>
                    </m:r>
                    <m:r>
                      <a:rPr lang="en-US" i="0">
                        <a:latin typeface="Cambria Math"/>
                      </a:rPr>
                      <m:rPr>
                        <m:nor/>
                      </m:rPr>
                      <m:t> </m:t>
                    </m:r>
                    <m:r>
                      <a:rPr lang="en-US" i="1">
                        <a:latin typeface="Cambria Math"/>
                      </a:rPr>
                      <m:t>(N=</m:t>
                    </m:r>
                    <m:sSup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80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/>
                  <a:t>이면:</a:t>
                </a:r>
              </a:p>
              <a:p>
                <a:pPr marL="0" indent="0">
                  <a:buNone/>
                </a:pPr>
                <a14:m xmlns:m="http://schemas.openxmlformats.org/officeDocument/2006/math">
                  <m:oMathPara>
                    <m:oMathParaPr>
                      <m:jc m:val="centerGroup"/>
                    </m:oMathParaPr>
                    <m:oMath xmlns:mml="http://www.w3.org/1998/Math/MathML">
                      <m:r>
                        <a:rPr lang="en-US" i="1">
                          <a:latin typeface="Cambria Math"/>
                        </a:rPr>
                        <m:t>p</m:t>
                      </m:r>
                      <m:r>
                        <a:rPr lang="en-US" i="0">
                          <a:latin typeface="Cambria Math"/>
                        </a:rPr>
                        <m:rPr>
                          <m:nor/>
                        </m:rPr>
                        <m:t> </m:t>
                      </m:r>
                      <m:r>
                        <a:rPr lang="en-US" i="1">
                          <a:latin typeface="Cambria Math"/>
                        </a:rPr>
                        <m:t>≤</m:t>
                      </m:r>
                      <m:r>
                        <a:rPr lang="en-US" i="0">
                          <a:latin typeface="Cambria Math"/>
                        </a:rPr>
                        <m:rPr>
                          <m:nor/>
                        </m:rPr>
                        <m:t> </m:t>
                      </m:r>
                      <m:f>
                        <m:fPr>
                          <m:type m:val="bar"/>
                        </m:fPr>
                        <m:num>
                          <m:sSup>
                            <m:e>
                              <m:r>
                                <a:rPr lang="en-US" i="1">
                                  <a:latin typeface="Cambria Math"/>
                                </a:rPr>
                                <m:t>S</m:t>
                              </m:r>
                            </m:e>
                            <m:sup>
                              <m:r>
                                <a:rPr lang="en-US" i="1">
                                  <a:latin typeface="Cambria Math"/>
                                </a:rPr>
                                <m:t>c</m:t>
                              </m:r>
                            </m:sup>
                          </m:sSup>
                        </m:num>
                        <m:den>
                          <m:r>
                            <a:rPr lang="en-US" i="1">
                              <a:latin typeface="Cambria Math"/>
                            </a:rPr>
                            <m:t>c!</m:t>
                          </m:r>
                          <m:r>
                            <a:rPr lang="en-US" i="0">
                              <a:latin typeface="Cambria Math"/>
                            </a:rPr>
                            <m:rPr>
                              <m:nor/>
                            </m:rPr>
                            <m:t> </m:t>
                          </m:r>
                          <m:r>
                            <a:rPr lang="en-US" i="1">
                              <a:latin typeface="Cambria Math"/>
                            </a:rPr>
                            <m:t>·</m:t>
                          </m:r>
                          <m:r>
                            <a:rPr lang="en-US" i="0">
                              <a:latin typeface="Cambria Math"/>
                            </a:rPr>
                            <m:rPr>
                              <m:nor/>
                            </m:rPr>
                            <m:t> </m:t>
                          </m:r>
                          <m:sSup>
                            <m:e>
                              <m:r>
                                <a:rPr lang="en-US" i="1">
                                  <a:latin typeface="Cambria Math"/>
                                </a:rPr>
                                <m:t>N</m:t>
                              </m:r>
                            </m:e>
                            <m:sup>
                              <m:r>
                                <a:rPr lang="en-US" i="1">
                                  <a:latin typeface="Cambria Math"/>
                                </a:rPr>
                                <m:t>c−1</m:t>
                              </m:r>
                            </m:sup>
                          </m:sSup>
                        </m:den>
                      </m:f>
                      <m:r>
                        <a:rPr lang="en-US" i="1">
                          <a:latin typeface="Cambria Math"/>
                        </a:rPr>
                        <m:t>=</m:t>
                      </m:r>
                      <m:f>
                        <m:fPr>
                          <m:type m:val="bar"/>
                        </m:fPr>
                        <m:num>
                          <m:sSup>
                            <m:e>
                              <m:r>
                                <a:rPr lang="en-US" i="1">
                                  <a:latin typeface="Cambria Math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i="1">
                                  <a:latin typeface="Cambria Math"/>
                                </a:rPr>
                                <m:t>200</m:t>
                              </m:r>
                            </m:sup>
                          </m:sSup>
                        </m:num>
                        <m:den>
                          <m:r>
                            <a:rPr lang="en-US" i="1">
                              <a:latin typeface="Cambria Math"/>
                            </a:rPr>
                            <m:t>120·</m:t>
                          </m:r>
                          <m:sSup>
                            <m:e>
                              <m:r>
                                <a:rPr lang="en-US" i="1">
                                  <a:latin typeface="Cambria Math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i="1">
                                  <a:latin typeface="Cambria Math"/>
                                </a:rPr>
                                <m:t>320</m:t>
                              </m:r>
                            </m:sup>
                          </m:sSup>
                        </m:den>
                      </m:f>
                      <m:r>
                        <a:rPr lang="en-US" i="0">
                          <a:latin typeface="Cambria Math"/>
                        </a:rPr>
                        <m:rPr>
                          <m:nor/>
                        </m:rPr>
                        <m:t> </m:t>
                      </m:r>
                      <m:r>
                        <a:rPr lang="en-US" i="1">
                          <a:latin typeface="Cambria Math"/>
                        </a:rPr>
                        <m:t>≈</m:t>
                      </m:r>
                      <m:r>
                        <a:rPr lang="en-US" i="0">
                          <a:latin typeface="Cambria Math"/>
                        </a:rPr>
                        <m:rPr>
                          <m:nor/>
                        </m:rPr>
                        <m:t> </m:t>
                      </m:r>
                      <m:sSup>
                        <m:e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−127</m:t>
                          </m:r>
                        </m:sup>
                      </m:sSup>
                    </m:oMath>
                  </m:oMathPara>
                </a14:m>
              </a:p>
            </p:txBody>
          </p:sp>
        </mc:Choice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38200" y="3200400"/>
          <a:ext cx="10515599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41469"/>
                <a:gridCol w="3250276"/>
                <a:gridCol w="3823854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chemeClr val="bg1"/>
                          </a:solidFill>
                        </a:rPr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chemeClr val="bg1"/>
                          </a:solidFill>
                        </a:rPr>
                        <a:t>OTS 리프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chemeClr val="bg1"/>
                          </a:solidFill>
                        </a:rPr>
                        <a:t>FTS 리프 (HORS)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서명 수 상한 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2</a:t>
                      </a:r>
                      <a:r>
                        <a:rPr sz="1800" baseline="30000"/>
                        <a:t>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2</a:t>
                      </a:r>
                      <a:r>
                        <a:rPr sz="1800" baseline="30000"/>
                        <a:t>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위험한 사용 횟수 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트리 전체 높이 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207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80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재사용 확률 상한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1/2</a:t>
                      </a:r>
                      <a:r>
                        <a:rPr sz="1800" baseline="30000"/>
                        <a:t>128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약 1/2</a:t>
                      </a:r>
                      <a:r>
                        <a:rPr sz="1800" baseline="30000"/>
                        <a:t>127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트리를 만들 수 있는가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불가능 (리프 2</a:t>
                      </a:r>
                      <a:r>
                        <a:rPr sz="1800" baseline="30000"/>
                        <a:t>207</a:t>
                      </a:r>
                      <a:r>
                        <a:rPr sz="1800"/>
                        <a:t>개)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여전히 불가능 (리프 2</a:t>
                      </a:r>
                      <a:r>
                        <a:rPr sz="1800" baseline="30000"/>
                        <a:t>80</a:t>
                      </a:r>
                      <a:r>
                        <a:rPr sz="1800"/>
                        <a:t>개)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가상 하이퍼트리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Part 4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구조: L개 층, 중간은 OTS, 맨 아래는 FTS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5760720" cy="4701089"/>
              </a:xfrm>
            </p:spPr>
            <p:txBody>
              <a:bodyPr/>
              <a:lstStyle/>
              <a:p>
                <a:pPr/>
                <a:r>
                  <a:rPr sz="1800"/>
                  <a:t>가상 하이퍼트리는 </a:t>
                </a:r>
                <a14:m xmlns:m="http://schemas.openxmlformats.org/officeDocument/2006/math">
                  <m:oMath xmlns:mml="http://www.w3.org/1998/Math/MathML">
                    <m:r>
                      <a:rPr lang="en-US" i="1">
                        <a:latin typeface="Cambria Math"/>
                      </a:rPr>
                      <m:t>L</m:t>
                    </m:r>
                  </m:oMath>
                </a14:m>
                <a:r>
                  <a:rPr sz="1800"/>
                  <a:t>개 층이고, 각 층은 높이 </a:t>
                </a:r>
                <a14:m xmlns:m="http://schemas.openxmlformats.org/officeDocument/2006/math">
                  <m:oMath xmlns:mml="http://www.w3.org/1998/Math/MathML">
                    <m:r>
                      <a:rPr lang="en-US" i="1">
                        <a:latin typeface="Cambria Math"/>
                      </a:rPr>
                      <m:t>d</m:t>
                    </m:r>
                  </m:oMath>
                </a14:m>
                <a:r>
                  <a:rPr sz="1800"/>
                  <a:t>인 Merkle 트리들로 이루어진다</a:t>
                </a:r>
              </a:p>
              <a:p>
                <a:pPr/>
                <a:r>
                  <a:rPr sz="1800"/>
                  <a:t>층 1 ~ </a:t>
                </a:r>
                <a14:m xmlns:m="http://schemas.openxmlformats.org/officeDocument/2006/math">
                  <m:oMath xmlns:mml="http://www.w3.org/1998/Math/MathML">
                    <m:r>
                      <a:rPr lang="en-US" i="1">
                        <a:latin typeface="Cambria Math"/>
                      </a:rPr>
                      <m:t>L−1</m:t>
                    </m:r>
                  </m:oMath>
                </a14:m>
                <a:r>
                  <a:rPr sz="1800"/>
                  <a:t>의 리프는 OTS 공개키다. 각 OTS 개인키는 바로 아래 트리의 루트에 서명한다</a:t>
                </a:r>
              </a:p>
              <a:p>
                <a:pPr/>
                <a:r>
                  <a:rPr sz="1800"/>
                  <a:t>층 </a:t>
                </a:r>
                <a14:m xmlns:m="http://schemas.openxmlformats.org/officeDocument/2006/math">
                  <m:oMath xmlns:mml="http://www.w3.org/1998/Math/MathML">
                    <m:r>
                      <a:rPr lang="en-US" i="1">
                        <a:latin typeface="Cambria Math"/>
                      </a:rPr>
                      <m:t>L</m:t>
                    </m:r>
                  </m:oMath>
                </a14:m>
                <a:r>
                  <a:rPr sz="1800"/>
                  <a:t>의 리프는 FTS 공개키다. FTS 개인키가 실제 메시지에 서명한다</a:t>
                </a:r>
              </a:p>
              <a:p>
                <a:pPr/>
                <a:r>
                  <a:rPr sz="1800"/>
                  <a:t>맨 위 루트 </a:t>
                </a:r>
                <a14:m xmlns:m="http://schemas.openxmlformats.org/officeDocument/2006/math">
                  <m:oMath xmlns:mml="http://www.w3.org/1998/Math/MathML">
                    <m:r>
                      <a:rPr lang="en-US" i="1">
                        <a:latin typeface="Cambria Math"/>
                      </a:rPr>
                      <m:t>R</m:t>
                    </m:r>
                  </m:oMath>
                </a14:m>
                <a:r>
                  <a:rPr sz="1800"/>
                  <a:t>이 사용자의 장기 공개키다</a:t>
                </a:r>
              </a:p>
            </p:txBody>
          </p:sp>
        </mc:Choice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  <p:pic>
        <p:nvPicPr>
          <p:cNvPr id="5" name="Picture 4" descr="가상 하이퍼트리: 층 1부터 층 L까지 Merkle 트리가 이어지고 루트 R이 장기 공개키다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7872" y="1280160"/>
            <a:ext cx="3938016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"가상"의 의미: SEED와 PRF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5760720" cy="4701089"/>
          </a:xfrm>
        </p:spPr>
        <p:txBody>
          <a:bodyPr/>
          <a:lstStyle/>
          <a:p>
            <a:pPr/>
            <a:r>
              <a:rPr sz="1800"/>
              <a:t>모든 OTS·FTS 개인키는 비밀 시드 SEED 하나와 공개키의 고유 인덱스에 PRF를 적용해 만든다</a:t>
            </a:r>
          </a:p>
          <a:p>
            <a:pPr/>
            <a:r>
              <a:rPr sz="1800"/>
              <a:t>인덱스: 층 번호, 그 층 안의 트리 번호, 트리 안의 위치</a:t>
            </a:r>
          </a:p>
          <a:p>
            <a:pPr/>
            <a:r>
              <a:rPr sz="1800"/>
              <a:t>SEED가 정해지면 모든 키쌍과 모든 노드의 해시값까지 하이퍼트리 전체가 확정된다</a:t>
            </a:r>
          </a:p>
          <a:p>
            <a:pPr/>
            <a:r>
              <a:rPr sz="1800"/>
              <a:t>전체를 실제로 만들 수는 없어도 정의되어 있다. 이것이 "가상"의 뜻이다</a:t>
            </a:r>
          </a:p>
          <a:p>
            <a:pPr/>
            <a:r>
              <a:rPr sz="1800"/>
              <a:t>필요한 Merkle 트리 하나는 SEED에서 키쌍을 만든 뒤 노드 해시를 계산해 효율적으로 만든다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  <p:pic>
        <p:nvPicPr>
          <p:cNvPr id="5" name="Picture 4" descr="가상 하이퍼트리: SEED와 인덱스로 모든 키와 노드가 정해진다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7872" y="1280160"/>
            <a:ext cx="3938016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서명 생성: 아래에서 위로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5760720" cy="4701089"/>
              </a:xfrm>
            </p:spPr>
            <p:txBody>
              <a:bodyPr/>
              <a:lstStyle/>
              <a:p>
                <a:pPr marL="342900" indent="-342900">
                  <a:buAutoNum type="arabicPeriod"/>
                </a:pPr>
                <a:r>
                  <a:rPr sz="1800"/>
                  <a:t>무작위로 FTS 키쌍 </a:t>
                </a:r>
                <a14:m xmlns:m="http://schemas.openxmlformats.org/officeDocument/2006/math">
                  <m:oMath xmlns:mml="http://www.w3.org/1998/Math/MathML">
                    <m:sSub>
                      <m:e>
                        <m:r>
                          <a:rPr lang="en-US" i="1">
                            <a:latin typeface="Cambria Math"/>
                          </a:rPr>
                          <m:t>K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L</m:t>
                        </m:r>
                      </m:sub>
                    </m:sSub>
                  </m:oMath>
                </a14:m>
                <a:r>
                  <a:rPr sz="1800"/>
                  <a:t>을 골라 그 개인키로 </a:t>
                </a:r>
                <a14:m xmlns:m="http://schemas.openxmlformats.org/officeDocument/2006/math">
                  <m:oMath xmlns:mml="http://www.w3.org/1998/Math/MathML">
                    <m:r>
                      <a:rPr lang="en-US" i="1">
                        <a:latin typeface="Cambria Math"/>
                      </a:rPr>
                      <m:t>M</m:t>
                    </m:r>
                  </m:oMath>
                </a14:m>
                <a:r>
                  <a:rPr sz="1800"/>
                  <a:t>에 서명한다</a:t>
                </a:r>
              </a:p>
              <a:p>
                <a:pPr marL="342900" indent="-342900">
                  <a:buAutoNum type="arabicPeriod"/>
                </a:pPr>
                <a:r>
                  <a:rPr sz="1800"/>
                  <a:t>K</a:t>
                </a:r>
                <a:r>
                  <a:rPr sz="1800" baseline="-25000"/>
                  <a:t>L</a:t>
                </a:r>
                <a:r>
                  <a:rPr sz="1800"/>
                  <a:t>이 든 트리의 루트 </a:t>
                </a:r>
                <a14:m xmlns:m="http://schemas.openxmlformats.org/officeDocument/2006/math">
                  <m:oMath xmlns:mml="http://www.w3.org/1998/Math/MathML">
                    <m:sSub>
                      <m:e>
                        <m:r>
                          <a:rPr lang="en-US" i="1">
                            <a:latin typeface="Cambria Math"/>
                          </a:rPr>
                          <m:t>R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L</m:t>
                        </m:r>
                      </m:sub>
                    </m:sSub>
                  </m:oMath>
                </a14:m>
                <a:r>
                  <a:rPr sz="1800"/>
                  <a:t>과 K</a:t>
                </a:r>
                <a:r>
                  <a:rPr sz="1800" baseline="-25000"/>
                  <a:t>L</a:t>
                </a:r>
                <a:r>
                  <a:rPr sz="1800"/>
                  <a:t>의 인증 경로 </a:t>
                </a:r>
                <a14:m xmlns:m="http://schemas.openxmlformats.org/officeDocument/2006/math">
                  <m:oMath xmlns:mml="http://www.w3.org/1998/Math/MathML">
                    <m:sSub>
                      <m:e>
                        <m:r>
                          <a:rPr lang="en-US" i="1">
                            <a:latin typeface="Cambria Math"/>
                          </a:rPr>
                          <m:t>P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L</m:t>
                        </m:r>
                      </m:sub>
                    </m:sSub>
                  </m:oMath>
                </a14:m>
                <a:r>
                  <a:rPr sz="1800"/>
                  <a:t>을 SEED에서 유도한다</a:t>
                </a:r>
              </a:p>
              <a:p>
                <a:pPr marL="342900" indent="-342900">
                  <a:buAutoNum type="arabicPeriod"/>
                </a:pPr>
                <a:r>
                  <a:rPr sz="1800"/>
                  <a:t>OTS 공개키 </a:t>
                </a:r>
                <a14:m xmlns:m="http://schemas.openxmlformats.org/officeDocument/2006/math">
                  <m:oMath xmlns:mml="http://www.w3.org/1998/Math/MathML">
                    <m:sSub>
                      <m:e>
                        <m:r>
                          <a:rPr lang="en-US" i="1">
                            <a:latin typeface="Cambria Math"/>
                          </a:rPr>
                          <m:t>K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L−1</m:t>
                        </m:r>
                      </m:sub>
                    </m:sSub>
                  </m:oMath>
                </a14:m>
                <a:r>
                  <a:rPr sz="1800"/>
                  <a:t>의 개인키로 </a:t>
                </a:r>
                <a14:m xmlns:m="http://schemas.openxmlformats.org/officeDocument/2006/math">
                  <m:oMath xmlns:mml="http://www.w3.org/1998/Math/MathML">
                    <m:sSub>
                      <m:e>
                        <m:r>
                          <a:rPr lang="en-US" i="1">
                            <a:latin typeface="Cambria Math"/>
                          </a:rPr>
                          <m:t>R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L</m:t>
                        </m:r>
                      </m:sub>
                    </m:sSub>
                  </m:oMath>
                </a14:m>
                <a:r>
                  <a:rPr sz="1800"/>
                  <a:t>에 서명하고, 그 트리의 </a:t>
                </a:r>
                <a14:m xmlns:m="http://schemas.openxmlformats.org/officeDocument/2006/math">
                  <m:oMath xmlns:mml="http://www.w3.org/1998/Math/MathML">
                    <m:sSub>
                      <m:e>
                        <m:r>
                          <a:rPr lang="en-US" i="1">
                            <a:latin typeface="Cambria Math"/>
                          </a:rPr>
                          <m:t>R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L−1</m:t>
                        </m:r>
                      </m:sub>
                    </m:sSub>
                  </m:oMath>
                </a14:m>
                <a:r>
                  <a:rPr sz="1800"/>
                  <a:t>, </a:t>
                </a:r>
                <a14:m xmlns:m="http://schemas.openxmlformats.org/officeDocument/2006/math">
                  <m:oMath xmlns:mml="http://www.w3.org/1998/Math/MathML">
                    <m:sSub>
                      <m:e>
                        <m:r>
                          <a:rPr lang="en-US" i="1">
                            <a:latin typeface="Cambria Math"/>
                          </a:rPr>
                          <m:t>P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L−1</m:t>
                        </m:r>
                      </m:sub>
                    </m:sSub>
                  </m:oMath>
                </a14:m>
                <a:r>
                  <a:rPr sz="1800"/>
                  <a:t>을 유도한다</a:t>
                </a:r>
              </a:p>
              <a:p>
                <a:pPr marL="342900" indent="-342900">
                  <a:buAutoNum type="arabicPeriod"/>
                </a:pPr>
                <a:r>
                  <a:rPr sz="1800"/>
                  <a:t>이를 층 1까지 반복해 하이퍼트리 루트 </a:t>
                </a:r>
                <a14:m xmlns:m="http://schemas.openxmlformats.org/officeDocument/2006/math">
                  <m:oMath xmlns:mml="http://www.w3.org/1998/Math/MathML">
                    <m:r>
                      <a:rPr lang="en-US" i="1">
                        <a:latin typeface="Cambria Math"/>
                      </a:rPr>
                      <m:t>R</m:t>
                    </m:r>
                  </m:oMath>
                </a14:m>
                <a:r>
                  <a:rPr sz="1800"/>
                  <a:t>에 닿는다</a:t>
                </a:r>
              </a:p>
              <a:p>
                <a:pPr marL="342900" indent="-342900">
                  <a:buAutoNum type="arabicPeriod"/>
                </a:pPr>
                <a:r>
                  <a:rPr sz="1800"/>
                  <a:t>서명 = FTS 서명 + 중간 OTS 서명 + </a:t>
                </a:r>
                <a14:m xmlns:m="http://schemas.openxmlformats.org/officeDocument/2006/math">
                  <m:oMath xmlns:mml="http://www.w3.org/1998/Math/MathML">
                    <m:sSub>
                      <m:e>
                        <m:r>
                          <a:rPr lang="en-US" i="1">
                            <a:latin typeface="Cambria Math"/>
                          </a:rPr>
                          <m:t>K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,…,</m:t>
                    </m:r>
                    <m:sSub>
                      <m:e>
                        <m:r>
                          <a:rPr lang="en-US" i="1">
                            <a:latin typeface="Cambria Math"/>
                          </a:rPr>
                          <m:t>K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L</m:t>
                        </m:r>
                      </m:sub>
                    </m:sSub>
                  </m:oMath>
                </a14:m>
                <a:r>
                  <a:rPr sz="1800"/>
                  <a:t> + </a:t>
                </a:r>
                <a14:m xmlns:m="http://schemas.openxmlformats.org/officeDocument/2006/math">
                  <m:oMath xmlns:mml="http://www.w3.org/1998/Math/MathML">
                    <m:sSub>
                      <m:e>
                        <m:r>
                          <a:rPr lang="en-US" i="1">
                            <a:latin typeface="Cambria Math"/>
                          </a:rPr>
                          <m:t>P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,…,</m:t>
                    </m:r>
                    <m:sSub>
                      <m:e>
                        <m:r>
                          <a:rPr lang="en-US" i="1">
                            <a:latin typeface="Cambria Math"/>
                          </a:rPr>
                          <m:t>P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L</m:t>
                        </m:r>
                      </m:sub>
                    </m:sSub>
                  </m:oMath>
                </a14:m>
              </a:p>
            </p:txBody>
          </p:sp>
        </mc:Choice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  <p:pic>
        <p:nvPicPr>
          <p:cNvPr id="5" name="Picture 4" descr="서명 생성 순서: 층 L에서 층 1로 올라가며 K_l, R_l, 인증 경로 P_l을 만든다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7872" y="1280160"/>
            <a:ext cx="3938016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서명 검증: 위에서 아래로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5760720" cy="4701089"/>
              </a:xfrm>
            </p:spPr>
            <p:txBody>
              <a:bodyPr/>
              <a:lstStyle/>
              <a:p>
                <a:pPr marL="342900" indent="-342900">
                  <a:buAutoNum type="arabicPeriod"/>
                </a:pPr>
                <a:r>
                  <a:rPr sz="1800"/>
                  <a:t>Bob은 진짜 </a:t>
                </a:r>
                <a14:m xmlns:m="http://schemas.openxmlformats.org/officeDocument/2006/math">
                  <m:oMath xmlns:mml="http://www.w3.org/1998/Math/MathML">
                    <m:r>
                      <a:rPr lang="en-US" i="1">
                        <a:latin typeface="Cambria Math"/>
                      </a:rPr>
                      <m:t>R</m:t>
                    </m:r>
                  </m:oMath>
                </a14:m>
                <a:r>
                  <a:rPr sz="1800"/>
                  <a:t>을 갖고 있다. </a:t>
                </a:r>
                <a14:m xmlns:m="http://schemas.openxmlformats.org/officeDocument/2006/math">
                  <m:oMath xmlns:mml="http://www.w3.org/1998/Math/MathML">
                    <m:sSub>
                      <m:e>
                        <m:r>
                          <a:rPr lang="en-US" i="1">
                            <a:latin typeface="Cambria Math"/>
                          </a:rPr>
                          <m:t>P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sz="1800"/>
                  <a:t>을 </a:t>
                </a:r>
                <a14:m xmlns:m="http://schemas.openxmlformats.org/officeDocument/2006/math">
                  <m:oMath xmlns:mml="http://www.w3.org/1998/Math/MathML">
                    <m:sSub>
                      <m:e>
                        <m:r>
                          <a:rPr lang="en-US" i="1">
                            <a:latin typeface="Cambria Math"/>
                          </a:rPr>
                          <m:t>K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sz="1800"/>
                  <a:t>에서 </a:t>
                </a:r>
                <a14:m xmlns:m="http://schemas.openxmlformats.org/officeDocument/2006/math">
                  <m:oMath xmlns:mml="http://www.w3.org/1998/Math/MathML">
                    <m:r>
                      <a:rPr lang="en-US" i="1">
                        <a:latin typeface="Cambria Math"/>
                      </a:rPr>
                      <m:t>R</m:t>
                    </m:r>
                  </m:oMath>
                </a14:m>
                <a:r>
                  <a:rPr sz="1800"/>
                  <a:t>까지 검증하면 </a:t>
                </a:r>
                <a14:m xmlns:m="http://schemas.openxmlformats.org/officeDocument/2006/math">
                  <m:oMath xmlns:mml="http://www.w3.org/1998/Math/MathML">
                    <m:sSub>
                      <m:e>
                        <m:r>
                          <a:rPr lang="en-US" i="1">
                            <a:latin typeface="Cambria Math"/>
                          </a:rPr>
                          <m:t>K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sz="1800"/>
                  <a:t>이 진짜임이 확인된다</a:t>
                </a:r>
              </a:p>
              <a:p>
                <a:pPr marL="342900" indent="-342900">
                  <a:buAutoNum type="arabicPeriod"/>
                </a:pPr>
                <a14:m xmlns:m="http://schemas.openxmlformats.org/officeDocument/2006/math">
                  <m:oMath xmlns:mml="http://www.w3.org/1998/Math/MathML">
                    <m:sSub>
                      <m:e>
                        <m:r>
                          <a:rPr lang="en-US" i="1">
                            <a:latin typeface="Cambria Math"/>
                          </a:rPr>
                          <m:t>K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sz="1800"/>
                  <a:t>로 </a:t>
                </a:r>
                <a14:m xmlns:m="http://schemas.openxmlformats.org/officeDocument/2006/math">
                  <m:oMath xmlns:mml="http://www.w3.org/1998/Math/MathML">
                    <m:sSub>
                      <m:e>
                        <m:r>
                          <a:rPr lang="en-US" i="1">
                            <a:latin typeface="Cambria Math"/>
                          </a:rPr>
                          <m:t>R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sz="1800"/>
                  <a:t>에 대한 OTS 서명을 검증하고, </a:t>
                </a:r>
                <a14:m xmlns:m="http://schemas.openxmlformats.org/officeDocument/2006/math">
                  <m:oMath xmlns:mml="http://www.w3.org/1998/Math/MathML">
                    <m:sSub>
                      <m:e>
                        <m:r>
                          <a:rPr lang="en-US" i="1">
                            <a:latin typeface="Cambria Math"/>
                          </a:rPr>
                          <m:t>P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sz="1800"/>
                  <a:t>를 </a:t>
                </a:r>
                <a14:m xmlns:m="http://schemas.openxmlformats.org/officeDocument/2006/math">
                  <m:oMath xmlns:mml="http://www.w3.org/1998/Math/MathML">
                    <m:sSub>
                      <m:e>
                        <m:r>
                          <a:rPr lang="en-US" i="1">
                            <a:latin typeface="Cambria Math"/>
                          </a:rPr>
                          <m:t>K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sz="1800"/>
                  <a:t>에서 </a:t>
                </a:r>
                <a14:m xmlns:m="http://schemas.openxmlformats.org/officeDocument/2006/math">
                  <m:oMath xmlns:mml="http://www.w3.org/1998/Math/MathML">
                    <m:sSub>
                      <m:e>
                        <m:r>
                          <a:rPr lang="en-US" i="1">
                            <a:latin typeface="Cambria Math"/>
                          </a:rPr>
                          <m:t>R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sz="1800"/>
                  <a:t>까지 검증한다</a:t>
                </a:r>
              </a:p>
              <a:p>
                <a:pPr marL="342900" indent="-342900">
                  <a:buAutoNum type="arabicPeriod"/>
                </a:pPr>
                <a:r>
                  <a:rPr sz="1800"/>
                  <a:t>이를 층 </a:t>
                </a:r>
                <a14:m xmlns:m="http://schemas.openxmlformats.org/officeDocument/2006/math">
                  <m:oMath xmlns:mml="http://www.w3.org/1998/Math/MathML">
                    <m:r>
                      <a:rPr lang="en-US" i="1">
                        <a:latin typeface="Cambria Math"/>
                      </a:rPr>
                      <m:t>L</m:t>
                    </m:r>
                  </m:oMath>
                </a14:m>
                <a:r>
                  <a:rPr sz="1800"/>
                  <a:t>까지 한 층씩 내려가며 반복해 </a:t>
                </a:r>
                <a14:m xmlns:m="http://schemas.openxmlformats.org/officeDocument/2006/math">
                  <m:oMath xmlns:mml="http://www.w3.org/1998/Math/MathML">
                    <m:sSub>
                      <m:e>
                        <m:r>
                          <a:rPr lang="en-US" i="1">
                            <a:latin typeface="Cambria Math"/>
                          </a:rPr>
                          <m:t>K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L</m:t>
                        </m:r>
                      </m:sub>
                    </m:sSub>
                  </m:oMath>
                </a14:m>
                <a:r>
                  <a:rPr sz="1800"/>
                  <a:t>이 진짜임을 확인한다</a:t>
                </a:r>
              </a:p>
              <a:p>
                <a:pPr marL="342900" indent="-342900">
                  <a:buAutoNum type="arabicPeriod"/>
                </a:pPr>
                <a:r>
                  <a:rPr sz="1800"/>
                  <a:t>마지막으로 </a:t>
                </a:r>
                <a14:m xmlns:m="http://schemas.openxmlformats.org/officeDocument/2006/math">
                  <m:oMath xmlns:mml="http://www.w3.org/1998/Math/MathML">
                    <m:sSub>
                      <m:e>
                        <m:r>
                          <a:rPr lang="en-US" i="1">
                            <a:latin typeface="Cambria Math"/>
                          </a:rPr>
                          <m:t>K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L</m:t>
                        </m:r>
                      </m:sub>
                    </m:sSub>
                  </m:oMath>
                </a14:m>
                <a:r>
                  <a:rPr sz="1800"/>
                  <a:t>로 </a:t>
                </a:r>
                <a14:m xmlns:m="http://schemas.openxmlformats.org/officeDocument/2006/math">
                  <m:oMath xmlns:mml="http://www.w3.org/1998/Math/MathML">
                    <m:r>
                      <a:rPr lang="en-US" i="1">
                        <a:latin typeface="Cambria Math"/>
                      </a:rPr>
                      <m:t>M</m:t>
                    </m:r>
                  </m:oMath>
                </a14:m>
                <a:r>
                  <a:rPr sz="1800"/>
                  <a:t>의 서명을 검증한다</a:t>
                </a:r>
              </a:p>
            </p:txBody>
          </p:sp>
        </mc:Choice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  <p:pic>
        <p:nvPicPr>
          <p:cNvPr id="5" name="Picture 4" descr="서명 검증 순서: 층 1에서 층 L로 내려가며 R에서 K_L까지 확인한 뒤 M을 검증한다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7872" y="1280160"/>
            <a:ext cx="3938016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신뢰 사슬 ①: R에서 M까지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1005840"/>
          </a:xfrm>
        </p:spPr>
        <p:txBody>
          <a:bodyPr/>
          <a:lstStyle/>
          <a:p>
            <a:pPr/>
            <a:r>
              <a:rPr sz="1800"/>
              <a:t>검증자는 R 하나만 믿고 시작해, 층마다 새로 확인한 값으로 다음 층을 믿어 나간다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38200" y="2103120"/>
          <a:ext cx="10515599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5735781"/>
                <a:gridCol w="2676698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chemeClr val="bg1"/>
                          </a:solidFill>
                        </a:rPr>
                        <a:t>단계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chemeClr val="bg1"/>
                          </a:solidFill>
                        </a:rPr>
                        <a:t>검증하는 것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chemeClr val="bg1"/>
                          </a:solidFill>
                        </a:rPr>
                        <a:t>새로 믿게 되는 값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시작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장기 공개키 R을 신뢰한다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층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경로 P</a:t>
                      </a:r>
                      <a:r>
                        <a:rPr sz="1800" baseline="-25000"/>
                        <a:t>1</a:t>
                      </a:r>
                      <a:r>
                        <a:rPr sz="1800"/>
                        <a:t>: K</a:t>
                      </a:r>
                      <a:r>
                        <a:rPr sz="1800" baseline="-25000"/>
                        <a:t>1</a:t>
                      </a:r>
                      <a:r>
                        <a:rPr sz="1800"/>
                        <a:t> → 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K</a:t>
                      </a:r>
                      <a:r>
                        <a:rPr sz="1800" baseline="-2500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층 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K</a:t>
                      </a:r>
                      <a:r>
                        <a:rPr sz="1800" baseline="-25000"/>
                        <a:t>1</a:t>
                      </a:r>
                      <a:r>
                        <a:rPr sz="1800"/>
                        <a:t>의 OTS 서명 + 경로 P</a:t>
                      </a:r>
                      <a:r>
                        <a:rPr sz="1800" baseline="-25000"/>
                        <a:t>2</a:t>
                      </a:r>
                      <a:r>
                        <a:rPr sz="1800"/>
                        <a:t>: K</a:t>
                      </a:r>
                      <a:r>
                        <a:rPr sz="1800" baseline="-25000"/>
                        <a:t>2</a:t>
                      </a:r>
                      <a:r>
                        <a:rPr sz="1800"/>
                        <a:t> → R</a:t>
                      </a:r>
                      <a:r>
                        <a:rPr sz="1800" baseline="-2500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R</a:t>
                      </a:r>
                      <a:r>
                        <a:rPr sz="1800" baseline="-25000"/>
                        <a:t>2</a:t>
                      </a:r>
                      <a:r>
                        <a:rPr sz="1800"/>
                        <a:t>, K</a:t>
                      </a:r>
                      <a:r>
                        <a:rPr sz="1800" baseline="-2500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층 3 ~ 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같은 과정을 한 층씩 반복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R</a:t>
                      </a:r>
                      <a:r>
                        <a:rPr sz="1800" baseline="-25000"/>
                        <a:t>i</a:t>
                      </a:r>
                      <a:r>
                        <a:rPr sz="1800"/>
                        <a:t>, K</a:t>
                      </a:r>
                      <a:r>
                        <a:rPr sz="1800" baseline="-25000"/>
                        <a:t>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메시지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K</a:t>
                      </a:r>
                      <a:r>
                        <a:rPr sz="1800" baseline="-25000"/>
                        <a:t>L</a:t>
                      </a:r>
                      <a:r>
                        <a:rPr sz="1800"/>
                        <a:t>의 FTS 서명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신뢰 사슬 ②: 해시 경로와 서명이 번갈아 쓰인다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2194560"/>
          </a:xfrm>
        </p:spPr>
        <p:txBody>
          <a:bodyPr/>
          <a:lstStyle/>
          <a:p>
            <a:pPr/>
            <a:r>
              <a:rPr sz="1800"/>
              <a:t>층 하나에서는 두 가지 확인이 이어진다</a:t>
            </a:r>
          </a:p>
          <a:p>
            <a:pPr/>
            <a:r>
              <a:rPr sz="1800"/>
              <a:t>Merkle 트리 하나의 경로 검증은 리프에서 루트로 올라가지만, 하이퍼트리 전체의 신뢰는 R에서 K</a:t>
            </a:r>
            <a:r>
              <a:rPr sz="1800" baseline="-25000"/>
              <a:t>L</a:t>
            </a:r>
            <a:r>
              <a:rPr sz="1800"/>
              <a:t>로 내려간다</a:t>
            </a:r>
          </a:p>
          <a:p>
            <a:pPr/>
            <a:r>
              <a:rPr sz="1800"/>
              <a:t>R에 아래 층의 값은 없지만, 값은 SEED로 확정돼 있고 승인의 증거는 서명에 실려 온다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38200" y="3657600"/>
          <a:ext cx="10515598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0734"/>
                <a:gridCol w="5735781"/>
                <a:gridCol w="3059083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chemeClr val="bg1"/>
                          </a:solidFill>
                        </a:rPr>
                        <a:t>순서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chemeClr val="bg1"/>
                          </a:solidFill>
                        </a:rPr>
                        <a:t>확인하는 것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chemeClr val="bg1"/>
                          </a:solidFill>
                        </a:rPr>
                        <a:t>쓰는 것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공개키 K</a:t>
                      </a:r>
                      <a:r>
                        <a:rPr sz="1800" baseline="-25000"/>
                        <a:t>i</a:t>
                      </a:r>
                      <a:r>
                        <a:rPr sz="1800"/>
                        <a:t>가 그 층의 루트 R</a:t>
                      </a:r>
                      <a:r>
                        <a:rPr sz="1800" baseline="-25000"/>
                        <a:t>i</a:t>
                      </a:r>
                      <a:r>
                        <a:rPr sz="1800"/>
                        <a:t>에 속하는가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인증 경로 P</a:t>
                      </a:r>
                      <a:r>
                        <a:rPr sz="1800" baseline="-25000"/>
                        <a:t>i</a:t>
                      </a:r>
                      <a:r>
                        <a:rPr sz="1800"/>
                        <a:t> (해시)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②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다음 층의 루트가 K</a:t>
                      </a:r>
                      <a:r>
                        <a:rPr sz="1800" baseline="-25000"/>
                        <a:t>i</a:t>
                      </a:r>
                      <a:r>
                        <a:rPr sz="1800"/>
                        <a:t>의 서명을 받았는가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OTS 서명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맨 아래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②에서 루트 대신 메시지 M을 확인한다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FTS 서명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정리와 평가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Part 5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문제에서 해법까지 한눈에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1005840"/>
          </a:xfrm>
        </p:spPr>
        <p:txBody>
          <a:bodyPr/>
          <a:lstStyle/>
          <a:p>
            <a:pPr/>
            <a:r>
              <a:rPr sz="1800"/>
              <a:t>각 해법이 앞 단계의 한계를 풀면서 다음 한계를 드러낸다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38200" y="2103120"/>
          <a:ext cx="1051559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41469"/>
                <a:gridCol w="3632661"/>
                <a:gridCol w="3441469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chemeClr val="bg1"/>
                          </a:solidFill>
                        </a:rPr>
                        <a:t>문제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chemeClr val="bg1"/>
                          </a:solidFill>
                        </a:rPr>
                        <a:t>해법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chemeClr val="bg1"/>
                          </a:solidFill>
                        </a:rPr>
                        <a:t>결과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상태를 관리하기 어렵다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무작위 리프 + 서명 수 상한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재사용 확률 1/2</a:t>
                      </a:r>
                      <a:r>
                        <a:rPr sz="1800" baseline="30000"/>
                        <a:t>128</a:t>
                      </a:r>
                      <a:r>
                        <a:rPr sz="1800"/>
                        <a:t> (D=207)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높이 207 트리를 만들 수 없다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리프에 FTS(HORS) 사용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높이 80, 확률 약 1/2</a:t>
                      </a:r>
                      <a:r>
                        <a:rPr sz="1800" baseline="30000"/>
                        <a:t>127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HORS 공개키가 2 MiB다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HORST: Merkle 트리로 압축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공개키는 루트 하나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높이 80 트리도 만들 수 없다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가상 하이퍼트리 (SEED + PRF)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작은 트리만 필요할 때 생성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LMS와 SPHINCS+ 비교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38200" y="1554480"/>
          <a:ext cx="10515598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899"/>
                <a:gridCol w="3755571"/>
                <a:gridCol w="4131128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chemeClr val="bg1"/>
                          </a:solidFill>
                        </a:rPr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chemeClr val="bg1"/>
                          </a:solidFill>
                        </a:rPr>
                        <a:t>LMS·HSS (XMSS)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chemeClr val="bg1"/>
                          </a:solidFill>
                        </a:rPr>
                        <a:t>SPHINCS+ (SLH-DSA)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상태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유지형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없음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서명 키 선택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사용한 OTS 키를 추적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무작위 리프, 추적 없음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리프의 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OTS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맨 아래층만 FTS, 위층은 OTS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트리 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Merkle 트리 / 하이퍼트리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가상 하이퍼트리 (SEED + PRF)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서명 횟수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리프 수까지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상한 S, 재사용 확률로 제한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서명 크기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작음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표준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NIST SP 800-208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FIPS 205 (2024)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장단점과 전망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/>
          <a:lstStyle/>
          <a:p>
            <a:pPr/>
            <a:r>
              <a:rPr sz="1800"/>
              <a:t>장점: 해시 기반이라 양자 공격에 대한 안전성 근거가 설득력 있다</a:t>
            </a:r>
          </a:p>
          <a:p>
            <a:pPr/>
            <a:r>
              <a:rPr sz="1800"/>
              <a:t>단점: 서명이 크고 상대적으로 느리다</a:t>
            </a:r>
          </a:p>
          <a:p>
            <a:pPr/>
            <a:r>
              <a:rPr sz="1800"/>
              <a:t>LMS·XMSS는 상태 유지형이라 실제 배포 범위가 제한될 전망이다</a:t>
            </a:r>
          </a:p>
          <a:p>
            <a:pPr/>
            <a:r>
              <a:rPr sz="1800"/>
              <a:t>SPHINCS+는 이미 배포 중이지만, 격자 기반 서명 Dilithium(ML-DSA)만큼 널리 쓰이지는 않을 전망이다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PQC Navy">
      <a:dk1>
        <a:srgbClr val="000000"/>
      </a:dk1>
      <a:lt1>
        <a:srgbClr val="FFFFFF"/>
      </a:lt1>
      <a:dk2>
        <a:srgbClr val="0A1B2E"/>
      </a:dk2>
      <a:lt2>
        <a:srgbClr val="EEF3F7"/>
      </a:lt2>
      <a:accent1>
        <a:srgbClr val="2EC4D9"/>
      </a:accent1>
      <a:accent2>
        <a:srgbClr val="1B4B7A"/>
      </a:accent2>
      <a:accent3>
        <a:srgbClr val="5A7A96"/>
      </a:accent3>
      <a:accent4>
        <a:srgbClr val="F2A65A"/>
      </a:accent4>
      <a:accent5>
        <a:srgbClr val="8FB8C9"/>
      </a:accent5>
      <a:accent6>
        <a:srgbClr val="3F8F7A"/>
      </a:accent6>
      <a:hlink>
        <a:srgbClr val="1B7FA8"/>
      </a:hlink>
      <a:folHlink>
        <a:srgbClr val="5A7A96"/>
      </a:folHlink>
    </a:clrScheme>
    <a:fontScheme name="PQC">
      <a:majorFont>
        <a:latin typeface="맑은 고딕" panose="020B05030200000200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B05030200000200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3">
          <a:schemeClr val="lt1"/>
        </a:lnRef>
        <a:fillRef idx="1">
          <a:schemeClr val="accent6"/>
        </a:fillRef>
        <a:effectRef idx="1">
          <a:schemeClr val="accent6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3314</TotalTime>
  <Words>595</Words>
  <Application>Microsoft Office PowerPoint</Application>
  <PresentationFormat>와이드스크린</PresentationFormat>
  <Paragraphs>147</Paragraphs>
  <Slides>10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3" baseType="lpstr">
      <vt:lpstr>맑은 고딕</vt:lpstr>
      <vt:lpstr>Arial</vt:lpstr>
      <vt:lpstr>Office 테마</vt:lpstr>
      <vt:lpstr>Post-Quantum Cryptography</vt:lpstr>
      <vt:lpstr>Plan</vt:lpstr>
      <vt:lpstr>전체 커리귤럼 구성</vt:lpstr>
      <vt:lpstr>일정 구성 원칙</vt:lpstr>
      <vt:lpstr>학습 일정표</vt:lpstr>
      <vt:lpstr>Introduction</vt:lpstr>
      <vt:lpstr>PQC 배경</vt:lpstr>
      <vt:lpstr>Kyber / Dilithium의 안전성 근거</vt:lpstr>
      <vt:lpstr>Lattice-Based Cryptography의 목적</vt:lpstr>
      <vt:lpstr>Lattice-Based Cryptography의 흐름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규빈 박</dc:creator>
  <cp:lastModifiedBy>규빈 박</cp:lastModifiedBy>
  <cp:revision>704</cp:revision>
  <dcterms:created xsi:type="dcterms:W3CDTF">2026-03-17T05:07:50Z</dcterms:created>
  <dcterms:modified xsi:type="dcterms:W3CDTF">2026-07-29T06:56:11Z</dcterms:modified>
</cp:coreProperties>
</file>