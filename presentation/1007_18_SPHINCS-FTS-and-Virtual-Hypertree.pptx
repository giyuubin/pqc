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200" name="격자 패턴"/>
          <p:cNvGrpSpPr/>
          <p:nvPr userDrawn="1"/>
        </p:nvGrpSpPr>
        <p:grpSpPr>
          <a:xfrm>
            <a:off x="9900000" y="4700000"/>
            <a:ext cx="2108200" cy="2108200"/>
            <a:chOff x="9900000" y="4700000"/>
            <a:chExt cx="2108200" cy="2108200"/>
          </a:xfrm>
        </p:grpSpPr>
        <p:sp>
          <p:nvSpPr>
            <p:cNvPr id="201" name="점 201"/>
            <p:cNvSpPr/>
            <p:nvPr userDrawn="1"/>
          </p:nvSpPr>
          <p:spPr>
            <a:xfrm>
              <a:off x="990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2" name="점 202"/>
            <p:cNvSpPr/>
            <p:nvPr userDrawn="1"/>
          </p:nvSpPr>
          <p:spPr>
            <a:xfrm>
              <a:off x="1015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3" name="점 203"/>
            <p:cNvSpPr/>
            <p:nvPr userDrawn="1"/>
          </p:nvSpPr>
          <p:spPr>
            <a:xfrm>
              <a:off x="1040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4" name="점 204"/>
            <p:cNvSpPr/>
            <p:nvPr userDrawn="1"/>
          </p:nvSpPr>
          <p:spPr>
            <a:xfrm>
              <a:off x="1066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5" name="점 205"/>
            <p:cNvSpPr/>
            <p:nvPr userDrawn="1"/>
          </p:nvSpPr>
          <p:spPr>
            <a:xfrm>
              <a:off x="10916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6" name="점 206"/>
            <p:cNvSpPr/>
            <p:nvPr userDrawn="1"/>
          </p:nvSpPr>
          <p:spPr>
            <a:xfrm>
              <a:off x="1117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7" name="점 207"/>
            <p:cNvSpPr/>
            <p:nvPr userDrawn="1"/>
          </p:nvSpPr>
          <p:spPr>
            <a:xfrm>
              <a:off x="1142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8" name="점 208"/>
            <p:cNvSpPr/>
            <p:nvPr userDrawn="1"/>
          </p:nvSpPr>
          <p:spPr>
            <a:xfrm>
              <a:off x="1167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9" name="점 209"/>
            <p:cNvSpPr/>
            <p:nvPr userDrawn="1"/>
          </p:nvSpPr>
          <p:spPr>
            <a:xfrm>
              <a:off x="1193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0" name="점 210"/>
            <p:cNvSpPr/>
            <p:nvPr userDrawn="1"/>
          </p:nvSpPr>
          <p:spPr>
            <a:xfrm>
              <a:off x="9900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1" name="점 211"/>
            <p:cNvSpPr/>
            <p:nvPr userDrawn="1"/>
          </p:nvSpPr>
          <p:spPr>
            <a:xfrm>
              <a:off x="1015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2" name="점 212"/>
            <p:cNvSpPr/>
            <p:nvPr userDrawn="1"/>
          </p:nvSpPr>
          <p:spPr>
            <a:xfrm>
              <a:off x="1040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3" name="점 213"/>
            <p:cNvSpPr/>
            <p:nvPr userDrawn="1"/>
          </p:nvSpPr>
          <p:spPr>
            <a:xfrm>
              <a:off x="1066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4" name="점 214"/>
            <p:cNvSpPr/>
            <p:nvPr userDrawn="1"/>
          </p:nvSpPr>
          <p:spPr>
            <a:xfrm>
              <a:off x="10916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5" name="점 215"/>
            <p:cNvSpPr/>
            <p:nvPr userDrawn="1"/>
          </p:nvSpPr>
          <p:spPr>
            <a:xfrm>
              <a:off x="11170000" y="4954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6" name="점 216"/>
            <p:cNvSpPr/>
            <p:nvPr userDrawn="1"/>
          </p:nvSpPr>
          <p:spPr>
            <a:xfrm>
              <a:off x="1142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7" name="점 217"/>
            <p:cNvSpPr/>
            <p:nvPr userDrawn="1"/>
          </p:nvSpPr>
          <p:spPr>
            <a:xfrm>
              <a:off x="1167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8" name="점 218"/>
            <p:cNvSpPr/>
            <p:nvPr userDrawn="1"/>
          </p:nvSpPr>
          <p:spPr>
            <a:xfrm>
              <a:off x="1193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9" name="점 219"/>
            <p:cNvSpPr/>
            <p:nvPr userDrawn="1"/>
          </p:nvSpPr>
          <p:spPr>
            <a:xfrm>
              <a:off x="990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0" name="점 220"/>
            <p:cNvSpPr/>
            <p:nvPr userDrawn="1"/>
          </p:nvSpPr>
          <p:spPr>
            <a:xfrm>
              <a:off x="1015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1" name="점 221"/>
            <p:cNvSpPr/>
            <p:nvPr userDrawn="1"/>
          </p:nvSpPr>
          <p:spPr>
            <a:xfrm>
              <a:off x="1040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2" name="점 222"/>
            <p:cNvSpPr/>
            <p:nvPr userDrawn="1"/>
          </p:nvSpPr>
          <p:spPr>
            <a:xfrm>
              <a:off x="1066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3" name="점 223"/>
            <p:cNvSpPr/>
            <p:nvPr userDrawn="1"/>
          </p:nvSpPr>
          <p:spPr>
            <a:xfrm>
              <a:off x="10916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4" name="점 224"/>
            <p:cNvSpPr/>
            <p:nvPr userDrawn="1"/>
          </p:nvSpPr>
          <p:spPr>
            <a:xfrm>
              <a:off x="1117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5" name="점 225"/>
            <p:cNvSpPr/>
            <p:nvPr userDrawn="1"/>
          </p:nvSpPr>
          <p:spPr>
            <a:xfrm>
              <a:off x="1142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6" name="점 226"/>
            <p:cNvSpPr/>
            <p:nvPr userDrawn="1"/>
          </p:nvSpPr>
          <p:spPr>
            <a:xfrm>
              <a:off x="1167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7" name="점 227"/>
            <p:cNvSpPr/>
            <p:nvPr userDrawn="1"/>
          </p:nvSpPr>
          <p:spPr>
            <a:xfrm>
              <a:off x="1193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8" name="점 228"/>
            <p:cNvSpPr/>
            <p:nvPr userDrawn="1"/>
          </p:nvSpPr>
          <p:spPr>
            <a:xfrm>
              <a:off x="990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9" name="점 229"/>
            <p:cNvSpPr/>
            <p:nvPr userDrawn="1"/>
          </p:nvSpPr>
          <p:spPr>
            <a:xfrm>
              <a:off x="1015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0" name="점 230"/>
            <p:cNvSpPr/>
            <p:nvPr userDrawn="1"/>
          </p:nvSpPr>
          <p:spPr>
            <a:xfrm>
              <a:off x="10408000" y="5462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1" name="점 231"/>
            <p:cNvSpPr/>
            <p:nvPr userDrawn="1"/>
          </p:nvSpPr>
          <p:spPr>
            <a:xfrm>
              <a:off x="1066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2" name="점 232"/>
            <p:cNvSpPr/>
            <p:nvPr userDrawn="1"/>
          </p:nvSpPr>
          <p:spPr>
            <a:xfrm>
              <a:off x="10916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3" name="점 233"/>
            <p:cNvSpPr/>
            <p:nvPr userDrawn="1"/>
          </p:nvSpPr>
          <p:spPr>
            <a:xfrm>
              <a:off x="1117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4" name="점 234"/>
            <p:cNvSpPr/>
            <p:nvPr userDrawn="1"/>
          </p:nvSpPr>
          <p:spPr>
            <a:xfrm>
              <a:off x="1142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5" name="점 235"/>
            <p:cNvSpPr/>
            <p:nvPr userDrawn="1"/>
          </p:nvSpPr>
          <p:spPr>
            <a:xfrm>
              <a:off x="11678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6" name="점 236"/>
            <p:cNvSpPr/>
            <p:nvPr userDrawn="1"/>
          </p:nvSpPr>
          <p:spPr>
            <a:xfrm>
              <a:off x="1193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7" name="점 237"/>
            <p:cNvSpPr/>
            <p:nvPr userDrawn="1"/>
          </p:nvSpPr>
          <p:spPr>
            <a:xfrm>
              <a:off x="990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8" name="점 238"/>
            <p:cNvSpPr/>
            <p:nvPr userDrawn="1"/>
          </p:nvSpPr>
          <p:spPr>
            <a:xfrm>
              <a:off x="1015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9" name="점 239"/>
            <p:cNvSpPr/>
            <p:nvPr userDrawn="1"/>
          </p:nvSpPr>
          <p:spPr>
            <a:xfrm>
              <a:off x="1040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0" name="점 240"/>
            <p:cNvSpPr/>
            <p:nvPr userDrawn="1"/>
          </p:nvSpPr>
          <p:spPr>
            <a:xfrm>
              <a:off x="1066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1" name="점 241"/>
            <p:cNvSpPr/>
            <p:nvPr userDrawn="1"/>
          </p:nvSpPr>
          <p:spPr>
            <a:xfrm>
              <a:off x="10916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2" name="점 242"/>
            <p:cNvSpPr/>
            <p:nvPr userDrawn="1"/>
          </p:nvSpPr>
          <p:spPr>
            <a:xfrm>
              <a:off x="1117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3" name="점 243"/>
            <p:cNvSpPr/>
            <p:nvPr userDrawn="1"/>
          </p:nvSpPr>
          <p:spPr>
            <a:xfrm>
              <a:off x="1142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4" name="점 244"/>
            <p:cNvSpPr/>
            <p:nvPr userDrawn="1"/>
          </p:nvSpPr>
          <p:spPr>
            <a:xfrm>
              <a:off x="1167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5" name="점 245"/>
            <p:cNvSpPr/>
            <p:nvPr userDrawn="1"/>
          </p:nvSpPr>
          <p:spPr>
            <a:xfrm>
              <a:off x="1193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6" name="점 246"/>
            <p:cNvSpPr/>
            <p:nvPr userDrawn="1"/>
          </p:nvSpPr>
          <p:spPr>
            <a:xfrm>
              <a:off x="990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7" name="점 247"/>
            <p:cNvSpPr/>
            <p:nvPr userDrawn="1"/>
          </p:nvSpPr>
          <p:spPr>
            <a:xfrm>
              <a:off x="1015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8" name="점 248"/>
            <p:cNvSpPr/>
            <p:nvPr userDrawn="1"/>
          </p:nvSpPr>
          <p:spPr>
            <a:xfrm>
              <a:off x="10408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9" name="점 249"/>
            <p:cNvSpPr/>
            <p:nvPr userDrawn="1"/>
          </p:nvSpPr>
          <p:spPr>
            <a:xfrm>
              <a:off x="1066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0" name="점 250"/>
            <p:cNvSpPr/>
            <p:nvPr userDrawn="1"/>
          </p:nvSpPr>
          <p:spPr>
            <a:xfrm>
              <a:off x="10916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1" name="점 251"/>
            <p:cNvSpPr/>
            <p:nvPr userDrawn="1"/>
          </p:nvSpPr>
          <p:spPr>
            <a:xfrm>
              <a:off x="1117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2" name="점 252"/>
            <p:cNvSpPr/>
            <p:nvPr userDrawn="1"/>
          </p:nvSpPr>
          <p:spPr>
            <a:xfrm>
              <a:off x="1142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3" name="점 253"/>
            <p:cNvSpPr/>
            <p:nvPr userDrawn="1"/>
          </p:nvSpPr>
          <p:spPr>
            <a:xfrm>
              <a:off x="11678000" y="597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4" name="점 254"/>
            <p:cNvSpPr/>
            <p:nvPr userDrawn="1"/>
          </p:nvSpPr>
          <p:spPr>
            <a:xfrm>
              <a:off x="1193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5" name="점 255"/>
            <p:cNvSpPr/>
            <p:nvPr userDrawn="1"/>
          </p:nvSpPr>
          <p:spPr>
            <a:xfrm>
              <a:off x="990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6" name="점 256"/>
            <p:cNvSpPr/>
            <p:nvPr userDrawn="1"/>
          </p:nvSpPr>
          <p:spPr>
            <a:xfrm>
              <a:off x="1015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7" name="점 257"/>
            <p:cNvSpPr/>
            <p:nvPr userDrawn="1"/>
          </p:nvSpPr>
          <p:spPr>
            <a:xfrm>
              <a:off x="1040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8" name="점 258"/>
            <p:cNvSpPr/>
            <p:nvPr userDrawn="1"/>
          </p:nvSpPr>
          <p:spPr>
            <a:xfrm>
              <a:off x="1066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9" name="점 259"/>
            <p:cNvSpPr/>
            <p:nvPr userDrawn="1"/>
          </p:nvSpPr>
          <p:spPr>
            <a:xfrm>
              <a:off x="10916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0" name="점 260"/>
            <p:cNvSpPr/>
            <p:nvPr userDrawn="1"/>
          </p:nvSpPr>
          <p:spPr>
            <a:xfrm>
              <a:off x="1117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1" name="점 261"/>
            <p:cNvSpPr/>
            <p:nvPr userDrawn="1"/>
          </p:nvSpPr>
          <p:spPr>
            <a:xfrm>
              <a:off x="1142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2" name="점 262"/>
            <p:cNvSpPr/>
            <p:nvPr userDrawn="1"/>
          </p:nvSpPr>
          <p:spPr>
            <a:xfrm>
              <a:off x="1167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3" name="점 263"/>
            <p:cNvSpPr/>
            <p:nvPr userDrawn="1"/>
          </p:nvSpPr>
          <p:spPr>
            <a:xfrm>
              <a:off x="1193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4" name="점 264"/>
            <p:cNvSpPr/>
            <p:nvPr userDrawn="1"/>
          </p:nvSpPr>
          <p:spPr>
            <a:xfrm>
              <a:off x="990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5" name="점 265"/>
            <p:cNvSpPr/>
            <p:nvPr userDrawn="1"/>
          </p:nvSpPr>
          <p:spPr>
            <a:xfrm>
              <a:off x="1015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6" name="점 266"/>
            <p:cNvSpPr/>
            <p:nvPr userDrawn="1"/>
          </p:nvSpPr>
          <p:spPr>
            <a:xfrm>
              <a:off x="1040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7" name="점 267"/>
            <p:cNvSpPr/>
            <p:nvPr userDrawn="1"/>
          </p:nvSpPr>
          <p:spPr>
            <a:xfrm>
              <a:off x="1066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8" name="점 268"/>
            <p:cNvSpPr/>
            <p:nvPr userDrawn="1"/>
          </p:nvSpPr>
          <p:spPr>
            <a:xfrm>
              <a:off x="10916000" y="647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9" name="점 269"/>
            <p:cNvSpPr/>
            <p:nvPr userDrawn="1"/>
          </p:nvSpPr>
          <p:spPr>
            <a:xfrm>
              <a:off x="1117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0" name="점 270"/>
            <p:cNvSpPr/>
            <p:nvPr userDrawn="1"/>
          </p:nvSpPr>
          <p:spPr>
            <a:xfrm>
              <a:off x="1142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1" name="점 271"/>
            <p:cNvSpPr/>
            <p:nvPr userDrawn="1"/>
          </p:nvSpPr>
          <p:spPr>
            <a:xfrm>
              <a:off x="1167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2" name="점 272"/>
            <p:cNvSpPr/>
            <p:nvPr userDrawn="1"/>
          </p:nvSpPr>
          <p:spPr>
            <a:xfrm>
              <a:off x="1193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3" name="점 273"/>
            <p:cNvSpPr/>
            <p:nvPr userDrawn="1"/>
          </p:nvSpPr>
          <p:spPr>
            <a:xfrm>
              <a:off x="990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4" name="점 274"/>
            <p:cNvSpPr/>
            <p:nvPr userDrawn="1"/>
          </p:nvSpPr>
          <p:spPr>
            <a:xfrm>
              <a:off x="1015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5" name="점 275"/>
            <p:cNvSpPr/>
            <p:nvPr userDrawn="1"/>
          </p:nvSpPr>
          <p:spPr>
            <a:xfrm>
              <a:off x="1040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6" name="점 276"/>
            <p:cNvSpPr/>
            <p:nvPr userDrawn="1"/>
          </p:nvSpPr>
          <p:spPr>
            <a:xfrm>
              <a:off x="1066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7" name="점 277"/>
            <p:cNvSpPr/>
            <p:nvPr userDrawn="1"/>
          </p:nvSpPr>
          <p:spPr>
            <a:xfrm>
              <a:off x="10916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8" name="점 278"/>
            <p:cNvSpPr/>
            <p:nvPr userDrawn="1"/>
          </p:nvSpPr>
          <p:spPr>
            <a:xfrm>
              <a:off x="1117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9" name="점 279"/>
            <p:cNvSpPr/>
            <p:nvPr userDrawn="1"/>
          </p:nvSpPr>
          <p:spPr>
            <a:xfrm>
              <a:off x="1142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0" name="점 280"/>
            <p:cNvSpPr/>
            <p:nvPr userDrawn="1"/>
          </p:nvSpPr>
          <p:spPr>
            <a:xfrm>
              <a:off x="1167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1" name="점 281"/>
            <p:cNvSpPr/>
            <p:nvPr userDrawn="1"/>
          </p:nvSpPr>
          <p:spPr>
            <a:xfrm>
              <a:off x="1193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히어로 강조 룰"/>
          <p:cNvSpPr/>
          <p:nvPr userDrawn="1"/>
        </p:nvSpPr>
        <p:spPr>
          <a:xfrm>
            <a:off x="1615440" y="290004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525000" cy="1371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0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525000" cy="1143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2000">
                <a:solidFill>
                  <a:srgbClr val="8FB8C9"/>
                </a:solidFill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2026-10-07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 anchor="b">
            <a:normAutofit/>
          </a:bodyPr>
          <a:lstStyle>
            <a:lvl1pPr algn="l">
              <a:defRPr sz="2800" b="0" spc="-3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8CD677-7AD2-4A27-94BD-C65458D22428}" type="datetime1">
              <a:rPr lang="ko-KR" altLang="en-US" smtClean="0"/>
              <a:pPr/>
              <a:t>2026-10-07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300" name="격자 패턴"/>
          <p:cNvGrpSpPr/>
          <p:nvPr userDrawn="1"/>
        </p:nvGrpSpPr>
        <p:grpSpPr>
          <a:xfrm>
            <a:off x="10033800" y="4300000"/>
            <a:ext cx="2108200" cy="1854200"/>
            <a:chOff x="10033800" y="4300000"/>
            <a:chExt cx="2108200" cy="1854200"/>
          </a:xfrm>
        </p:grpSpPr>
        <p:sp>
          <p:nvSpPr>
            <p:cNvPr id="301" name="점 301"/>
            <p:cNvSpPr/>
            <p:nvPr userDrawn="1"/>
          </p:nvSpPr>
          <p:spPr>
            <a:xfrm>
              <a:off x="1003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2" name="점 302"/>
            <p:cNvSpPr/>
            <p:nvPr userDrawn="1"/>
          </p:nvSpPr>
          <p:spPr>
            <a:xfrm>
              <a:off x="1028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3" name="점 303"/>
            <p:cNvSpPr/>
            <p:nvPr userDrawn="1"/>
          </p:nvSpPr>
          <p:spPr>
            <a:xfrm>
              <a:off x="1054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4" name="점 304"/>
            <p:cNvSpPr/>
            <p:nvPr userDrawn="1"/>
          </p:nvSpPr>
          <p:spPr>
            <a:xfrm>
              <a:off x="1079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5" name="점 305"/>
            <p:cNvSpPr/>
            <p:nvPr userDrawn="1"/>
          </p:nvSpPr>
          <p:spPr>
            <a:xfrm>
              <a:off x="11049800" y="430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6" name="점 306"/>
            <p:cNvSpPr/>
            <p:nvPr userDrawn="1"/>
          </p:nvSpPr>
          <p:spPr>
            <a:xfrm>
              <a:off x="1130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7" name="점 307"/>
            <p:cNvSpPr/>
            <p:nvPr userDrawn="1"/>
          </p:nvSpPr>
          <p:spPr>
            <a:xfrm>
              <a:off x="1155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8" name="점 308"/>
            <p:cNvSpPr/>
            <p:nvPr userDrawn="1"/>
          </p:nvSpPr>
          <p:spPr>
            <a:xfrm>
              <a:off x="1181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9" name="점 309"/>
            <p:cNvSpPr/>
            <p:nvPr userDrawn="1"/>
          </p:nvSpPr>
          <p:spPr>
            <a:xfrm>
              <a:off x="1206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0" name="점 310"/>
            <p:cNvSpPr/>
            <p:nvPr userDrawn="1"/>
          </p:nvSpPr>
          <p:spPr>
            <a:xfrm>
              <a:off x="1003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1" name="점 311"/>
            <p:cNvSpPr/>
            <p:nvPr userDrawn="1"/>
          </p:nvSpPr>
          <p:spPr>
            <a:xfrm>
              <a:off x="1028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2" name="점 312"/>
            <p:cNvSpPr/>
            <p:nvPr userDrawn="1"/>
          </p:nvSpPr>
          <p:spPr>
            <a:xfrm>
              <a:off x="1054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3" name="점 313"/>
            <p:cNvSpPr/>
            <p:nvPr userDrawn="1"/>
          </p:nvSpPr>
          <p:spPr>
            <a:xfrm>
              <a:off x="1079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4" name="점 314"/>
            <p:cNvSpPr/>
            <p:nvPr userDrawn="1"/>
          </p:nvSpPr>
          <p:spPr>
            <a:xfrm>
              <a:off x="11049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5" name="점 315"/>
            <p:cNvSpPr/>
            <p:nvPr userDrawn="1"/>
          </p:nvSpPr>
          <p:spPr>
            <a:xfrm>
              <a:off x="1130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6" name="점 316"/>
            <p:cNvSpPr/>
            <p:nvPr userDrawn="1"/>
          </p:nvSpPr>
          <p:spPr>
            <a:xfrm>
              <a:off x="1155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7" name="점 317"/>
            <p:cNvSpPr/>
            <p:nvPr userDrawn="1"/>
          </p:nvSpPr>
          <p:spPr>
            <a:xfrm>
              <a:off x="1181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8" name="점 318"/>
            <p:cNvSpPr/>
            <p:nvPr userDrawn="1"/>
          </p:nvSpPr>
          <p:spPr>
            <a:xfrm>
              <a:off x="1206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9" name="점 319"/>
            <p:cNvSpPr/>
            <p:nvPr userDrawn="1"/>
          </p:nvSpPr>
          <p:spPr>
            <a:xfrm>
              <a:off x="1003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0" name="점 320"/>
            <p:cNvSpPr/>
            <p:nvPr userDrawn="1"/>
          </p:nvSpPr>
          <p:spPr>
            <a:xfrm>
              <a:off x="10287800" y="480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1" name="점 321"/>
            <p:cNvSpPr/>
            <p:nvPr userDrawn="1"/>
          </p:nvSpPr>
          <p:spPr>
            <a:xfrm>
              <a:off x="1054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2" name="점 322"/>
            <p:cNvSpPr/>
            <p:nvPr userDrawn="1"/>
          </p:nvSpPr>
          <p:spPr>
            <a:xfrm>
              <a:off x="1079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3" name="점 323"/>
            <p:cNvSpPr/>
            <p:nvPr userDrawn="1"/>
          </p:nvSpPr>
          <p:spPr>
            <a:xfrm>
              <a:off x="11049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4" name="점 324"/>
            <p:cNvSpPr/>
            <p:nvPr userDrawn="1"/>
          </p:nvSpPr>
          <p:spPr>
            <a:xfrm>
              <a:off x="1130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5" name="점 325"/>
            <p:cNvSpPr/>
            <p:nvPr userDrawn="1"/>
          </p:nvSpPr>
          <p:spPr>
            <a:xfrm>
              <a:off x="11557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6" name="점 326"/>
            <p:cNvSpPr/>
            <p:nvPr userDrawn="1"/>
          </p:nvSpPr>
          <p:spPr>
            <a:xfrm>
              <a:off x="1181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7" name="점 327"/>
            <p:cNvSpPr/>
            <p:nvPr userDrawn="1"/>
          </p:nvSpPr>
          <p:spPr>
            <a:xfrm>
              <a:off x="1206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8" name="점 328"/>
            <p:cNvSpPr/>
            <p:nvPr userDrawn="1"/>
          </p:nvSpPr>
          <p:spPr>
            <a:xfrm>
              <a:off x="1003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9" name="점 329"/>
            <p:cNvSpPr/>
            <p:nvPr userDrawn="1"/>
          </p:nvSpPr>
          <p:spPr>
            <a:xfrm>
              <a:off x="1028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0" name="점 330"/>
            <p:cNvSpPr/>
            <p:nvPr userDrawn="1"/>
          </p:nvSpPr>
          <p:spPr>
            <a:xfrm>
              <a:off x="1054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1" name="점 331"/>
            <p:cNvSpPr/>
            <p:nvPr userDrawn="1"/>
          </p:nvSpPr>
          <p:spPr>
            <a:xfrm>
              <a:off x="1079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2" name="점 332"/>
            <p:cNvSpPr/>
            <p:nvPr userDrawn="1"/>
          </p:nvSpPr>
          <p:spPr>
            <a:xfrm>
              <a:off x="11049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3" name="점 333"/>
            <p:cNvSpPr/>
            <p:nvPr userDrawn="1"/>
          </p:nvSpPr>
          <p:spPr>
            <a:xfrm>
              <a:off x="1130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4" name="점 334"/>
            <p:cNvSpPr/>
            <p:nvPr userDrawn="1"/>
          </p:nvSpPr>
          <p:spPr>
            <a:xfrm>
              <a:off x="1155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5" name="점 335"/>
            <p:cNvSpPr/>
            <p:nvPr userDrawn="1"/>
          </p:nvSpPr>
          <p:spPr>
            <a:xfrm>
              <a:off x="1181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6" name="점 336"/>
            <p:cNvSpPr/>
            <p:nvPr userDrawn="1"/>
          </p:nvSpPr>
          <p:spPr>
            <a:xfrm>
              <a:off x="1206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7" name="점 337"/>
            <p:cNvSpPr/>
            <p:nvPr userDrawn="1"/>
          </p:nvSpPr>
          <p:spPr>
            <a:xfrm>
              <a:off x="1003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8" name="점 338"/>
            <p:cNvSpPr/>
            <p:nvPr userDrawn="1"/>
          </p:nvSpPr>
          <p:spPr>
            <a:xfrm>
              <a:off x="10287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9" name="점 339"/>
            <p:cNvSpPr/>
            <p:nvPr userDrawn="1"/>
          </p:nvSpPr>
          <p:spPr>
            <a:xfrm>
              <a:off x="1054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0" name="점 340"/>
            <p:cNvSpPr/>
            <p:nvPr userDrawn="1"/>
          </p:nvSpPr>
          <p:spPr>
            <a:xfrm>
              <a:off x="1079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1" name="점 341"/>
            <p:cNvSpPr/>
            <p:nvPr userDrawn="1"/>
          </p:nvSpPr>
          <p:spPr>
            <a:xfrm>
              <a:off x="11049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2" name="점 342"/>
            <p:cNvSpPr/>
            <p:nvPr userDrawn="1"/>
          </p:nvSpPr>
          <p:spPr>
            <a:xfrm>
              <a:off x="1130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3" name="점 343"/>
            <p:cNvSpPr/>
            <p:nvPr userDrawn="1"/>
          </p:nvSpPr>
          <p:spPr>
            <a:xfrm>
              <a:off x="11557800" y="5316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4" name="점 344"/>
            <p:cNvSpPr/>
            <p:nvPr userDrawn="1"/>
          </p:nvSpPr>
          <p:spPr>
            <a:xfrm>
              <a:off x="1181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5" name="점 345"/>
            <p:cNvSpPr/>
            <p:nvPr userDrawn="1"/>
          </p:nvSpPr>
          <p:spPr>
            <a:xfrm>
              <a:off x="1206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6" name="점 346"/>
            <p:cNvSpPr/>
            <p:nvPr userDrawn="1"/>
          </p:nvSpPr>
          <p:spPr>
            <a:xfrm>
              <a:off x="1003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7" name="점 347"/>
            <p:cNvSpPr/>
            <p:nvPr userDrawn="1"/>
          </p:nvSpPr>
          <p:spPr>
            <a:xfrm>
              <a:off x="1028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8" name="점 348"/>
            <p:cNvSpPr/>
            <p:nvPr userDrawn="1"/>
          </p:nvSpPr>
          <p:spPr>
            <a:xfrm>
              <a:off x="1054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9" name="점 349"/>
            <p:cNvSpPr/>
            <p:nvPr userDrawn="1"/>
          </p:nvSpPr>
          <p:spPr>
            <a:xfrm>
              <a:off x="1079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0" name="점 350"/>
            <p:cNvSpPr/>
            <p:nvPr userDrawn="1"/>
          </p:nvSpPr>
          <p:spPr>
            <a:xfrm>
              <a:off x="11049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1" name="점 351"/>
            <p:cNvSpPr/>
            <p:nvPr userDrawn="1"/>
          </p:nvSpPr>
          <p:spPr>
            <a:xfrm>
              <a:off x="1130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2" name="점 352"/>
            <p:cNvSpPr/>
            <p:nvPr userDrawn="1"/>
          </p:nvSpPr>
          <p:spPr>
            <a:xfrm>
              <a:off x="1155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3" name="점 353"/>
            <p:cNvSpPr/>
            <p:nvPr userDrawn="1"/>
          </p:nvSpPr>
          <p:spPr>
            <a:xfrm>
              <a:off x="1181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4" name="점 354"/>
            <p:cNvSpPr/>
            <p:nvPr userDrawn="1"/>
          </p:nvSpPr>
          <p:spPr>
            <a:xfrm>
              <a:off x="1206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5" name="점 355"/>
            <p:cNvSpPr/>
            <p:nvPr userDrawn="1"/>
          </p:nvSpPr>
          <p:spPr>
            <a:xfrm>
              <a:off x="1003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6" name="점 356"/>
            <p:cNvSpPr/>
            <p:nvPr userDrawn="1"/>
          </p:nvSpPr>
          <p:spPr>
            <a:xfrm>
              <a:off x="1028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7" name="점 357"/>
            <p:cNvSpPr/>
            <p:nvPr userDrawn="1"/>
          </p:nvSpPr>
          <p:spPr>
            <a:xfrm>
              <a:off x="1054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8" name="점 358"/>
            <p:cNvSpPr/>
            <p:nvPr userDrawn="1"/>
          </p:nvSpPr>
          <p:spPr>
            <a:xfrm>
              <a:off x="1079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9" name="점 359"/>
            <p:cNvSpPr/>
            <p:nvPr userDrawn="1"/>
          </p:nvSpPr>
          <p:spPr>
            <a:xfrm>
              <a:off x="11049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0" name="점 360"/>
            <p:cNvSpPr/>
            <p:nvPr userDrawn="1"/>
          </p:nvSpPr>
          <p:spPr>
            <a:xfrm>
              <a:off x="1130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1" name="점 361"/>
            <p:cNvSpPr/>
            <p:nvPr userDrawn="1"/>
          </p:nvSpPr>
          <p:spPr>
            <a:xfrm>
              <a:off x="1155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2" name="점 362"/>
            <p:cNvSpPr/>
            <p:nvPr userDrawn="1"/>
          </p:nvSpPr>
          <p:spPr>
            <a:xfrm>
              <a:off x="1181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3" name="점 363"/>
            <p:cNvSpPr/>
            <p:nvPr userDrawn="1"/>
          </p:nvSpPr>
          <p:spPr>
            <a:xfrm>
              <a:off x="1206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4" name="점 364"/>
            <p:cNvSpPr/>
            <p:nvPr userDrawn="1"/>
          </p:nvSpPr>
          <p:spPr>
            <a:xfrm>
              <a:off x="1003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5" name="점 365"/>
            <p:cNvSpPr/>
            <p:nvPr userDrawn="1"/>
          </p:nvSpPr>
          <p:spPr>
            <a:xfrm>
              <a:off x="1028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6" name="점 366"/>
            <p:cNvSpPr/>
            <p:nvPr userDrawn="1"/>
          </p:nvSpPr>
          <p:spPr>
            <a:xfrm>
              <a:off x="1054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7" name="점 367"/>
            <p:cNvSpPr/>
            <p:nvPr userDrawn="1"/>
          </p:nvSpPr>
          <p:spPr>
            <a:xfrm>
              <a:off x="1079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8" name="점 368"/>
            <p:cNvSpPr/>
            <p:nvPr userDrawn="1"/>
          </p:nvSpPr>
          <p:spPr>
            <a:xfrm>
              <a:off x="11049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9" name="점 369"/>
            <p:cNvSpPr/>
            <p:nvPr userDrawn="1"/>
          </p:nvSpPr>
          <p:spPr>
            <a:xfrm>
              <a:off x="1130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0" name="점 370"/>
            <p:cNvSpPr/>
            <p:nvPr userDrawn="1"/>
          </p:nvSpPr>
          <p:spPr>
            <a:xfrm>
              <a:off x="1155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1" name="점 371"/>
            <p:cNvSpPr/>
            <p:nvPr userDrawn="1"/>
          </p:nvSpPr>
          <p:spPr>
            <a:xfrm>
              <a:off x="1181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2" name="점 372"/>
            <p:cNvSpPr/>
            <p:nvPr userDrawn="1"/>
          </p:nvSpPr>
          <p:spPr>
            <a:xfrm>
              <a:off x="1206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구역 강조 룰"/>
          <p:cNvSpPr/>
          <p:nvPr userDrawn="1"/>
        </p:nvSpPr>
        <p:spPr>
          <a:xfrm>
            <a:off x="929640" y="297180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10515600" cy="800100"/>
          </a:xfrm>
        </p:spPr>
        <p:txBody>
          <a:bodyPr anchor="b"/>
          <a:lstStyle>
            <a:lvl1pPr algn="l">
              <a:defRPr sz="44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2400"/>
            <a:ext cx="10515600" cy="1143000"/>
          </a:xfrm>
        </p:spPr>
        <p:txBody>
          <a:bodyPr/>
          <a:lstStyle>
            <a:lvl1pPr marL="0" indent="0">
              <a:buNone/>
              <a:defRPr sz="2400">
                <a:solidFill>
                  <a:srgbClr val="8FB8C9"/>
                </a:solidFill>
              </a:defRPr>
            </a:lvl1pPr>
            <a:lvl2pPr marL="457200" indent="0">
              <a:buNone/>
              <a:defRPr sz="2000">
                <a:solidFill>
                  <a:srgbClr val="8FB8C9"/>
                </a:solidFill>
              </a:defRPr>
            </a:lvl2pPr>
            <a:lvl3pPr marL="914400" indent="0">
              <a:buNone/>
              <a:defRPr sz="1800">
                <a:solidFill>
                  <a:srgbClr val="8FB8C9"/>
                </a:solidFill>
              </a:defRPr>
            </a:lvl3pPr>
            <a:lvl4pPr marL="1371600" indent="0">
              <a:buNone/>
              <a:defRPr sz="1600">
                <a:solidFill>
                  <a:srgbClr val="8FB8C9"/>
                </a:solidFill>
              </a:defRPr>
            </a:lvl4pPr>
            <a:lvl5pPr marL="1828800" indent="0">
              <a:buNone/>
              <a:defRPr sz="1600">
                <a:solidFill>
                  <a:srgbClr val="8FB8C9"/>
                </a:solidFill>
              </a:defRPr>
            </a:lvl5pPr>
            <a:lvl6pPr marL="2286000" indent="0">
              <a:buNone/>
              <a:defRPr sz="1600">
                <a:solidFill>
                  <a:srgbClr val="8FB8C9"/>
                </a:solidFill>
              </a:defRPr>
            </a:lvl6pPr>
            <a:lvl7pPr marL="2743200" indent="0">
              <a:buNone/>
              <a:defRPr sz="1600">
                <a:solidFill>
                  <a:srgbClr val="8FB8C9"/>
                </a:solidFill>
              </a:defRPr>
            </a:lvl7pPr>
            <a:lvl8pPr marL="3200400" indent="0">
              <a:buNone/>
              <a:defRPr sz="1600">
                <a:solidFill>
                  <a:srgbClr val="8FB8C9"/>
                </a:solidFill>
              </a:defRPr>
            </a:lvl8pPr>
            <a:lvl9pPr marL="3657600" indent="0">
              <a:buNone/>
              <a:defRPr sz="1600">
                <a:solidFill>
                  <a:srgbClr val="8FB8C9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BEF52EC-B397-4D0A-AE91-E0D6840C85A1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헤어라인"/>
          <p:cNvSpPr/>
          <p:nvPr userDrawn="1"/>
        </p:nvSpPr>
        <p:spPr>
          <a:xfrm>
            <a:off x="929640" y="944880"/>
            <a:ext cx="10332720" cy="0"/>
          </a:xfrm>
          <a:prstGeom prst="line">
            <a:avLst/>
          </a:prstGeom>
          <a:noFill/>
          <a:ln w="9525" cap="flat">
            <a:solidFill>
              <a:srgbClr val="E4EAF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91" name="제목 강조 룰"/>
          <p:cNvSpPr/>
          <p:nvPr userDrawn="1"/>
        </p:nvSpPr>
        <p:spPr>
          <a:xfrm>
            <a:off x="929640" y="944880"/>
            <a:ext cx="685800" cy="0"/>
          </a:xfrm>
          <a:prstGeom prst="line">
            <a:avLst/>
          </a:prstGeom>
          <a:noFill/>
          <a:ln w="28575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100" name="격자 패턴"/>
          <p:cNvGrpSpPr/>
          <p:nvPr userDrawn="1"/>
        </p:nvGrpSpPr>
        <p:grpSpPr>
          <a:xfrm>
            <a:off x="11029950" y="6076950"/>
            <a:ext cx="1009650" cy="628650"/>
            <a:chOff x="11029950" y="6076950"/>
            <a:chExt cx="1009650" cy="628650"/>
          </a:xfrm>
        </p:grpSpPr>
        <p:sp>
          <p:nvSpPr>
            <p:cNvPr id="101" name="점 101"/>
            <p:cNvSpPr/>
            <p:nvPr userDrawn="1"/>
          </p:nvSpPr>
          <p:spPr>
            <a:xfrm>
              <a:off x="11029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2" name="점 102"/>
            <p:cNvSpPr/>
            <p:nvPr userDrawn="1"/>
          </p:nvSpPr>
          <p:spPr>
            <a:xfrm>
              <a:off x="11220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3" name="점 103"/>
            <p:cNvSpPr/>
            <p:nvPr userDrawn="1"/>
          </p:nvSpPr>
          <p:spPr>
            <a:xfrm>
              <a:off x="11410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4" name="점 104"/>
            <p:cNvSpPr/>
            <p:nvPr userDrawn="1"/>
          </p:nvSpPr>
          <p:spPr>
            <a:xfrm>
              <a:off x="11601450" y="60769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5" name="점 105"/>
            <p:cNvSpPr/>
            <p:nvPr userDrawn="1"/>
          </p:nvSpPr>
          <p:spPr>
            <a:xfrm>
              <a:off x="11791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6" name="점 106"/>
            <p:cNvSpPr/>
            <p:nvPr userDrawn="1"/>
          </p:nvSpPr>
          <p:spPr>
            <a:xfrm>
              <a:off x="11982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7" name="점 107"/>
            <p:cNvSpPr/>
            <p:nvPr userDrawn="1"/>
          </p:nvSpPr>
          <p:spPr>
            <a:xfrm>
              <a:off x="11029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8" name="점 108"/>
            <p:cNvSpPr/>
            <p:nvPr userDrawn="1"/>
          </p:nvSpPr>
          <p:spPr>
            <a:xfrm>
              <a:off x="11220450" y="6267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9" name="점 109"/>
            <p:cNvSpPr/>
            <p:nvPr userDrawn="1"/>
          </p:nvSpPr>
          <p:spPr>
            <a:xfrm>
              <a:off x="11410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0" name="점 110"/>
            <p:cNvSpPr/>
            <p:nvPr userDrawn="1"/>
          </p:nvSpPr>
          <p:spPr>
            <a:xfrm>
              <a:off x="11601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1" name="점 111"/>
            <p:cNvSpPr/>
            <p:nvPr userDrawn="1"/>
          </p:nvSpPr>
          <p:spPr>
            <a:xfrm>
              <a:off x="11791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2" name="점 112"/>
            <p:cNvSpPr/>
            <p:nvPr userDrawn="1"/>
          </p:nvSpPr>
          <p:spPr>
            <a:xfrm>
              <a:off x="11982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3" name="점 113"/>
            <p:cNvSpPr/>
            <p:nvPr userDrawn="1"/>
          </p:nvSpPr>
          <p:spPr>
            <a:xfrm>
              <a:off x="11029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4" name="점 114"/>
            <p:cNvSpPr/>
            <p:nvPr userDrawn="1"/>
          </p:nvSpPr>
          <p:spPr>
            <a:xfrm>
              <a:off x="11220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5" name="점 115"/>
            <p:cNvSpPr/>
            <p:nvPr userDrawn="1"/>
          </p:nvSpPr>
          <p:spPr>
            <a:xfrm>
              <a:off x="11410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6" name="점 116"/>
            <p:cNvSpPr/>
            <p:nvPr userDrawn="1"/>
          </p:nvSpPr>
          <p:spPr>
            <a:xfrm>
              <a:off x="11601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7" name="점 117"/>
            <p:cNvSpPr/>
            <p:nvPr userDrawn="1"/>
          </p:nvSpPr>
          <p:spPr>
            <a:xfrm>
              <a:off x="11791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8" name="점 118"/>
            <p:cNvSpPr/>
            <p:nvPr userDrawn="1"/>
          </p:nvSpPr>
          <p:spPr>
            <a:xfrm>
              <a:off x="11982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9" name="점 119"/>
            <p:cNvSpPr/>
            <p:nvPr userDrawn="1"/>
          </p:nvSpPr>
          <p:spPr>
            <a:xfrm>
              <a:off x="11029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0" name="점 120"/>
            <p:cNvSpPr/>
            <p:nvPr userDrawn="1"/>
          </p:nvSpPr>
          <p:spPr>
            <a:xfrm>
              <a:off x="11220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1" name="점 121"/>
            <p:cNvSpPr/>
            <p:nvPr userDrawn="1"/>
          </p:nvSpPr>
          <p:spPr>
            <a:xfrm>
              <a:off x="11410950" y="6648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2" name="점 122"/>
            <p:cNvSpPr/>
            <p:nvPr userDrawn="1"/>
          </p:nvSpPr>
          <p:spPr>
            <a:xfrm>
              <a:off x="11601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3" name="점 123"/>
            <p:cNvSpPr/>
            <p:nvPr userDrawn="1"/>
          </p:nvSpPr>
          <p:spPr>
            <a:xfrm>
              <a:off x="11791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4" name="점 124"/>
            <p:cNvSpPr/>
            <p:nvPr userDrawn="1"/>
          </p:nvSpPr>
          <p:spPr>
            <a:xfrm>
              <a:off x="11982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300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75D61A29-800E-482A-B0FD-5A04401ECD92}" type="datetime1">
              <a:rPr lang="ko-KR" altLang="en-US" smtClean="0"/>
              <a:t>2026-10-07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000" y="633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0000"/>
            <a:ext cx="228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0" kern="1200" spc="-30">
          <a:solidFill>
            <a:srgbClr val="0F25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2EC4D9"/>
        </a:buClr>
        <a:buSzPct val="80000"/>
        <a:buFont typeface="Arial" panose="020B0604020202020204" pitchFamily="34" charset="0"/>
        <a:buChar char="●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10000"/>
        <a:buFont typeface="Arial" panose="020B0604020202020204" pitchFamily="34" charset="0"/>
        <a:buChar char="○"/>
        <a:defRPr sz="2400" kern="1200">
          <a:solidFill>
            <a:schemeClr val="tx1">
              <a:alpha val="8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8FB8C9"/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18. SPHINCS+: Few-Time Signatures and Virtual Hypertrees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Stateless: 무작위 리프 선택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FTS와 HORS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FTS를 Merkle 트리 리프에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Virtual hypertree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정리와 평가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Stateful 서명의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1463040"/>
          </a:xfrm>
        </p:spPr>
        <p:txBody>
          <a:bodyPr>
            <a:normAutofit lnSpcReduction="10000"/>
          </a:bodyPr>
          <a:lstStyle/>
          <a:p>
            <a:r>
              <a:rPr sz="1800" dirty="0">
                <a:solidFill>
                  <a:srgbClr val="000000"/>
                </a:solidFill>
              </a:rPr>
              <a:t>LMS·HSS, XMSS·XMSS</a:t>
            </a:r>
            <a:r>
              <a:rPr sz="1800" baseline="30000" dirty="0">
                <a:solidFill>
                  <a:srgbClr val="000000"/>
                </a:solidFill>
              </a:rPr>
              <a:t>MT</a:t>
            </a:r>
            <a:r>
              <a:rPr sz="1800" dirty="0">
                <a:solidFill>
                  <a:srgbClr val="000000"/>
                </a:solidFill>
              </a:rPr>
              <a:t>는 모두 stateful 서명 스킴이다</a:t>
            </a:r>
          </a:p>
          <a:p>
            <a:r>
              <a:rPr sz="1800" dirty="0">
                <a:solidFill>
                  <a:srgbClr val="000000"/>
                </a:solidFill>
              </a:rPr>
              <a:t>서명자가 어느 OTS(one-time signature) 키를 이미 썼는지 계속 추적해야 한다</a:t>
            </a:r>
          </a:p>
          <a:p>
            <a:r>
              <a:rPr sz="1800" dirty="0">
                <a:solidFill>
                  <a:srgbClr val="000000"/>
                </a:solidFill>
              </a:rPr>
              <a:t>OTS 개인키를 한 번이라도 재사용하면 안전성이 깨지기 때문이다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5" name="Picture 4" descr="Stateful hypertree: layer 1 트리의 리프가 layer 2 트리의 루트에 서명하고, layer 2 리프가 메시지에 서명한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619" y="2926080"/>
            <a:ext cx="5706858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SPHINCS+ (SLH-DSA)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Bernstein 등이 설계해 2024년 NIST가 표준화한 stateless 해시 기반 서명</a:t>
            </a:r>
          </a:p>
          <a:p>
            <a:pPr lvl="1"/>
            <a:r>
              <a:rPr sz="1800" dirty="0">
                <a:solidFill>
                  <a:srgbClr val="000000"/>
                </a:solidFill>
              </a:rPr>
              <a:t>FIPS 205의 공식 이름: SLH-DSA (Stateless Hash-Based Digital Signature Algorithm)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리프가 매우 많은 hypertree를 만든다. 리프는 OTS 키쌍이다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서명할 때마다 리프를 무작위로 하나 고른다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어떤 키쌍을 썼는지 기억할 필요가 없다</a:t>
            </a:r>
            <a:r>
              <a:rPr lang="ko-KR" altLang="en-US" sz="1800" dirty="0">
                <a:solidFill>
                  <a:srgbClr val="000000"/>
                </a:solidFill>
              </a:rPr>
              <a:t> </a:t>
            </a:r>
            <a:r>
              <a:rPr lang="en-US" altLang="ko-KR" sz="1800" dirty="0">
                <a:solidFill>
                  <a:srgbClr val="000000"/>
                </a:solidFill>
              </a:rPr>
              <a:t>—</a:t>
            </a:r>
            <a:r>
              <a:rPr sz="1800" dirty="0">
                <a:solidFill>
                  <a:srgbClr val="000000"/>
                </a:solidFill>
              </a:rPr>
              <a:t> stateless</a:t>
            </a:r>
          </a:p>
          <a:p>
            <a:pPr marL="342900" indent="-342900">
              <a:buAutoNum type="arabicPeriod"/>
            </a:pPr>
            <a:r>
              <a:rPr sz="1800" dirty="0">
                <a:solidFill>
                  <a:srgbClr val="000000"/>
                </a:solidFill>
              </a:rPr>
              <a:t>서명할 수 있는 메시지 총수에 상한을 두어, 키 재사용 확률을 무시할 수 있게 한다</a:t>
            </a:r>
          </a:p>
          <a:p>
            <a:r>
              <a:rPr sz="1800" dirty="0">
                <a:solidFill>
                  <a:srgbClr val="000000"/>
                </a:solidFill>
              </a:rPr>
              <a:t>이 기본 아이디어에 여러 최적화가 더해졌다. 그중 핵심이 FTS와 virtual hypertree다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Birthday paradox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트리 전체 높이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리프(OTS 키쌍) 수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𝐷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서명할 메시지 수의 상한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리프를 무작위로 고르면 birthday paradox가 적용된다. 서로 다른 두 메시지가 같은 리프를 고를 확률은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메시지 쌍은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𝑆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Union bound로, 어떤 OTS 키가 두 메시지 이상에 쓰일 확률은 최대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𝑝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·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𝑁</m:t>
                          </m:r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𝑁</m:t>
                          </m:r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이 값이 무시할 수 있을 만큼 작도록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정한다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예제: S = 2</a:t>
            </a:r>
            <a:r>
              <a:rPr baseline="30000" dirty="0"/>
              <a:t>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40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𝐷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=207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이면: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𝑝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𝐷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40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208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80−208</m:t>
                          </m:r>
                        </m:sup>
                      </m:sSup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−128</m:t>
                          </m:r>
                        </m:sup>
                      </m:sSup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확률은 무시할 수 있을 만큼 작다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하지만 리프가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207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개인 높이 207 Merkle 트리는 만들 수 없다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OTS 리프만으로는 부족하다. 리프 하나가 서명 몇 번은 견디는 키여야 트리를 낮출 수 있다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Few-time signature (FTS)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2103120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Few-time signature(FTS)는 보안이 약해지기 전까지 소수의 메시지에 서명할 수 있는 스킴이다</a:t>
            </a:r>
          </a:p>
          <a:p>
            <a:r>
              <a:rPr sz="1800" dirty="0">
                <a:solidFill>
                  <a:srgbClr val="000000"/>
                </a:solidFill>
              </a:rPr>
              <a:t>핵심: 서명 하나가 개인키 성분을 조금만 드러낸다</a:t>
            </a:r>
          </a:p>
          <a:p>
            <a:r>
              <a:rPr sz="1800" dirty="0">
                <a:solidFill>
                  <a:srgbClr val="000000"/>
                </a:solidFill>
              </a:rPr>
              <a:t>HORS (Hashing to Obtain Random Subset): Reyzin과 Reyzin이 2002년에 제안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990411"/>
              </p:ext>
            </p:extLst>
          </p:nvPr>
        </p:nvGraphicFramePr>
        <p:xfrm>
          <a:off x="838200" y="3566160"/>
          <a:ext cx="1051559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7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Lamport 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FTS (HORS)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안전하게 서명할 수 있는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약 5~10회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 하나가 노출하는 개인키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절반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일부 (최대 k개 성분)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HORS: 키 생성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592836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n비트 역상 저항 해시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n비트 제2역상 저항 해시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n의 약수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고르고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과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정한다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 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예: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𝑛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=256,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=16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⇒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𝑚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=16,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16</m:t>
                        </m:r>
                      </m:sup>
                    </m:sSup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키 생성: 무작위 n비트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 대해 </a:t>
                </a:r>
                <a:br>
                  <a:rPr lang="en-US" sz="1800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0≤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개인키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𝑋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공개키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𝑌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5928360" cy="4701089"/>
              </a:xfrm>
              <a:blipFill>
                <a:blip r:embed="rId2"/>
                <a:stretch>
                  <a:fillRect l="-2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5" name="Picture 4" descr="HORS 키 생성: 개인키 x_i에 G를 적용해 공개키 y_i를 얻는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36865"/>
            <a:ext cx="4937760" cy="3441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HORS: 서명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5212080" cy="4701089"/>
              </a:xfrm>
            </p:spPr>
            <p:txBody>
              <a:bodyPr/>
              <a:lstStyle/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무작위 문자열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(randomizer)를 고르고 </a:t>
                </a:r>
                <a:br>
                  <a:rPr lang="en-US" sz="1800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𝑀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을 계산한다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h를 m비트씩 k조각으로 쪼갠다</a:t>
                </a:r>
                <a:br>
                  <a:rPr lang="en-US" sz="1800" dirty="0">
                    <a:solidFill>
                      <a:srgbClr val="000000"/>
                    </a:solidFill>
                  </a:rPr>
                </a:br>
                <a:r>
                  <a:rPr sz="18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·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𝑚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)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서명 벡터의 j번째 성분은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:endParaRPr lang="en-US" sz="1800" dirty="0">
                  <a:solidFill>
                    <a:srgbClr val="000000"/>
                  </a:solidFill>
                </a:endParaRPr>
              </a:p>
              <a:p>
                <a:pPr lvl="1"/>
                <a:r>
                  <a:rPr dirty="0">
                    <a:solidFill>
                      <a:srgbClr val="000000"/>
                    </a:solidFill>
                  </a:rPr>
                  <a:t>h</a:t>
                </a:r>
                <a:r>
                  <a:rPr baseline="-25000" dirty="0">
                    <a:solidFill>
                      <a:srgbClr val="000000"/>
                    </a:solidFill>
                  </a:rPr>
                  <a:t>j</a:t>
                </a:r>
                <a:r>
                  <a:rPr dirty="0">
                    <a:solidFill>
                      <a:srgbClr val="000000"/>
                    </a:solidFill>
                  </a:rPr>
                  <a:t>가 가리키는 개인키 성분이다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서명은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. 성분이 겹칠 수 있어 t개 중 최대 k개만 노출한다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예: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=(2,3,0,…)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⇒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5212080" cy="4701089"/>
              </a:xfrm>
              <a:blipFill>
                <a:blip r:embed="rId2"/>
                <a:stretch>
                  <a:fillRect l="-7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5" name="Picture 4" descr="HORS 서명 생성: H(C,M)=(2,3,0,...,3)이 가리키는 개인키 성분 x_2, x_3, x_0, ...을 서명 S로 낸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62456"/>
            <a:ext cx="576072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HORS: 검증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6156158" cy="4701089"/>
              </a:xfrm>
            </p:spPr>
            <p:txBody>
              <a:bodyPr/>
              <a:lstStyle/>
              <a:p>
                <a:pPr marL="342900" indent="-342900">
                  <a:buAutoNum type="arabicPeriod"/>
                </a:pPr>
                <a:r>
                  <a:rPr lang="en-US" altLang="ko-KR" sz="1800" dirty="0">
                    <a:solidFill>
                      <a:srgbClr val="000000"/>
                    </a:solidFill>
                  </a:rPr>
                  <a:t>Alice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의 공개키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𝑌</m:t>
                    </m:r>
                  </m:oMath>
                </a14:m>
                <a:r>
                  <a:rPr lang="ko-KR" altLang="en-US" sz="1800" dirty="0">
                    <a:solidFill>
                      <a:srgbClr val="000000"/>
                    </a:solidFill>
                  </a:rPr>
                  <a:t>의 진짜 사본을 구한다</a:t>
                </a:r>
              </a:p>
              <a:p>
                <a:pPr marL="342900" indent="-342900">
                  <a:buAutoNum type="arabicPeriod"/>
                </a:pPr>
                <a:r>
                  <a:rPr lang="ko-KR" altLang="en-US" sz="1800" dirty="0">
                    <a:solidFill>
                      <a:srgbClr val="000000"/>
                    </a:solidFill>
                  </a:rPr>
                  <a:t>해시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𝐻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𝐶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𝑀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sz="1800" dirty="0">
                    <a:solidFill>
                      <a:srgbClr val="000000"/>
                    </a:solidFill>
                  </a:rPr>
                  <a:t>을 계산해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m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비트씩 </a:t>
                </a:r>
                <a:r>
                  <a:rPr lang="en-US" altLang="ko-KR" sz="1800" dirty="0">
                    <a:solidFill>
                      <a:srgbClr val="000000"/>
                    </a:solidFill>
                  </a:rPr>
                  <a:t>k</a:t>
                </a:r>
                <a:r>
                  <a:rPr lang="ko-KR" altLang="en-US" sz="1800" dirty="0">
                    <a:solidFill>
                      <a:srgbClr val="000000"/>
                    </a:solidFill>
                  </a:rPr>
                  <a:t>조각으로 쪼갠다</a:t>
                </a:r>
              </a:p>
              <a:p>
                <a:pPr marL="342900" indent="-342900">
                  <a:buAutoNum type="arabicPeriod"/>
                </a:pPr>
                <a:r>
                  <a:rPr lang="ko-KR" altLang="en-US" sz="1800" dirty="0">
                    <a:solidFill>
                      <a:srgbClr val="000000"/>
                    </a:solidFill>
                  </a:rPr>
                  <a:t>모든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0≤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𝑗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ko-KR" altLang="en-US" sz="1800" dirty="0">
                    <a:solidFill>
                      <a:srgbClr val="000000"/>
                    </a:solidFill>
                  </a:rPr>
                  <a:t>에 대해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nor/>
                      </m:rPr>
                      <a:rPr lang="ko-KR" alt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limUpp>
                      <m:limUpp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</m:e>
                      <m:lim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?</m:t>
                        </m:r>
                      </m:lim>
                    </m:limUpp>
                    <m:r>
                      <m:rPr>
                        <m:nor/>
                      </m:rPr>
                      <a:rPr lang="ko-KR" alt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sz="1800" dirty="0">
                    <a:solidFill>
                      <a:srgbClr val="000000"/>
                    </a:solidFill>
                  </a:rPr>
                  <a:t>이면 수락한다</a:t>
                </a:r>
              </a:p>
              <a:p>
                <a:pPr lvl="1"/>
                <a:r>
                  <a:rPr lang="ko-KR" altLang="en-US" dirty="0">
                    <a:solidFill>
                      <a:srgbClr val="000000"/>
                    </a:solidFill>
                  </a:rPr>
                  <a:t>예</a:t>
                </a:r>
                <a:r>
                  <a:rPr lang="en-US" altLang="ko-KR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=(2,3,0,…)</m:t>
                    </m:r>
                  </m:oMath>
                </a14:m>
                <a:r>
                  <a:rPr lang="ko-KR" altLang="en-US" dirty="0">
                    <a:solidFill>
                      <a:srgbClr val="000000"/>
                    </a:solidFill>
                  </a:rPr>
                  <a:t>이면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ko-KR" alt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</m:oMath>
                </a14:m>
                <a:br>
                  <a:rPr lang="en-US" altLang="ko-KR" i="0" dirty="0">
                    <a:solidFill>
                      <a:srgbClr val="000000"/>
                    </a:solidFill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ko-KR" alt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/>
                      </a:rPr>
                      <m:t>𝐺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000000"/>
                    </a:solidFill>
                  </a:rPr>
                  <a:t>을 확인한다</a:t>
                </a:r>
                <a:endParaRPr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6156158" cy="4701089"/>
              </a:xfrm>
              <a:blipFill>
                <a:blip r:embed="rId2"/>
                <a:stretch>
                  <a:fillRect l="-595" r="-5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5" name="Picture 4" descr="HORS 검증: 서명 성분 s_j에 G를 적용해 공개키 y_(h_j)와 비교한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827" y="1280160"/>
            <a:ext cx="398098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HORS의 안전성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Alice가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 메시지에 서명했고 공격자가 메시지와 서명을 모두 모았다고 하자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randomizer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는 Alice가 고르므로 공격자는 해시값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 영향을 줄 수 없다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H가 무작위 값을 낸다면 서명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개가 노출하는 성분은 t개 중 최대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𝑐𝑘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위조하려면 메시지와 randomizer를 찾아, h의 k조각이 가리키는 성분이 모두 이미 노출된 것이어야 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Pr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위조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𝑐𝑘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이 값이 아주 작으면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개까지 안전하게 서명할 수 있다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예제: c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𝑛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=256,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𝑘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=16,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𝑚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=16,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16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=5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개에 서명했다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𝑐𝑘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80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16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𝑐𝑘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12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16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12)</m:t>
                          </m:r>
                        </m:sup>
                      </m:sSup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−154.85</m:t>
                          </m:r>
                        </m:sup>
                      </m:sSup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무시할 수 있을 만큼 작으므로 최대 5개까지 안전하게 서명할 수 있다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이 값은 시도 한 번당 상한이다.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바꿔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번 시도하면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𝑞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𝑐𝑘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이므로 위조에는 약 2</a:t>
                </a:r>
                <a:r>
                  <a:rPr sz="1800" baseline="30000" dirty="0">
                    <a:solidFill>
                      <a:srgbClr val="000000"/>
                    </a:solidFill>
                  </a:rPr>
                  <a:t>154</a:t>
                </a:r>
                <a:r>
                  <a:rPr sz="1800" dirty="0">
                    <a:solidFill>
                      <a:srgbClr val="000000"/>
                    </a:solidFill>
                  </a:rPr>
                  <a:t>번의 해시 평가가 필요하다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HORS의 약점: 공개키 크기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1005840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공개키는 t개의 n비트 값 y</a:t>
            </a:r>
            <a:r>
              <a:rPr sz="1800" baseline="-25000" dirty="0">
                <a:solidFill>
                  <a:srgbClr val="000000"/>
                </a:solidFill>
              </a:rPr>
              <a:t>i</a:t>
            </a:r>
            <a:r>
              <a:rPr sz="1800" dirty="0">
                <a:solidFill>
                  <a:srgbClr val="000000"/>
                </a:solidFill>
              </a:rPr>
              <a:t> 전체다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10266"/>
              </p:ext>
            </p:extLst>
          </p:nvPr>
        </p:nvGraphicFramePr>
        <p:xfrm>
          <a:off x="838200" y="2194560"/>
          <a:ext cx="105155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값 (n=256, t=2</a:t>
                      </a:r>
                      <a:r>
                        <a:rPr sz="1800" b="1" baseline="30000" dirty="0">
                          <a:solidFill>
                            <a:schemeClr val="bg1"/>
                          </a:solidFill>
                        </a:rPr>
                        <a:t>16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 비트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n · 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8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· 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16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= 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24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비트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n·t / 8 바이트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21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B = 2 MiB (약 2.1 MB)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결론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공개키를 압축해야 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Merkle 트리를 쓴다 (HORST)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2103120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공개키 성분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을 높이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인 Merkle 트리의 리프에 둔다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트리 루트가 공개키가 되어 크기가 아주 작아진다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서명에 검증에 필요한 공개키 성분과 각 성분의 authentication path가 함께 들어간다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2103120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68554"/>
              </p:ext>
            </p:extLst>
          </p:nvPr>
        </p:nvGraphicFramePr>
        <p:xfrm>
          <a:off x="838200" y="3566160"/>
          <a:ext cx="105155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HORS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HORST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전체 (n·t 비트)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트리 루트 하나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C, 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C, S, y 성분, authentication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 성분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공개키와 직접 비교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Authentication path로 비교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Multi-collision birthday paradox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리프마다 FTS 키쌍을 두고, 서명 때 무작위 리프를 골라 그 FTS 개인키로 서명한다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서명할 메시지 수의 상한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리프 수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𝐷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. Birthday paradox를 multi-collision으로 일반화하면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어떤 FTS 키가 c번 이상 쓰일 확률은 최대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𝑝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·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확인: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2!</m:t>
                        </m:r>
                        <m:r>
                          <m:rPr>
                            <m:nor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·</m:t>
                        </m:r>
                        <m:r>
                          <m:rPr>
                            <m:nor/>
                          </m:rPr>
                          <a:rPr lang="en-US" i="0">
                            <a:solidFill>
                              <a:srgbClr val="0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𝑁</m:t>
                        </m:r>
                      </m:den>
                    </m:f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으로 OTS의 식과 일치한다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Union bound 유도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메시지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개를 고정한다. 모두 같은 리프를 고를 확률은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𝑁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−1)</m:t>
                        </m:r>
                      </m:sup>
                    </m:sSup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(첫 메시지가 리프를 정하면 나머지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개가 그 리프를 맞힌다)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메시지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개를 뽑는 방법은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𝑆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가지다. Union bound로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𝑝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·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·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근사는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≫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일 때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𝑆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≈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𝑐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!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를 쓴 것이다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=2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이면 쌍이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𝑆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개, 확률이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이라 앞의 OTS 유도와 같다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예제: D = 207 → 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1828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𝑆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40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𝑐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=5,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𝐷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=80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𝑁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80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이면: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𝑝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!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·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200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120·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320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1828800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17506"/>
              </p:ext>
            </p:extLst>
          </p:nvPr>
        </p:nvGraphicFramePr>
        <p:xfrm>
          <a:off x="838200" y="3200400"/>
          <a:ext cx="1051559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3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OTS 리프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FTS 리프 (HORS)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 수 상한 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위험한 사용 횟수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트리 전체 높이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재사용 확률 상한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1/2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약 1/2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127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트리를 만들 수 있는가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불가능 (리프 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207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여전히 불가능 (리프 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80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Virtual hypertree: 구조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5760720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Virtual hypertree는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개 층이고, 각 층은 높이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𝑑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인 Merkle 트리들로 이루어진다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층 1 ~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𝐿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의 리프는 OTS 공개키다. 각 OTS 개인키는 바로 아래 트리의 루트에 서명한다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의 리프는 FTS 공개키다. FTS 개인키가 실제 메시지에 서명한다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맨 위 루트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 사용자의 long-term public key다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공개하는 것은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하나뿐이다. 아래 전체를 어떻게 믿을 수 있을까?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5760720" cy="4701089"/>
              </a:xfrm>
              <a:blipFill>
                <a:blip r:embed="rId2"/>
                <a:stretch>
                  <a:fillRect l="-212" r="-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5" name="Picture 4" descr="Virtual hypertree: layer 1부터 layer L까지 Merkle 트리가 이어지고 루트 R이 long-term public key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872" y="1280160"/>
            <a:ext cx="393801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 하나로 충분한 이유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2286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질문: 공개하는 것은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하나뿐인데, 어떻게 아래 수많은 트리와 메시지 서명까지 보증하는가?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답: 묶기와 서명이 맨 아래 층까지 이어지는 사슬이다.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 해시로 묶는 것은 층 1 리프뿐이고, 그 아래는 서명으로 이어진다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Merkle 트리와 방향이 반대: 서명은 아래에서 위로, 신뢰는 위에서 아래로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층마다 두 장치가 번갈아 쓰인다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2286000"/>
              </a:xfrm>
              <a:blipFill>
                <a:blip r:embed="rId2"/>
                <a:stretch>
                  <a:fillRect l="-58" b="-16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635417"/>
              </p:ext>
            </p:extLst>
          </p:nvPr>
        </p:nvGraphicFramePr>
        <p:xfrm>
          <a:off x="838200" y="3931920"/>
          <a:ext cx="105155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확인하는 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쓰는 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 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가 그 층의 루트 R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에 속하는가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Authentication path P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다음 층의 루트가 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의 서명을 받았는가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OTS 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맨 아래 층에서는 루트 대신 메시지 M을 확인한다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FTS 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Virtual hypertree: SEED와 PRF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5915526" cy="4701089"/>
              </a:xfrm>
            </p:spPr>
            <p:txBody>
              <a:bodyPr/>
              <a:lstStyle/>
              <a:p>
                <a:r>
                  <a:rPr sz="1800" dirty="0">
                    <a:solidFill>
                      <a:srgbClr val="000000"/>
                    </a:solidFill>
                  </a:rPr>
                  <a:t>모든 OTS·FTS 개인키는 SEED 하나와 공개키의 인덱스(층·트리 번호, 위치)에 PRF를 적용해 만든다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SEED가 정해지면 모든 키쌍과 노드 해시까지 hypertree 전체가 확정된다. 실제로 만들 수 없어도 정의되어 있다: 이것이 "virtual"의 뜻이다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아직 만들지 않은 아래 트리의 값도 이미 정해져 있다.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 서명할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는 처음부터 확정이다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필요한 Merkle 트리 하나는 SEED에서 키쌍을 만든 뒤 노드 해시를 계산해 효율적으로 만든다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5915526" cy="4701089"/>
              </a:xfrm>
              <a:blipFill>
                <a:blip r:embed="rId2"/>
                <a:stretch>
                  <a:fillRect l="-206" r="-20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 dirty="0"/>
          </a:p>
        </p:txBody>
      </p:sp>
      <p:pic>
        <p:nvPicPr>
          <p:cNvPr id="5" name="Picture 4" descr="Virtual hypertree: SEED와 인덱스로 모든 키와 노드가 정해진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872" y="1280160"/>
            <a:ext cx="393801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서명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5610726" cy="4701089"/>
              </a:xfrm>
            </p:spPr>
            <p:txBody>
              <a:bodyPr/>
              <a:lstStyle/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무작위로 FTS 키쌍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을 골라 그 개인키로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𝑀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 서명한다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K</a:t>
                </a:r>
                <a:r>
                  <a:rPr sz="1800" baseline="-25000" dirty="0">
                    <a:solidFill>
                      <a:srgbClr val="000000"/>
                    </a:solidFill>
                  </a:rPr>
                  <a:t>L</a:t>
                </a:r>
                <a:r>
                  <a:rPr sz="1800" dirty="0">
                    <a:solidFill>
                      <a:srgbClr val="000000"/>
                    </a:solidFill>
                  </a:rPr>
                  <a:t>이 든 트리의 루트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과 K</a:t>
                </a:r>
                <a:r>
                  <a:rPr sz="1800" baseline="-25000" dirty="0">
                    <a:solidFill>
                      <a:srgbClr val="000000"/>
                    </a:solidFill>
                  </a:rPr>
                  <a:t>L</a:t>
                </a:r>
                <a:r>
                  <a:rPr sz="1800" dirty="0">
                    <a:solidFill>
                      <a:srgbClr val="000000"/>
                    </a:solidFill>
                  </a:rPr>
                  <a:t>의 authentication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을 SEED에서 유도한다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OTS 공개키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의 개인키로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 서명하고, 그 트리의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을 유도한다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이를 층 1까지 반복해 hypertree 루트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 닿는다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서명 = FTS 서명 + 중간 OTS 서명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endParaRPr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5610726" cy="4701089"/>
              </a:xfrm>
              <a:blipFill>
                <a:blip r:embed="rId2"/>
                <a:stretch>
                  <a:fillRect l="-652" r="-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 dirty="0"/>
          </a:p>
        </p:txBody>
      </p:sp>
      <p:pic>
        <p:nvPicPr>
          <p:cNvPr id="5" name="Picture 4" descr="서명 생성 순서: layer L에서 layer 1로 올라가며 K_l, R_l, authentication path P_l을 만든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872" y="1280160"/>
            <a:ext cx="393801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서명 검증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5883442" cy="4701089"/>
              </a:xfrm>
            </p:spPr>
            <p:txBody>
              <a:bodyPr/>
              <a:lstStyle/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Bob은 진짜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을 갖고 있다. Authentication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까지 검증하면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 진짜임이 확인된다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이어서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 대한 OTS 서명을 검증하고,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까지 검증한다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이를 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까지 한 층씩 내려가며 반복해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이 진짜임을 확인한다</a:t>
                </a:r>
              </a:p>
              <a:p>
                <a:pPr marL="342900" indent="-342900">
                  <a:buAutoNum type="arabicPeriod"/>
                </a:pPr>
                <a:r>
                  <a:rPr sz="1800" dirty="0">
                    <a:solidFill>
                      <a:srgbClr val="000000"/>
                    </a:solidFill>
                  </a:rPr>
                  <a:t>마지막으로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</a:rPr>
                      <m:t>𝑀</m:t>
                    </m:r>
                  </m:oMath>
                </a14:m>
                <a:r>
                  <a:rPr sz="1800" dirty="0">
                    <a:solidFill>
                      <a:srgbClr val="000000"/>
                    </a:solidFill>
                  </a:rPr>
                  <a:t>의 서명을 검증한다</a:t>
                </a:r>
              </a:p>
              <a:p>
                <a:r>
                  <a:rPr sz="1800" dirty="0">
                    <a:solidFill>
                      <a:srgbClr val="000000"/>
                    </a:solidFill>
                  </a:rPr>
                  <a:t>OTS 서명과 authentication path가 서명에 함께 실려 오므로, 아래 트리를 미리 볼 필요가 없다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5883442" cy="4701089"/>
              </a:xfrm>
              <a:blipFill>
                <a:blip r:embed="rId2"/>
                <a:stretch>
                  <a:fillRect l="-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 dirty="0"/>
          </a:p>
        </p:txBody>
      </p:sp>
      <p:pic>
        <p:nvPicPr>
          <p:cNvPr id="5" name="Picture 4" descr="서명 검증 순서: layer 1에서 layer L로 내려가며 R에서 K_L까지 확인한 뒤 M을 검증한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872" y="1280160"/>
            <a:ext cx="393801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Chain of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1645920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검증자는 R 하나만 믿고 시작해, 층마다 새로 확인한 값으로 다음 층을 믿어 나간다</a:t>
            </a:r>
          </a:p>
          <a:p>
            <a:r>
              <a:rPr sz="1800" dirty="0">
                <a:solidFill>
                  <a:srgbClr val="000000"/>
                </a:solidFill>
              </a:rPr>
              <a:t>어느 고리를 위조해도 해시 충돌이나 서명 위조가 필요하다. 그래서 진짜 R만 있으면 M까지 믿을 수 있다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64704"/>
              </p:ext>
            </p:extLst>
          </p:nvPr>
        </p:nvGraphicFramePr>
        <p:xfrm>
          <a:off x="838200" y="3017520"/>
          <a:ext cx="1051559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5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6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검증하는 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새로 믿게 되는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Long-term public key R을 신뢰한다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층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P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: 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→ 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층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의 OTS 서명, P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: 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→ R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, 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층 3 ~ 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같은 과정을 한 층씩 반복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R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, 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메시지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K</a:t>
                      </a:r>
                      <a:r>
                        <a:rPr sz="1800" baseline="-25000" dirty="0">
                          <a:solidFill>
                            <a:srgbClr val="000000"/>
                          </a:solidFill>
                        </a:rPr>
                        <a:t>L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의 FTS 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문제와 해법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1005840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각 해법이 앞 단계의 한계를 풀면서 다음 한계를 드러낸다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387417"/>
              </p:ext>
            </p:extLst>
          </p:nvPr>
        </p:nvGraphicFramePr>
        <p:xfrm>
          <a:off x="838200" y="2103120"/>
          <a:ext cx="1051559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해법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Stateful: 상태 관리가 어렵다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무작위 리프 + 서명 수 상한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재사용 확률 1/2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128</a:t>
                      </a:r>
                      <a:r>
                        <a:rPr sz="1800" dirty="0">
                          <a:solidFill>
                            <a:srgbClr val="000000"/>
                          </a:solidFill>
                        </a:rPr>
                        <a:t> (D=207)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높이 207 트리를 만들 수 없다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리프에 FTS(HORS)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높이 80, 확률 약 1/2</a:t>
                      </a:r>
                      <a:r>
                        <a:rPr sz="1800" baseline="30000" dirty="0">
                          <a:solidFill>
                            <a:srgbClr val="000000"/>
                          </a:solidFill>
                        </a:rPr>
                        <a:t>127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HORS 공개키가 2 MiB다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HORST: Merkle 트리로 압축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공개키는 루트 하나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높이 80 트리도 만들 수 없다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Virtual hypertree (SEED + PRF)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작은 트리만 필요할 때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LMS vs SPHINCS+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294980"/>
              </p:ext>
            </p:extLst>
          </p:nvPr>
        </p:nvGraphicFramePr>
        <p:xfrm>
          <a:off x="838200" y="1554480"/>
          <a:ext cx="105155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1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LMS·HSS (XMSS)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SPHINCS+ (SLH-DSA)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Stateful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Stateless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 키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사용한 OTS 키를 추적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무작위 리프, 추적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리프의 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맨 아래층만 FTS, 위층은 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트리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Merkle 트리 / hypertree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Virtual hypertree (SEED + PRF)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리프 수까지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상한 S, 재사용 확률로 제한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서명 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작음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표준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NIST SP 800-208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000000"/>
                          </a:solidFill>
                        </a:rPr>
                        <a:t>FIPS 205 (2024)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장단점과 전망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/>
          <a:lstStyle/>
          <a:p>
            <a:r>
              <a:rPr sz="1800" dirty="0">
                <a:solidFill>
                  <a:srgbClr val="000000"/>
                </a:solidFill>
              </a:rPr>
              <a:t>장점: 해시 기반이라 양자 공격에 대한 안전성 근거가 설득력 있다</a:t>
            </a:r>
          </a:p>
          <a:p>
            <a:r>
              <a:rPr sz="1800" dirty="0">
                <a:solidFill>
                  <a:srgbClr val="000000"/>
                </a:solidFill>
              </a:rPr>
              <a:t>단점: 서명이 크고 상대적으로 느리다</a:t>
            </a:r>
          </a:p>
          <a:p>
            <a:r>
              <a:rPr sz="1800" dirty="0">
                <a:solidFill>
                  <a:srgbClr val="000000"/>
                </a:solidFill>
              </a:rPr>
              <a:t>LMS·XMSS는 stateful이라 실제 배포 범위가 제한될 전망이다</a:t>
            </a:r>
          </a:p>
          <a:p>
            <a:r>
              <a:rPr sz="1800" dirty="0">
                <a:solidFill>
                  <a:srgbClr val="000000"/>
                </a:solidFill>
              </a:rPr>
              <a:t>SPHINCS+는 이미 배포 중이지만, 격자 기반 서명 Dilithium(ML-DSA)만큼 널리 쓰이지는 않을 전망이다</a:t>
            </a:r>
          </a:p>
        </p:txBody>
      </p:sp>
      <p:sp>
        <p:nvSpPr>
          <p:cNvPr id="4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PQC Navy">
      <a:dk1>
        <a:srgbClr val="000000"/>
      </a:dk1>
      <a:lt1>
        <a:srgbClr val="FFFFFF"/>
      </a:lt1>
      <a:dk2>
        <a:srgbClr val="0A1B2E"/>
      </a:dk2>
      <a:lt2>
        <a:srgbClr val="EEF3F7"/>
      </a:lt2>
      <a:accent1>
        <a:srgbClr val="2EC4D9"/>
      </a:accent1>
      <a:accent2>
        <a:srgbClr val="1B4B7A"/>
      </a:accent2>
      <a:accent3>
        <a:srgbClr val="5A7A96"/>
      </a:accent3>
      <a:accent4>
        <a:srgbClr val="F2A65A"/>
      </a:accent4>
      <a:accent5>
        <a:srgbClr val="8FB8C9"/>
      </a:accent5>
      <a:accent6>
        <a:srgbClr val="3F8F7A"/>
      </a:accent6>
      <a:hlink>
        <a:srgbClr val="1B7FA8"/>
      </a:hlink>
      <a:folHlink>
        <a:srgbClr val="5A7A96"/>
      </a:folHlink>
    </a:clrScheme>
    <a:fontScheme name="PQC">
      <a:majorFont>
        <a:latin typeface="맑은 고딕" panose="020B05030200000200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B05030200000200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3466</TotalTime>
  <Words>1861</Words>
  <Application>Microsoft Office PowerPoint</Application>
  <PresentationFormat>와이드스크린</PresentationFormat>
  <Paragraphs>274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Cambria Math</vt:lpstr>
      <vt:lpstr>Office 테마</vt:lpstr>
      <vt:lpstr>Post-Quantum Cryptography</vt:lpstr>
      <vt:lpstr>Plan</vt:lpstr>
      <vt:lpstr>Stateful 서명의 문제</vt:lpstr>
      <vt:lpstr>SPHINCS+ (SLH-DSA)</vt:lpstr>
      <vt:lpstr>Birthday paradox</vt:lpstr>
      <vt:lpstr>예제: S = 240</vt:lpstr>
      <vt:lpstr>Few-time signature (FTS)</vt:lpstr>
      <vt:lpstr>HORS: 키 생성</vt:lpstr>
      <vt:lpstr>HORS: 서명</vt:lpstr>
      <vt:lpstr>HORS: 검증</vt:lpstr>
      <vt:lpstr>HORS의 안전성</vt:lpstr>
      <vt:lpstr>예제: c = 5</vt:lpstr>
      <vt:lpstr>HORS의 약점: 공개키 크기</vt:lpstr>
      <vt:lpstr>HORST</vt:lpstr>
      <vt:lpstr>Multi-collision birthday paradox</vt:lpstr>
      <vt:lpstr>Union bound 유도</vt:lpstr>
      <vt:lpstr>예제: D = 207 → 80</vt:lpstr>
      <vt:lpstr>Virtual hypertree: 구조</vt:lpstr>
      <vt:lpstr>R 하나로 충분한 이유</vt:lpstr>
      <vt:lpstr>Virtual hypertree: SEED와 PRF</vt:lpstr>
      <vt:lpstr>서명 생성</vt:lpstr>
      <vt:lpstr>서명 검증</vt:lpstr>
      <vt:lpstr>Chain of trust</vt:lpstr>
      <vt:lpstr>문제와 해법 요약</vt:lpstr>
      <vt:lpstr>LMS vs SPHINCS+</vt:lpstr>
      <vt:lpstr>장단점과 전망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716</cp:revision>
  <dcterms:created xsi:type="dcterms:W3CDTF">2026-03-17T05:07:50Z</dcterms:created>
  <dcterms:modified xsi:type="dcterms:W3CDTF">2026-10-07T09:22:22Z</dcterms:modified>
</cp:coreProperties>
</file>