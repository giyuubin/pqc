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18. SPHINCS+: Few-Time Signatures and Virtual Hypertrees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Stateless: 무작위 리프 선택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FTS와 HORS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FTS를 Merkle 트리 리프에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Virtual hypertree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정리와 평가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Stateful 서명의 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LMS·HSS, XMSS·XMSS</a:t>
            </a:r>
            <a:r>
              <a:rPr sz="1800" baseline="30000" dirty="0">
                <a:solidFill>
                  <a:srgbClr val="000000"/>
                </a:solidFill>
              </a:rPr>
              <a:t>MT</a:t>
            </a:r>
            <a:r>
              <a:rPr sz="1800" dirty="0">
                <a:solidFill>
                  <a:srgbClr val="000000"/>
                </a:solidFill>
              </a:rPr>
              <a:t>는 모두 stateful 서명 스킴이다</a:t>
            </a:r>
          </a:p>
          <a:p>
            <a:r>
              <a:rPr sz="1800" dirty="0">
                <a:solidFill>
                  <a:srgbClr val="000000"/>
                </a:solidFill>
              </a:rPr>
              <a:t>서명자가 어느 OTS(one-time signature) 키를 이미 썼는지 계속 추적해야 한다</a:t>
            </a:r>
          </a:p>
          <a:p>
            <a:r>
              <a:rPr sz="1800" dirty="0">
                <a:solidFill>
                  <a:srgbClr val="000000"/>
                </a:solidFill>
              </a:rPr>
              <a:t>OTS 개인키를 한 번이라도 재사용하면 안전성이 깨지기 때문이다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pic>
        <p:nvPicPr>
          <p:cNvPr id="5" name="Picture 4" descr="Stateful hypertree: layer 1 트리의 리프가 layer 2 트리의 루트에 서명하고, layer 2 리프가 메시지에 서명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19" y="2926080"/>
            <a:ext cx="570685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SPHINCS+ (SLH-DSA)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Bernstein 등이 설계해 2024년 NIST가 표준화한 stateless 해시 기반 서명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FIPS 205의 공식 이름: SLH-DSA (Stateless Hash-Based Digital Signature Algorithm)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리프가 매우 많은 hypertree를 만든다. 리프는 OTS 키쌍이다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때마다 리프를 무작위로 하나 고른다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어떤 키쌍을 썼는지 기억할 필요가 없다 — stateless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수 있는 메시지 총수에 상한을 두어, 키 재사용 확률을 무시할 수 있게 한다</a:t>
            </a:r>
          </a:p>
          <a:p>
            <a:r>
              <a:rPr sz="1800" dirty="0">
                <a:solidFill>
                  <a:srgbClr val="000000"/>
                </a:solidFill>
              </a:rPr>
              <a:t>이 기본 아이디어에 여러 최적화가 더해졌다. 그중 핵심이 FTS와 virtual hypertree다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Birthday paradox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트리 전체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리프(OTS 키쌍)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리프를 무작위로 고르면 birthday paradox가 적용된다. 서로 다른 두 메시지가 같은 리프를 고를 확률은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쌍은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Union bound로, 어떤 OTS 키가 두 메시지 이상에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무시할 수 있을 만큼 작도록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S = 2</a:t>
            </a:r>
            <a:r>
              <a:rPr baseline="30000" dirty="0"/>
              <a:t>40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=207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40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208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80−208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−128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확률은 무시할 수 있을 만큼 작다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하지만 리프가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207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개인 높이 207 Merkle 트리는 만들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리프만으로는 부족하다. 리프 하나가 서명 몇 번은 견디는 키여야 트리를 낮출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Few-time signature (FTS)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031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Few-time signature(FTS)는 보안이 약해지기 전까지 소수의 메시지에 서명할 수 있는 스킴이다</a:t>
            </a:r>
          </a:p>
          <a:p>
            <a:r>
              <a:rPr sz="1800" dirty="0">
                <a:solidFill>
                  <a:srgbClr val="000000"/>
                </a:solidFill>
              </a:rPr>
              <a:t>핵심: 서명 하나가 개인키 성분을 조금만 드러낸다</a:t>
            </a:r>
          </a:p>
          <a:p>
            <a:r>
              <a:rPr sz="1800" dirty="0">
                <a:solidFill>
                  <a:srgbClr val="000000"/>
                </a:solidFill>
              </a:rPr>
              <a:t>HORS (Hashing to Obtain Random Subset): Reyzin과 Reyzin이 2002년에 제안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990411"/>
              </p:ext>
            </p:extLst>
          </p:nvPr>
        </p:nvGraphicFramePr>
        <p:xfrm>
          <a:off x="838200" y="3566160"/>
          <a:ext cx="105155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7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안전하게 서명할 수 있는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5~10회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하나가 노출하는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절반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일부 (최대 k개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n비트 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n비트 제2역상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n의 약수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𝑚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 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무작위 n비트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5" name="Picture 4" descr="HORS 키 생성: 개인키 x_i에 G를 적용해 공개키 y_i를 얻는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936865"/>
            <a:ext cx="4937760" cy="34414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 문자열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(randomizer)를 고르고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h를 m비트씩 </a:t>
                </a:r>
                <a:r>
                  <a:rPr sz="1800" dirty="0" err="1">
                    <a:solidFill>
                      <a:srgbClr val="000000"/>
                    </a:solidFill>
                  </a:rPr>
                  <a:t>k조각으로</a:t>
                </a:r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r>
                  <a:rPr sz="1800" dirty="0" err="1">
                    <a:solidFill>
                      <a:srgbClr val="000000"/>
                    </a:solidFill>
                  </a:rPr>
                  <a:t>쪼갠다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벡터의 j번째 성분은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— h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j</a:t>
                </a:r>
                <a:r>
                  <a:rPr sz="1800" dirty="0">
                    <a:solidFill>
                      <a:srgbClr val="000000"/>
                    </a:solidFill>
                  </a:rPr>
                  <a:t>가 가리키는 개인키 성분이다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성분이 겹칠 수 있어 t개 중 최대 k개만 노출한다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  <a:blipFill>
                <a:blip r:embed="rId2"/>
                <a:stretch>
                  <a:fillRect l="-7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5" name="Picture 4" descr="HORS 서명 생성: H(C,M)=(2,3,0,...,3)이 가리키는 개인키 성분 x_2, x_3, x_0, ...을 서명 S로 낸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62456"/>
            <a:ext cx="5760720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lang="en-US" altLang="ko-KR" sz="1800" dirty="0">
                    <a:solidFill>
                      <a:srgbClr val="000000"/>
                    </a:solidFill>
                  </a:rPr>
                  <a:t>Alice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의 공개키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의 진짜 사본을 구한다</a:t>
                </a:r>
              </a:p>
              <a:p>
                <a:pPr marL="342900" indent="-342900">
                  <a:buAutoNum type="arabicPeriod"/>
                </a:pPr>
                <a:r>
                  <a:rPr lang="ko-KR" altLang="en-US" sz="1800" dirty="0">
                    <a:solidFill>
                      <a:srgbClr val="000000"/>
                    </a:solidFill>
                  </a:rPr>
                  <a:t>해시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을 계산해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m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비트씩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k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조각으로 쪼갠다</a:t>
                </a:r>
              </a:p>
              <a:p>
                <a:pPr marL="342900" indent="-342900">
                  <a:buAutoNum type="arabicPeriod"/>
                </a:pPr>
                <a:r>
                  <a:rPr lang="ko-KR" altLang="en-US"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limUpp>
                      <m:limUpp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이면 수락한다</a:t>
                </a:r>
              </a:p>
              <a:p>
                <a:pPr marL="342900" indent="-342900">
                  <a:buAutoNum type="arabicPeriod"/>
                </a:pPr>
                <a:r>
                  <a:rPr lang="ko-KR" altLang="en-US" sz="1800" dirty="0">
                    <a:solidFill>
                      <a:srgbClr val="000000"/>
                    </a:solidFill>
                  </a:rPr>
                  <a:t>예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d>
                      <m:d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d>
                      <m:d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을 확인한다</a:t>
                </a:r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5" name="Picture 4" descr="HORS 검증: 서명 성분 s_j에 G를 적용해 공개키 y_(h_j)와 비교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827" y="1280160"/>
            <a:ext cx="398098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안전성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Alice가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메시지에 서명했고 공격자가 메시지와 서명을 모두 모았다고 하자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randomizer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Alice가 고르므로 공격자는 해시값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영향을 줄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H가 무작위 값을 낸다면 서명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노출하는 성분은 t개 중 최대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위조하려면 메시지와 randomizer를 찾아, h의 k조각이 가리키는 성분이 모두 이미 노출된 것이어야 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Pr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[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위조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]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아주 작으면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개까지 안전하게 서명할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c =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서명했다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𝑐𝑘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16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12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12)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−154.85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무시할 수 있을 만큼 작으므로 최대 5개까지 안전하게 서명할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값은 시도 한 번당 상한이다.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 시도하면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위조에는 약 2</a:t>
                </a:r>
                <a:r>
                  <a:rPr sz="1800" baseline="30000" dirty="0">
                    <a:solidFill>
                      <a:srgbClr val="000000"/>
                    </a:solidFill>
                  </a:rPr>
                  <a:t>154</a:t>
                </a:r>
                <a:r>
                  <a:rPr sz="1800" dirty="0">
                    <a:solidFill>
                      <a:srgbClr val="000000"/>
                    </a:solidFill>
                  </a:rPr>
                  <a:t>번의 해시 평가가 필요하다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약점: 공개키 크기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공개키는 t개의 n비트 값 y</a:t>
            </a:r>
            <a:r>
              <a:rPr sz="1800" baseline="-25000" dirty="0">
                <a:solidFill>
                  <a:srgbClr val="000000"/>
                </a:solidFill>
              </a:rPr>
              <a:t>i</a:t>
            </a:r>
            <a:r>
              <a:rPr sz="1800" dirty="0">
                <a:solidFill>
                  <a:srgbClr val="000000"/>
                </a:solidFill>
              </a:rPr>
              <a:t> 전체다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910266"/>
              </p:ext>
            </p:extLst>
          </p:nvPr>
        </p:nvGraphicFramePr>
        <p:xfrm>
          <a:off x="838200" y="21945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값 (n=256, t=2</a:t>
                      </a:r>
                      <a:r>
                        <a:rPr sz="1800" b="1" baseline="30000" dirty="0">
                          <a:solidFill>
                            <a:schemeClr val="bg1"/>
                          </a:solidFill>
                        </a:rPr>
                        <a:t>16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 · 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·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16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=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24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n·t / 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B = 2 MiB (약 2.1 MB)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공개키를 압축해야 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트리를 쓴다 (HORST)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공개키 성분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트리의 리프에 둔다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𝑚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트리 루트가 공개키가 되어 크기가 아주 작아진다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서명에 검증에 필요한 공개키 성분과 각 성분의 authentication path가 함께 들어간다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68554"/>
              </p:ext>
            </p:extLst>
          </p:nvPr>
        </p:nvGraphicFramePr>
        <p:xfrm>
          <a:off x="838200" y="35661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y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전체 (n·t 비트)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S, y 성분, authentication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성분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공개키와 직접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path로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Multi-collision birthday paradox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리프마다 FTS 키쌍을 두고, 서명 때 무작위 리프를 골라 그 FTS 개인키로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Birthday paradox를 multi-collision으로 일반화하면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어떤 FTS 키가 c번 이상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확인: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·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으로 OTS의 식과 일치한다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Union bound 유도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고정한다. 모두 같은 리프를 고를 확률은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−1)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(첫 메시지가 리프를 정하면 나머지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그 리프를 맞힌다)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뽑는 방법은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가지다. Union bound로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근사는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≫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일 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!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쓴 것이다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쌍이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개, 확률이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이라 앞의 OTS 유도와 같다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D = 207 → 80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=80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200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120·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320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617506"/>
              </p:ext>
            </p:extLst>
          </p:nvPr>
        </p:nvGraphicFramePr>
        <p:xfrm>
          <a:off x="838200" y="320040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0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OTS 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리프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수 상한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위험한 사용 횟수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전체 높이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만들 수 있는가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207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여전히 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80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구조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Virtual hypertree는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층이고, 각 층은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트리들로 이루어진다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~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OTS 공개키다. 각 OTS 개인키는 바로 아래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FTS 공개키다. FTS 개인키가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맨 위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사용자의 long-term public key다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하나뿐이다. 아래 전체를 어떻게 믿을 수 있을까?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5" name="Picture 4" descr="Virtual hypertree: layer 1부터 layer L까지 Merkle 트리가 이어지고 루트 R이 long-term public key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 하나로 충분한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질문: 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하나뿐인데, 어떻게 아래 수많은 트리와 메시지 서명까지 보증하는가?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답: 묶기와 서명이 맨 아래 층까지 이어지는 사슬이다.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해시로 묶는 것은 층 1 리프뿐이고, 그 아래는 서명으로 이어진다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Merkle 트리와 방향이 반대: 서명은 아래에서 위로, 신뢰는 위에서 아래로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층마다 두 장치가 번갈아 쓰인다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  <a:blipFill>
                <a:blip r:embed="rId2"/>
                <a:stretch>
                  <a:fillRect l="-58" b="-1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35417"/>
              </p:ext>
            </p:extLst>
          </p:nvPr>
        </p:nvGraphicFramePr>
        <p:xfrm>
          <a:off x="838200" y="3931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확인하는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쓰는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가 그 층의 루트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에 속하는가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다음 층의 루트가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서명을 받았는가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 층에서는 루트 대신 메시지 M을 확인한다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SEED와 PRF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OTS·FTS 개인키는 SEED 하나와 공개키의 인덱스(층·트리 번호, 위치)에 PRF를 적용해 만든다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SEED가 정해지면 모든 키쌍과 노드 해시까지 hypertree 전체가 확정된다. 실제로 만들 수 없어도 정의되어 있다: 이것이 "virtual"의 뜻이다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아직 만들지 않은 아래 트리의 값도 이미 정해져 있다.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서명할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처음부터 확정이다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필요한 Merkle 트리 하나는 SEED에서 키쌍을 만든 뒤 노드 해시를 계산해 효율적으로 만든다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5" name="Picture 4" descr="Virtual hypertree: SEED와 인덱스로 모든 키와 노드가 정해진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무작위로 FTS 키쌍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골라 그 개인키로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이 든 트리의 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의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SEED에서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개인키로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서명하고, 그 트리의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1까지 반복해 hypertree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닿는다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= FTS 서명 + 중간 OTS 서명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r="-2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5" name="Picture 4" descr="서명 생성 순서: layer L에서 layer 1로 올라가며 K_l, R_l, authentication path P_l을 만든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Bob은 진짜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갖고 있다.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진짜임이 확인된다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대한 OTS 서명을 검증하고,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한 층씩 내려가며 반복해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진짜임을 확인한다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마지막으로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서명을 검증한다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서명과 authentication path가 서명에 함께 실려 오므로, 아래 트리를 미리 볼 필요가 없다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b="-10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pic>
        <p:nvPicPr>
          <p:cNvPr id="5" name="Picture 4" descr="서명 검증 순서: layer 1에서 layer L로 내려가며 R에서 K_L까지 확인한 뒤 M을 검증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Chain of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6459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검증자는 R 하나만 믿고 시작해, 층마다 새로 확인한 값으로 다음 층을 믿어 나간다</a:t>
            </a:r>
          </a:p>
          <a:p>
            <a:r>
              <a:rPr sz="1800" dirty="0">
                <a:solidFill>
                  <a:srgbClr val="000000"/>
                </a:solidFill>
              </a:rPr>
              <a:t>어느 고리를 위조해도 해시 충돌이나 서명 위조가 필요하다. 그래서 진짜 R만 있으면 M까지 믿을 수 있다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64704"/>
              </p:ext>
            </p:extLst>
          </p:nvPr>
        </p:nvGraphicFramePr>
        <p:xfrm>
          <a:off x="838200" y="301752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6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검증하는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새로 믿게 되는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Long-term public key R을 신뢰한다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OTS 서명,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3 ~ 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같은 과정을 한 층씩 반복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L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문제와 해법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해법이 앞 단계의 한계를 풀면서 다음 한계를 드러낸다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387417"/>
              </p:ext>
            </p:extLst>
          </p:nvPr>
        </p:nvGraphicFramePr>
        <p:xfrm>
          <a:off x="838200" y="210312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Stateful: 상태 관리가 어렵다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 + 서명 수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(D=207)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207 트리를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리프에 FTS(HORS)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80, 확률 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 공개키가 2 MiB다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HORST: Merkle 트리로 압축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공개키는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 트리도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작은 트리만 필요할 때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vs SPHINCS+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294980"/>
              </p:ext>
            </p:extLst>
          </p:nvPr>
        </p:nvGraphicFramePr>
        <p:xfrm>
          <a:off x="838200" y="1554480"/>
          <a:ext cx="105155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LMS·HSS (XMSS)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SPHINCS+ (SLH-DSA)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Stateless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키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사용한 OTS 키를 추적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리프, 추적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리프의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아래층만 FTS, 위층은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 / hypertree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 수까지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상한 S, 재사용 확률로 제한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FIPS 205 (2024)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장단점과 전망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장점: 해시 기반이라 양자 공격에 대한 안전성 근거가 설득력 있다</a:t>
            </a:r>
          </a:p>
          <a:p>
            <a:r>
              <a:rPr sz="1800" dirty="0">
                <a:solidFill>
                  <a:srgbClr val="000000"/>
                </a:solidFill>
              </a:rPr>
              <a:t>단점: 서명이 크고 상대적으로 느리다</a:t>
            </a:r>
          </a:p>
          <a:p>
            <a:r>
              <a:rPr sz="1800" dirty="0">
                <a:solidFill>
                  <a:srgbClr val="000000"/>
                </a:solidFill>
              </a:rPr>
              <a:t>LMS·XMSS는 stateful이라 실제 배포 범위가 제한될 전망이다</a:t>
            </a:r>
          </a:p>
          <a:p>
            <a:r>
              <a:rPr sz="1800" dirty="0">
                <a:solidFill>
                  <a:srgbClr val="000000"/>
                </a:solidFill>
              </a:rPr>
              <a:t>SPHINCS+는 이미 배포 중이지만, 격자 기반 서명 Dilithium(ML-DSA)만큼 널리 쓰이지는 않을 전망이다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3458</TotalTime>
  <Words>1863</Words>
  <Application>Microsoft Office PowerPoint</Application>
  <PresentationFormat>와이드스크린</PresentationFormat>
  <Paragraphs>273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Stateful 서명의 문제</vt:lpstr>
      <vt:lpstr>SPHINCS+ (SLH-DSA)</vt:lpstr>
      <vt:lpstr>Birthday paradox</vt:lpstr>
      <vt:lpstr>예제: S = 240</vt:lpstr>
      <vt:lpstr>Few-time signature (FTS)</vt:lpstr>
      <vt:lpstr>HORS: 키 생성</vt:lpstr>
      <vt:lpstr>HORS: 서명</vt:lpstr>
      <vt:lpstr>HORS: 검증</vt:lpstr>
      <vt:lpstr>HORS의 안전성</vt:lpstr>
      <vt:lpstr>예제: c = 5</vt:lpstr>
      <vt:lpstr>HORS의 약점: 공개키 크기</vt:lpstr>
      <vt:lpstr>HORST</vt:lpstr>
      <vt:lpstr>Multi-collision birthday paradox</vt:lpstr>
      <vt:lpstr>Union bound 유도</vt:lpstr>
      <vt:lpstr>예제: D = 207 → 80</vt:lpstr>
      <vt:lpstr>Virtual hypertree: 구조</vt:lpstr>
      <vt:lpstr>R 하나로 충분한 이유</vt:lpstr>
      <vt:lpstr>Virtual hypertree: SEED와 PRF</vt:lpstr>
      <vt:lpstr>서명 생성</vt:lpstr>
      <vt:lpstr>서명 검증</vt:lpstr>
      <vt:lpstr>Chain of trust</vt:lpstr>
      <vt:lpstr>문제와 해법 요약</vt:lpstr>
      <vt:lpstr>LMS vs SPHINCS+</vt:lpstr>
      <vt:lpstr>장단점과 전망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707</cp:revision>
  <dcterms:created xsi:type="dcterms:W3CDTF">2026-03-17T05:07:50Z</dcterms:created>
  <dcterms:modified xsi:type="dcterms:W3CDTF">2026-10-07T06:02:43Z</dcterms:modified>
</cp:coreProperties>
</file>