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PQC 세미나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C9D8EA"/>
                </a:solidFill>
                <a:latin typeface="맑은 고딕"/>
                <a:ea typeface="맑은 고딕"/>
              </a:rPr>
              <a:t>학습 및 발표 계획  +  Lattice-Based Cryptography 1강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9B9CE"/>
                </a:solidFill>
                <a:latin typeface="맑은 고딕"/>
                <a:ea typeface="맑은 고딕"/>
              </a:rPr>
              <a:t>정보보호학과 학부연구생(ISNPL) 세미나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A9B9CE"/>
                </a:solidFill>
                <a:latin typeface="맑은 고딕"/>
                <a:ea typeface="맑은 고딕"/>
              </a:rPr>
              <a:t>2026. 07. 09.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오늘 세미나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오늘은 두 가지를 함께 다룹니다.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① 학습 계획 발표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현대암호학 세미나 이후 PQC 학습 로드맵 — 7~10월 일정표, 코스 구성, 향후 계획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② 1강 Introduction 학습 발표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Lattice-Based Cryptography 코스의 첫 강의 — 수식 없는 개요, 코스 전체 그림 잡기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학습 계획 + 1강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전체 커리큘럼 구성 — 3개 코스, 17강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029200"/>
                <a:gridCol w="475488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순서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강의 수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Lattice-Based Cryptography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 — 격자 기반 암호의 수학적 기초 (진행 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and Dilithium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4강 — ML-KEM, ML-DSA의 구체적 구성과 최적화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 Signature Schemes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 — LMS, XMSS, SPHINCS+(SLH-DSA)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74903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순서를 이렇게 배치한 이유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맑은 고딕"/>
                <a:ea typeface="맑은 고딕"/>
              </a:rPr>
              <a:t>     –  Lattice-Based 코스의 SIS·LWE·Module-LWE 개념이 Kyber·Dilithium 이해의 전제 조건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맑은 고딕"/>
                <a:ea typeface="맑은 고딕"/>
              </a:rPr>
              <a:t>     –  Hash-Based Signature는 격자 이론과 독립적이라 마지막에 배치해도 무리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학습 계획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학습 일정표 — 7~10월, 총 15세션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63040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685800"/>
                <a:gridCol w="2103120"/>
                <a:gridCol w="1280160"/>
                <a:gridCol w="6217920"/>
              </a:tblGrid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날짜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>
                    <a:solidFill>
                      <a:srgbClr val="3B6EA5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07-09</a:t>
                      </a:r>
                    </a:p>
                  </a:txBody>
                  <a:tcPr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발표+Lattice</a:t>
                      </a:r>
                    </a:p>
                  </a:txBody>
                  <a:tcPr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계획+1강</a:t>
                      </a:r>
                    </a:p>
                  </a:txBody>
                  <a:tcPr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학습 로드맵/일정표 발표 및 1강 Introduction</a:t>
                      </a:r>
                    </a:p>
                  </a:txBody>
                  <a:tcPr>
                    <a:solidFill>
                      <a:srgbClr val="FFE8C2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07-14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2~4강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 + LWE + Lattices (세 회차 결합)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5강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SIS/LWE and Lattices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6강(1/2)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전반부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6강(2/2)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후반부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07-28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Module-SIS and Module-LWE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Introduction 전체 (PQC 개요+수학적 사전지식)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08-04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V2(1/2)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PKE(simplified) + 최적화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V2(2/2)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PKE(full) + KEM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V3(1/2)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토이 버전 + t 비압축 버전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V3(2/2)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t 압축 + 전체 스킴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08-27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NTT — Dilithium NTT + Kyber NTT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V1~V3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 + Hash functions + Lamport 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09-17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V4+V5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Lamport 문제점/해결책 + LMS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29433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10-01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SPHINCS+ / SLH-DSA (마지막 회차)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학습 계획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SCHEDULE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일정 구성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화요일: 목요일 세미나 이후 나흘(금~월)의 준비 기간 → 상대적으로 많은 분량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목요일: 준비 기간 이틀(화~수)뿐 → 가볍게 유지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정말 분량이 많거나 어려운 회차는 화요일 시작 → 목요일 종료로 2회차 배치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맑은 고딕"/>
                <a:ea typeface="맑은 고딕"/>
              </a:rPr>
              <a:t>     –  Ring-SIS/Ring-LWE, Kyber V2, Dilithium(V3)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Introduction 성격 강의(V1)는 화요일 세미나가 있는 주의 목요일에 배치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화·목이 모두 있는 시기가 끝난 뒤(8/27 이후)는 세션 간 공백이 길수록 분량을 늘림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학습 계획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1강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PQC 배경 — 왜 지금 격자 기반 암호인가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2024년 8월, NIST가 양자내성(post-quantum) 암호 표준을 발표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키 캡슐화(KEM) 표준: FIPS 203 (ML-KEM, 옛 Kyber)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전자서명 표준: FIPS 204 (ML-DSA, 옛 Dilithium)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RSA·ECC는 양자컴퓨터로 완전히 해독 가능하다는 사실이 이미 알려져 있음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양자내성 스킴은 이를 대체하기 위해 설계됨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양자컴퓨터 실현 시점은 여전히 불확실하지만, 전환(migration) 작업은 이미 가속화되는 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1강 Introduction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1강 · SECURITY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Kyber / Dilithium의 안전성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향후 가장 널리 배포될 것으로 예상되는 PQC 스킴: Kyber, Dilithium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Kyber (ML-KEM)  →  D-MLWE (Decisional Module-LWE) 문제의 어려움에 근거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D-MLWE는 MLWE(Module-LWE) 문제와 관련됨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Dilithium (ML-DSA)  →  D-MLWE + MSIS (Module-SIS) 문제의 어려움에 근거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MLWE·D-MLWE·MSIS의 구체적 정의는 이후 강의에서 순차 등장: SIS(2강) · LWE(3강) · 격자(4강) · Module-SIS/Module-LWE(7강)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기존 “Kyber and Dilithium” 코스는 FIPS 203/204에 따른 두 스킴의 구체적 구성은 다뤘지만, 격자와의 연결은 설명하지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1강 Introduction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1강 ·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이 코스(Lattice-Based Cryptography)의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목표: “MSIS와 MLWE가 왜 격자(lattice) 문제로 볼 수 있는가?” 규명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  <a:ea typeface="맑은 고딕"/>
              </a:rPr>
              <a:t>     –  이전 코스에서 다루지 않은 공백을 메우는 것이 이 코스의 존재 이유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  <a:latin typeface="맑은 고딕"/>
                <a:ea typeface="맑은 고딕"/>
              </a:rPr>
              <a:t>▪  결과적으로 Kyber와 Dilithium을 “lattice-based cryptosystem”이라 부를 수 있는 수학적 근거를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1강 Introduction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6858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6EA5"/>
                </a:solidFill>
                <a:latin typeface="맑은 고딕"/>
                <a:ea typeface="맑은 고딕"/>
              </a:rPr>
              <a:t>1강 ·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맑은 고딕"/>
                <a:ea typeface="맑은 고딕"/>
              </a:rPr>
              <a:t>Lattice-Based Cryptography — 7강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451" y="1783080"/>
            <a:ext cx="1417320" cy="1051560"/>
          </a:xfrm>
          <a:prstGeom prst="roundRect">
            <a:avLst/>
          </a:prstGeom>
          <a:solidFill>
            <a:srgbClr val="3B6EA5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8771" y="1783080"/>
            <a:ext cx="164592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3363" y="1783080"/>
            <a:ext cx="2999232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2. SIS  ·  3. LWE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2595" y="1783080"/>
            <a:ext cx="164592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187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4. Lattices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4507" y="1783080"/>
            <a:ext cx="164592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9099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5. SIS/LWE and Lattices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419" y="1783080"/>
            <a:ext cx="164592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1011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6. Ring-SIS and Ring-LWE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8331" y="1783080"/>
            <a:ext cx="164592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2923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7. Module-SIS and Module-LWE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SIS·LWE를 각각 배운 뒤(2~3강) 격자와 연결하고(4~5강)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2B2B2B"/>
                </a:solidFill>
                <a:latin typeface="맑은 고딕"/>
                <a:ea typeface="맑은 고딕"/>
              </a:rPr>
              <a:t>▪  Ring·Module 구조로 일반화하여(6~7강) Kyber/Dilithium이 사용하는 MSIS·MLWE에 최종 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PQC 세미나 — 2026.07.09  |  1강 Introduction</a:t>
            </a:r>
          </a:p>
          <a:p/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Q &amp; A</a:t>
            </a:r>
          </a:p>
          <a:p>
            <a:pPr>
              <a:spcBef>
                <a:spcPts val="1600"/>
              </a:spcBef>
            </a:pPr>
            <a:r>
              <a:rPr sz="2000" b="0">
                <a:solidFill>
                  <a:srgbClr val="C9D8EA"/>
                </a:solidFill>
                <a:latin typeface="맑은 고딕"/>
                <a:ea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