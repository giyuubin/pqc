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76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dirty="0">
                <a:solidFill>
                  <a:srgbClr val="FFFFFF"/>
                </a:solidFill>
                <a:latin typeface="맑은 고딕"/>
                <a:ea typeface="맑은 고딕"/>
              </a:rPr>
              <a:t>PQC </a:t>
            </a:r>
            <a:r>
              <a:rPr sz="4400" b="1" dirty="0" err="1">
                <a:solidFill>
                  <a:srgbClr val="FFFFFF"/>
                </a:solidFill>
                <a:latin typeface="맑은 고딕"/>
                <a:ea typeface="맑은 고딕"/>
              </a:rPr>
              <a:t>세미나</a:t>
            </a:r>
            <a:endParaRPr sz="4400" b="1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>
              <a:spcBef>
                <a:spcPts val="1000"/>
              </a:spcBef>
            </a:pPr>
            <a:r>
              <a:rPr sz="2200" b="0" dirty="0" err="1">
                <a:solidFill>
                  <a:srgbClr val="C9D8EA"/>
                </a:solidFill>
                <a:latin typeface="맑은 고딕"/>
                <a:ea typeface="맑은 고딕"/>
              </a:rPr>
              <a:t>학습</a:t>
            </a:r>
            <a:r>
              <a:rPr sz="2200" b="0" dirty="0">
                <a:solidFill>
                  <a:srgbClr val="C9D8EA"/>
                </a:solidFill>
                <a:latin typeface="맑은 고딕"/>
                <a:ea typeface="맑은 고딕"/>
              </a:rPr>
              <a:t> 및 </a:t>
            </a:r>
            <a:r>
              <a:rPr sz="2200" b="0" dirty="0" err="1">
                <a:solidFill>
                  <a:srgbClr val="C9D8EA"/>
                </a:solidFill>
                <a:latin typeface="맑은 고딕"/>
                <a:ea typeface="맑은 고딕"/>
              </a:rPr>
              <a:t>발표</a:t>
            </a:r>
            <a:r>
              <a:rPr sz="2200" b="0" dirty="0">
                <a:solidFill>
                  <a:srgbClr val="C9D8EA"/>
                </a:solidFill>
                <a:latin typeface="맑은 고딕"/>
                <a:ea typeface="맑은 고딕"/>
              </a:rPr>
              <a:t> </a:t>
            </a:r>
            <a:r>
              <a:rPr sz="2200" b="0" dirty="0" err="1">
                <a:solidFill>
                  <a:srgbClr val="C9D8EA"/>
                </a:solidFill>
                <a:latin typeface="맑은 고딕"/>
                <a:ea typeface="맑은 고딕"/>
              </a:rPr>
              <a:t>계획</a:t>
            </a:r>
            <a:r>
              <a:rPr sz="2200" b="0" dirty="0">
                <a:solidFill>
                  <a:srgbClr val="C9D8EA"/>
                </a:solidFill>
                <a:latin typeface="맑은 고딕"/>
                <a:ea typeface="맑은 고딕"/>
              </a:rPr>
              <a:t>  +  Lattice-Based Cryptography 1강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A9B9CE"/>
                </a:solidFill>
                <a:latin typeface="맑은 고딕"/>
                <a:ea typeface="맑은 고딕"/>
              </a:rPr>
              <a:t>정보보호학과 학부연구생(ISNPL) 세미나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A9B9CE"/>
                </a:solidFill>
                <a:latin typeface="맑은 고딕"/>
                <a:ea typeface="맑은 고딕"/>
              </a:rPr>
              <a:t>2026. 07. 09.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오늘 세미나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오늘은 두 가지를 함께 다룹니다.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① 학습 계획 발표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현대암호학 세미나 이후 PQC 학습 로드맵 — 7~10월 일정표, 코스 구성, 향후 계획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② 1강 Introduction 학습 발표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Lattice-Based Cryptography 코스의 첫 강의 — 수식 없는 개요, 코스 전체 그림 잡기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학습 계획 + 1강</a:t>
            </a:r>
          </a:p>
          <a:p>
            <a:endParaRPr sz="1000" b="0">
              <a:solidFill>
                <a:srgbClr val="5A5A5A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전체 커리큘럼 구성 — 3개 코스, 17강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600200"/>
          <a:ext cx="106070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순서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코스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수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Lattice-Based Cryptography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7강 — 격자 기반 암호의 수학적 기초 (진행 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and Dilithium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4강 — ML-KEM, ML-DSA의 구체적 구성과 최적화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 Signature Schemes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 — LMS, XMSS, SPHINCS+(SLH-DSA)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749039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 dirty="0">
                <a:solidFill>
                  <a:srgbClr val="2B2B2B"/>
                </a:solidFill>
                <a:latin typeface="맑은 고딕"/>
                <a:ea typeface="맑은 고딕"/>
              </a:rPr>
              <a:t>▪  </a:t>
            </a:r>
            <a:r>
              <a:rPr sz="1800" b="1" dirty="0" err="1">
                <a:solidFill>
                  <a:srgbClr val="2B2B2B"/>
                </a:solidFill>
                <a:latin typeface="맑은 고딕"/>
                <a:ea typeface="맑은 고딕"/>
              </a:rPr>
              <a:t>순서를</a:t>
            </a:r>
            <a:r>
              <a:rPr sz="1800" b="1" dirty="0">
                <a:solidFill>
                  <a:srgbClr val="2B2B2B"/>
                </a:solidFill>
                <a:latin typeface="맑은 고딕"/>
                <a:ea typeface="맑은 고딕"/>
              </a:rPr>
              <a:t> </a:t>
            </a:r>
            <a:r>
              <a:rPr sz="1800" b="1" dirty="0" err="1">
                <a:solidFill>
                  <a:srgbClr val="2B2B2B"/>
                </a:solidFill>
                <a:latin typeface="맑은 고딕"/>
                <a:ea typeface="맑은 고딕"/>
              </a:rPr>
              <a:t>이렇게</a:t>
            </a:r>
            <a:r>
              <a:rPr sz="1800" b="1" dirty="0">
                <a:solidFill>
                  <a:srgbClr val="2B2B2B"/>
                </a:solidFill>
                <a:latin typeface="맑은 고딕"/>
                <a:ea typeface="맑은 고딕"/>
              </a:rPr>
              <a:t> </a:t>
            </a:r>
            <a:r>
              <a:rPr sz="1800" b="1" dirty="0" err="1">
                <a:solidFill>
                  <a:srgbClr val="2B2B2B"/>
                </a:solidFill>
                <a:latin typeface="맑은 고딕"/>
                <a:ea typeface="맑은 고딕"/>
              </a:rPr>
              <a:t>배치한</a:t>
            </a:r>
            <a:r>
              <a:rPr sz="1800" b="1" dirty="0">
                <a:solidFill>
                  <a:srgbClr val="2B2B2B"/>
                </a:solidFill>
                <a:latin typeface="맑은 고딕"/>
                <a:ea typeface="맑은 고딕"/>
              </a:rPr>
              <a:t> </a:t>
            </a:r>
            <a:r>
              <a:rPr sz="1800" b="1" dirty="0" err="1">
                <a:solidFill>
                  <a:srgbClr val="2B2B2B"/>
                </a:solidFill>
                <a:latin typeface="맑은 고딕"/>
                <a:ea typeface="맑은 고딕"/>
              </a:rPr>
              <a:t>이유</a:t>
            </a:r>
            <a:endParaRPr sz="1800" b="1" dirty="0">
              <a:solidFill>
                <a:srgbClr val="2B2B2B"/>
              </a:solidFill>
              <a:latin typeface="맑은 고딕"/>
              <a:ea typeface="맑은 고딕"/>
            </a:endParaRP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    –  Lattice-Based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코스의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SIS·LWE·Module-LWE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개념이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Kyber·Dilithium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이해의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전제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조건</a:t>
            </a:r>
            <a:endParaRPr sz="1500" b="0" dirty="0">
              <a:solidFill>
                <a:srgbClr val="5A5A5A"/>
              </a:solidFill>
              <a:latin typeface="맑은 고딕"/>
              <a:ea typeface="맑은 고딕"/>
            </a:endParaRP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    –  Hash-Based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Signature는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격자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이론과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독립적이라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마지막에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배치해도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무리</a:t>
            </a:r>
            <a:r>
              <a:rPr sz="1500" b="0" dirty="0">
                <a:solidFill>
                  <a:srgbClr val="5A5A5A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5A5A5A"/>
                </a:solidFill>
                <a:latin typeface="맑은 고딕"/>
                <a:ea typeface="맑은 고딕"/>
              </a:rPr>
              <a:t>없음</a:t>
            </a:r>
            <a:endParaRPr sz="1500" b="0" dirty="0">
              <a:solidFill>
                <a:srgbClr val="5A5A5A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학습 계획</a:t>
            </a:r>
          </a:p>
          <a:p>
            <a:endParaRPr sz="1000" b="0">
              <a:solidFill>
                <a:srgbClr val="5A5A5A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학습 일정표 — 7~10월, 총 15세션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63040"/>
          <a:ext cx="1133856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날짜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요일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코스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주제</a:t>
                      </a:r>
                    </a:p>
                  </a:txBody>
                  <a:tcPr>
                    <a:solidFill>
                      <a:srgbClr val="3B6E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07-09</a:t>
                      </a:r>
                    </a:p>
                  </a:txBody>
                  <a:tcPr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발표+Lattice</a:t>
                      </a:r>
                    </a:p>
                  </a:txBody>
                  <a:tcPr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계획+1강</a:t>
                      </a:r>
                    </a:p>
                  </a:txBody>
                  <a:tcPr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학습 로드맵/일정표 발표 및 1강 Introduction</a:t>
                      </a:r>
                    </a:p>
                  </a:txBody>
                  <a:tcPr>
                    <a:solidFill>
                      <a:srgbClr val="FFE8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07-14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2~4강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SIS + LWE + Lattices (세 회차 결합)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5강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SIS/LWE and Lattices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07-21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6강(1/2)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Ring-SIS and Ring-LWE — 전반부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6강(2/2)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Ring-SIS and Ring-LWE — 후반부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07-28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7강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Module-SIS and Module-LWE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Introduction 전체 (PQC 개요+수학적 사전지식)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08-04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V2(1/2)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PKE(simplified) + 최적화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V2(2/2)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PKE(full) + KEM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08-11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V3(1/2)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 토이 버전 + t 비압축 버전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V3(2/2)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 t 압축 + 전체 스킴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08-27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V4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NTT — Dilithium NTT + Kyber NTT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V1~V3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Intro + Hash functions + Lamport 서명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09-17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V4+V5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Lamport 문제점/해결책 + LMS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433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10-01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SPHINCS+ / SLH-DSA (</a:t>
                      </a:r>
                      <a:r>
                        <a:rPr sz="105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마지막</a:t>
                      </a:r>
                      <a:r>
                        <a:rPr sz="105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회차</a:t>
                      </a:r>
                      <a:r>
                        <a:rPr sz="105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학습 계획</a:t>
            </a:r>
          </a:p>
          <a:p>
            <a:endParaRPr sz="1000" b="0">
              <a:solidFill>
                <a:srgbClr val="5A5A5A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SCHEDULE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일정 구성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화요일: 목요일 세미나 이후 나흘(금~월)의 준비 기간 → 상대적으로 많은 분량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목요일: 준비 기간 이틀(화~수)뿐 → 가볍게 유지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정말 분량이 많거나 어려운 회차는 화요일 시작 → 목요일 종료로 2회차 배치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맑은 고딕"/>
                <a:ea typeface="맑은 고딕"/>
              </a:rPr>
              <a:t>     –  Ring-SIS/Ring-LWE, Kyber V2, Dilithium(V3)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Introduction 성격 강의(V1)는 화요일 세미나가 있는 주의 목요일에 배치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화·목이 모두 있는 시기가 끝난 뒤(8/27 이후)는 세션 간 공백이 길수록 분량을 늘림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학습 계획</a:t>
            </a:r>
          </a:p>
          <a:p>
            <a:endParaRPr sz="1000" b="0">
              <a:solidFill>
                <a:srgbClr val="5A5A5A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1강 ·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PQC 배경 — 왜 지금 격자 기반 암호인가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2024년 8월, NIST가 양자내성(post-quantum) 암호 표준을 발표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키 캡슐화(KEM) 표준: FIPS 203 (ML-KEM, 옛 Kyber)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전자서명 표준: FIPS 204 (ML-DSA, 옛 Dilithium)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RSA·ECC는 양자컴퓨터로 완전히 해독 가능하다는 사실이 이미 알려져 있음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양자내성 스킴은 이를 대체하기 위해 설계됨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양자컴퓨터 실현 시점은 여전히 불확실하지만, 전환(migration) 작업은 이미 가속화되는 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1강 Introduction</a:t>
            </a:r>
          </a:p>
          <a:p>
            <a:endParaRPr sz="1000" b="0">
              <a:solidFill>
                <a:srgbClr val="5A5A5A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1강 · SECURITY BASIS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Kyber / Dilithium의 안전성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향후 가장 널리 배포될 것으로 예상되는 PQC 스킴: Kyber, Dilithium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Kyber (ML-KEM)  →  D-MLWE (Decisional Module-LWE) 문제의 어려움에 근거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D-MLWE는 MLWE(Module-LWE) 문제와 관련됨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Dilithium (ML-DSA)  →  D-MLWE + MSIS (Module-SIS) 문제의 어려움에 근거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MLWE·D-MLWE·MSIS의 구체적 정의는 이후 강의에서 순차 등장: SIS(2강) · LWE(3강) · 격자(4강) · Module-SIS/Module-LWE(7강)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기존 “Kyber and Dilithium” 코스는 FIPS 203/204에 따른 두 스킴의 구체적 구성은 다뤘지만, 격자와의 연결은 설명하지 않음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1강 Introduction</a:t>
            </a:r>
          </a:p>
          <a:p>
            <a:endParaRPr sz="1000" b="0">
              <a:solidFill>
                <a:srgbClr val="5A5A5A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1강 ·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이 코스(Lattice-Based Cryptography)의 목적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목표: “MSIS와 MLWE가 왜 격자(lattice) 문제로 볼 수 있는가?” 규명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맑은 고딕"/>
                <a:ea typeface="맑은 고딕"/>
              </a:rPr>
              <a:t>     –  이전 코스에서 다루지 않은 공백을 메우는 것이 이 코스의 존재 이유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2B2B2B"/>
                </a:solidFill>
                <a:latin typeface="맑은 고딕"/>
                <a:ea typeface="맑은 고딕"/>
              </a:rPr>
              <a:t>▪  결과적으로 Kyber와 Dilithium을 “lattice-based cryptosystem”이라 부를 수 있는 수학적 근거를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1강 Introduction</a:t>
            </a:r>
          </a:p>
          <a:p>
            <a:endParaRPr sz="1000" b="0">
              <a:solidFill>
                <a:srgbClr val="5A5A5A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11480"/>
            <a:ext cx="109728" cy="685800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B6EA5"/>
                </a:solidFill>
                <a:latin typeface="맑은 고딕"/>
                <a:ea typeface="맑은 고딕"/>
              </a:rPr>
              <a:t>1강 · 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48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  <a:latin typeface="맑은 고딕"/>
                <a:ea typeface="맑은 고딕"/>
              </a:rPr>
              <a:t>Lattice-Based Cryptography — 7강 흐름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1451" y="1783080"/>
            <a:ext cx="1417320" cy="1051560"/>
          </a:xfrm>
          <a:prstGeom prst="roundRect">
            <a:avLst/>
          </a:prstGeom>
          <a:solidFill>
            <a:srgbClr val="3B6EA5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1. 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8771" y="1783080"/>
            <a:ext cx="164592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23363" y="1783080"/>
            <a:ext cx="2999232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</a:rPr>
              <a:t>2. SIS  ·  3. LWE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2595" y="1783080"/>
            <a:ext cx="164592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87187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</a:rPr>
              <a:t>4. Lattices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4507" y="1783080"/>
            <a:ext cx="164592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9099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</a:rPr>
              <a:t>5. SIS/LWE and Lattices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419" y="1783080"/>
            <a:ext cx="164592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51011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</a:rPr>
              <a:t>6. Ring-SIS and Ring-LWE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8331" y="1783080"/>
            <a:ext cx="164592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32923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</a:rPr>
              <a:t>7. Module-SIS and Module-LWE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24612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SIS·LWE를 각각 배운 뒤(2~3강) 격자와 연결하고(4~5강)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800" b="1">
                <a:solidFill>
                  <a:srgbClr val="2B2B2B"/>
                </a:solidFill>
                <a:latin typeface="맑은 고딕"/>
                <a:ea typeface="맑은 고딕"/>
              </a:rPr>
              <a:t>▪  Ring·Module 구조로 일반화하여(6~7강) Kyber/Dilithium이 사용하는 MSIS·MLWE에 최종 도달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PQC 세미나 — 2026.07.09  |  1강 Introduction</a:t>
            </a:r>
          </a:p>
          <a:p>
            <a:endParaRPr sz="1000" b="0">
              <a:solidFill>
                <a:srgbClr val="5A5A5A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Q &amp; A</a:t>
            </a:r>
          </a:p>
          <a:p>
            <a:pPr>
              <a:spcBef>
                <a:spcPts val="1600"/>
              </a:spcBef>
            </a:pPr>
            <a:r>
              <a:rPr sz="2000" b="0">
                <a:solidFill>
                  <a:srgbClr val="C9D8EA"/>
                </a:solidFill>
                <a:latin typeface="맑은 고딕"/>
                <a:ea typeface="맑은 고딕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924</Words>
  <Application>Microsoft Office PowerPoint</Application>
  <PresentationFormat>와이드스크린</PresentationFormat>
  <Paragraphs>172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규빈 박</cp:lastModifiedBy>
  <cp:revision>1</cp:revision>
  <dcterms:created xsi:type="dcterms:W3CDTF">2013-01-27T09:14:16Z</dcterms:created>
  <dcterms:modified xsi:type="dcterms:W3CDTF">2026-07-09T02:09:38Z</dcterms:modified>
  <cp:category/>
</cp:coreProperties>
</file>