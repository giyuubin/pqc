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맑은 고딕"/>
              </a:rPr>
              <a:t>SIS와 LWE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C9D3E8"/>
                </a:solidFill>
                <a:latin typeface="맑은 고딕"/>
              </a:rPr>
              <a:t>격자 기반 암호의 두 핵심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AA6C4"/>
                </a:solidFill>
                <a:latin typeface="맑은 고딕"/>
              </a:rPr>
              <a:t>PQC 세미나 · Lattice-Based Cryptography 2강 SIS · 3강 LWE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201168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오늘의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1강 리마인드: Kyber(ML-KEM)는 D-MLWE, Dilithium(ML-DSA)은 D-MLWE + MSIS의 어려움에 안전성 근거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오늘 배우는 SIS와 LWE는 그 근거 문제들의 “가장 단순한 버전” — 다항식 링이 아닌 순수 정수 벡터 위에서 정의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진행 순서: 정의 → 왜 어려운가 → 존재성/유일성 → 숫자로 직접 검증 → 응용(해시함수, 공개키 암호)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격자(lattice)와의 연결은 4강·5강에서 다룰 예정 — 오늘은 대수적 정의에 집중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표기법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3강 LWE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ℤq = {0,1,…,q-1} (q는 소수), 모든 벡터는 열벡터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행렬-벡터 곱 Az: A의 i번째 행과 z의 내적 — (Az)ᵢ = Σⱼ Aᵢⱼzⱼ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222222"/>
                </a:solidFill>
                <a:latin typeface="Consolas"/>
              </a:rPr>
              <a:t>    [ 1  2 ]   [ 5 ]   [ 1(5)+2(6) ]   [ 17 ]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onsolas"/>
              </a:rPr>
              <a:t>A = [ 3  4 ] , [ 6 ] →  A·z  =  [ 3(5)+4(6) ] = [ 39 ]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5A5A5A"/>
                </a:solidFill>
                <a:latin typeface="맑은 고딕"/>
              </a:rPr>
              <a:t>오늘 나오는 모든 정의는 “이 곱에 잡음이 섞여 있는가”, “우변이 0인가 아닌가”의 변주다.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SIS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4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7044" y="1874519"/>
            <a:ext cx="1247241" cy="109728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7044" y="2999232"/>
            <a:ext cx="124724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n ×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5454" y="1874519"/>
            <a:ext cx="457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479542" y="1874519"/>
            <a:ext cx="453542" cy="109728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9542" y="299923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m ×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252" y="1874519"/>
            <a:ext cx="457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8340" y="1874519"/>
            <a:ext cx="453542" cy="109728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340" y="299923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n ×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50" y="1874519"/>
            <a:ext cx="1371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A5A5A"/>
                </a:solidFill>
                <a:latin typeface="맑은 고딕"/>
              </a:rPr>
              <a:t>(mod 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SIS(n,m,q,B): 균등 랜덤 A ∈ ℤq^(n×m)가 주어졌을 때 Az ≡ 0 (mod q), z ≠ 0, z ∈ [-B,B]ᵐ 인 z 찾기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Ajtai가 1996년 도입. 파라미터 조건: n ≪ m, B ≪ q/2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“Homogeneous” = 우변이 영벡터 — 뒤에서 비동차(ISIS) 버전과 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왜 어려운가: 가우스 소거법 vs 짧은 벡터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Az ≡ 0 (mod q)의 해집합(null space) 자체는 가우스 소거법으로 다항식 시간에 전부 구해진다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SIS의 진짜 어려움은 이 null space 안에서 모든 좌표가 [-B,B] 안에 있는 “짧은” 벡터를 찾는 데 있다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이는 격자의 (근사) 최단벡터문제(Shortest Vector Problem, SVP)류에 해당 — 계산적으로 어렵다고 알려짐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5166360"/>
            <a:ext cx="9235440" cy="0"/>
          </a:xfrm>
          <a:prstGeom prst="line">
            <a:avLst/>
          </a:prstGeom>
          <a:ln w="19050">
            <a:solidFill>
              <a:srgbClr val="C7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41924" y="5084064"/>
            <a:ext cx="1477670" cy="164592"/>
          </a:xfrm>
          <a:prstGeom prst="rect">
            <a:avLst/>
          </a:prstGeom>
          <a:solidFill>
            <a:srgbClr val="B33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1924" y="5303520"/>
            <a:ext cx="147767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[-B,B] (짧은 벡터만 통과)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8920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-q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8920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해의 존재성 — 비둘기집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후보 z₁, z₂ ∈ [-B/2, B/2]ᵐ — 총 (B+1)ᵐ 가지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(B+1)ᵐ &gt; qⁿ 이면: Az mod q의 가능한 출력은 qⁿ가지뿐 → 비둘기집 원리로 서로 다른 z₁ ≠ z₂가 Az₁ ≡ Az₂ (mod q)를 만족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그러면 z = z₁ - z₂ ≠ 0 이 SIS 해 — 이후 m &gt; (n log q)/log(B+1) 을 가정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SIS 해는 유일하지 않다: z가 해이면 -z 도 해 (Az가 0이면 -Az = -0 ≡ 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숫자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22222"/>
                </a:solidFill>
                <a:latin typeface="맑은 고딕"/>
              </a:rPr>
              <a:t>n = 3, m = 5, q = 13, B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Consolas"/>
              </a:rPr>
              <a:t>A = [ 1   0   7  12   4 ]</a:t>
            </a:r>
          </a:p>
          <a:p>
            <a:pPr algn="l"/>
            <a:r>
              <a:rPr sz="1700">
                <a:solidFill>
                  <a:srgbClr val="222222"/>
                </a:solidFill>
                <a:latin typeface="Consolas"/>
              </a:rPr>
              <a:t>    [ 2  11   3   6  12 ]</a:t>
            </a:r>
          </a:p>
          <a:p>
            <a:pPr algn="l"/>
            <a:r>
              <a:rPr sz="1700">
                <a:solidFill>
                  <a:srgbClr val="222222"/>
                </a:solidFill>
                <a:latin typeface="Consolas"/>
              </a:rPr>
              <a:t>    [ 9   8  10   5   1 ]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mod 13 가우스 소거 → RREF, 자유변수 z₄, z₅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onsolas"/>
              </a:rPr>
              <a:t>z₁ ≡ 8z₄+3z₅,   z₂ ≡ 3z₄+z₅,   z₃ ≡ 12z₄+12z₅   (mod 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맑은 고딕"/>
              </a:rPr>
              <a:t>—  [-3,3]⁵ 안에 드는 것만 전수 확인 → 6개의 SIS 해 (부호쌍 3개)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맑은 고딕"/>
              </a:rPr>
              <a:t>—  z = ±(3,1,-1,0,1),  ±(1,0,-2,-1,3),  ±(2,1,1,1,-2)  — 직접 대입해 검산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활용: 충돌 저항 해시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8 / 27</a:t>
            </a:r>
          </a:p>
        </p:txBody>
      </p:sp>
      <p:pic>
        <p:nvPicPr>
          <p:cNvPr id="6" name="Picture 5" descr="m_s8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600200"/>
            <a:ext cx="7772400" cy="627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880360"/>
            <a:ext cx="10789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m &gt; n log₂q 로 잡으면 2ᵐ &gt; qⁿ — 정의역이 공역보다 커서 진짜 압축 함수(compression function)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충돌 z₁ ≠ z₂ (같은 해시값)를 찾으면 z = z₁-z₂ 가 SIS(n,m,q,1)의 해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대우: SIS가 어렵다 ⇒ 이 해시함수는 충돌 저항적이다 — 격자 기반 해시함수 안전성의 근거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Inhomogeneous SIS (ISIS)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9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7044" y="1828800"/>
            <a:ext cx="1247241" cy="109728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7044" y="2953512"/>
            <a:ext cx="124724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n ×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5454" y="1828800"/>
            <a:ext cx="457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479542" y="1828800"/>
            <a:ext cx="453542" cy="109728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9542" y="295351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m ×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252" y="1828800"/>
            <a:ext cx="457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8340" y="1828800"/>
            <a:ext cx="453542" cy="1097280"/>
          </a:xfrm>
          <a:prstGeom prst="rect">
            <a:avLst/>
          </a:prstGeom>
          <a:solidFill>
            <a:srgbClr val="FBE7D4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340" y="295351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n ×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50" y="1828800"/>
            <a:ext cx="1371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A5A5A"/>
                </a:solidFill>
                <a:latin typeface="맑은 고딕"/>
              </a:rPr>
              <a:t>(mod 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ISIS(n,m,q,B): A ∈R ℤq^(n×m), b ∈R ℤqⁿ 이 주어졌을 때 Az ≡ b (mod q), z ∈ [-B,B]ᵐ 인 z 찾기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SIS는 ISIS에서 b = 0인 특수 케이스 — SIS(동차) vs ISIS(비동차)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ISIS 존재성 — “보장”이 아니라 “가능성이 높다”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SIS: z₁, z₂가 아무 값에서나 충돌하기만 하면 됨 → 비둘기집 원리로 존재가 보장된다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ISIS: Az ≡ b라는 특정 값에 도달해야 함 — 후보들이 qⁿ개 출력값 위에 균등히 흩어진다고 가정할 때 평균적으로만 유리하다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(2B+1)ᵐ ≫ qⁿ 이면 도달할 가능성이 높다 — “likely to exist”, “guaranteed”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ISIS 숫자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22222"/>
                </a:solidFill>
                <a:latin typeface="맑은 고딕"/>
              </a:rPr>
              <a:t>n = 3, m = 5, q = 29, B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A = [  4  19   5   4  22 ]          [ 7 ]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    [  8  10  19   1   7 ],   b  =  [26 ]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    [ 13  10  20   7  12 ]          [ 7 ]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[A|b]를 mod 29로 가우스 소거 (피벗 1,2,3열, 자유변수 z₄, z₅)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z₁ ≡ 14+21z₄+15z₅,   z₂ ≡ 1+20z₄+3z₅,   z₃ ≡ 27+5z₄+7z₅   (mod 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맑은 고딕"/>
              </a:rPr>
              <a:t>—  [-5,5]⁵ 안에서 전수 확인 → 6개의 ISIS 해가 존재 (직접 계산으로 검증)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nsolas"/>
              </a:rPr>
              <a:t>z = (-3,-3,-4,4,1), (-2,0,1,-5,4), (0,4,5,0,1), (1,2,-5,5,-4), (2,-4,2,-2,2), (2,5,0,-4,-1)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SIS ↔ ISIS 계산적 동치성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SIS ≤ ISIS: A의 마지막 열을 분리해 A=[A'|−b'] — zₘ=1로 고정하면 Az≡0 풀기가 A'z'≡b' (ISIS) 풀기와 같아짐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ISIS ≤ SIS: 랜덤 위치 j에 열 −c⁻¹b 삽입 — SIS 오라클 해의 j번째 성분이 미리 찍어둔 c와 맞으면 b가 상쇄되어 ISIS 해로 변환 (확률적 환원)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두 방향 모두 다항식 시간 환원 가능 → SIS와 ISIS는 계산적으로 동치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Normal-form 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 · 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13 / 27</a:t>
            </a:r>
          </a:p>
        </p:txBody>
      </p:sp>
      <p:pic>
        <p:nvPicPr>
          <p:cNvPr id="6" name="Picture 5" descr="m_s13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691640"/>
            <a:ext cx="7772400" cy="561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017520"/>
            <a:ext cx="10789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계수행렬의 뒤쪽 n개 열이 이미 단위행렬 I_n으로 “정규화”된 특수한 ISIS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nf-ISIS(n,m,q,B)와 ISIS(n,m+n,q,B)는 동치 — 가역행렬 C를 곱해 서로 변환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SIS 파트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2강 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14 /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737360"/>
          <a:ext cx="9966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anchor="ctr">
                    <a:solidFill>
                      <a:srgbClr val="2C3E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관계식</a:t>
                      </a:r>
                    </a:p>
                  </a:txBody>
                  <a:tcPr anchor="ctr">
                    <a:solidFill>
                      <a:srgbClr val="2C3E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존재성</a:t>
                      </a:r>
                    </a:p>
                  </a:txBody>
                  <a:tcPr anchor="ctr">
                    <a:solidFill>
                      <a:srgbClr val="2C3E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Az ≡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비둘기집 원리로 보장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ISIS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Az ≡ b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카운팅 논증으로 “가능성 높음”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nf-ISIS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[A|Iₙ]z ≡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ISIS와 동치 (차원 +n)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434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세 문제 모두 서로 다항식 시간 환원 가능 — 계산적으로 동치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이번 강의는 격자와의 연결 없이 순수 정수 벡터 문제로 정의 — 격자 해석은 4·5강에서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LWE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15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2684" y="1805939"/>
            <a:ext cx="1077163" cy="105156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2684" y="2884932"/>
            <a:ext cx="10771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m ×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1015" y="1805939"/>
            <a:ext cx="457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715103" y="1805939"/>
            <a:ext cx="453542" cy="1051560"/>
          </a:xfrm>
          <a:prstGeom prst="rect">
            <a:avLst/>
          </a:prstGeom>
          <a:solidFill>
            <a:srgbClr val="F4F5F7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5103" y="288493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n ×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9814" y="1805939"/>
            <a:ext cx="457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3902" y="1805939"/>
            <a:ext cx="453542" cy="1051560"/>
          </a:xfrm>
          <a:prstGeom prst="rect">
            <a:avLst/>
          </a:prstGeom>
          <a:solidFill>
            <a:srgbClr val="E3F1EF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3902" y="288493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m ×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8612" y="1805939"/>
            <a:ext cx="457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22222"/>
                </a:solidFill>
                <a:latin typeface="맑은 고딕"/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2700" y="1805939"/>
            <a:ext cx="453542" cy="1051560"/>
          </a:xfrm>
          <a:prstGeom prst="rect">
            <a:avLst/>
          </a:prstGeom>
          <a:solidFill>
            <a:srgbClr val="FBE7D4"/>
          </a:solidFill>
          <a:ln w="15875"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 i="1">
                <a:solidFill>
                  <a:srgbClr val="222222"/>
                </a:solidFill>
                <a:latin typeface="Cambria Math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2700" y="2884932"/>
            <a:ext cx="453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맑은 고딕"/>
              </a:rPr>
              <a:t>m ×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7410" y="1805939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A5A5A"/>
                </a:solidFill>
                <a:latin typeface="맑은 고딕"/>
              </a:rPr>
              <a:t>(mod 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LWE(m,n,q,B): A∈R ℤq^(m×n), s∈R ℤqⁿ, e∈R[-B,B]ᵐ, b=As+e (mod q). (A,b)에서 s 찾기. Regev, 2005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280160" y="5074920"/>
          <a:ext cx="960119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3749039"/>
              </a:tblGrid>
              <a:tr h="472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SIS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LWE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행렬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n×m (n≪m)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m×n (m≫n)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관계식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Az ≡ 0 (동차)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As+e ≡ b (비동차+잡음)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왜 어려운가: 잡음이 만드는 비선형성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e = 0 이면 As ≡ b (mod q)는 순수 선형방정식 — 가우스 소거법으로 다항식 시간에 풀림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잡음 벡터 e가 섞이면 “이 값이 정확히 As의 성분과 같다”는 등식 자체가 깨진다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맑은 고딕"/>
              </a:rPr>
              <a:t>—  LWE는 정확한 선형대수 문제가 아니라 잡음 섞인 선형대수 문제 — 가우스 소거법이 통하지 않는다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숫자 예제 — 해가 여러 개인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1.4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22222"/>
                </a:solidFill>
                <a:latin typeface="맑은 고딕"/>
              </a:rPr>
              <a:t>m = 5, n = 3, q = 31, B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A = [ 11   3  27 ]           [ 25 ]</a:t>
            </a:r>
          </a:p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    [ 12  21   7 ]           [ 25 ]</a:t>
            </a:r>
          </a:p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    [  6  23  30 ] ,   b  =  [ 12 ]</a:t>
            </a:r>
          </a:p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    [  5   6   2 ]           [ 29 ]</a:t>
            </a:r>
          </a:p>
          <a:p>
            <a:pPr algn="l"/>
            <a:r>
              <a:rPr sz="1450">
                <a:solidFill>
                  <a:srgbClr val="222222"/>
                </a:solidFill>
                <a:latin typeface="Consolas"/>
              </a:rPr>
              <a:t>    [ 21   0  14 ]           [ 17 ]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424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세 개의 (s,e) 해가 존재 — 일반적으로 LWE 해의 유일성은 보장되지 않는다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이 예제는 m이 일부러 작게 설정되어 다음 슬라이드의 유일성 조건을 만족하지 못함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>
                <a:solidFill>
                  <a:srgbClr val="222222"/>
                </a:solidFill>
                <a:latin typeface="Consolas"/>
              </a:rPr>
              <a:t>s=(2,11,7),  e=(-2,0,2,1,1)</a:t>
            </a:r>
          </a:p>
          <a:p>
            <a:pPr algn="l"/>
            <a:r>
              <a:rPr sz="1350">
                <a:solidFill>
                  <a:srgbClr val="222222"/>
                </a:solidFill>
                <a:latin typeface="Consolas"/>
              </a:rPr>
              <a:t>s=(27,13,16), e=(1,-2,1,1,1)</a:t>
            </a:r>
          </a:p>
          <a:p>
            <a:pPr algn="l"/>
            <a:r>
              <a:rPr sz="1350">
                <a:solidFill>
                  <a:srgbClr val="222222"/>
                </a:solidFill>
                <a:latin typeface="Consolas"/>
              </a:rPr>
              <a:t>s=(30,9,5),  e=(-2,-1,2,1,-1)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파라미터 B의 역할 — 잡음 크기의 두 극단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18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B = 0 (e=0): 순수 선형방정식 — 가우스 소거법으로 쉽게 풀림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B = (q-1)/2: e가 ℤq 위에서 완전히 균등 → b가 s에 대한 정보를 전혀 담지 않음 (일회용 패드와 같은 논증) — 정보이론적으로 불가능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B가 √n보다 점근적으로 작으면 (Arora-Ge 공격): 준지수 시간에 풀림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그래서 B는 “적당히” 커야 한다 — Kyber/Dilithium이 극단적으로 작은 B 대신 이항분포를 쓰는 이유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파라미터 m, n — 해의 유일성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19 / 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2103120"/>
          </a:xfrm>
          <a:prstGeom prst="roundRect">
            <a:avLst/>
          </a:prstGeom>
          <a:solidFill>
            <a:srgbClr val="F4F5F7"/>
          </a:solidFill>
          <a:ln>
            <a:solidFill>
              <a:srgbClr val="C7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03120"/>
            <a:ext cx="768096" cy="768096"/>
          </a:xfrm>
          <a:prstGeom prst="ellipse">
            <a:avLst/>
          </a:prstGeom>
          <a:noFill/>
          <a:ln w="2222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0180" y="2446020"/>
            <a:ext cx="82296" cy="82296"/>
          </a:xfrm>
          <a:prstGeom prst="ellipse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792223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22222"/>
                </a:solidFill>
                <a:latin typeface="맑은 고딕"/>
              </a:rPr>
              <a:t>As₁</a:t>
            </a:r>
          </a:p>
        </p:txBody>
      </p:sp>
      <p:sp>
        <p:nvSpPr>
          <p:cNvPr id="10" name="Oval 9"/>
          <p:cNvSpPr/>
          <p:nvPr/>
        </p:nvSpPr>
        <p:spPr>
          <a:xfrm>
            <a:off x="4163568" y="2615184"/>
            <a:ext cx="768096" cy="768096"/>
          </a:xfrm>
          <a:prstGeom prst="ellipse">
            <a:avLst/>
          </a:prstGeom>
          <a:noFill/>
          <a:ln w="2222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6468" y="2958084"/>
            <a:ext cx="82296" cy="82296"/>
          </a:xfrm>
          <a:prstGeom prst="ellipse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4696" y="23042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22222"/>
                </a:solidFill>
                <a:latin typeface="맑은 고딕"/>
              </a:rPr>
              <a:t>As₂</a:t>
            </a:r>
          </a:p>
        </p:txBody>
      </p:sp>
      <p:sp>
        <p:nvSpPr>
          <p:cNvPr id="13" name="Oval 12"/>
          <p:cNvSpPr/>
          <p:nvPr/>
        </p:nvSpPr>
        <p:spPr>
          <a:xfrm>
            <a:off x="7229856" y="2103120"/>
            <a:ext cx="768096" cy="768096"/>
          </a:xfrm>
          <a:prstGeom prst="ellipse">
            <a:avLst/>
          </a:prstGeom>
          <a:noFill/>
          <a:ln w="2222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72756" y="2446020"/>
            <a:ext cx="82296" cy="82296"/>
          </a:xfrm>
          <a:prstGeom prst="ellipse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0984" y="1792223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22222"/>
                </a:solidFill>
                <a:latin typeface="맑은 고딕"/>
              </a:rPr>
              <a:t>As₃</a:t>
            </a:r>
          </a:p>
        </p:txBody>
      </p:sp>
      <p:sp>
        <p:nvSpPr>
          <p:cNvPr id="16" name="Oval 15"/>
          <p:cNvSpPr/>
          <p:nvPr/>
        </p:nvSpPr>
        <p:spPr>
          <a:xfrm>
            <a:off x="10296144" y="2615184"/>
            <a:ext cx="768096" cy="768096"/>
          </a:xfrm>
          <a:prstGeom prst="ellipse">
            <a:avLst/>
          </a:prstGeom>
          <a:noFill/>
          <a:ln w="2222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39044" y="2958084"/>
            <a:ext cx="82296" cy="82296"/>
          </a:xfrm>
          <a:prstGeom prst="ellipse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3042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22222"/>
                </a:solidFill>
                <a:latin typeface="맑은 고딕"/>
              </a:rPr>
              <a:t>As₄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838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A5A5A"/>
                </a:solidFill>
                <a:latin typeface="맑은 고딕"/>
              </a:rPr>
              <a:t>점선 원 = 잡음 반경 B 안의 후보들 (겹치면 유일성이 깨짐)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b = As+e 는 As를 중심으로 반지름 B인 “잡음 구” 안 어딘가에 위치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서로 다른 s₁ ≠ s₂의 구가 겹치지 않아야 b만 보고 유일한 s를 특정할 수 있음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겹칠 확률의 union bound: (qⁿ-1)·((4B+1)/q)ᵐ — m ≫ n 이면 무시할 만큼 작아짐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Decisional LWE (DLWE) — 탐색 vs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LWE(탐색): (A,b)에서 정확한 비밀 s를 찾아라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DLWE(결정): (A,c)가 진짜 LWE 표본(c=As+e)인지, 완전히 무작위(c=r)인지만 구별하라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두 방향 모두 다항식 시간 환원 가능 — LWE와 DLWE는 계산적으로 동치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환원 과정에서 파라미터 (m,n,q,B)가 전혀 변하지 않는다 — SIS/ISIS와 대비되는 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Short-Secret LWE (ss-LWE)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비밀 s도 오차 e처럼 [-B,B]ⁿ 에서 뽑는 LWE 변형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일반 LWE와 달리 m ≫ n 조건 없이도(심지어 m=n인 정사각행렬이어도) 해가 높은 확률로 유일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LWE와 계산적으로 동치: ss-LWE(m,n,q,B) ≤ LWE(m,n,q,B) 이고 LWE(m,n,q,B) ≤ ss-LWE(m-n,n,q,B)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50">
                <a:solidFill>
                  <a:srgbClr val="222222"/>
                </a:solidFill>
                <a:latin typeface="맑은 고딕"/>
              </a:rPr>
              <a:t>—  → 이 성질 덕분에 다음의 Lindner-Peikert 암호가 정사각 행렬만으로 안전하게 동작한다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응용: Lindner-Peikert 공개키 암호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5.1-5.2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맑은 고딕"/>
              </a:rPr>
              <a:t>—  안전성 근거: ss-DLWE(n,n,q,B)의 어려움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5740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96112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키 생성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s,e∈[-B,B]ⁿ, A∈ℤq^(n×n) 선택 → b=As+e. 공개키 (A,b), 개인키 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암호화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r,z∈[-B,B]ⁿ, z'∈[-B,B] 선택 → c₁=Aᵀr+z, c₂=bᵀr+z'+⌈q/2⌉m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복호화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m = Roundq(c₂ - sᵀc₁)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A5A5A"/>
                </a:solidFill>
                <a:latin typeface="맑은 고딕"/>
              </a:rPr>
              <a:t>핵심: A가 n×n 정사각행렬이어도 ss-DLWE 덕분에 유일성·안전성 논증이 그대로 성립 — 공개키를 “키가 큰” 행렬로 만들 필요가 없다.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PKE 숫자 예제 (1) — 키생성 · 암호화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2222"/>
                </a:solidFill>
                <a:latin typeface="맑은 고딕"/>
              </a:rPr>
              <a:t>q = 229, n = 3, B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nsolas"/>
              </a:rPr>
              <a:t>A = [ 101 173  27 ]        [  2 ]        [  0 ]                    [ 112 ]</a:t>
            </a:r>
          </a:p>
          <a:p>
            <a:pPr algn="l"/>
            <a:r>
              <a:rPr sz="1300">
                <a:solidFill>
                  <a:srgbClr val="222222"/>
                </a:solidFill>
                <a:latin typeface="Consolas"/>
              </a:rPr>
              <a:t>    [ 192 121   7 ]  , s = [ -2 ] , e = [ -2 ]  →  b = As+e (mod229) = [ 147 ]</a:t>
            </a:r>
          </a:p>
          <a:p>
            <a:pPr algn="l"/>
            <a:r>
              <a:rPr sz="1300">
                <a:solidFill>
                  <a:srgbClr val="222222"/>
                </a:solidFill>
                <a:latin typeface="Consolas"/>
              </a:rPr>
              <a:t>    [ 116 223   1 ]        [  1 ]        [  1 ]                    [  17 ]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2222"/>
                </a:solidFill>
                <a:latin typeface="맑은 고딕"/>
              </a:rPr>
              <a:t>평문 m = 1 암호화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728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r = ( 2,-2,-1),  z = (0,1,-2),  z' = -2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c₁ = Aᵀr+z (mod 229) = (160, 111, 37)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onsolas"/>
              </a:rPr>
              <a:t>c₂ = bᵀr+z'+⌈229/2⌉·1 (mod 229) =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암호문 c = (c₁, c₂)  — Python으로 전 과정 재계산해 일치 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PKE 숫자 예제 (2) — 복호화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5.3-5.4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c₂ - sᵀc₁ (mod 229) = 120  →  120 mods 229 = -109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맑은 고딕"/>
              </a:rPr>
              <a:t>—  Round₂₂₉(-109) = 1  (-q/4 ≈ -57.25 보다 작으므로 “그 외” 구간) → 평문 m = 1 정확히 복원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3429000"/>
            <a:ext cx="9784080" cy="0"/>
          </a:xfrm>
          <a:prstGeom prst="line">
            <a:avLst/>
          </a:prstGeom>
          <a:ln w="19050">
            <a:solidFill>
              <a:srgbClr val="C7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88720" y="3346704"/>
            <a:ext cx="2935223" cy="164592"/>
          </a:xfrm>
          <a:prstGeom prst="rect">
            <a:avLst/>
          </a:prstGeom>
          <a:solidFill>
            <a:srgbClr val="B33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9352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“1” 구간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3944" y="3346704"/>
            <a:ext cx="3913632" cy="164592"/>
          </a:xfrm>
          <a:prstGeom prst="rect">
            <a:avLst/>
          </a:prstGeom>
          <a:solidFill>
            <a:srgbClr val="2C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3566160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“0” 구간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5" y="3346704"/>
            <a:ext cx="2935223" cy="164592"/>
          </a:xfrm>
          <a:prstGeom prst="rect">
            <a:avLst/>
          </a:prstGeom>
          <a:solidFill>
            <a:srgbClr val="B33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5" y="3566160"/>
            <a:ext cx="29352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“1”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546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-q/2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31546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q/2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A5A5A"/>
                </a:solidFill>
                <a:latin typeface="맑은 고딕"/>
              </a:rPr>
              <a:t>Roundq(x): -q/4 &lt; x mods q &lt; q/4 이면 0, 그 외엔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맑은 고딕"/>
              </a:rPr>
              <a:t>—  복호화 성공 조건: B ≤ √(q/(4(2n+1))) — 이 예제는 √(229/28)≈2.86 ≥ B=2 로 조건 만족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PKE 안전성 — IND-CPA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 · Part 5.5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222222"/>
                </a:solidFill>
                <a:latin typeface="Consolas"/>
              </a:rPr>
              <a:t>[ c₁ ]   [ Aᵀ ]        [ z ]   [        0      ]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onsolas"/>
              </a:rPr>
              <a:t>[ c₂ ] = [ bᵀ ] r  +  [ z' ] + [ ⌈q/2⌉·m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ss-DLWE 가정 하에 [Aᵀ;bᵀ]과 그 곱은 균등 랜덤과 구별 불가능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공격자 입장에서 c₂는 “균등 난수 + 평문”처럼 보여 평문 정보를 전혀 얻을 수 없음 (IND-CPA)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50">
                <a:solidFill>
                  <a:srgbClr val="222222"/>
                </a:solidFill>
                <a:latin typeface="맑은 고딕"/>
              </a:rPr>
              <a:t>—  한계: (1) 비트 하나만 암호화 → 7강 Module-LWE(Kyber 원형)로 해결, (2) CPA까지만 안전 → Fujisaki-Okamoto 변환(Kyber KEM)으로 해결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LWE 파트 정리 — SIS와의 평행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3강 LWE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26 /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  <a:gridCol w="411480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맑은 고딕"/>
                        </a:rPr>
                        <a:t>공통 패턴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맑은 고딕"/>
                        </a:rPr>
                        <a:t>SIS / 2강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맑은 고딕"/>
                        </a:rPr>
                        <a:t>LWE / 3강</a:t>
                      </a:r>
                    </a:p>
                  </a:txBody>
                  <a:tcPr anchor="ctr">
                    <a:solidFill>
                      <a:srgbClr val="0E6E6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잡음(제약) 없을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null space는 가우스 소거로 즉시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e=0이면 순수 선형방정식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동치성 증명 패턴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SIS ↔ ISIS (동차·비동차)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LWE ↔ DLWE (탐색·결정)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차원 이동 대칭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nf-ISIS: 차원 +n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222222"/>
                          </a:solidFill>
                          <a:latin typeface="맑은 고딕"/>
                        </a:rPr>
                        <a:t>ss-LWE→LWE: 차원 -n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006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5A5A5A"/>
                </a:solidFill>
                <a:latin typeface="맑은 고딕"/>
              </a:rPr>
              <a:t>이 평행 구조는 우연이 아니다 — 두 문제는 궁극적으로 같은 격자의 서로 쌍대(dual)인 두 얼굴이다.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다음 강의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DDE3F0"/>
                </a:solidFill>
                <a:latin typeface="맑은 고딕"/>
              </a:rPr>
              <a:t>—  4강. 격자의 기본 정리 — 최단벡터문제(SVP), 최근접벡터문제(CVP), Minkowski 정리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2000">
                <a:solidFill>
                  <a:srgbClr val="DDE3F0"/>
                </a:solidFill>
                <a:latin typeface="맑은 고딕"/>
              </a:rPr>
              <a:t>—  5강. SIS/LWE와 격자의 연결 — SIS·LWE 격자, 쌍대(dual) 관계, primal/dual attack, Arora-Ge 전체 유도, Regev의 worst-case-to-average-case 환원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0116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