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sldIdLst>
    <p:sldId id="256" r:id="rId2"/>
    <p:sldId id="332" r:id="rId3"/>
    <p:sldId id="333" r:id="rId4"/>
    <p:sldId id="334" r:id="rId5"/>
    <p:sldId id="335" r:id="rId6"/>
    <p:sldId id="336" r:id="rId7"/>
    <p:sldId id="337" r:id="rId8"/>
    <p:sldId id="361" r:id="rId9"/>
    <p:sldId id="338" r:id="rId10"/>
    <p:sldId id="339" r:id="rId11"/>
    <p:sldId id="340" r:id="rId12"/>
    <p:sldId id="341" r:id="rId13"/>
    <p:sldId id="342" r:id="rId14"/>
    <p:sldId id="343" r:id="rId15"/>
    <p:sldId id="344" r:id="rId16"/>
    <p:sldId id="345" r:id="rId17"/>
    <p:sldId id="346" r:id="rId18"/>
    <p:sldId id="347" r:id="rId19"/>
    <p:sldId id="348" r:id="rId20"/>
    <p:sldId id="349" r:id="rId21"/>
    <p:sldId id="350" r:id="rId22"/>
    <p:sldId id="351" r:id="rId23"/>
    <p:sldId id="352" r:id="rId24"/>
    <p:sldId id="353" r:id="rId25"/>
    <p:sldId id="354" r:id="rId26"/>
    <p:sldId id="355" r:id="rId27"/>
    <p:sldId id="356" r:id="rId28"/>
    <p:sldId id="357" r:id="rId29"/>
    <p:sldId id="358" r:id="rId30"/>
    <p:sldId id="359" r:id="rId31"/>
    <p:sldId id="362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규빈 박" initials="규박" lastIdx="12" clrIdx="0">
    <p:extLst>
      <p:ext uri="{19B8F6BF-5375-455C-9EA6-DF929625EA0E}">
        <p15:presenceInfo xmlns:p15="http://schemas.microsoft.com/office/powerpoint/2012/main" userId="b405f47f44f6c5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92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B40C2-3351-40A2-B46D-4B4F877A79B2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BC5EA-D886-4875-B891-B25A6CC49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52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38C119-E53F-2DA2-3F3A-62BF80700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BB6797-A87E-4BFE-C9F3-8C995A674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altLang="ko-KR" dirty="0"/>
          </a:p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D1BD7-7E65-3772-3007-1F34DBA0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637E-82D6-4563-BCF0-C9101F2B5148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CF5ED1-6997-CD09-21BF-44F1DD23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40E17D-D377-3A02-4E70-6AAE5C12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7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1FD09-61A8-64FE-609A-5BC9FD80E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A10CA-AA0F-BD51-5B8E-5AE0726F0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8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800"/>
            </a:lvl4pPr>
            <a:lvl5pPr>
              <a:lnSpc>
                <a:spcPct val="150000"/>
              </a:lnSpc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4F1B2-7ED6-C36F-405B-74D10A46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CD677-7AD2-4A27-94BD-C65458D22428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B54CE5-BA49-9B1F-44F6-BB680396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5B8A52-06C2-8583-0C1B-A817C4737BF0}"/>
              </a:ext>
            </a:extLst>
          </p:cNvPr>
          <p:cNvSpPr/>
          <p:nvPr userDrawn="1"/>
        </p:nvSpPr>
        <p:spPr>
          <a:xfrm flipV="1">
            <a:off x="405063" y="889665"/>
            <a:ext cx="1138187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97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E2741-8F1E-BB08-8064-ABB3B517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E217DB-F68B-0B02-0EE9-FC6D375A3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F4ECD6-4F10-FAB4-9EC7-0A9BDDBB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52EC-B397-4D0A-AE91-E0D6840C85A1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089ED4-E191-9BE2-6362-00E940AF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322432-D7EA-093F-001B-BC7E0D49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73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2A7E8-82BA-7B6E-F6E9-A98D3ECF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AEFAB5-2BD5-B266-2B90-5DF6C6BE7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C97A80-9CA9-6C9D-98D1-D8A82989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3A760F-4119-02E0-9047-FD4EFB03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6007-6A42-4C9B-B218-6A32B3A38C67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9B3A7E-6DE5-9DF0-CCF3-4E150621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64016-7B2A-6313-FDC2-8FA33EAC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08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54C69-8E55-E9AE-CBD6-A0F2276D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B86DB8-CC8D-914E-CEFA-5DF480196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176446-C17B-7FD5-8DB2-B98280114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5D4D2A-9477-8669-492E-C33F3E9CD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BF0716-4A26-4EAB-6A93-C6203A807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F37FBA-7D77-22F4-B534-1653B07A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58DF-8B5F-4351-A42C-BF3495DE7ABE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DA361B-5E51-3A84-F540-036EB166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D90B8D-AC97-0E06-ED03-C9645D4A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877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5235F-156B-75D6-B91A-2D25D5F3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398CE0-1B1D-EF93-936A-A286EA57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9C48-8150-4FAB-8BEF-6AD61CFC9BBE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4DC0FF-921E-80C0-450A-7B405750E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CF709D-D3DC-4D1F-45FC-9F2F2C18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98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4D47D0-9EAC-3C67-62F1-6CC1BEC6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1DBCF-1091-470D-AC72-5CF3D00280AC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75CACA-850A-EA99-2A04-D33838FC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04249E-807B-C0AC-5C11-E3AD439D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09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F82BF-B27F-0EAB-B809-971BA3CE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4868F8-4EB2-B804-3AD6-7256AF1C6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3E5F92-B2C2-8AB1-01C1-ED72DF18A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43173C-11BF-A2F6-F013-59378849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AE7C-57FB-4DBB-B90C-59145D637BF6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D47E49-717B-A5BA-FB22-E4F74A03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7ED0F3-0EAE-43B7-F5D2-9F776B23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31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DE7BB-65A1-98A0-61B2-9BA86EB8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93FC40-79A0-A826-1CA9-EE7B1B8BF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B9879E-8AC3-D682-707C-4CCA3AC04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97A2B9-9192-6241-C6C5-2D7D678E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92253-43A0-46E3-918E-3929407A8C01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7311CB-F5C2-2F43-5CDB-47B621DB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7E252D-5421-B82E-B9DC-97D8A4F1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34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5921C-217D-706E-B4C1-8C4B415A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A49194-22FD-90CC-72D7-93BB89EBF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072F4-8B76-D6AF-7D51-73F34661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78607-39E6-4CB2-B3CB-AB428B3B6195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3EEA5-CFF1-3A25-3757-289E51F27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A5D0D-C1A0-3A92-3E15-E7442EE1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84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4A25BF-197E-B63E-7A73-089055E7B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D6C20F-2716-6230-FC15-8E28D820B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C15CE-BE12-96E8-58E3-B89CE71B7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8A2F2-325F-46A6-8956-F2A49A35BAF8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C669E-1E2D-2737-7F44-4EF88AEE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D9548-61EF-5EA9-3163-3C25E928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79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AFC0F6-4140-2489-D0A3-0A632697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66"/>
            <a:ext cx="10515600" cy="662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E886E5-5DD8-BA48-583F-AAA217E8D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3922"/>
            <a:ext cx="10515600" cy="4753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862E1-2ECD-F622-0F74-FDC2E7199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61A29-800E-482A-B0FD-5A04401ECD92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E1796-7D1E-1254-446E-8BAA61680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B692A8-3D04-14CA-0956-516C70492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1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ws/s2n-tls" TargetMode="External"/><Relationship Id="rId2" Type="http://schemas.openxmlformats.org/officeDocument/2006/relationships/hyperlink" Target="https://github.com/tink-crypto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5C70B-7871-D2F3-E49B-85D4BEBAD7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rgbClr val="000000"/>
                </a:solidFill>
              </a:rPr>
              <a:t>Post-Quantum Cryptography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A4BB57-D4CA-4972-9722-922AA1C025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ko-KR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dirty="0"/>
              <a:t>8. Kyber and </a:t>
            </a:r>
            <a:r>
              <a:rPr lang="en-US" altLang="ko-KR" dirty="0" err="1"/>
              <a:t>Dilithium</a:t>
            </a:r>
            <a:endParaRPr lang="en-US" altLang="ko-KR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27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DB61-F834-D9E7-299E-9100B8F34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62A060-71A6-5EA2-F906-1524933F5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8962"/>
            <a:ext cx="10515600" cy="5037388"/>
          </a:xfrm>
        </p:spPr>
        <p:txBody>
          <a:bodyPr anchor="t">
            <a:norm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dirty="0"/>
              <a:t>양자컴퓨터 위협과 </a:t>
            </a:r>
            <a:r>
              <a:rPr lang="en-US" altLang="ko-KR" dirty="0"/>
              <a:t>PQC </a:t>
            </a:r>
            <a:r>
              <a:rPr lang="ko-KR" altLang="en-US" dirty="0"/>
              <a:t>표준화</a:t>
            </a:r>
            <a:endParaRPr lang="en-US" altLang="ko-KR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dirty="0"/>
              <a:t>수학적 사전지식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BAA46B-FCCE-8A34-657F-EEC8E88D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6756302-4A72-F2DD-A7FF-B2186F876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>
            <a:normAutofit/>
          </a:bodyPr>
          <a:lstStyle/>
          <a:p>
            <a:r>
              <a:rPr lang="en-US" altLang="ko-KR" dirty="0"/>
              <a:t>Plan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5716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45124-F48E-F918-B2EC-9409943BC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양자컴퓨터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7692BC-8777-F535-1116-1B3D4EA98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고전 비트</a:t>
            </a:r>
            <a:r>
              <a:rPr lang="en-US" altLang="ko-KR" dirty="0"/>
              <a:t>: </a:t>
            </a:r>
            <a:r>
              <a:rPr lang="ko-KR" altLang="en-US" dirty="0"/>
              <a:t>항상 </a:t>
            </a:r>
            <a:r>
              <a:rPr lang="en-US" altLang="ko-KR" dirty="0"/>
              <a:t>0 </a:t>
            </a:r>
            <a:r>
              <a:rPr lang="ko-KR" altLang="en-US" dirty="0"/>
              <a:t>또는 </a:t>
            </a:r>
            <a:r>
              <a:rPr lang="en-US" altLang="ko-KR" dirty="0"/>
              <a:t>1 </a:t>
            </a:r>
            <a:r>
              <a:rPr lang="ko-KR" altLang="en-US" dirty="0"/>
              <a:t>중 하나의 상태</a:t>
            </a:r>
          </a:p>
          <a:p>
            <a:r>
              <a:rPr lang="ko-KR" altLang="en-US" dirty="0" err="1"/>
              <a:t>큐비트</a:t>
            </a:r>
            <a:r>
              <a:rPr lang="ko-KR" altLang="en-US" dirty="0"/>
              <a:t> </a:t>
            </a:r>
            <a:r>
              <a:rPr lang="en-US" altLang="ko-KR" dirty="0"/>
              <a:t>(Qubit): 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을 동시에</a:t>
            </a:r>
            <a:r>
              <a:rPr lang="en-US" altLang="ko-KR" dirty="0"/>
              <a:t>(</a:t>
            </a:r>
            <a:r>
              <a:rPr lang="ko-KR" altLang="en-US" dirty="0"/>
              <a:t>각각 확률로</a:t>
            </a:r>
            <a:r>
              <a:rPr lang="en-US" altLang="ko-KR" dirty="0"/>
              <a:t>) </a:t>
            </a:r>
            <a:r>
              <a:rPr lang="ko-KR" altLang="en-US" dirty="0"/>
              <a:t>갖는 중첩</a:t>
            </a:r>
            <a:r>
              <a:rPr lang="en-US" altLang="ko-KR" dirty="0"/>
              <a:t>(superposition) </a:t>
            </a:r>
            <a:r>
              <a:rPr lang="ko-KR" altLang="en-US" dirty="0"/>
              <a:t>상태</a:t>
            </a:r>
          </a:p>
          <a:p>
            <a:r>
              <a:rPr lang="en-US" altLang="ko-KR" dirty="0"/>
              <a:t>n</a:t>
            </a:r>
            <a:r>
              <a:rPr lang="ko-KR" altLang="en-US" dirty="0" err="1"/>
              <a:t>큐비트</a:t>
            </a:r>
            <a:r>
              <a:rPr lang="ko-KR" altLang="en-US" dirty="0"/>
              <a:t> 레지스터 → </a:t>
            </a:r>
            <a:r>
              <a:rPr lang="en-US" altLang="ko-KR" dirty="0"/>
              <a:t>2ⁿ</a:t>
            </a:r>
            <a:r>
              <a:rPr lang="ko-KR" altLang="en-US" dirty="0"/>
              <a:t>개의 이진 상태를 동시에</a:t>
            </a:r>
            <a:r>
              <a:rPr lang="en-US" altLang="ko-KR" dirty="0"/>
              <a:t>(</a:t>
            </a:r>
            <a:r>
              <a:rPr lang="ko-KR" altLang="en-US" dirty="0"/>
              <a:t>확률을 갖고</a:t>
            </a:r>
            <a:r>
              <a:rPr lang="en-US" altLang="ko-KR" dirty="0"/>
              <a:t>) </a:t>
            </a:r>
            <a:r>
              <a:rPr lang="ko-KR" altLang="en-US" dirty="0"/>
              <a:t>표현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함수 </a:t>
            </a:r>
            <a:r>
              <a:rPr lang="en-US" altLang="ko-KR" dirty="0"/>
              <a:t>f</a:t>
            </a:r>
            <a:r>
              <a:rPr lang="ko-KR" altLang="en-US" dirty="0"/>
              <a:t>를 적용하면 단 한 번의 계산 단계로 </a:t>
            </a:r>
            <a:r>
              <a:rPr lang="en-US" altLang="ko-KR" dirty="0"/>
              <a:t>2ⁿ</a:t>
            </a:r>
            <a:r>
              <a:rPr lang="ko-KR" altLang="en-US" dirty="0"/>
              <a:t>개 상태 전부에서 동시 평가</a:t>
            </a:r>
          </a:p>
          <a:p>
            <a:r>
              <a:rPr lang="ko-KR" altLang="en-US" dirty="0"/>
              <a:t>측정하는 순간 확률분포에 따라 </a:t>
            </a:r>
            <a:r>
              <a:rPr lang="en-US" altLang="ko-KR" dirty="0"/>
              <a:t>2ⁿ</a:t>
            </a:r>
            <a:r>
              <a:rPr lang="ko-KR" altLang="en-US" dirty="0"/>
              <a:t>개 상태 중 하나로 붕괴</a:t>
            </a:r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관측 가능한 출력은 </a:t>
            </a:r>
            <a:r>
              <a:rPr lang="en-US" altLang="ko-KR" dirty="0"/>
              <a:t>f(x) </a:t>
            </a:r>
            <a:r>
              <a:rPr lang="ko-KR" altLang="en-US" dirty="0"/>
              <a:t>단 하나뿐 </a:t>
            </a:r>
            <a:r>
              <a:rPr lang="en-US" altLang="ko-KR" dirty="0"/>
              <a:t>// </a:t>
            </a:r>
            <a:r>
              <a:rPr lang="ko-KR" altLang="en-US" dirty="0"/>
              <a:t>거대한 병렬 컴퓨터가 아님</a:t>
            </a:r>
          </a:p>
          <a:p>
            <a:r>
              <a:rPr lang="ko-KR" altLang="en-US" dirty="0"/>
              <a:t>양자 알고리즘 설계의 핵심</a:t>
            </a:r>
            <a:r>
              <a:rPr lang="en-US" altLang="ko-KR" dirty="0"/>
              <a:t>: </a:t>
            </a:r>
            <a:r>
              <a:rPr lang="ko-KR" altLang="en-US" dirty="0"/>
              <a:t>중첩</a:t>
            </a:r>
            <a:r>
              <a:rPr lang="en-US" altLang="ko-KR" dirty="0"/>
              <a:t>·</a:t>
            </a:r>
            <a:r>
              <a:rPr lang="ko-KR" altLang="en-US" dirty="0"/>
              <a:t>간섭</a:t>
            </a:r>
            <a:r>
              <a:rPr lang="en-US" altLang="ko-KR" dirty="0"/>
              <a:t>(interference)·</a:t>
            </a:r>
            <a:r>
              <a:rPr lang="ko-KR" altLang="en-US" dirty="0"/>
              <a:t>얽힘</a:t>
            </a:r>
            <a:r>
              <a:rPr lang="en-US" altLang="ko-KR" dirty="0"/>
              <a:t>(entanglement)</a:t>
            </a:r>
            <a:r>
              <a:rPr lang="ko-KR" altLang="en-US" dirty="0"/>
              <a:t>을 이용해 계산이 끝난 시점에 원하는 답이 확률 </a:t>
            </a:r>
            <a:r>
              <a:rPr lang="en-US" altLang="ko-KR" dirty="0"/>
              <a:t>1</a:t>
            </a:r>
            <a:r>
              <a:rPr lang="ko-KR" altLang="en-US" dirty="0"/>
              <a:t>에 가깝게 관측되도록 만드는 것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969276-C691-32A9-7158-EB03E38A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969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C174E5-4906-28B8-6187-A09E113A4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Shor </a:t>
            </a:r>
            <a:r>
              <a:rPr lang="ko-KR" altLang="en-US" dirty="0"/>
              <a:t>알고리즘 </a:t>
            </a:r>
            <a:r>
              <a:rPr lang="en-US" altLang="ko-KR" dirty="0"/>
              <a:t>(1994)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6A5F6E-8B36-00D9-8118-32AB65391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현재 공개키 암호</a:t>
            </a:r>
            <a:r>
              <a:rPr lang="en-US" altLang="ko-KR" dirty="0"/>
              <a:t>: RSA(</a:t>
            </a:r>
            <a:r>
              <a:rPr lang="ko-KR" altLang="en-US" dirty="0"/>
              <a:t>소인수분해</a:t>
            </a:r>
            <a:r>
              <a:rPr lang="en-US" altLang="ko-KR" dirty="0"/>
              <a:t>), </a:t>
            </a:r>
            <a:r>
              <a:rPr lang="ko-KR" altLang="en-US" dirty="0"/>
              <a:t>이산로그 시스템</a:t>
            </a:r>
            <a:r>
              <a:rPr lang="en-US" altLang="ko-KR" dirty="0"/>
              <a:t>, ECC(ECDLP)</a:t>
            </a:r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가장 빠른 고전 알고리즘으로도 </a:t>
            </a:r>
            <a:r>
              <a:rPr lang="ko-KR" altLang="en-US" dirty="0" err="1"/>
              <a:t>준지수</a:t>
            </a:r>
            <a:r>
              <a:rPr lang="en-US" altLang="ko-KR" dirty="0"/>
              <a:t>(RSA·</a:t>
            </a:r>
            <a:r>
              <a:rPr lang="ko-KR" altLang="en-US" dirty="0"/>
              <a:t>이산로그</a:t>
            </a:r>
            <a:r>
              <a:rPr lang="en-US" altLang="ko-KR" dirty="0"/>
              <a:t>) </a:t>
            </a:r>
            <a:r>
              <a:rPr lang="ko-KR" altLang="en-US" dirty="0"/>
              <a:t>또는 완전 지수</a:t>
            </a:r>
            <a:r>
              <a:rPr lang="en-US" altLang="ko-KR" dirty="0"/>
              <a:t>(ECDLP) </a:t>
            </a:r>
            <a:r>
              <a:rPr lang="ko-KR" altLang="en-US" dirty="0"/>
              <a:t>시간</a:t>
            </a:r>
          </a:p>
          <a:p>
            <a:r>
              <a:rPr lang="en-US" altLang="ko-KR" dirty="0"/>
              <a:t>Peter Shor: </a:t>
            </a:r>
            <a:r>
              <a:rPr lang="ko-KR" altLang="en-US" dirty="0"/>
              <a:t>세 문제</a:t>
            </a:r>
            <a:r>
              <a:rPr lang="en-US" altLang="ko-KR" dirty="0"/>
              <a:t>(</a:t>
            </a:r>
            <a:r>
              <a:rPr lang="ko-KR" altLang="en-US" dirty="0"/>
              <a:t>정수 인수분해</a:t>
            </a:r>
            <a:r>
              <a:rPr lang="en-US" altLang="ko-KR" dirty="0"/>
              <a:t>·</a:t>
            </a:r>
            <a:r>
              <a:rPr lang="ko-KR" altLang="en-US" dirty="0"/>
              <a:t>이산로그</a:t>
            </a:r>
            <a:r>
              <a:rPr lang="en-US" altLang="ko-KR" dirty="0"/>
              <a:t>·</a:t>
            </a:r>
            <a:r>
              <a:rPr lang="ko-KR" altLang="en-US" dirty="0"/>
              <a:t>타원곡선 이산로그</a:t>
            </a:r>
            <a:r>
              <a:rPr lang="en-US" altLang="ko-KR" dirty="0"/>
              <a:t>)</a:t>
            </a:r>
            <a:r>
              <a:rPr lang="ko-KR" altLang="en-US" dirty="0"/>
              <a:t>를 모두 양자 다항식 시간에 해결</a:t>
            </a:r>
          </a:p>
          <a:p>
            <a:r>
              <a:rPr lang="ko-KR" altLang="en-US" dirty="0"/>
              <a:t>대규모 양자컴퓨터가 만들어지면 </a:t>
            </a:r>
            <a:r>
              <a:rPr lang="en-US" altLang="ko-KR" dirty="0"/>
              <a:t>RSA·</a:t>
            </a:r>
            <a:r>
              <a:rPr lang="ko-KR" altLang="en-US" dirty="0"/>
              <a:t>이산로그</a:t>
            </a:r>
            <a:r>
              <a:rPr lang="en-US" altLang="ko-KR" dirty="0"/>
              <a:t>·</a:t>
            </a:r>
            <a:r>
              <a:rPr lang="ko-KR" altLang="en-US" dirty="0"/>
              <a:t>타원곡선 암호 시스템이 전부 완전히 깨짐</a:t>
            </a:r>
          </a:p>
          <a:p>
            <a:pPr marL="457200" lvl="1" indent="0">
              <a:buNone/>
            </a:pPr>
            <a:r>
              <a:rPr lang="ko-KR" altLang="en-US" dirty="0"/>
              <a:t>→ 양자컴퓨터가 제기하는 주된 위협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FB37FF-AA27-7290-B7FB-B05B3871F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50C82CB-67C7-3811-C111-C4A2A2309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9411" y="3645866"/>
            <a:ext cx="2434389" cy="2672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767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471EB-2131-3D30-5CE3-E55742CCF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681700-40DF-6F66-EB90-3AB57EA77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Grover </a:t>
            </a:r>
            <a:r>
              <a:rPr lang="ko-KR" altLang="en-US" dirty="0"/>
              <a:t>알고리즘 </a:t>
            </a:r>
            <a:r>
              <a:rPr lang="en-US" altLang="ko-KR" dirty="0"/>
              <a:t>(1996)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6C4A10-7B77-54C0-ED2F-2A4632DCD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비구조화 탐색</a:t>
            </a:r>
            <a:r>
              <a:rPr lang="en-US" altLang="ko-KR" dirty="0"/>
              <a:t>(unstructured search): F(x)=1</a:t>
            </a:r>
            <a:r>
              <a:rPr lang="ko-KR" altLang="en-US" dirty="0"/>
              <a:t>인 </a:t>
            </a:r>
            <a:r>
              <a:rPr lang="en-US" altLang="ko-KR" dirty="0"/>
              <a:t>x</a:t>
            </a:r>
            <a:r>
              <a:rPr lang="ko-KR" altLang="en-US" dirty="0"/>
              <a:t>를 찾기 </a:t>
            </a:r>
            <a:r>
              <a:rPr lang="en-US" altLang="ko-KR" dirty="0"/>
              <a:t>(</a:t>
            </a:r>
            <a:r>
              <a:rPr lang="ko-KR" altLang="en-US" dirty="0"/>
              <a:t>정확히 </a:t>
            </a:r>
            <a:r>
              <a:rPr lang="en-US" altLang="ko-KR" dirty="0"/>
              <a:t>d</a:t>
            </a:r>
            <a:r>
              <a:rPr lang="ko-KR" altLang="en-US" dirty="0"/>
              <a:t>개의 해</a:t>
            </a:r>
            <a:r>
              <a:rPr lang="en-US" altLang="ko-KR" dirty="0"/>
              <a:t>, 1≤d≪2ⁿ)</a:t>
            </a:r>
          </a:p>
          <a:p>
            <a:r>
              <a:rPr lang="ko-KR" altLang="en-US" dirty="0"/>
              <a:t>고전 탐색</a:t>
            </a:r>
            <a:r>
              <a:rPr lang="en-US" altLang="ko-KR" dirty="0"/>
              <a:t>(</a:t>
            </a:r>
            <a:r>
              <a:rPr lang="ko-KR" altLang="en-US" dirty="0"/>
              <a:t>임의로 뽑아 </a:t>
            </a:r>
            <a:r>
              <a:rPr lang="en-US" altLang="ko-KR" dirty="0"/>
              <a:t>F </a:t>
            </a:r>
            <a:r>
              <a:rPr lang="ko-KR" altLang="en-US" dirty="0"/>
              <a:t>평가</a:t>
            </a:r>
            <a:r>
              <a:rPr lang="en-US" altLang="ko-KR" dirty="0"/>
              <a:t>): </a:t>
            </a:r>
            <a:r>
              <a:rPr lang="ko-KR" altLang="en-US" dirty="0"/>
              <a:t>평균 </a:t>
            </a:r>
            <a:r>
              <a:rPr lang="en-US" altLang="ko-KR" dirty="0"/>
              <a:t>2ⁿ/d </a:t>
            </a:r>
            <a:r>
              <a:rPr lang="ko-KR" altLang="en-US" dirty="0"/>
              <a:t>번의 함수 평가</a:t>
            </a:r>
          </a:p>
          <a:p>
            <a:r>
              <a:rPr lang="en-US" altLang="ko-KR" dirty="0"/>
              <a:t>Grover: </a:t>
            </a:r>
            <a:r>
              <a:rPr lang="ko-KR" altLang="en-US" dirty="0"/>
              <a:t>단 √</a:t>
            </a:r>
            <a:r>
              <a:rPr lang="en-US" altLang="ko-KR" dirty="0"/>
              <a:t>(2ⁿ/d) </a:t>
            </a:r>
            <a:r>
              <a:rPr lang="ko-KR" altLang="en-US" dirty="0"/>
              <a:t>번의 함수 평가로 해결 </a:t>
            </a:r>
            <a:r>
              <a:rPr lang="en-US" altLang="ko-KR" dirty="0"/>
              <a:t>(</a:t>
            </a:r>
            <a:r>
              <a:rPr lang="ko-KR" altLang="en-US" dirty="0"/>
              <a:t>제곱근 가속</a:t>
            </a:r>
            <a:r>
              <a:rPr lang="en-US" altLang="ko-KR" dirty="0"/>
              <a:t>)</a:t>
            </a:r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병렬화해도 선형 가속 없음 </a:t>
            </a:r>
            <a:r>
              <a:rPr lang="en-US" altLang="ko-KR" dirty="0"/>
              <a:t>(m</a:t>
            </a:r>
            <a:r>
              <a:rPr lang="ko-KR" altLang="en-US" dirty="0"/>
              <a:t>대의 양자컴퓨터를 동시에 써도 √</a:t>
            </a:r>
            <a:r>
              <a:rPr lang="en-US" altLang="ko-KR" dirty="0"/>
              <a:t>m</a:t>
            </a:r>
            <a:r>
              <a:rPr lang="ko-KR" altLang="en-US" dirty="0"/>
              <a:t>배만 </a:t>
            </a:r>
            <a:r>
              <a:rPr lang="ko-KR" altLang="en-US" dirty="0" err="1"/>
              <a:t>빨라짐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12B370-F008-270B-12A2-9AA3AC4DE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7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591AB-CA07-0625-5F73-1AE87D07D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71B545-2168-2225-6938-F74B53516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Grover </a:t>
            </a:r>
            <a:r>
              <a:rPr lang="ko-KR" altLang="en-US" dirty="0"/>
              <a:t>공격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D9A0F7-1EB9-355E-B563-7485C05BC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ℓ</a:t>
            </a:r>
            <a:r>
              <a:rPr lang="ko-KR" altLang="en-US" dirty="0"/>
              <a:t>비트 키 블록암호 </a:t>
            </a:r>
            <a:r>
              <a:rPr lang="en-US" altLang="ko-KR" dirty="0"/>
              <a:t>E, </a:t>
            </a:r>
            <a:r>
              <a:rPr lang="ko-KR" altLang="en-US" dirty="0" err="1"/>
              <a:t>평문</a:t>
            </a:r>
            <a:r>
              <a:rPr lang="en-US" altLang="ko-KR" dirty="0"/>
              <a:t>-</a:t>
            </a:r>
            <a:r>
              <a:rPr lang="ko-KR" altLang="en-US" dirty="0"/>
              <a:t>암호문 쌍 </a:t>
            </a:r>
            <a:r>
              <a:rPr lang="en-US" altLang="ko-KR" dirty="0"/>
              <a:t>t</a:t>
            </a:r>
            <a:r>
              <a:rPr lang="ko-KR" altLang="en-US" dirty="0"/>
              <a:t>개</a:t>
            </a:r>
            <a:r>
              <a:rPr lang="en-US" altLang="ko-KR" dirty="0"/>
              <a:t>: F(k)=1 ⟺ Eₖ(mᵢ)=cᵢ (∀</a:t>
            </a:r>
            <a:r>
              <a:rPr lang="en-US" altLang="ko-KR" dirty="0" err="1"/>
              <a:t>i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전수조사</a:t>
            </a:r>
            <a:r>
              <a:rPr lang="en-US" altLang="ko-KR" dirty="0"/>
              <a:t>(</a:t>
            </a:r>
            <a:r>
              <a:rPr lang="ko-KR" altLang="en-US" dirty="0"/>
              <a:t>고전</a:t>
            </a:r>
            <a:r>
              <a:rPr lang="en-US" altLang="ko-KR" dirty="0"/>
              <a:t>): </a:t>
            </a:r>
            <a:r>
              <a:rPr lang="ko-KR" altLang="en-US" dirty="0"/>
              <a:t>평균 </a:t>
            </a:r>
            <a:r>
              <a:rPr lang="en-US" altLang="ko-KR" dirty="0"/>
              <a:t>2</a:t>
            </a:r>
            <a:r>
              <a:rPr lang="en-US" altLang="ko-KR" baseline="30000" dirty="0"/>
              <a:t>ℓ-1</a:t>
            </a:r>
            <a:r>
              <a:rPr lang="en-US" altLang="ko-KR" dirty="0"/>
              <a:t> </a:t>
            </a:r>
            <a:r>
              <a:rPr lang="ko-KR" altLang="en-US" dirty="0"/>
              <a:t>번의 암호화 연산</a:t>
            </a:r>
          </a:p>
          <a:p>
            <a:r>
              <a:rPr lang="en-US" altLang="ko-KR" dirty="0"/>
              <a:t>Grover(</a:t>
            </a:r>
            <a:r>
              <a:rPr lang="ko-KR" altLang="en-US" dirty="0"/>
              <a:t>양자</a:t>
            </a:r>
            <a:r>
              <a:rPr lang="en-US" altLang="ko-KR" dirty="0"/>
              <a:t>): 2</a:t>
            </a:r>
            <a:r>
              <a:rPr lang="en-US" altLang="ko-KR" baseline="30000" dirty="0"/>
              <a:t>ℓ/2</a:t>
            </a:r>
            <a:r>
              <a:rPr lang="en-US" altLang="ko-KR" dirty="0"/>
              <a:t> </a:t>
            </a:r>
            <a:r>
              <a:rPr lang="ko-KR" altLang="en-US" dirty="0"/>
              <a:t>번의 양자 평가만으로 비밀 키 복원 </a:t>
            </a:r>
            <a:r>
              <a:rPr lang="en-US" altLang="ko-KR" dirty="0"/>
              <a:t>(Grover </a:t>
            </a:r>
            <a:r>
              <a:rPr lang="ko-KR" altLang="en-US" dirty="0"/>
              <a:t>탐색의 </a:t>
            </a:r>
            <a:r>
              <a:rPr lang="en-US" altLang="ko-KR" dirty="0"/>
              <a:t>d=1 </a:t>
            </a:r>
            <a:r>
              <a:rPr lang="ko-KR" altLang="en-US" dirty="0"/>
              <a:t>인스턴스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대응책</a:t>
            </a:r>
            <a:r>
              <a:rPr lang="en-US" altLang="ko-KR" dirty="0"/>
              <a:t>: AES</a:t>
            </a:r>
            <a:r>
              <a:rPr lang="ko-KR" altLang="en-US" dirty="0"/>
              <a:t>에 </a:t>
            </a:r>
            <a:r>
              <a:rPr lang="en-US" altLang="ko-KR" dirty="0"/>
              <a:t>256</a:t>
            </a:r>
            <a:r>
              <a:rPr lang="ko-KR" altLang="en-US" dirty="0"/>
              <a:t>비트 키 사용 → </a:t>
            </a:r>
            <a:r>
              <a:rPr lang="en-US" altLang="ko-KR" dirty="0"/>
              <a:t>2</a:t>
            </a:r>
            <a:r>
              <a:rPr lang="en-US" altLang="ko-KR" baseline="30000" dirty="0"/>
              <a:t>128</a:t>
            </a:r>
            <a:r>
              <a:rPr lang="ko-KR" altLang="en-US" dirty="0"/>
              <a:t>번의 양자 연산은 여전히 비현실적</a:t>
            </a:r>
          </a:p>
          <a:p>
            <a:pPr marL="457200" lvl="1" indent="0">
              <a:buNone/>
            </a:pPr>
            <a:r>
              <a:rPr lang="en-US" altLang="ko-KR" dirty="0"/>
              <a:t>- 128</a:t>
            </a:r>
            <a:r>
              <a:rPr lang="ko-KR" altLang="en-US" dirty="0"/>
              <a:t>비트 대신 </a:t>
            </a:r>
            <a:r>
              <a:rPr lang="en-US" altLang="ko-KR" dirty="0"/>
              <a:t>256</a:t>
            </a:r>
            <a:r>
              <a:rPr lang="ko-KR" altLang="en-US" dirty="0"/>
              <a:t>비트를 쓰는 데 드는 추가 비용은 크지 않음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6F7FF4-43A3-AD06-A25B-6A19F0F23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632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FEE53-6FAC-923B-7FE3-35D8EC63B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EC77AE-EBD4-E5D6-4CF6-755BE31C6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양자컴퓨터 구현 현황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94F8F9-1ECE-567E-E9FB-97D891608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656299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2048</a:t>
            </a:r>
            <a:r>
              <a:rPr lang="ko-KR" altLang="en-US" dirty="0"/>
              <a:t>비트 </a:t>
            </a:r>
            <a:r>
              <a:rPr lang="en-US" altLang="ko-KR" dirty="0"/>
              <a:t>RSA</a:t>
            </a:r>
            <a:r>
              <a:rPr lang="ko-KR" altLang="en-US" dirty="0"/>
              <a:t>를 </a:t>
            </a:r>
            <a:r>
              <a:rPr lang="en-US" altLang="ko-KR" dirty="0"/>
              <a:t>Shor</a:t>
            </a:r>
            <a:r>
              <a:rPr lang="ko-KR" altLang="en-US" dirty="0"/>
              <a:t>로 깨려면 최소 </a:t>
            </a:r>
            <a:r>
              <a:rPr lang="en-US" altLang="ko-KR" dirty="0"/>
              <a:t>2,048</a:t>
            </a:r>
            <a:r>
              <a:rPr lang="ko-KR" altLang="en-US" dirty="0"/>
              <a:t>개의 결함 허용</a:t>
            </a:r>
            <a:r>
              <a:rPr lang="en-US" altLang="ko-KR" dirty="0"/>
              <a:t>(fault-tolerant) </a:t>
            </a:r>
            <a:r>
              <a:rPr lang="ko-KR" altLang="en-US" dirty="0" err="1"/>
              <a:t>큐비트</a:t>
            </a:r>
            <a:r>
              <a:rPr lang="ko-KR" altLang="en-US" dirty="0"/>
              <a:t> 필요</a:t>
            </a:r>
            <a:endParaRPr lang="en-US" altLang="ko-KR" dirty="0"/>
          </a:p>
          <a:p>
            <a:r>
              <a:rPr lang="ko-KR" altLang="en-US" dirty="0"/>
              <a:t>양자 </a:t>
            </a:r>
            <a:r>
              <a:rPr lang="ko-KR" altLang="en-US" dirty="0" err="1"/>
              <a:t>결어긋남</a:t>
            </a:r>
            <a:r>
              <a:rPr lang="en-US" altLang="ko-KR" dirty="0"/>
              <a:t>(decoherence: </a:t>
            </a:r>
            <a:r>
              <a:rPr lang="ko-KR" altLang="en-US" dirty="0"/>
              <a:t>큐비트가 환경과 상호작용해 오류 발생</a:t>
            </a:r>
            <a:r>
              <a:rPr lang="en-US" altLang="ko-KR" dirty="0"/>
              <a:t>) </a:t>
            </a:r>
            <a:r>
              <a:rPr lang="ko-KR" altLang="en-US" dirty="0"/>
              <a:t>때문에 아직 없음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모두</a:t>
            </a:r>
            <a:r>
              <a:rPr lang="en-US" altLang="ko-KR" dirty="0"/>
              <a:t> </a:t>
            </a:r>
            <a:r>
              <a:rPr lang="ko-KR" altLang="en-US" dirty="0"/>
              <a:t>결함 허용이 아닌 개념 증명</a:t>
            </a:r>
            <a:r>
              <a:rPr lang="en-US" altLang="ko-KR" dirty="0"/>
              <a:t>(PoC) </a:t>
            </a:r>
            <a:r>
              <a:rPr lang="ko-KR" altLang="en-US" dirty="0"/>
              <a:t>수준</a:t>
            </a:r>
            <a:endParaRPr lang="en-US" altLang="ko-KR" dirty="0"/>
          </a:p>
          <a:p>
            <a:r>
              <a:rPr lang="en-US" altLang="ko-KR" dirty="0"/>
              <a:t>2026.03 </a:t>
            </a:r>
            <a:r>
              <a:rPr lang="ko-KR" altLang="en-US" dirty="0"/>
              <a:t>기준</a:t>
            </a:r>
            <a:r>
              <a:rPr lang="en-US" altLang="ko-KR" dirty="0"/>
              <a:t> Shor</a:t>
            </a:r>
            <a:r>
              <a:rPr lang="ko-KR" altLang="en-US" dirty="0"/>
              <a:t>로 </a:t>
            </a:r>
            <a:r>
              <a:rPr lang="ko-KR" altLang="en-US" dirty="0" err="1"/>
              <a:t>인수분해된</a:t>
            </a:r>
            <a:r>
              <a:rPr lang="ko-KR" altLang="en-US" dirty="0"/>
              <a:t> 가장 큰 수 </a:t>
            </a:r>
            <a:r>
              <a:rPr lang="en-US" altLang="ko-KR" dirty="0"/>
              <a:t>= 21</a:t>
            </a:r>
          </a:p>
          <a:p>
            <a:r>
              <a:rPr lang="ko-KR" altLang="en-US" dirty="0"/>
              <a:t>논리 </a:t>
            </a:r>
            <a:r>
              <a:rPr lang="ko-KR" altLang="en-US" dirty="0" err="1"/>
              <a:t>큐비트</a:t>
            </a:r>
            <a:r>
              <a:rPr lang="en-US" altLang="ko-KR" dirty="0"/>
              <a:t> 1</a:t>
            </a:r>
            <a:r>
              <a:rPr lang="ko-KR" altLang="en-US" dirty="0"/>
              <a:t>개에도 물리 </a:t>
            </a:r>
            <a:r>
              <a:rPr lang="ko-KR" altLang="en-US" dirty="0" err="1"/>
              <a:t>큐비트</a:t>
            </a:r>
            <a:r>
              <a:rPr lang="ko-KR" altLang="en-US" dirty="0"/>
              <a:t> 수천 개 필요 추정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→ </a:t>
            </a:r>
            <a:r>
              <a:rPr lang="en-US" altLang="ko-KR" dirty="0"/>
              <a:t>2048</a:t>
            </a:r>
            <a:r>
              <a:rPr lang="ko-KR" altLang="en-US" dirty="0"/>
              <a:t>비트 </a:t>
            </a:r>
            <a:r>
              <a:rPr lang="en-US" altLang="ko-KR" dirty="0"/>
              <a:t>RSA </a:t>
            </a:r>
            <a:r>
              <a:rPr lang="ko-KR" altLang="en-US" dirty="0"/>
              <a:t>공격엔 수백만 개 필요할 수도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297AD3-3CBF-EACE-7CC5-F246A8F16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7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6B85830-46AB-107D-603E-2A3CF48C42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500872"/>
              </p:ext>
            </p:extLst>
          </p:nvPr>
        </p:nvGraphicFramePr>
        <p:xfrm>
          <a:off x="838200" y="2339918"/>
          <a:ext cx="10515600" cy="148336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82456728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498818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123032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311187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연도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큐비트</a:t>
                      </a:r>
                      <a:r>
                        <a:rPr lang="ko-KR" altLang="en-US" dirty="0"/>
                        <a:t>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4155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IBM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1,121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초전도 </a:t>
                      </a:r>
                      <a:r>
                        <a:rPr lang="ko-KR" altLang="en-US" dirty="0" err="1"/>
                        <a:t>큐비트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4921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Google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2024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초전도 </a:t>
                      </a:r>
                      <a:r>
                        <a:rPr lang="ko-KR" altLang="en-US" dirty="0" err="1"/>
                        <a:t>큐비트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926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Caltech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6,100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중성원자 배열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735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7461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A1315-7695-834A-11CE-D43AF51DC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BC794-A96B-10B7-8197-685BD21E7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양자컴퓨터 구현 현황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D394C6-2618-1A89-8C98-671E8E126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656299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2048</a:t>
            </a:r>
            <a:r>
              <a:rPr lang="ko-KR" altLang="en-US" dirty="0"/>
              <a:t>비트 </a:t>
            </a:r>
            <a:r>
              <a:rPr lang="en-US" altLang="ko-KR" dirty="0"/>
              <a:t>RSA</a:t>
            </a:r>
            <a:r>
              <a:rPr lang="ko-KR" altLang="en-US" dirty="0"/>
              <a:t>를 </a:t>
            </a:r>
            <a:r>
              <a:rPr lang="en-US" altLang="ko-KR" dirty="0"/>
              <a:t>Shor</a:t>
            </a:r>
            <a:r>
              <a:rPr lang="ko-KR" altLang="en-US" dirty="0"/>
              <a:t>로 깨려면 최소 </a:t>
            </a:r>
            <a:r>
              <a:rPr lang="en-US" altLang="ko-KR" dirty="0"/>
              <a:t>2,048</a:t>
            </a:r>
            <a:r>
              <a:rPr lang="ko-KR" altLang="en-US" dirty="0"/>
              <a:t>개의 결함 허용</a:t>
            </a:r>
            <a:r>
              <a:rPr lang="en-US" altLang="ko-KR" dirty="0"/>
              <a:t>(fault-tolerant) </a:t>
            </a:r>
            <a:r>
              <a:rPr lang="ko-KR" altLang="en-US" dirty="0" err="1"/>
              <a:t>큐비트</a:t>
            </a:r>
            <a:r>
              <a:rPr lang="ko-KR" altLang="en-US" dirty="0"/>
              <a:t> 필요</a:t>
            </a:r>
            <a:endParaRPr lang="en-US" altLang="ko-KR" dirty="0"/>
          </a:p>
          <a:p>
            <a:r>
              <a:rPr lang="ko-KR" altLang="en-US" dirty="0"/>
              <a:t>양자 </a:t>
            </a:r>
            <a:r>
              <a:rPr lang="ko-KR" altLang="en-US" dirty="0" err="1"/>
              <a:t>결어긋남</a:t>
            </a:r>
            <a:r>
              <a:rPr lang="en-US" altLang="ko-KR" dirty="0"/>
              <a:t>(decoherence: </a:t>
            </a:r>
            <a:r>
              <a:rPr lang="ko-KR" altLang="en-US" dirty="0"/>
              <a:t>큐비트가 환경과 상호작용해 오류 발생</a:t>
            </a:r>
            <a:r>
              <a:rPr lang="en-US" altLang="ko-KR" dirty="0"/>
              <a:t>) </a:t>
            </a:r>
            <a:r>
              <a:rPr lang="ko-KR" altLang="en-US" dirty="0"/>
              <a:t>때문에 아직 없음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모두</a:t>
            </a:r>
            <a:r>
              <a:rPr lang="en-US" altLang="ko-KR" dirty="0"/>
              <a:t> </a:t>
            </a:r>
            <a:r>
              <a:rPr lang="ko-KR" altLang="en-US" dirty="0"/>
              <a:t>결함 허용이 아닌 개념 증명</a:t>
            </a:r>
            <a:r>
              <a:rPr lang="en-US" altLang="ko-KR" dirty="0"/>
              <a:t>(PoC) </a:t>
            </a:r>
            <a:r>
              <a:rPr lang="ko-KR" altLang="en-US" dirty="0"/>
              <a:t>수준</a:t>
            </a:r>
            <a:endParaRPr lang="en-US" altLang="ko-KR" dirty="0"/>
          </a:p>
          <a:p>
            <a:r>
              <a:rPr lang="en-US" altLang="ko-KR" dirty="0"/>
              <a:t>2026.03 </a:t>
            </a:r>
            <a:r>
              <a:rPr lang="ko-KR" altLang="en-US" dirty="0"/>
              <a:t>기준</a:t>
            </a:r>
            <a:r>
              <a:rPr lang="en-US" altLang="ko-KR" dirty="0"/>
              <a:t> Shor</a:t>
            </a:r>
            <a:r>
              <a:rPr lang="ko-KR" altLang="en-US" dirty="0"/>
              <a:t>로 </a:t>
            </a:r>
            <a:r>
              <a:rPr lang="ko-KR" altLang="en-US" dirty="0" err="1"/>
              <a:t>인수분해된</a:t>
            </a:r>
            <a:r>
              <a:rPr lang="ko-KR" altLang="en-US" dirty="0"/>
              <a:t> 가장 큰 수 </a:t>
            </a:r>
            <a:r>
              <a:rPr lang="en-US" altLang="ko-KR" dirty="0"/>
              <a:t>= 21</a:t>
            </a:r>
          </a:p>
          <a:p>
            <a:r>
              <a:rPr lang="ko-KR" altLang="en-US" dirty="0"/>
              <a:t>논리 </a:t>
            </a:r>
            <a:r>
              <a:rPr lang="ko-KR" altLang="en-US" dirty="0" err="1"/>
              <a:t>큐비트</a:t>
            </a:r>
            <a:r>
              <a:rPr lang="en-US" altLang="ko-KR" dirty="0"/>
              <a:t> 1</a:t>
            </a:r>
            <a:r>
              <a:rPr lang="ko-KR" altLang="en-US" dirty="0"/>
              <a:t>개에도 물리 </a:t>
            </a:r>
            <a:r>
              <a:rPr lang="ko-KR" altLang="en-US" dirty="0" err="1"/>
              <a:t>큐비트</a:t>
            </a:r>
            <a:r>
              <a:rPr lang="ko-KR" altLang="en-US" dirty="0"/>
              <a:t> 수천 개 필요 추정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→ </a:t>
            </a:r>
            <a:r>
              <a:rPr lang="en-US" altLang="ko-KR" dirty="0"/>
              <a:t>2048</a:t>
            </a:r>
            <a:r>
              <a:rPr lang="ko-KR" altLang="en-US" dirty="0"/>
              <a:t>비트 </a:t>
            </a:r>
            <a:r>
              <a:rPr lang="en-US" altLang="ko-KR" dirty="0"/>
              <a:t>RSA </a:t>
            </a:r>
            <a:r>
              <a:rPr lang="ko-KR" altLang="en-US" dirty="0"/>
              <a:t>공격엔 수백만 개 필요할 수도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2D0704-B9EF-FEF0-4A63-F8F0B6C7B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8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3AFE520-09DE-A947-B2F3-4C865632939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39918"/>
          <a:ext cx="10515600" cy="148336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82456728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498818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123032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311187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연도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큐비트</a:t>
                      </a:r>
                      <a:r>
                        <a:rPr lang="ko-KR" altLang="en-US" dirty="0"/>
                        <a:t>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유형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155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IBM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1,121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초전도 </a:t>
                      </a:r>
                      <a:r>
                        <a:rPr lang="ko-KR" altLang="en-US" dirty="0" err="1"/>
                        <a:t>큐비트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4921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Google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초전도 </a:t>
                      </a:r>
                      <a:r>
                        <a:rPr lang="ko-KR" altLang="en-US" dirty="0" err="1"/>
                        <a:t>큐비트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926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Caltech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6,100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중성원자 배열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473551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A401FEDC-1426-8657-296E-742C17CDE4AB}"/>
              </a:ext>
            </a:extLst>
          </p:cNvPr>
          <p:cNvSpPr/>
          <p:nvPr/>
        </p:nvSpPr>
        <p:spPr>
          <a:xfrm>
            <a:off x="838199" y="2339918"/>
            <a:ext cx="10515601" cy="2101516"/>
          </a:xfrm>
          <a:prstGeom prst="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b="1" dirty="0"/>
              <a:t>만들어질지 불확실하나 못 만들 근본적 이유도 없음</a:t>
            </a:r>
            <a:endParaRPr lang="en-US" altLang="ko-KR" sz="2400" b="1" dirty="0"/>
          </a:p>
          <a:p>
            <a:pPr algn="ctr">
              <a:lnSpc>
                <a:spcPct val="150000"/>
              </a:lnSpc>
            </a:pPr>
            <a:r>
              <a:rPr lang="ko-KR" altLang="en-US" sz="2400" b="1" dirty="0"/>
              <a:t>인터넷 보안 대부분 붕괴 </a:t>
            </a:r>
            <a:r>
              <a:rPr lang="en-US" altLang="ko-KR" sz="2400" b="1" dirty="0"/>
              <a:t>+ "</a:t>
            </a:r>
            <a:r>
              <a:rPr lang="ko-KR" altLang="en-US" sz="2400" b="1" dirty="0"/>
              <a:t>지금 저장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나중에 복호화</a:t>
            </a:r>
            <a:r>
              <a:rPr lang="en-US" altLang="ko-KR" sz="2400" b="1" dirty="0"/>
              <a:t>" </a:t>
            </a:r>
            <a:r>
              <a:rPr lang="ko-KR" altLang="en-US" sz="2400" b="1" dirty="0"/>
              <a:t>위협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519071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0C14B-B69C-79FF-5358-C793087D0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E432B-879F-1347-081D-F0056676E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PQC </a:t>
            </a:r>
            <a:r>
              <a:rPr lang="ko-KR" altLang="en-US" dirty="0"/>
              <a:t>표준화의 역사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6BF734-C69E-4B70-83DC-286EE6545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2015</a:t>
            </a:r>
            <a:r>
              <a:rPr lang="ko-KR" altLang="en-US" dirty="0"/>
              <a:t>년 </a:t>
            </a:r>
            <a:r>
              <a:rPr lang="en-US" altLang="ko-KR" dirty="0"/>
              <a:t>NSA </a:t>
            </a:r>
            <a:r>
              <a:rPr lang="ko-KR" altLang="en-US" dirty="0"/>
              <a:t>발표</a:t>
            </a:r>
            <a:r>
              <a:rPr lang="en-US" altLang="ko-KR" dirty="0"/>
              <a:t>: "</a:t>
            </a:r>
            <a:r>
              <a:rPr lang="ko-KR" altLang="en-US" dirty="0"/>
              <a:t>가까운 미래에 양자 안전 알고리즘 전환 시작</a:t>
            </a:r>
            <a:r>
              <a:rPr lang="en-US" altLang="ko-KR" dirty="0"/>
              <a:t>" — </a:t>
            </a:r>
            <a:r>
              <a:rPr lang="ko-KR" altLang="en-US" dirty="0"/>
              <a:t>암호학계에 충격</a:t>
            </a:r>
          </a:p>
          <a:p>
            <a:r>
              <a:rPr lang="en-US" altLang="ko-KR" dirty="0"/>
              <a:t>2017</a:t>
            </a:r>
            <a:r>
              <a:rPr lang="ko-KR" altLang="en-US" dirty="0"/>
              <a:t>년</a:t>
            </a:r>
            <a:r>
              <a:rPr lang="en-US" altLang="ko-KR" dirty="0"/>
              <a:t>: </a:t>
            </a:r>
            <a:r>
              <a:rPr lang="ko-KR" altLang="en-US" dirty="0"/>
              <a:t>전 세계 </a:t>
            </a:r>
            <a:r>
              <a:rPr lang="en-US" altLang="ko-KR" dirty="0"/>
              <a:t>69</a:t>
            </a:r>
            <a:r>
              <a:rPr lang="ko-KR" altLang="en-US" dirty="0"/>
              <a:t>개 제출</a:t>
            </a:r>
          </a:p>
          <a:p>
            <a:r>
              <a:rPr lang="en-US" altLang="ko-KR" dirty="0"/>
              <a:t>2019</a:t>
            </a:r>
            <a:r>
              <a:rPr lang="ko-KR" altLang="en-US" dirty="0"/>
              <a:t>년</a:t>
            </a:r>
            <a:r>
              <a:rPr lang="en-US" altLang="ko-KR" dirty="0"/>
              <a:t>: 26</a:t>
            </a:r>
            <a:r>
              <a:rPr lang="ko-KR" altLang="en-US" dirty="0"/>
              <a:t>개를 다음 라운드로 선정</a:t>
            </a:r>
          </a:p>
          <a:p>
            <a:r>
              <a:rPr lang="en-US" altLang="ko-KR" dirty="0"/>
              <a:t>2020</a:t>
            </a:r>
            <a:r>
              <a:rPr lang="ko-KR" altLang="en-US" dirty="0"/>
              <a:t>년 </a:t>
            </a:r>
            <a:r>
              <a:rPr lang="en-US" altLang="ko-KR" dirty="0"/>
              <a:t>7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최종 후보 </a:t>
            </a:r>
            <a:r>
              <a:rPr lang="en-US" altLang="ko-KR" dirty="0"/>
              <a:t>7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대안 후보 </a:t>
            </a:r>
            <a:r>
              <a:rPr lang="en-US" altLang="ko-KR" dirty="0"/>
              <a:t>8</a:t>
            </a:r>
            <a:r>
              <a:rPr lang="ko-KR" altLang="en-US" dirty="0"/>
              <a:t>개 선정</a:t>
            </a:r>
          </a:p>
          <a:p>
            <a:r>
              <a:rPr lang="en-US" altLang="ko-KR" dirty="0"/>
              <a:t>2022</a:t>
            </a:r>
            <a:r>
              <a:rPr lang="ko-KR" altLang="en-US" dirty="0"/>
              <a:t>년 </a:t>
            </a:r>
            <a:r>
              <a:rPr lang="en-US" altLang="ko-KR" dirty="0"/>
              <a:t>7</a:t>
            </a:r>
            <a:r>
              <a:rPr lang="ko-KR" altLang="en-US" dirty="0"/>
              <a:t>월</a:t>
            </a:r>
            <a:r>
              <a:rPr lang="en-US" altLang="ko-KR" dirty="0"/>
              <a:t>: Kyber(KEM), </a:t>
            </a:r>
            <a:r>
              <a:rPr lang="en-US" altLang="ko-KR" dirty="0" err="1"/>
              <a:t>Dilithium·Falcon·SPHINCS</a:t>
            </a:r>
            <a:r>
              <a:rPr lang="en-US" altLang="ko-KR" dirty="0"/>
              <a:t>+(</a:t>
            </a:r>
            <a:r>
              <a:rPr lang="ko-KR" altLang="en-US" dirty="0"/>
              <a:t>서명</a:t>
            </a:r>
            <a:r>
              <a:rPr lang="en-US" altLang="ko-KR" dirty="0"/>
              <a:t>) </a:t>
            </a:r>
            <a:r>
              <a:rPr lang="ko-KR" altLang="en-US" dirty="0"/>
              <a:t>표준화 대상 선정</a:t>
            </a:r>
          </a:p>
          <a:p>
            <a:pPr marL="457200" lvl="1" indent="0">
              <a:buNone/>
            </a:pPr>
            <a:r>
              <a:rPr lang="en-US" altLang="ko-KR" dirty="0"/>
              <a:t>- LMS·XMSS</a:t>
            </a:r>
            <a:r>
              <a:rPr lang="ko-KR" altLang="en-US" dirty="0"/>
              <a:t>는 이미 </a:t>
            </a:r>
            <a:r>
              <a:rPr lang="en-US" altLang="ko-KR" dirty="0"/>
              <a:t>NIST SP 800-208</a:t>
            </a:r>
            <a:r>
              <a:rPr lang="ko-KR" altLang="en-US" dirty="0"/>
              <a:t>로 표준화되어 있었음</a:t>
            </a:r>
          </a:p>
          <a:p>
            <a:r>
              <a:rPr lang="en-US" altLang="ko-KR" dirty="0"/>
              <a:t>2024</a:t>
            </a:r>
            <a:r>
              <a:rPr lang="ko-KR" altLang="en-US" dirty="0"/>
              <a:t>년 </a:t>
            </a:r>
            <a:r>
              <a:rPr lang="en-US" altLang="ko-KR" dirty="0"/>
              <a:t>8</a:t>
            </a:r>
            <a:r>
              <a:rPr lang="ko-KR" altLang="en-US" dirty="0"/>
              <a:t>월</a:t>
            </a:r>
            <a:r>
              <a:rPr lang="en-US" altLang="ko-KR" dirty="0"/>
              <a:t>: FIPS 203(Kyber) · FIPS 204(</a:t>
            </a:r>
            <a:r>
              <a:rPr lang="en-US" altLang="ko-KR" dirty="0" err="1"/>
              <a:t>Dilithium</a:t>
            </a:r>
            <a:r>
              <a:rPr lang="en-US" altLang="ko-KR" dirty="0"/>
              <a:t>) · FIPS 205(SPHINCS+) </a:t>
            </a:r>
            <a:r>
              <a:rPr lang="ko-KR" altLang="en-US" dirty="0"/>
              <a:t>최종 발표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80109D-BDCF-8489-AB1D-2C004666A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1264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055F2-50E2-EB21-83D5-A8AF9275F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C30049-AD22-7F64-E8EE-1DC09D09C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NSA</a:t>
            </a:r>
            <a:r>
              <a:rPr lang="ko-KR" altLang="en-US" dirty="0"/>
              <a:t>의 개입</a:t>
            </a:r>
            <a:r>
              <a:rPr lang="en-US" altLang="ko-KR" dirty="0"/>
              <a:t>: CNSA 2.0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976C3B-04ED-3933-61FA-657F88355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2022</a:t>
            </a:r>
            <a:r>
              <a:rPr lang="ko-KR" altLang="en-US" dirty="0"/>
              <a:t>년 </a:t>
            </a:r>
            <a:r>
              <a:rPr lang="en-US" altLang="ko-KR" dirty="0"/>
              <a:t>9</a:t>
            </a:r>
            <a:r>
              <a:rPr lang="ko-KR" altLang="en-US" dirty="0"/>
              <a:t>월</a:t>
            </a:r>
            <a:r>
              <a:rPr lang="en-US" altLang="ko-KR" dirty="0"/>
              <a:t>: NSA </a:t>
            </a:r>
            <a:r>
              <a:rPr lang="ko-KR" altLang="en-US" dirty="0"/>
              <a:t>자체 표준 스위트 </a:t>
            </a:r>
            <a:r>
              <a:rPr lang="en-US" altLang="ko-KR" dirty="0"/>
              <a:t>CNSA 2.0 </a:t>
            </a:r>
            <a:r>
              <a:rPr lang="ko-KR" altLang="en-US" dirty="0"/>
              <a:t>발표</a:t>
            </a:r>
          </a:p>
          <a:p>
            <a:pPr marL="457200" lvl="1" indent="0">
              <a:buNone/>
            </a:pPr>
            <a:r>
              <a:rPr lang="en-US" altLang="ko-KR" dirty="0"/>
              <a:t>- CNSA 1.0: </a:t>
            </a:r>
            <a:r>
              <a:rPr lang="ko-KR" altLang="en-US" dirty="0"/>
              <a:t>서명 </a:t>
            </a:r>
            <a:r>
              <a:rPr lang="en-US" altLang="ko-KR" dirty="0"/>
              <a:t>ECDSA·RSA, </a:t>
            </a:r>
            <a:r>
              <a:rPr lang="ko-KR" altLang="en-US" dirty="0" err="1"/>
              <a:t>키교환</a:t>
            </a:r>
            <a:r>
              <a:rPr lang="ko-KR" altLang="en-US" dirty="0"/>
              <a:t> </a:t>
            </a:r>
            <a:r>
              <a:rPr lang="en-US" altLang="ko-KR" dirty="0"/>
              <a:t>ECDH·RSA</a:t>
            </a:r>
          </a:p>
          <a:p>
            <a:r>
              <a:rPr lang="en-US" altLang="ko-KR" dirty="0"/>
              <a:t>CNSA 2.0: </a:t>
            </a:r>
            <a:r>
              <a:rPr lang="ko-KR" altLang="en-US" dirty="0"/>
              <a:t>서명 </a:t>
            </a:r>
            <a:r>
              <a:rPr lang="en-US" altLang="ko-KR" dirty="0" err="1"/>
              <a:t>Dilithium</a:t>
            </a:r>
            <a:r>
              <a:rPr lang="en-US" altLang="ko-KR" dirty="0"/>
              <a:t>, </a:t>
            </a:r>
            <a:r>
              <a:rPr lang="ko-KR" altLang="en-US" dirty="0"/>
              <a:t>키캡슐화 </a:t>
            </a:r>
            <a:r>
              <a:rPr lang="en-US" altLang="ko-KR" dirty="0"/>
              <a:t>Kyber, </a:t>
            </a:r>
            <a:r>
              <a:rPr lang="ko-KR" altLang="en-US" dirty="0"/>
              <a:t>소프트웨어</a:t>
            </a:r>
            <a:r>
              <a:rPr lang="en-US" altLang="ko-KR" dirty="0"/>
              <a:t>·</a:t>
            </a:r>
            <a:r>
              <a:rPr lang="ko-KR" altLang="en-US" dirty="0"/>
              <a:t>펌웨어 서명용 </a:t>
            </a:r>
            <a:r>
              <a:rPr lang="en-US" altLang="ko-KR" dirty="0"/>
              <a:t>LMS·XMSS </a:t>
            </a:r>
            <a:r>
              <a:rPr lang="ko-KR" altLang="en-US" dirty="0"/>
              <a:t>추가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- AES·SHA</a:t>
            </a:r>
            <a:r>
              <a:rPr lang="ko-KR" altLang="en-US" dirty="0"/>
              <a:t>는 그대로 유지</a:t>
            </a:r>
            <a:endParaRPr lang="en-US" altLang="ko-KR" dirty="0"/>
          </a:p>
          <a:p>
            <a:r>
              <a:rPr lang="ko-KR" altLang="en-US" dirty="0"/>
              <a:t>전환 시한 </a:t>
            </a:r>
            <a:r>
              <a:rPr lang="en-US" altLang="ko-KR" dirty="0"/>
              <a:t>(</a:t>
            </a:r>
            <a:r>
              <a:rPr lang="ko-KR" altLang="en-US" dirty="0"/>
              <a:t>공격적</a:t>
            </a:r>
            <a:r>
              <a:rPr lang="en-US" altLang="ko-KR" dirty="0"/>
              <a:t>):</a:t>
            </a:r>
          </a:p>
          <a:p>
            <a:pPr lvl="1"/>
            <a:r>
              <a:rPr lang="ko-KR" altLang="en-US" dirty="0"/>
              <a:t>소프트웨어</a:t>
            </a:r>
            <a:r>
              <a:rPr lang="en-US" altLang="ko-KR" dirty="0"/>
              <a:t>·</a:t>
            </a:r>
            <a:r>
              <a:rPr lang="ko-KR" altLang="en-US" dirty="0"/>
              <a:t>펌웨어 서명 </a:t>
            </a:r>
            <a:r>
              <a:rPr lang="en-US" altLang="ko-KR" dirty="0"/>
              <a:t>— 2025</a:t>
            </a:r>
            <a:r>
              <a:rPr lang="ko-KR" altLang="en-US" dirty="0"/>
              <a:t>년까지 구현</a:t>
            </a:r>
            <a:r>
              <a:rPr lang="en-US" altLang="ko-KR" dirty="0"/>
              <a:t>, 2030</a:t>
            </a:r>
            <a:r>
              <a:rPr lang="ko-KR" altLang="en-US" dirty="0"/>
              <a:t>년까지 전면 전환</a:t>
            </a:r>
          </a:p>
          <a:p>
            <a:pPr lvl="1"/>
            <a:r>
              <a:rPr lang="ko-KR" altLang="en-US" dirty="0"/>
              <a:t>웹 통신</a:t>
            </a:r>
            <a:r>
              <a:rPr lang="en-US" altLang="ko-KR" dirty="0"/>
              <a:t>(TLS)·</a:t>
            </a:r>
            <a:r>
              <a:rPr lang="ko-KR" altLang="en-US" dirty="0"/>
              <a:t>클라우드 서비스</a:t>
            </a:r>
            <a:r>
              <a:rPr lang="en-US" altLang="ko-KR" dirty="0"/>
              <a:t>(AWS </a:t>
            </a:r>
            <a:r>
              <a:rPr lang="ko-KR" altLang="en-US" dirty="0"/>
              <a:t>등</a:t>
            </a:r>
            <a:r>
              <a:rPr lang="en-US" altLang="ko-KR" dirty="0"/>
              <a:t>) — 2025</a:t>
            </a:r>
            <a:r>
              <a:rPr lang="ko-KR" altLang="en-US" dirty="0"/>
              <a:t>년까지 구현</a:t>
            </a:r>
            <a:r>
              <a:rPr lang="en-US" altLang="ko-KR" dirty="0"/>
              <a:t>, 2033</a:t>
            </a:r>
            <a:r>
              <a:rPr lang="ko-KR" altLang="en-US" dirty="0"/>
              <a:t>년까지 전면 전환</a:t>
            </a:r>
          </a:p>
          <a:p>
            <a:r>
              <a:rPr lang="ko-KR" altLang="en-US" dirty="0"/>
              <a:t>대규모 결함 허용 양자컴퓨터의 더딘 진전을 고려하면 이례적으로 공격적인 일정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41335C-4E05-5DCB-C65F-F103A73F6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303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6AFCE-CDC7-8546-175F-49E4B0E7C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321B9C-D0CC-3B6B-1C7B-EEF8A8DBC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배포 현황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7BF565-0533-3A25-72F5-997B2A450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9172074" cy="4701089"/>
          </a:xfrm>
        </p:spPr>
        <p:txBody>
          <a:bodyPr/>
          <a:lstStyle/>
          <a:p>
            <a:r>
              <a:rPr lang="en-US" altLang="ko-KR" dirty="0"/>
              <a:t>Google: </a:t>
            </a:r>
            <a:r>
              <a:rPr lang="ko-KR" altLang="en-US" dirty="0"/>
              <a:t>서버 내부 데이터 보호에 이미 양자 안전 암호 사용 중</a:t>
            </a:r>
            <a:r>
              <a:rPr lang="en-US" altLang="ko-KR" dirty="0"/>
              <a:t>, </a:t>
            </a:r>
            <a:r>
              <a:rPr lang="ko-KR" altLang="en-US" dirty="0"/>
              <a:t>암호 라이브러리 </a:t>
            </a:r>
            <a:r>
              <a:rPr lang="en-US" altLang="ko-KR" dirty="0"/>
              <a:t>Tink</a:t>
            </a:r>
            <a:r>
              <a:rPr lang="ko-KR" altLang="en-US" dirty="0"/>
              <a:t>에 통합 작업 중</a:t>
            </a:r>
            <a:r>
              <a:rPr lang="en-US" altLang="ko-KR" dirty="0"/>
              <a:t> (</a:t>
            </a:r>
            <a:r>
              <a:rPr lang="en-US" altLang="ko-KR" dirty="0">
                <a:hlinkClick r:id="rId2"/>
              </a:rPr>
              <a:t>https://github.com/tink-crypto</a:t>
            </a:r>
            <a:r>
              <a:rPr lang="en-US" altLang="ko-KR" dirty="0"/>
              <a:t>)</a:t>
            </a:r>
            <a:endParaRPr lang="ko-KR" altLang="en-US" dirty="0"/>
          </a:p>
          <a:p>
            <a:r>
              <a:rPr lang="en-US" altLang="ko-KR" dirty="0"/>
              <a:t>Signal (2023.09): PQXDH — Kyber </a:t>
            </a:r>
            <a:r>
              <a:rPr lang="ko-KR" altLang="en-US" dirty="0"/>
              <a:t>기반 공유키를 </a:t>
            </a:r>
            <a:r>
              <a:rPr lang="en-US" altLang="ko-KR" dirty="0"/>
              <a:t>ECDH </a:t>
            </a:r>
            <a:r>
              <a:rPr lang="ko-KR" altLang="en-US" dirty="0"/>
              <a:t>공유키와 결합한 하이브리드 모드 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- WhatsApp</a:t>
            </a:r>
            <a:r>
              <a:rPr lang="ko-KR" altLang="en-US" dirty="0"/>
              <a:t>에서도 사용</a:t>
            </a:r>
            <a:endParaRPr lang="en-US" altLang="ko-KR" dirty="0"/>
          </a:p>
          <a:p>
            <a:r>
              <a:rPr lang="en-US" altLang="ko-KR" dirty="0"/>
              <a:t>Apple (2024.02): iMessage</a:t>
            </a:r>
            <a:r>
              <a:rPr lang="ko-KR" altLang="en-US" dirty="0"/>
              <a:t>에 하이브리드 모드 양자 내성 암호 적용</a:t>
            </a:r>
          </a:p>
          <a:p>
            <a:r>
              <a:rPr lang="en-US" altLang="ko-KR" dirty="0"/>
              <a:t>Amazon: </a:t>
            </a:r>
            <a:r>
              <a:rPr lang="en-US" altLang="ko-KR" dirty="0" err="1"/>
              <a:t>Braket</a:t>
            </a:r>
            <a:r>
              <a:rPr lang="en-US" altLang="ko-KR" dirty="0"/>
              <a:t>(</a:t>
            </a:r>
            <a:r>
              <a:rPr lang="ko-KR" altLang="en-US" dirty="0"/>
              <a:t>실험용 양자컴퓨터 무료 제공</a:t>
            </a:r>
            <a:r>
              <a:rPr lang="en-US" altLang="ko-KR" dirty="0"/>
              <a:t>), s2n-TLS(</a:t>
            </a:r>
            <a:r>
              <a:rPr lang="en-US" altLang="ko-KR" dirty="0" err="1"/>
              <a:t>ECDH+Kyber</a:t>
            </a:r>
            <a:r>
              <a:rPr lang="ko-KR" altLang="en-US" dirty="0"/>
              <a:t> 하이브리드</a:t>
            </a:r>
            <a:r>
              <a:rPr lang="en-US" altLang="ko-KR" dirty="0"/>
              <a:t>, </a:t>
            </a:r>
            <a:r>
              <a:rPr lang="en-US" altLang="ko-KR" dirty="0">
                <a:hlinkClick r:id="rId3"/>
              </a:rPr>
              <a:t>https://github.com/aws/s2n-tls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8FB38F-AD36-49F4-D481-DF9D0D69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234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3F1FC-2CAA-3D08-A6C2-5F2ADB124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AF1AE-D00F-871A-38A4-5FA19FB95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정수 링 </a:t>
            </a:r>
            <a:r>
              <a:rPr lang="en-US" altLang="ko-KR" dirty="0" err="1"/>
              <a:t>ℤ</a:t>
            </a:r>
            <a:r>
              <a:rPr lang="en-US" altLang="ko-KR" baseline="-25000" dirty="0" err="1"/>
              <a:t>q</a:t>
            </a:r>
            <a:r>
              <a:rPr lang="ko-KR" altLang="en-US" dirty="0"/>
              <a:t>와 다항식 링 </a:t>
            </a:r>
            <a:r>
              <a:rPr lang="en-US" altLang="ko-KR" dirty="0" err="1"/>
              <a:t>R</a:t>
            </a:r>
            <a:r>
              <a:rPr lang="en-US" altLang="ko-KR" baseline="-25000" dirty="0" err="1"/>
              <a:t>q</a:t>
            </a:r>
            <a:endParaRPr lang="ko-KR" altLang="en-US" baseline="-25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0B8A2F-1243-92CE-6524-1CDE374D7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ℤ</a:t>
            </a:r>
            <a:r>
              <a:rPr lang="en-US" altLang="ko-KR" baseline="-25000" dirty="0" err="1"/>
              <a:t>q</a:t>
            </a:r>
            <a:r>
              <a:rPr lang="ko-KR" altLang="en-US" dirty="0"/>
              <a:t> </a:t>
            </a:r>
            <a:r>
              <a:rPr lang="en-US" altLang="ko-KR" dirty="0"/>
              <a:t>= {0,1,...,q−1}: </a:t>
            </a:r>
            <a:r>
              <a:rPr lang="ko-KR" altLang="en-US" dirty="0"/>
              <a:t>원소를 원형으로 배치</a:t>
            </a:r>
            <a:r>
              <a:rPr lang="en-US" altLang="ko-KR" dirty="0"/>
              <a:t>, </a:t>
            </a:r>
            <a:r>
              <a:rPr lang="ko-KR" altLang="en-US" dirty="0"/>
              <a:t>덧셈</a:t>
            </a:r>
            <a:r>
              <a:rPr lang="en-US" altLang="ko-KR" dirty="0"/>
              <a:t>·</a:t>
            </a:r>
            <a:r>
              <a:rPr lang="ko-KR" altLang="en-US" dirty="0"/>
              <a:t>뺄셈</a:t>
            </a:r>
            <a:r>
              <a:rPr lang="en-US" altLang="ko-KR" dirty="0"/>
              <a:t>·</a:t>
            </a:r>
            <a:r>
              <a:rPr lang="ko-KR" altLang="en-US" dirty="0"/>
              <a:t>곱셈은 </a:t>
            </a:r>
            <a:r>
              <a:rPr lang="en-US" altLang="ko-KR" dirty="0"/>
              <a:t>mod q</a:t>
            </a:r>
          </a:p>
          <a:p>
            <a:r>
              <a:rPr lang="en-US" altLang="ko-KR" dirty="0" err="1"/>
              <a:t>ℤ</a:t>
            </a:r>
            <a:r>
              <a:rPr lang="en-US" altLang="ko-KR" baseline="-25000" dirty="0" err="1"/>
              <a:t>q</a:t>
            </a:r>
            <a:r>
              <a:rPr lang="en-US" altLang="ko-KR" dirty="0"/>
              <a:t>[x]: </a:t>
            </a:r>
            <a:r>
              <a:rPr lang="ko-KR" altLang="en-US" dirty="0"/>
              <a:t>계수를 </a:t>
            </a:r>
            <a:r>
              <a:rPr lang="en-US" altLang="ko-KR" dirty="0" err="1"/>
              <a:t>ℤ</a:t>
            </a:r>
            <a:r>
              <a:rPr lang="en-US" altLang="ko-KR" baseline="-25000" dirty="0" err="1"/>
              <a:t>q</a:t>
            </a:r>
            <a:r>
              <a:rPr lang="ko-KR" altLang="en-US" dirty="0"/>
              <a:t>에서 뽑은 다항식 링</a:t>
            </a:r>
          </a:p>
          <a:p>
            <a:r>
              <a:rPr lang="en-US" altLang="ko-KR" dirty="0" err="1"/>
              <a:t>Kyber·Dilithium</a:t>
            </a:r>
            <a:r>
              <a:rPr lang="ko-KR" altLang="en-US" dirty="0"/>
              <a:t>이 실제로 쓰는 링</a:t>
            </a:r>
            <a:r>
              <a:rPr lang="en-US" altLang="ko-KR" dirty="0"/>
              <a:t>: </a:t>
            </a:r>
            <a:r>
              <a:rPr lang="en-US" altLang="ko-KR" dirty="0" err="1"/>
              <a:t>R</a:t>
            </a:r>
            <a:r>
              <a:rPr lang="en-US" altLang="ko-KR" baseline="-25000" dirty="0" err="1"/>
              <a:t>q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en-US" altLang="ko-KR" dirty="0" err="1"/>
              <a:t>ℤ</a:t>
            </a:r>
            <a:r>
              <a:rPr lang="en-US" altLang="ko-KR" baseline="-25000" dirty="0" err="1"/>
              <a:t>q</a:t>
            </a:r>
            <a:r>
              <a:rPr lang="en-US" altLang="ko-KR" dirty="0"/>
              <a:t>[x]/(xⁿ+1) (</a:t>
            </a:r>
            <a:r>
              <a:rPr lang="ko-KR" altLang="en-US" dirty="0"/>
              <a:t>차수 </a:t>
            </a:r>
            <a:r>
              <a:rPr lang="en-US" altLang="ko-KR" dirty="0"/>
              <a:t>&lt; n</a:t>
            </a:r>
            <a:r>
              <a:rPr lang="ko-KR" altLang="en-US" dirty="0"/>
              <a:t>인 다항식</a:t>
            </a:r>
            <a:r>
              <a:rPr lang="en-US" altLang="ko-KR" dirty="0"/>
              <a:t>, </a:t>
            </a:r>
            <a:r>
              <a:rPr lang="ko-KR" altLang="en-US" dirty="0"/>
              <a:t>곱셈은 </a:t>
            </a:r>
            <a:r>
              <a:rPr lang="en-US" altLang="ko-KR" dirty="0"/>
              <a:t>xⁿ+1</a:t>
            </a:r>
            <a:r>
              <a:rPr lang="ko-KR" altLang="en-US" dirty="0"/>
              <a:t>을 법으로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q=17: 9+15≡7,  9−15≡11,  9×15≡16 (mod 17)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AE7893-8DC6-2759-6FEF-FAAA1A96C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444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24003-5FD7-48C1-1E2F-4EC09369A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B23938-7CE1-D817-C44C-AE4FA00AC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</a:t>
            </a:r>
            <a:r>
              <a:rPr lang="en-US" altLang="ko-KR" baseline="-25000" dirty="0" err="1"/>
              <a:t>q</a:t>
            </a:r>
            <a:r>
              <a:rPr lang="ko-KR" altLang="en-US" dirty="0"/>
              <a:t>에서의 다항식 곱셈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D21E6E-4329-BD06-DCE4-31A764946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두 다항식을 보통 방식으로 곱해 차수 </a:t>
            </a:r>
            <a:r>
              <a:rPr lang="en-US" altLang="ko-KR" dirty="0"/>
              <a:t>2n−2 </a:t>
            </a:r>
            <a:r>
              <a:rPr lang="ko-KR" altLang="en-US" dirty="0"/>
              <a:t>이하 다항식을 얻은 뒤</a:t>
            </a:r>
            <a:r>
              <a:rPr lang="en-US" altLang="ko-KR" dirty="0"/>
              <a:t>,</a:t>
            </a:r>
          </a:p>
          <a:p>
            <a:pPr lvl="1"/>
            <a:r>
              <a:rPr lang="en-US" altLang="ko-KR" dirty="0"/>
              <a:t>xⁿ ≡ −1 (mod xⁿ+1)</a:t>
            </a:r>
            <a:r>
              <a:rPr lang="ko-KR" altLang="en-US" dirty="0"/>
              <a:t>을 이용해 차수를 </a:t>
            </a:r>
            <a:r>
              <a:rPr lang="en-US" altLang="ko-KR" dirty="0"/>
              <a:t>&lt;n</a:t>
            </a:r>
            <a:r>
              <a:rPr lang="ko-KR" altLang="en-US" dirty="0"/>
              <a:t>으로 접는다</a:t>
            </a:r>
          </a:p>
          <a:p>
            <a:r>
              <a:rPr lang="ko-KR" altLang="en-US" dirty="0"/>
              <a:t>계수 벡터에 대한 </a:t>
            </a:r>
            <a:r>
              <a:rPr lang="en-US" altLang="ko-KR" dirty="0"/>
              <a:t>anti-circulant </a:t>
            </a:r>
            <a:r>
              <a:rPr lang="ko-KR" altLang="en-US" dirty="0"/>
              <a:t>행렬</a:t>
            </a:r>
            <a:r>
              <a:rPr lang="en-US" altLang="ko-KR" dirty="0"/>
              <a:t>-</a:t>
            </a:r>
            <a:r>
              <a:rPr lang="ko-KR" altLang="en-US" dirty="0"/>
              <a:t>벡터 곱과 동치</a:t>
            </a:r>
            <a:r>
              <a:rPr lang="en-US" altLang="ko-KR" dirty="0"/>
              <a:t>: circ←(a)·b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3B6A0B-06CC-1E70-9554-902DE50C3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829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BA83E-CBA5-69D6-867B-11B08D708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54F756-1E1D-F2AD-E002-ED13CB30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크기</a:t>
            </a:r>
            <a:r>
              <a:rPr lang="en-US" altLang="ko-KR" dirty="0"/>
              <a:t>(Size)</a:t>
            </a:r>
            <a:r>
              <a:rPr lang="ko-KR" altLang="en-US" dirty="0"/>
              <a:t>와 대칭 </a:t>
            </a:r>
            <a:r>
              <a:rPr lang="en-US" altLang="ko-KR" dirty="0"/>
              <a:t>mod: </a:t>
            </a:r>
            <a:r>
              <a:rPr lang="ko-KR" altLang="en-US" dirty="0"/>
              <a:t>홀수 </a:t>
            </a:r>
            <a:r>
              <a:rPr lang="ko-KR" altLang="en-US" dirty="0" err="1"/>
              <a:t>모듈러스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1E5E07A-3F5B-EBB5-AB6A-F4CF9ED8B7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>
                    <a:solidFill>
                      <a:schemeClr val="tx1"/>
                    </a:solidFill>
                  </a:rPr>
                  <a:t>q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가 홀수일 때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r ∈ 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ℤ</a:t>
                </a:r>
                <a:r>
                  <a:rPr lang="en-US" altLang="ko-KR" baseline="-25000" dirty="0" err="1">
                    <a:solidFill>
                      <a:schemeClr val="tx1"/>
                    </a:solidFill>
                  </a:rPr>
                  <a:t>q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의 대칭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mod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표현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ar-AE" b="0" i="0" smtClean="0">
                        <a:solidFill>
                          <a:schemeClr val="tx1"/>
                        </a:solidFill>
                        <a:latin typeface="Cambria Math"/>
                      </a:rPr>
                      <m:t>r</m:t>
                    </m:r>
                    <m:sSub>
                      <m:sSub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mod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ar-AE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s</m:t>
                        </m:r>
                      </m:sub>
                    </m:sSub>
                    <m:r>
                      <m:rPr>
                        <m:sty m:val="p"/>
                      </m:rPr>
                      <a:rPr lang="ko-KR" altLang="ar-AE" b="0" i="0" smtClean="0">
                        <a:solidFill>
                          <a:schemeClr val="tx1"/>
                        </a:solidFill>
                        <a:latin typeface="Cambria Math"/>
                      </a:rPr>
                      <m:t>q</m:t>
                    </m:r>
                    <m:r>
                      <a:rPr lang="ar-AE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={</m:t>
                    </m:r>
                    <m:m>
                      <m:mPr>
                        <m:plcHide m:val="on"/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sty m:val="p"/>
                            </m:rPr>
                            <a:rPr lang="ko-KR" altLang="ar-AE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r</m:t>
                          </m:r>
                          <m:r>
                            <a:rPr lang="ar-AE" altLang="ko-KR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ko-KR" altLang="ar-AE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r</m:t>
                          </m:r>
                          <m:r>
                            <a:rPr lang="ko-KR" altLang="ar-AE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≤(</m:t>
                          </m:r>
                          <m:r>
                            <m:rPr>
                              <m:sty m:val="p"/>
                            </m:rPr>
                            <a:rPr lang="ko-KR" altLang="ar-AE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q</m:t>
                          </m:r>
                          <m:r>
                            <a:rPr lang="ko-KR" altLang="ar-AE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ar-AE" altLang="ko-KR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ar-AE" altLang="ko-KR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)/</m:t>
                          </m:r>
                          <m:r>
                            <a:rPr lang="ar-AE" altLang="ko-KR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e>
                      </m:mr>
                      <m:mr>
                        <m:e>
                          <m:r>
                            <m:rPr>
                              <m:sty m:val="p"/>
                            </m:rPr>
                            <a:rPr lang="ko-KR" altLang="ar-AE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r</m:t>
                          </m:r>
                          <m:r>
                            <a:rPr lang="ko-KR" altLang="ar-AE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ko-KR" altLang="ar-AE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q</m:t>
                          </m:r>
                          <m:r>
                            <a:rPr lang="ar-AE" altLang="ko-KR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ko-KR" altLang="ar-AE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r</m:t>
                          </m:r>
                          <m:r>
                            <a:rPr lang="ar-AE" altLang="ko-KR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&gt;(</m:t>
                          </m:r>
                          <m:r>
                            <m:rPr>
                              <m:sty m:val="p"/>
                            </m:rPr>
                            <a:rPr lang="ko-KR" altLang="ar-AE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q</m:t>
                          </m:r>
                          <m:r>
                            <a:rPr lang="ko-KR" altLang="ar-AE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ar-AE" altLang="ko-KR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ar-AE" altLang="ko-KR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)/</m:t>
                          </m:r>
                          <m:r>
                            <a:rPr lang="ar-AE" altLang="ko-KR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e>
                      </m:mr>
                    </m:m>
                  </m:oMath>
                </a14:m>
                <a:endParaRPr lang="ar-AE" altLang="ko-KR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ar-AE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ko-KR" altLang="ar-AE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q</m:t>
                        </m:r>
                        <m:r>
                          <a:rPr lang="ko-KR" altLang="ar-AE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ar-AE" altLang="ko-KR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ar-AE" altLang="ko-KR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ar-AE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≤</m:t>
                    </m:r>
                    <m:r>
                      <m:rPr>
                        <m:sty m:val="p"/>
                      </m:rPr>
                      <a:rPr lang="ko-KR" altLang="ar-AE" b="0" i="0" smtClean="0">
                        <a:solidFill>
                          <a:schemeClr val="tx1"/>
                        </a:solidFill>
                        <a:latin typeface="Cambria Math"/>
                      </a:rPr>
                      <m:t>r</m:t>
                    </m:r>
                    <m:sSub>
                      <m:sSub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mod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ar-AE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s</m:t>
                        </m:r>
                      </m:sub>
                    </m:sSub>
                    <m:r>
                      <m:rPr>
                        <m:sty m:val="p"/>
                      </m:rPr>
                      <a:rPr lang="ko-KR" altLang="ar-AE" b="0" i="0" smtClean="0">
                        <a:solidFill>
                          <a:schemeClr val="tx1"/>
                        </a:solidFill>
                        <a:latin typeface="Cambria Math"/>
                      </a:rPr>
                      <m:t>q</m:t>
                    </m:r>
                    <m:r>
                      <a:rPr lang="ko-KR" altLang="ar-AE" b="0" i="0" smtClean="0">
                        <a:solidFill>
                          <a:schemeClr val="tx1"/>
                        </a:solidFill>
                        <a:latin typeface="Cambria Math"/>
                      </a:rPr>
                      <m:t>≤</m:t>
                    </m:r>
                    <m:f>
                      <m:f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ko-KR" altLang="ar-AE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q</m:t>
                        </m:r>
                        <m:r>
                          <a:rPr lang="ko-KR" altLang="ar-AE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ar-AE" altLang="ko-KR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ar-AE" altLang="ko-KR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ar-AE" altLang="ko-KR" dirty="0">
                  <a:solidFill>
                    <a:schemeClr val="tx1"/>
                  </a:solidFill>
                </a:endParaRPr>
              </a:p>
              <a:p>
                <a:r>
                  <a:rPr lang="ko-KR" altLang="en-US" dirty="0"/>
                  <a:t>예제</a:t>
                </a:r>
                <a:r>
                  <a:rPr lang="en-US" altLang="ko-KR" dirty="0"/>
                  <a:t> (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q=17):</a:t>
                </a:r>
              </a:p>
              <a:p>
                <a:pPr lvl="1">
                  <a:buFontTx/>
                  <a:buChar char="-"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6 mod</a:t>
                </a:r>
                <a:r>
                  <a:rPr lang="en-US" altLang="ko-KR" baseline="-25000" dirty="0">
                    <a:solidFill>
                      <a:schemeClr val="tx1"/>
                    </a:solidFill>
                  </a:rPr>
                  <a:t>s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 17 = 6</a:t>
                </a:r>
              </a:p>
              <a:p>
                <a:pPr lvl="1">
                  <a:buFontTx/>
                  <a:buChar char="-"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13 mod</a:t>
                </a:r>
                <a:r>
                  <a:rPr lang="en-US" altLang="ko-KR" baseline="-25000" dirty="0">
                    <a:solidFill>
                      <a:schemeClr val="tx1"/>
                    </a:solidFill>
                  </a:rPr>
                  <a:t>s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 17 = −4</a:t>
                </a:r>
              </a:p>
              <a:p>
                <a:r>
                  <a:rPr lang="ko-KR" altLang="en-US" dirty="0">
                    <a:solidFill>
                      <a:schemeClr val="tx1"/>
                    </a:solidFill>
                  </a:rPr>
                  <a:t>홀수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모듈러스는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경계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(−(q−1)/2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와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(q−1)/2)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가 대칭이다</a:t>
                </a:r>
                <a:endParaRPr lang="en-US" altLang="ko-K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1E5E07A-3F5B-EBB5-AB6A-F4CF9ED8B7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FF3CF0-AB09-0F8D-E3DC-C68BC6B97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94720B6-4888-2DDF-F2D5-25F47E72D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3936" y="1766095"/>
            <a:ext cx="3919864" cy="375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158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7058A-BF11-E569-122B-75BE906F2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05A06-F323-DE18-4D90-206A9CE2D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홀수 </a:t>
            </a:r>
            <a:r>
              <a:rPr lang="ko-KR" altLang="en-US" dirty="0" err="1"/>
              <a:t>모듈러스</a:t>
            </a:r>
            <a:r>
              <a:rPr lang="ko-KR" altLang="en-US" dirty="0"/>
              <a:t> 예제 </a:t>
            </a:r>
            <a:r>
              <a:rPr lang="en-US" altLang="ko-KR" dirty="0"/>
              <a:t>(q = 17)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8FFA272-8AC3-5B3D-CED4-07168CC930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ctr"/>
              <a:lstStyle/>
              <a:p>
                <a14:m>
                  <m:oMath xmlns:m="http://schemas.openxmlformats.org/officeDocument/2006/math">
                    <m:r>
                      <a:rPr lang="ar-AE" altLang="ko-KR" i="1">
                        <a:latin typeface="Cambria Math"/>
                      </a:rPr>
                      <m:t>(</m:t>
                    </m:r>
                    <m:r>
                      <a:rPr lang="ar-AE" altLang="ko-KR" i="1">
                        <a:latin typeface="Cambria Math"/>
                      </a:rPr>
                      <m:t>9</m:t>
                    </m:r>
                    <m:r>
                      <a:rPr lang="ar-AE" altLang="ko-KR" i="1">
                        <a:latin typeface="Cambria Math"/>
                      </a:rPr>
                      <m:t>+</m:t>
                    </m:r>
                    <m:r>
                      <a:rPr lang="ar-AE" altLang="ko-KR" i="1">
                        <a:latin typeface="Cambria Math"/>
                      </a:rPr>
                      <m:t>15</m:t>
                    </m:r>
                    <m:r>
                      <a:rPr lang="ar-AE" altLang="ko-KR" i="1">
                        <a:latin typeface="Cambria Math"/>
                      </a:rPr>
                      <m:t>)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/>
                          </a:rPr>
                          <m:t>mod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ar-AE" altLang="ko-KR" i="1">
                        <a:latin typeface="Cambria Math"/>
                      </a:rPr>
                      <m:t>17</m:t>
                    </m:r>
                    <m:r>
                      <a:rPr lang="ar-AE" altLang="ko-KR" i="1">
                        <a:latin typeface="Cambria Math"/>
                      </a:rPr>
                      <m:t>=</m:t>
                    </m:r>
                    <m:r>
                      <a:rPr lang="ar-AE" altLang="ko-KR" i="1">
                        <a:latin typeface="Cambria Math"/>
                      </a:rPr>
                      <m:t>24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/>
                          </a:rPr>
                          <m:t>mod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ar-AE" altLang="ko-KR" i="1">
                        <a:latin typeface="Cambria Math"/>
                      </a:rPr>
                      <m:t>17</m:t>
                    </m:r>
                    <m:r>
                      <a:rPr lang="ar-AE" altLang="ko-KR" i="1">
                        <a:latin typeface="Cambria Math"/>
                      </a:rPr>
                      <m:t>=</m:t>
                    </m:r>
                    <m:r>
                      <a:rPr lang="ar-AE" altLang="ko-KR" i="1">
                        <a:latin typeface="Cambria Math"/>
                      </a:rPr>
                      <m:t>7</m:t>
                    </m:r>
                  </m:oMath>
                </a14:m>
                <a:endParaRPr lang="ar-AE" altLang="ko-KR" dirty="0"/>
              </a:p>
              <a:p>
                <a14:m>
                  <m:oMath xmlns:m="http://schemas.openxmlformats.org/officeDocument/2006/math">
                    <m:r>
                      <a:rPr lang="ar-AE" altLang="ko-KR" i="1">
                        <a:latin typeface="Cambria Math"/>
                      </a:rPr>
                      <m:t>(</m:t>
                    </m:r>
                    <m:r>
                      <a:rPr lang="ar-AE" altLang="ko-KR" i="1">
                        <a:latin typeface="Cambria Math"/>
                      </a:rPr>
                      <m:t>9</m:t>
                    </m:r>
                    <m:r>
                      <a:rPr lang="ar-AE" altLang="ko-KR" i="1">
                        <a:latin typeface="Cambria Math"/>
                      </a:rPr>
                      <m:t>−</m:t>
                    </m:r>
                    <m:r>
                      <a:rPr lang="ar-AE" altLang="ko-KR" i="1">
                        <a:latin typeface="Cambria Math"/>
                      </a:rPr>
                      <m:t>15</m:t>
                    </m:r>
                    <m:r>
                      <a:rPr lang="ar-AE" altLang="ko-KR" i="1">
                        <a:latin typeface="Cambria Math"/>
                      </a:rPr>
                      <m:t>)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/>
                          </a:rPr>
                          <m:t>mod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ar-AE" altLang="ko-KR" i="1">
                        <a:latin typeface="Cambria Math"/>
                      </a:rPr>
                      <m:t>17</m:t>
                    </m:r>
                    <m:r>
                      <a:rPr lang="ar-AE" altLang="ko-KR" i="1">
                        <a:latin typeface="Cambria Math"/>
                      </a:rPr>
                      <m:t>=−</m:t>
                    </m:r>
                    <m:r>
                      <a:rPr lang="ar-AE" altLang="ko-KR" i="1">
                        <a:latin typeface="Cambria Math"/>
                      </a:rPr>
                      <m:t>6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/>
                          </a:rPr>
                          <m:t>mod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ar-AE" altLang="ko-KR" i="1">
                        <a:latin typeface="Cambria Math"/>
                      </a:rPr>
                      <m:t>17</m:t>
                    </m:r>
                    <m:r>
                      <a:rPr lang="ar-AE" altLang="ko-KR" i="1">
                        <a:latin typeface="Cambria Math"/>
                      </a:rPr>
                      <m:t>=−</m:t>
                    </m:r>
                    <m:r>
                      <a:rPr lang="ar-AE" altLang="ko-KR" i="1">
                        <a:latin typeface="Cambria Math"/>
                      </a:rPr>
                      <m:t>6</m:t>
                    </m:r>
                  </m:oMath>
                </a14:m>
                <a:endParaRPr lang="ar-AE" altLang="ko-KR" dirty="0"/>
              </a:p>
              <a:p>
                <a14:m>
                  <m:oMath xmlns:m="http://schemas.openxmlformats.org/officeDocument/2006/math">
                    <m:r>
                      <a:rPr lang="ar-AE" altLang="ko-KR" i="1">
                        <a:latin typeface="Cambria Math"/>
                      </a:rPr>
                      <m:t>(</m:t>
                    </m:r>
                    <m:r>
                      <a:rPr lang="ar-AE" altLang="ko-KR" i="1">
                        <a:latin typeface="Cambria Math"/>
                      </a:rPr>
                      <m:t>9</m:t>
                    </m:r>
                    <m:r>
                      <a:rPr lang="ar-AE" altLang="ko-KR" i="1">
                        <a:latin typeface="Cambria Math"/>
                      </a:rPr>
                      <m:t>×</m:t>
                    </m:r>
                    <m:r>
                      <a:rPr lang="ar-AE" altLang="ko-KR" i="1">
                        <a:latin typeface="Cambria Math"/>
                      </a:rPr>
                      <m:t>15</m:t>
                    </m:r>
                    <m:r>
                      <a:rPr lang="ar-AE" altLang="ko-KR" i="1">
                        <a:latin typeface="Cambria Math"/>
                      </a:rPr>
                      <m:t>)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/>
                          </a:rPr>
                          <m:t>mod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ar-AE" altLang="ko-KR" i="1">
                        <a:latin typeface="Cambria Math"/>
                      </a:rPr>
                      <m:t>17</m:t>
                    </m:r>
                    <m:r>
                      <a:rPr lang="ar-AE" altLang="ko-KR" i="1">
                        <a:latin typeface="Cambria Math"/>
                      </a:rPr>
                      <m:t>=</m:t>
                    </m:r>
                    <m:r>
                      <a:rPr lang="ar-AE" altLang="ko-KR" i="1">
                        <a:latin typeface="Cambria Math"/>
                      </a:rPr>
                      <m:t>135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/>
                          </a:rPr>
                          <m:t>mod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ar-AE" altLang="ko-KR" i="1">
                        <a:latin typeface="Cambria Math"/>
                      </a:rPr>
                      <m:t>17</m:t>
                    </m:r>
                    <m:r>
                      <a:rPr lang="ar-AE" altLang="ko-KR" i="1">
                        <a:latin typeface="Cambria Math"/>
                      </a:rPr>
                      <m:t>=−</m:t>
                    </m:r>
                    <m:r>
                      <a:rPr lang="ar-AE" altLang="ko-KR" i="1">
                        <a:latin typeface="Cambria Math"/>
                      </a:rPr>
                      <m:t>1</m:t>
                    </m:r>
                  </m:oMath>
                </a14:m>
                <a:endParaRPr lang="ar-AE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8FFA272-8AC3-5B3D-CED4-07168CC930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76D953-E88F-FF6E-E8E1-0685D723F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9E9C94A-AA56-442E-DA53-D5CC2B293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3936" y="1766095"/>
            <a:ext cx="3919864" cy="375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739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306DC-C1A5-F8D5-26AB-A726DD667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9EDC1-D8F9-03ED-DDC3-BB760CB57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크기와 대칭 </a:t>
            </a:r>
            <a:r>
              <a:rPr lang="en-US" altLang="ko-KR" dirty="0"/>
              <a:t>mod: </a:t>
            </a:r>
            <a:r>
              <a:rPr lang="ko-KR" altLang="en-US" dirty="0"/>
              <a:t>짝수 </a:t>
            </a:r>
            <a:r>
              <a:rPr lang="ko-KR" altLang="en-US" dirty="0" err="1"/>
              <a:t>모듈러스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AB3A465-74A9-DC1A-D421-0B9D8F7727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q</a:t>
                </a:r>
                <a:r>
                  <a:rPr lang="ko-KR" altLang="en-US" dirty="0"/>
                  <a:t>가 짝수일 때</a:t>
                </a:r>
                <a:r>
                  <a:rPr lang="en-US" altLang="ko-KR" dirty="0"/>
                  <a:t>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ar-AE" b="0" i="0" smtClean="0">
                        <a:latin typeface="Cambria Math"/>
                      </a:rPr>
                      <m:t>r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/>
                          </a:rPr>
                          <m:t>mod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ar-AE" b="0" i="0" smtClean="0">
                            <a:latin typeface="Cambria Math"/>
                          </a:rPr>
                          <m:t>s</m:t>
                        </m:r>
                      </m:sub>
                    </m:sSub>
                    <m:r>
                      <m:rPr>
                        <m:sty m:val="p"/>
                      </m:rPr>
                      <a:rPr lang="ko-KR" altLang="ar-AE" b="0" i="0" smtClean="0">
                        <a:latin typeface="Cambria Math"/>
                      </a:rPr>
                      <m:t>q</m:t>
                    </m:r>
                    <m:r>
                      <a:rPr lang="ar-AE" altLang="ko-KR" b="0" i="0" smtClean="0">
                        <a:latin typeface="Cambria Math"/>
                      </a:rPr>
                      <m:t>={</m:t>
                    </m:r>
                    <m:m>
                      <m:mPr>
                        <m:plcHide m:val="on"/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sty m:val="p"/>
                            </m:rPr>
                            <a:rPr lang="ko-KR" altLang="ar-AE" b="0" i="0" smtClean="0">
                              <a:latin typeface="Cambria Math"/>
                            </a:rPr>
                            <m:t>r</m:t>
                          </m:r>
                          <m:r>
                            <a:rPr lang="ar-AE" altLang="ko-KR" b="0" i="0" smtClean="0">
                              <a:latin typeface="Cambria Math"/>
                            </a:rPr>
                            <m:t>,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ko-KR" altLang="ar-AE" b="0" i="0" smtClean="0">
                              <a:latin typeface="Cambria Math"/>
                            </a:rPr>
                            <m:t>r</m:t>
                          </m:r>
                          <m:r>
                            <a:rPr lang="ko-KR" altLang="ar-AE" b="0" i="0" smtClean="0">
                              <a:latin typeface="Cambria Math"/>
                            </a:rPr>
                            <m:t>≤</m:t>
                          </m:r>
                          <m:r>
                            <m:rPr>
                              <m:sty m:val="p"/>
                            </m:rPr>
                            <a:rPr lang="ko-KR" altLang="ar-AE" b="0" i="0" smtClean="0">
                              <a:latin typeface="Cambria Math"/>
                            </a:rPr>
                            <m:t>q</m:t>
                          </m:r>
                          <m:r>
                            <a:rPr lang="ar-AE" altLang="ko-KR" b="0" i="0" smtClean="0">
                              <a:latin typeface="Cambria Math"/>
                            </a:rPr>
                            <m:t>/</m:t>
                          </m:r>
                          <m:r>
                            <a:rPr lang="ar-AE" altLang="ko-KR" b="0" i="0" smtClean="0">
                              <a:latin typeface="Cambria Math"/>
                            </a:rPr>
                            <m:t>2</m:t>
                          </m:r>
                        </m:e>
                      </m:mr>
                      <m:mr>
                        <m:e>
                          <m:r>
                            <m:rPr>
                              <m:sty m:val="p"/>
                            </m:rPr>
                            <a:rPr lang="ko-KR" altLang="ar-AE" b="0" i="0" smtClean="0">
                              <a:latin typeface="Cambria Math"/>
                            </a:rPr>
                            <m:t>r</m:t>
                          </m:r>
                          <m:r>
                            <a:rPr lang="ko-KR" altLang="ar-AE" b="0" i="0" smtClean="0"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ko-KR" altLang="ar-AE" b="0" i="0" smtClean="0">
                              <a:latin typeface="Cambria Math"/>
                            </a:rPr>
                            <m:t>q</m:t>
                          </m:r>
                          <m:r>
                            <a:rPr lang="ar-AE" altLang="ko-KR" b="0" i="0" smtClean="0">
                              <a:latin typeface="Cambria Math"/>
                            </a:rPr>
                            <m:t>,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lang="ko-KR" altLang="ar-AE" b="0" i="0" smtClean="0">
                              <a:latin typeface="Cambria Math"/>
                            </a:rPr>
                            <m:t>r</m:t>
                          </m:r>
                          <m:r>
                            <a:rPr lang="ar-AE" altLang="ko-KR" b="0" i="0" smtClean="0">
                              <a:latin typeface="Cambria Math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ko-KR" altLang="ar-AE" b="0" i="0" smtClean="0">
                              <a:latin typeface="Cambria Math"/>
                            </a:rPr>
                            <m:t>q</m:t>
                          </m:r>
                          <m:r>
                            <a:rPr lang="ar-AE" altLang="ko-KR" b="0" i="0" smtClean="0">
                              <a:latin typeface="Cambria Math"/>
                            </a:rPr>
                            <m:t>/</m:t>
                          </m:r>
                          <m:r>
                            <a:rPr lang="ar-AE" altLang="ko-KR" b="0" i="0" smtClean="0">
                              <a:latin typeface="Cambria Math"/>
                            </a:rPr>
                            <m:t>2</m:t>
                          </m:r>
                        </m:e>
                      </m:mr>
                    </m:m>
                  </m:oMath>
                </a14:m>
                <a:endParaRPr lang="ar-AE" altLang="ko-KR" dirty="0"/>
              </a:p>
              <a:p>
                <a14:m>
                  <m:oMath xmlns:m="http://schemas.openxmlformats.org/officeDocument/2006/math">
                    <m:r>
                      <a:rPr lang="ar-AE" altLang="ko-KR" b="0" i="0" smtClean="0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ko-KR" altLang="ar-AE" b="0" i="0" smtClean="0">
                            <a:latin typeface="Cambria Math"/>
                          </a:rPr>
                          <m:t>q</m:t>
                        </m:r>
                      </m:num>
                      <m:den>
                        <m:r>
                          <a:rPr lang="ar-AE" altLang="ko-KR" b="0" i="0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ar-AE" altLang="ko-KR" b="0" i="0" smtClean="0">
                        <a:latin typeface="Cambria Math"/>
                      </a:rPr>
                      <m:t>&lt;</m:t>
                    </m:r>
                    <m:r>
                      <m:rPr>
                        <m:sty m:val="p"/>
                      </m:rPr>
                      <a:rPr lang="ko-KR" altLang="ar-AE" b="0" i="0" smtClean="0">
                        <a:latin typeface="Cambria Math"/>
                      </a:rPr>
                      <m:t>r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/>
                          </a:rPr>
                          <m:t>mod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ar-AE" b="0" i="0" smtClean="0">
                            <a:latin typeface="Cambria Math"/>
                          </a:rPr>
                          <m:t>s</m:t>
                        </m:r>
                      </m:sub>
                    </m:sSub>
                    <m:r>
                      <m:rPr>
                        <m:sty m:val="p"/>
                      </m:rPr>
                      <a:rPr lang="ko-KR" altLang="ar-AE" b="0" i="0" smtClean="0">
                        <a:latin typeface="Cambria Math"/>
                      </a:rPr>
                      <m:t>q</m:t>
                    </m:r>
                    <m:r>
                      <a:rPr lang="ko-KR" altLang="ar-AE" b="0" i="0" smtClean="0">
                        <a:latin typeface="Cambria Math"/>
                      </a:rPr>
                      <m:t>≤</m:t>
                    </m:r>
                    <m:f>
                      <m:f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ko-KR" altLang="ar-AE" b="0" i="0" smtClean="0">
                            <a:latin typeface="Cambria Math"/>
                          </a:rPr>
                          <m:t>q</m:t>
                        </m:r>
                      </m:num>
                      <m:den>
                        <m:r>
                          <a:rPr lang="ar-AE" altLang="ko-KR" b="0" i="0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ar-AE" altLang="ko-KR" dirty="0"/>
              </a:p>
              <a:p>
                <a:r>
                  <a:rPr lang="ko-KR" altLang="en-US" dirty="0"/>
                  <a:t>홀수와 달리 경계가 비대칭</a:t>
                </a:r>
                <a:endParaRPr lang="en-US" altLang="ko-KR" dirty="0"/>
              </a:p>
              <a:p>
                <a:pPr marL="457200" lvl="1" indent="0">
                  <a:buNone/>
                </a:pPr>
                <a:r>
                  <a:rPr lang="en-US" altLang="ko-KR" dirty="0"/>
                  <a:t>- q/2</a:t>
                </a:r>
                <a:r>
                  <a:rPr lang="ko-KR" altLang="en-US" dirty="0"/>
                  <a:t>는 </a:t>
                </a:r>
                <a:r>
                  <a:rPr lang="en-US" altLang="ko-KR" dirty="0"/>
                  <a:t>"</a:t>
                </a:r>
                <a:r>
                  <a:rPr lang="ko-KR" altLang="en-US" dirty="0"/>
                  <a:t>그대로</a:t>
                </a:r>
                <a:r>
                  <a:rPr lang="en-US" altLang="ko-KR" dirty="0"/>
                  <a:t>"</a:t>
                </a:r>
                <a:r>
                  <a:rPr lang="ko-KR" altLang="en-US" dirty="0"/>
                  <a:t>쪽에 포함</a:t>
                </a:r>
                <a:r>
                  <a:rPr lang="en-US" altLang="ko-KR" dirty="0"/>
                  <a:t>, −q/2</a:t>
                </a:r>
                <a:r>
                  <a:rPr lang="ko-KR" altLang="en-US" dirty="0"/>
                  <a:t>는 범위에서 제외</a:t>
                </a:r>
                <a:endParaRPr lang="en-US" altLang="ko-KR" dirty="0"/>
              </a:p>
              <a:p>
                <a:r>
                  <a:rPr lang="ko-KR" altLang="en-US" dirty="0"/>
                  <a:t>예제 </a:t>
                </a:r>
                <a:r>
                  <a:rPr lang="en-US" altLang="ko-KR" dirty="0"/>
                  <a:t>(q=18): </a:t>
                </a:r>
              </a:p>
              <a:p>
                <a:pPr lvl="1">
                  <a:buFontTx/>
                  <a:buChar char="-"/>
                </a:pPr>
                <a:r>
                  <a:rPr lang="en-US" altLang="ko-KR" dirty="0"/>
                  <a:t>6 mod</a:t>
                </a:r>
                <a:r>
                  <a:rPr lang="en-US" altLang="ko-KR" baseline="-25000" dirty="0"/>
                  <a:t>s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18 = 6</a:t>
                </a:r>
              </a:p>
              <a:p>
                <a:pPr lvl="1">
                  <a:buFontTx/>
                  <a:buChar char="-"/>
                </a:pPr>
                <a:r>
                  <a:rPr lang="en-US" altLang="ko-KR" dirty="0"/>
                  <a:t>13 mod</a:t>
                </a:r>
                <a:r>
                  <a:rPr lang="en-US" altLang="ko-KR" baseline="-25000" dirty="0"/>
                  <a:t>s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18 = −5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AB3A465-74A9-DC1A-D421-0B9D8F7727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496FD4-7048-B277-2DF0-A6FF6AAE5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ED48D62-232F-536C-BEF1-27DD24D29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533" y="1796568"/>
            <a:ext cx="3968267" cy="376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602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885E1-C12F-B02E-E705-D30E9FF61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8B5C6-7470-1FA5-EA1E-14AB63000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짝수 </a:t>
            </a:r>
            <a:r>
              <a:rPr lang="ko-KR" altLang="en-US" dirty="0" err="1"/>
              <a:t>모듈러스</a:t>
            </a:r>
            <a:r>
              <a:rPr lang="ko-KR" altLang="en-US" dirty="0"/>
              <a:t> 계산 예제 </a:t>
            </a:r>
            <a:r>
              <a:rPr lang="en-US" altLang="ko-KR" dirty="0"/>
              <a:t>(q = 18)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0D1136E-020D-1BDA-A8EE-09F0813337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ctr"/>
              <a:lstStyle/>
              <a:p>
                <a14:m>
                  <m:oMath xmlns:m="http://schemas.openxmlformats.org/officeDocument/2006/math">
                    <m:r>
                      <a:rPr lang="ar-AE" altLang="ko-KR" i="1">
                        <a:latin typeface="Cambria Math"/>
                      </a:rPr>
                      <m:t>(</m:t>
                    </m:r>
                    <m:r>
                      <a:rPr lang="ar-AE" altLang="ko-KR" i="1">
                        <a:latin typeface="Cambria Math"/>
                      </a:rPr>
                      <m:t>9</m:t>
                    </m:r>
                    <m:r>
                      <a:rPr lang="ar-AE" altLang="ko-KR" i="1">
                        <a:latin typeface="Cambria Math"/>
                      </a:rPr>
                      <m:t>+</m:t>
                    </m:r>
                    <m:r>
                      <a:rPr lang="ar-AE" altLang="ko-KR" i="1">
                        <a:latin typeface="Cambria Math"/>
                      </a:rPr>
                      <m:t>15</m:t>
                    </m:r>
                    <m:r>
                      <a:rPr lang="ar-AE" altLang="ko-KR" i="1">
                        <a:latin typeface="Cambria Math"/>
                      </a:rPr>
                      <m:t>)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/>
                          </a:rPr>
                          <m:t>mod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ar-AE" altLang="ko-KR" i="1">
                        <a:latin typeface="Cambria Math"/>
                      </a:rPr>
                      <m:t>18</m:t>
                    </m:r>
                    <m:r>
                      <a:rPr lang="ar-AE" altLang="ko-KR" i="1">
                        <a:latin typeface="Cambria Math"/>
                      </a:rPr>
                      <m:t>=</m:t>
                    </m:r>
                    <m:r>
                      <a:rPr lang="ar-AE" altLang="ko-KR" i="1">
                        <a:latin typeface="Cambria Math"/>
                      </a:rPr>
                      <m:t>24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/>
                          </a:rPr>
                          <m:t>mod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ar-AE" altLang="ko-KR" i="1">
                        <a:latin typeface="Cambria Math"/>
                      </a:rPr>
                      <m:t>18</m:t>
                    </m:r>
                    <m:r>
                      <a:rPr lang="ar-AE" altLang="ko-KR" i="1">
                        <a:latin typeface="Cambria Math"/>
                      </a:rPr>
                      <m:t>=</m:t>
                    </m:r>
                    <m:r>
                      <a:rPr lang="ar-AE" altLang="ko-KR" i="1">
                        <a:latin typeface="Cambria Math"/>
                      </a:rPr>
                      <m:t>6</m:t>
                    </m:r>
                  </m:oMath>
                </a14:m>
                <a:endParaRPr lang="ar-AE" altLang="ko-KR" dirty="0"/>
              </a:p>
              <a:p>
                <a14:m>
                  <m:oMath xmlns:m="http://schemas.openxmlformats.org/officeDocument/2006/math">
                    <m:r>
                      <a:rPr lang="ar-AE" altLang="ko-KR" i="1">
                        <a:latin typeface="Cambria Math"/>
                      </a:rPr>
                      <m:t>(</m:t>
                    </m:r>
                    <m:r>
                      <a:rPr lang="ar-AE" altLang="ko-KR" i="1">
                        <a:latin typeface="Cambria Math"/>
                      </a:rPr>
                      <m:t>9</m:t>
                    </m:r>
                    <m:r>
                      <a:rPr lang="ar-AE" altLang="ko-KR" i="1">
                        <a:latin typeface="Cambria Math"/>
                      </a:rPr>
                      <m:t>−</m:t>
                    </m:r>
                    <m:r>
                      <a:rPr lang="ar-AE" altLang="ko-KR" i="1">
                        <a:latin typeface="Cambria Math"/>
                      </a:rPr>
                      <m:t>15</m:t>
                    </m:r>
                    <m:r>
                      <a:rPr lang="ar-AE" altLang="ko-KR" i="1">
                        <a:latin typeface="Cambria Math"/>
                      </a:rPr>
                      <m:t>)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/>
                          </a:rPr>
                          <m:t>mod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ar-AE" altLang="ko-KR" i="1">
                        <a:latin typeface="Cambria Math"/>
                      </a:rPr>
                      <m:t>18</m:t>
                    </m:r>
                    <m:r>
                      <a:rPr lang="ar-AE" altLang="ko-KR" i="1">
                        <a:latin typeface="Cambria Math"/>
                      </a:rPr>
                      <m:t>=−</m:t>
                    </m:r>
                    <m:r>
                      <a:rPr lang="ar-AE" altLang="ko-KR" i="1">
                        <a:latin typeface="Cambria Math"/>
                      </a:rPr>
                      <m:t>6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/>
                          </a:rPr>
                          <m:t>mod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ar-AE" altLang="ko-KR" i="1">
                        <a:latin typeface="Cambria Math"/>
                      </a:rPr>
                      <m:t>18</m:t>
                    </m:r>
                    <m:r>
                      <a:rPr lang="ar-AE" altLang="ko-KR" i="1">
                        <a:latin typeface="Cambria Math"/>
                      </a:rPr>
                      <m:t>=−</m:t>
                    </m:r>
                    <m:r>
                      <a:rPr lang="ar-AE" altLang="ko-KR" i="1">
                        <a:latin typeface="Cambria Math"/>
                      </a:rPr>
                      <m:t>6</m:t>
                    </m:r>
                  </m:oMath>
                </a14:m>
                <a:endParaRPr lang="ar-AE" altLang="ko-KR" dirty="0"/>
              </a:p>
              <a:p>
                <a14:m>
                  <m:oMath xmlns:m="http://schemas.openxmlformats.org/officeDocument/2006/math">
                    <m:r>
                      <a:rPr lang="ar-AE" altLang="ko-KR" i="1">
                        <a:latin typeface="Cambria Math"/>
                      </a:rPr>
                      <m:t>(</m:t>
                    </m:r>
                    <m:r>
                      <a:rPr lang="ar-AE" altLang="ko-KR" i="1">
                        <a:latin typeface="Cambria Math"/>
                      </a:rPr>
                      <m:t>9</m:t>
                    </m:r>
                    <m:r>
                      <a:rPr lang="ar-AE" altLang="ko-KR" i="1">
                        <a:latin typeface="Cambria Math"/>
                      </a:rPr>
                      <m:t>×</m:t>
                    </m:r>
                    <m:r>
                      <a:rPr lang="ar-AE" altLang="ko-KR" i="1">
                        <a:latin typeface="Cambria Math"/>
                      </a:rPr>
                      <m:t>15</m:t>
                    </m:r>
                    <m:r>
                      <a:rPr lang="ar-AE" altLang="ko-KR" i="1">
                        <a:latin typeface="Cambria Math"/>
                      </a:rPr>
                      <m:t>)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/>
                          </a:rPr>
                          <m:t>mod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ar-AE" altLang="ko-KR" i="1">
                        <a:latin typeface="Cambria Math"/>
                      </a:rPr>
                      <m:t>18</m:t>
                    </m:r>
                    <m:r>
                      <a:rPr lang="ar-AE" altLang="ko-KR" i="1">
                        <a:latin typeface="Cambria Math"/>
                      </a:rPr>
                      <m:t>=</m:t>
                    </m:r>
                    <m:r>
                      <a:rPr lang="ar-AE" altLang="ko-KR" i="1">
                        <a:latin typeface="Cambria Math"/>
                      </a:rPr>
                      <m:t>135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/>
                          </a:rPr>
                          <m:t>mod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ar-AE" altLang="ko-KR" i="1">
                        <a:latin typeface="Cambria Math"/>
                      </a:rPr>
                      <m:t>18</m:t>
                    </m:r>
                    <m:r>
                      <a:rPr lang="ar-AE" altLang="ko-KR" i="1">
                        <a:latin typeface="Cambria Math"/>
                      </a:rPr>
                      <m:t>=</m:t>
                    </m:r>
                    <m:r>
                      <a:rPr lang="ar-AE" altLang="ko-KR" i="1">
                        <a:latin typeface="Cambria Math"/>
                      </a:rPr>
                      <m:t>9</m:t>
                    </m:r>
                  </m:oMath>
                </a14:m>
                <a:endParaRPr lang="ar-AE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0D1136E-020D-1BDA-A8EE-09F0813337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A4D7EB-3505-3F3A-750C-D7F5B2672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F88EDCD-9159-DBAC-CB28-BC97FCBFD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533" y="1796568"/>
            <a:ext cx="3968267" cy="376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184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43136-E8DF-6D45-E6CB-2FB832A80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68C64E-8EB7-F0CD-9164-BB2D378EB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크기와 작은 다항식의 집합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2F37BA4-7E4F-C61C-D660-AA2451C33E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정수</a:t>
                </a:r>
                <a:r>
                  <a:rPr lang="en-US" altLang="ko-KR" dirty="0"/>
                  <a:t>·</a:t>
                </a:r>
                <a:r>
                  <a:rPr lang="ko-KR" altLang="en-US" dirty="0"/>
                  <a:t>다항식</a:t>
                </a:r>
                <a:r>
                  <a:rPr lang="en-US" altLang="ko-KR" dirty="0"/>
                  <a:t>·</a:t>
                </a:r>
                <a:r>
                  <a:rPr lang="ko-KR" altLang="en-US" dirty="0"/>
                  <a:t>모듈 원소의 크기</a:t>
                </a:r>
                <a:r>
                  <a:rPr lang="en-US" altLang="ko-KR" dirty="0"/>
                  <a:t>(size), </a:t>
                </a:r>
                <a:r>
                  <a:rPr lang="ko-KR" altLang="en-US" dirty="0"/>
                  <a:t>즉 </a:t>
                </a:r>
                <a14:m>
                  <m:oMath xmlns:m="http://schemas.openxmlformats.org/officeDocument/2006/math">
                    <m:r>
                      <a:rPr lang="ko-KR" altLang="en-US" b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ko-KR" dirty="0"/>
                  <a:t>-norm</a:t>
                </a:r>
                <a:endParaRPr lang="en-US" altLang="ko-KR" i="1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ar-AE" altLang="ko-KR" b="0" i="1" smtClean="0">
                        <a:latin typeface="Cambria Math"/>
                      </a:rPr>
                      <m:t>‖</m:t>
                    </m:r>
                    <m:r>
                      <a:rPr lang="ko-KR" altLang="ar-AE" b="0" i="1" smtClean="0">
                        <a:latin typeface="Cambria Math"/>
                      </a:rPr>
                      <m:t>𝑟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ko-KR" b="0" i="1" smtClean="0"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ar-AE" altLang="ko-KR" b="0" i="1" smtClean="0">
                            <a:latin typeface="Cambria Math"/>
                          </a:rPr>
                          <m:t>∞</m:t>
                        </m:r>
                      </m:sub>
                    </m:sSub>
                    <m:r>
                      <a:rPr lang="ar-AE" altLang="ko-KR" b="0" i="1" smtClean="0">
                        <a:latin typeface="Cambria Math"/>
                      </a:rPr>
                      <m:t>=|</m:t>
                    </m:r>
                    <m:r>
                      <a:rPr lang="ko-KR" altLang="ar-AE" b="0" i="1" smtClean="0">
                        <a:latin typeface="Cambria Math"/>
                      </a:rPr>
                      <m:t>𝑟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/>
                          </a:rPr>
                          <m:t>𝑚𝑜𝑑</m:t>
                        </m:r>
                      </m:e>
                      <m:sub>
                        <m:r>
                          <a:rPr lang="ko-KR" altLang="ar-AE" b="0" i="1" smtClean="0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ko-KR" altLang="ar-AE" b="0" i="1" smtClean="0">
                        <a:latin typeface="Cambria Math"/>
                      </a:rPr>
                      <m:t>𝑞</m:t>
                    </m:r>
                    <m:r>
                      <a:rPr lang="ar-AE" altLang="ko-KR" b="0" i="1" smtClean="0">
                        <a:latin typeface="Cambria Math"/>
                      </a:rPr>
                      <m:t>|(</m:t>
                    </m:r>
                    <m:r>
                      <a:rPr lang="ko-KR" altLang="ar-AE" b="0" i="1" smtClean="0">
                        <a:latin typeface="Cambria Math"/>
                      </a:rPr>
                      <m:t>𝑟</m:t>
                    </m:r>
                    <m:r>
                      <a:rPr lang="ko-KR" altLang="ar-AE" b="0" i="1" smtClean="0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ko-KR" b="0" i="1" smtClean="0">
                            <a:latin typeface="Cambria Math"/>
                          </a:rPr>
                          <m:t>ℤ</m:t>
                        </m:r>
                      </m:e>
                      <m:sub>
                        <m:r>
                          <a:rPr lang="ko-KR" altLang="ar-AE" b="0" i="1" smtClean="0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ar-AE" altLang="ko-KR" b="0" i="1" smtClean="0">
                        <a:latin typeface="Cambria Math"/>
                      </a:rPr>
                      <m:t>)</m:t>
                    </m:r>
                  </m:oMath>
                </a14:m>
                <a:endParaRPr lang="ar-AE" altLang="ko-KR" dirty="0"/>
              </a:p>
              <a:p>
                <a14:m>
                  <m:oMath xmlns:m="http://schemas.openxmlformats.org/officeDocument/2006/math">
                    <m:r>
                      <a:rPr lang="ar-AE" altLang="ko-KR" b="0" i="1" smtClean="0">
                        <a:latin typeface="Cambria Math"/>
                      </a:rPr>
                      <m:t>‖</m:t>
                    </m:r>
                    <m:r>
                      <a:rPr lang="ko-KR" altLang="ar-AE" b="0" i="1" smtClean="0">
                        <a:latin typeface="Cambria Math"/>
                      </a:rPr>
                      <m:t>𝑓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ko-KR" b="0" i="1" smtClean="0"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ar-AE" altLang="ko-KR" b="0" i="1" smtClean="0">
                            <a:latin typeface="Cambria Math"/>
                          </a:rPr>
                          <m:t>∞</m:t>
                        </m:r>
                      </m:sub>
                    </m:sSub>
                    <m:r>
                      <a:rPr lang="ar-AE" altLang="ko-KR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 smtClean="0">
                            <a:latin typeface="Cambria Math"/>
                          </a:rPr>
                          <m:t>𝑚𝑎𝑥</m:t>
                        </m:r>
                      </m:e>
                      <m:sub>
                        <m:r>
                          <a:rPr lang="ko-KR" altLang="ar-AE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ar-AE" altLang="ko-KR" b="0" i="1" smtClean="0">
                        <a:latin typeface="Cambria Math"/>
                      </a:rPr>
                      <m:t>‖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ko-KR" altLang="ar-AE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ko-KR" b="0" i="1" smtClean="0"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ar-AE" altLang="ko-KR" b="0" i="1" smtClean="0">
                            <a:latin typeface="Cambria Math"/>
                          </a:rPr>
                          <m:t>∞</m:t>
                        </m:r>
                      </m:sub>
                    </m:sSub>
                    <m:r>
                      <a:rPr lang="ar-AE" altLang="ko-KR" b="0" i="1" smtClean="0">
                        <a:latin typeface="Cambria Math"/>
                      </a:rPr>
                      <m:t>(</m:t>
                    </m:r>
                    <m:r>
                      <a:rPr lang="ko-KR" altLang="ar-AE" b="0" i="1" smtClean="0">
                        <a:latin typeface="Cambria Math"/>
                      </a:rPr>
                      <m:t>𝑓</m:t>
                    </m:r>
                    <m:r>
                      <a:rPr lang="ar-AE" altLang="ko-KR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ar-AE" altLang="ko-KR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ar-AE" altLang="ko-KR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ar-AE" altLang="ko-KR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ko-KR" altLang="ar-AE" b="0" i="1" smtClean="0">
                        <a:latin typeface="Cambria Math"/>
                      </a:rPr>
                      <m:t>𝑥</m:t>
                    </m:r>
                    <m:r>
                      <a:rPr lang="ar-AE" altLang="ko-KR" b="0" i="1" smtClean="0">
                        <a:latin typeface="Cambria Math"/>
                      </a:rPr>
                      <m:t>+⋯+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ko-KR" altLang="ar-AE" b="0" i="1" smtClean="0">
                            <a:latin typeface="Cambria Math"/>
                          </a:rPr>
                          <m:t>𝑛</m:t>
                        </m:r>
                        <m:r>
                          <a:rPr lang="ko-KR" altLang="ar-AE" b="0" i="1" smtClean="0">
                            <a:latin typeface="Cambria Math"/>
                          </a:rPr>
                          <m:t>−</m:t>
                        </m:r>
                        <m:r>
                          <a:rPr lang="ar-AE" altLang="ko-KR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ko-KR" altLang="ar-AE" b="0" i="1" smtClean="0">
                            <a:latin typeface="Cambria Math"/>
                          </a:rPr>
                          <m:t>𝑛</m:t>
                        </m:r>
                        <m:r>
                          <a:rPr lang="ko-KR" altLang="ar-AE" b="0" i="1" smtClean="0">
                            <a:latin typeface="Cambria Math"/>
                          </a:rPr>
                          <m:t>−</m:t>
                        </m:r>
                        <m:r>
                          <a:rPr lang="ar-AE" altLang="ko-KR" b="0" i="1" smtClean="0">
                            <a:latin typeface="Cambria Math"/>
                          </a:rPr>
                          <m:t>1</m:t>
                        </m:r>
                      </m:sup>
                    </m:sSup>
                    <m:r>
                      <a:rPr lang="ar-AE" altLang="ko-KR" b="0" i="1" smtClean="0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 smtClean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ko-KR" altLang="ar-AE" b="0" i="1" smtClean="0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ar-AE" altLang="ko-KR" b="0" i="1" smtClean="0">
                        <a:latin typeface="Cambria Math"/>
                      </a:rPr>
                      <m:t>)</m:t>
                    </m:r>
                  </m:oMath>
                </a14:m>
                <a:endParaRPr lang="ar-AE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ko-KR" altLang="ar-AE" b="0" i="1" smtClean="0">
                            <a:latin typeface="Cambria Math"/>
                          </a:rPr>
                          <m:t>𝜂</m:t>
                        </m:r>
                      </m:sub>
                    </m:sSub>
                    <m:r>
                      <a:rPr lang="ar-AE" altLang="ko-KR" b="0" i="1" smtClean="0">
                        <a:latin typeface="Cambria Math"/>
                      </a:rPr>
                      <m:t>={</m:t>
                    </m:r>
                    <m:r>
                      <a:rPr lang="ko-KR" altLang="ar-AE" b="0" i="1" smtClean="0">
                        <a:latin typeface="Cambria Math"/>
                      </a:rPr>
                      <m:t>𝑓</m:t>
                    </m:r>
                    <m:r>
                      <a:rPr lang="ko-KR" altLang="ar-AE" b="0" i="1" smtClean="0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 smtClean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ko-KR" altLang="ar-AE" b="0" i="1" smtClean="0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ar-AE" altLang="ko-KR" b="0" i="1" smtClean="0">
                        <a:latin typeface="Cambria Math"/>
                      </a:rPr>
                      <m:t>:‖</m:t>
                    </m:r>
                    <m:r>
                      <a:rPr lang="ko-KR" altLang="ar-AE" b="0" i="1" smtClean="0">
                        <a:latin typeface="Cambria Math"/>
                      </a:rPr>
                      <m:t>𝑓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ko-KR" b="0" i="1" smtClean="0"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ar-AE" altLang="ko-KR" b="0" i="1" smtClean="0">
                            <a:latin typeface="Cambria Math"/>
                          </a:rPr>
                          <m:t>∞</m:t>
                        </m:r>
                      </m:sub>
                    </m:sSub>
                    <m:r>
                      <a:rPr lang="ar-AE" altLang="ko-KR" b="0" i="1" smtClean="0">
                        <a:latin typeface="Cambria Math"/>
                      </a:rPr>
                      <m:t>≤</m:t>
                    </m:r>
                    <m:r>
                      <a:rPr lang="ko-KR" altLang="ar-AE" b="0" i="1" smtClean="0">
                        <a:latin typeface="Cambria Math"/>
                      </a:rPr>
                      <m:t>𝜂</m:t>
                    </m:r>
                    <m:r>
                      <a:rPr lang="ar-AE" altLang="ko-KR" b="0" i="1" smtClean="0">
                        <a:latin typeface="Cambria Math"/>
                      </a:rPr>
                      <m:t>}(</m:t>
                    </m:r>
                    <m:r>
                      <a:rPr lang="ko-KR" altLang="ar-AE" b="0" i="1" smtClean="0">
                        <a:latin typeface="Cambria Math"/>
                      </a:rPr>
                      <m:t>𝜂</m:t>
                    </m:r>
                    <m:r>
                      <a:rPr lang="ko-KR" altLang="ar-AE" b="0" i="1" smtClean="0">
                        <a:latin typeface="Cambria Math"/>
                      </a:rPr>
                      <m:t>≪</m:t>
                    </m:r>
                    <m:r>
                      <a:rPr lang="ko-KR" altLang="ar-AE" b="0" i="1" smtClean="0">
                        <a:latin typeface="Cambria Math"/>
                      </a:rPr>
                      <m:t>𝑞</m:t>
                    </m:r>
                    <m:r>
                      <a:rPr lang="ar-AE" altLang="ko-KR" b="0" i="1" smtClean="0">
                        <a:latin typeface="Cambria Math"/>
                      </a:rPr>
                      <m:t>/</m:t>
                    </m:r>
                    <m:r>
                      <a:rPr lang="ar-AE" altLang="ko-KR" b="0" i="1" smtClean="0">
                        <a:latin typeface="Cambria Math"/>
                      </a:rPr>
                      <m:t>2</m:t>
                    </m:r>
                    <m:r>
                      <a:rPr lang="ar-AE" altLang="ko-KR" b="0" i="1" smtClean="0">
                        <a:latin typeface="Cambria Math"/>
                      </a:rPr>
                      <m:t>)</m:t>
                    </m:r>
                  </m:oMath>
                </a14:m>
                <a:endParaRPr lang="ar-AE" altLang="ko-KR" dirty="0"/>
              </a:p>
              <a:p>
                <a:r>
                  <a:rPr lang="ko-KR" altLang="en-US" dirty="0"/>
                  <a:t>예제 </a:t>
                </a:r>
                <a:r>
                  <a:rPr lang="en-US" altLang="ko-KR" dirty="0"/>
                  <a:t>(q=19): ‖7‖∞=7 (7≤9</a:t>
                </a:r>
                <a:r>
                  <a:rPr lang="ko-KR" altLang="en-US" dirty="0"/>
                  <a:t>이므로 그대로</a:t>
                </a:r>
                <a:r>
                  <a:rPr lang="en-US" altLang="ko-KR" dirty="0"/>
                  <a:t>), ‖18‖∞=1 (18 mod_s19=−1)</a:t>
                </a:r>
              </a:p>
              <a:p>
                <a:r>
                  <a:rPr lang="en-US" altLang="ko-KR" dirty="0"/>
                  <a:t>f(x)=1+12x+3x³+18x⁵ → mod</a:t>
                </a:r>
                <a:r>
                  <a:rPr lang="en-US" altLang="ko-KR" baseline="-25000" dirty="0"/>
                  <a:t>s </a:t>
                </a:r>
                <a:r>
                  <a:rPr lang="en-US" altLang="ko-KR" dirty="0"/>
                  <a:t>19 </a:t>
                </a:r>
                <a:r>
                  <a:rPr lang="ko-KR" altLang="en-US" dirty="0"/>
                  <a:t>표현 </a:t>
                </a:r>
                <a:r>
                  <a:rPr lang="en-US" altLang="ko-KR" dirty="0"/>
                  <a:t>1−7x+3x³−x⁵ → ‖f‖∞=7</a:t>
                </a:r>
              </a:p>
              <a:p>
                <a:r>
                  <a:rPr lang="ko-KR" altLang="en-US" dirty="0"/>
                  <a:t>예제 </a:t>
                </a:r>
                <a:r>
                  <a:rPr lang="en-US" altLang="ko-KR" dirty="0"/>
                  <a:t>(q=31): f(x)=1+30x+29x²+x⁴+2x⁵ → mod</a:t>
                </a:r>
                <a:r>
                  <a:rPr lang="en-US" altLang="ko-KR" baseline="-25000" dirty="0"/>
                  <a:t>s </a:t>
                </a:r>
                <a:r>
                  <a:rPr lang="en-US" altLang="ko-KR" dirty="0"/>
                  <a:t>31 </a:t>
                </a:r>
                <a:r>
                  <a:rPr lang="ko-KR" altLang="en-US" dirty="0"/>
                  <a:t>표현 </a:t>
                </a:r>
                <a:r>
                  <a:rPr lang="en-US" altLang="ko-KR" dirty="0"/>
                  <a:t>1−x−2x²+x⁴+2x⁵ → f ∈ S₂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2F37BA4-7E4F-C61C-D660-AA2451C33E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1A75B4-B7FD-4762-9090-2FDD43504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277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8087F-4691-7C44-13D6-0C122FFA2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0F7CD-1FCF-3296-19D1-E5A2DD273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작은 다항식의 곱은 여전히 작다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1E26260-854C-2447-F3F0-AAA1F1A761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sz="24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𝑓</m:t>
                      </m:r>
                      <m:r>
                        <a:rPr lang="ko-KR" altLang="ar-AE" sz="24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∈</m:t>
                      </m:r>
                      <m:sSub>
                        <m:sSubPr>
                          <m:ctrlPr>
                            <a:rPr lang="ar-AE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b>
                          <m:sSub>
                            <m:sSubPr>
                              <m:ctrlPr>
                                <a:rPr lang="ar-AE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ar-AE" altLang="ko-KR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ar-AE" altLang="ko-KR" sz="2400" i="1">
                          <a:solidFill>
                            <a:schemeClr val="tx1"/>
                          </a:solidFill>
                          <a:latin typeface="Cambria Math"/>
                        </a:rPr>
                        <m:t>,</m:t>
                      </m:r>
                      <m:r>
                        <m:rPr>
                          <m:nor/>
                        </m:rPr>
                        <a:rPr lang="ar-AE" altLang="ko-KR" sz="2400" i="1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ko-KR" altLang="ar-AE" sz="2400" i="1">
                          <a:solidFill>
                            <a:schemeClr val="tx1"/>
                          </a:solidFill>
                          <a:latin typeface="Cambria Math"/>
                        </a:rPr>
                        <m:t>𝑔</m:t>
                      </m:r>
                      <m:r>
                        <a:rPr lang="ko-KR" altLang="ar-AE" sz="2400" i="1">
                          <a:solidFill>
                            <a:schemeClr val="tx1"/>
                          </a:solidFill>
                          <a:latin typeface="Cambria Math"/>
                        </a:rPr>
                        <m:t>∈</m:t>
                      </m:r>
                      <m:sSub>
                        <m:sSubPr>
                          <m:ctrlPr>
                            <a:rPr lang="ar-AE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b>
                          <m:sSub>
                            <m:sSubPr>
                              <m:ctrlPr>
                                <a:rPr lang="ar-AE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ar-AE" altLang="ko-KR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m:rPr>
                          <m:nor/>
                        </m:rPr>
                        <a:rPr lang="ar-AE" altLang="ko-KR" sz="2400" i="1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ar-AE" altLang="ko-KR" sz="2400" i="1">
                          <a:solidFill>
                            <a:schemeClr val="tx1"/>
                          </a:solidFill>
                          <a:latin typeface="Cambria Math"/>
                        </a:rPr>
                        <m:t>⟹</m:t>
                      </m:r>
                      <m:r>
                        <m:rPr>
                          <m:nor/>
                        </m:rPr>
                        <a:rPr lang="ar-AE" altLang="ko-KR" sz="2400" i="1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ko-KR" altLang="ar-AE" sz="2400" i="1">
                          <a:solidFill>
                            <a:schemeClr val="tx1"/>
                          </a:solidFill>
                          <a:latin typeface="Cambria Math"/>
                        </a:rPr>
                        <m:t>𝑓𝑔</m:t>
                      </m:r>
                      <m:r>
                        <a:rPr lang="ko-KR" altLang="ar-AE" sz="2400" i="1">
                          <a:solidFill>
                            <a:schemeClr val="tx1"/>
                          </a:solidFill>
                          <a:latin typeface="Cambria Math"/>
                        </a:rPr>
                        <m:t>∈</m:t>
                      </m:r>
                      <m:sSub>
                        <m:sSubPr>
                          <m:ctrlPr>
                            <a:rPr lang="ar-AE" altLang="ko-K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ko-KR" altLang="ar-AE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  <m:sSub>
                            <m:sSubPr>
                              <m:ctrlPr>
                                <a:rPr lang="ar-AE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ar-AE" altLang="ko-KR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altLang="ko-KR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ar-AE" altLang="ko-KR" sz="24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ar-AE" altLang="ko-KR" dirty="0">
                  <a:solidFill>
                    <a:schemeClr val="tx1"/>
                  </a:solidFill>
                </a:endParaRPr>
              </a:p>
              <a:p>
                <a:pPr marL="457200" lvl="1" indent="0">
                  <a:buNone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-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단 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nη₁η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₂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&lt; q/2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암묵적으로 가정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r>
                  <a:rPr lang="ko-KR" altLang="en-US" dirty="0">
                    <a:solidFill>
                      <a:schemeClr val="tx1"/>
                    </a:solidFill>
                  </a:rPr>
                  <a:t>예제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(q=137, n=4): </a:t>
                </a:r>
                <a:r>
                  <a:rPr lang="el-GR" altLang="ko-KR" dirty="0">
                    <a:solidFill>
                      <a:schemeClr val="tx1"/>
                    </a:solidFill>
                  </a:rPr>
                  <a:t>η=2, 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f(x)=1+x−2x²+2x³∈S₂,  g(x)=−2+2x²−x³∈S₂</a:t>
                </a:r>
              </a:p>
              <a:p>
                <a14:m>
                  <m:oMath xmlns:m="http://schemas.openxmlformats.org/officeDocument/2006/math">
                    <m:r>
                      <a:rPr lang="ko-KR" altLang="ar-AE" i="1">
                        <a:solidFill>
                          <a:schemeClr val="tx1"/>
                        </a:solidFill>
                        <a:latin typeface="Cambria Math"/>
                      </a:rPr>
                      <m:t>𝑓</m:t>
                    </m:r>
                    <m:r>
                      <a:rPr lang="ar-AE" altLang="ko-KR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ko-KR" altLang="ar-AE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ar-AE" altLang="ko-KR" i="1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  <m:r>
                      <a:rPr lang="ko-KR" altLang="ar-AE" i="1">
                        <a:solidFill>
                          <a:schemeClr val="tx1"/>
                        </a:solidFill>
                        <a:latin typeface="Cambria Math"/>
                      </a:rPr>
                      <m:t>𝑔</m:t>
                    </m:r>
                    <m:r>
                      <a:rPr lang="ar-AE" altLang="ko-KR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ko-KR" altLang="ar-AE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ar-AE" altLang="ko-KR" i="1">
                        <a:solidFill>
                          <a:schemeClr val="tx1"/>
                        </a:solidFill>
                        <a:latin typeface="Cambria Math"/>
                      </a:rPr>
                      <m:t>)=</m:t>
                    </m:r>
                    <m:r>
                      <a:rPr lang="ar-AE" altLang="ko-KR" i="1">
                        <a:solidFill>
                          <a:schemeClr val="tx1"/>
                        </a:solidFill>
                        <a:latin typeface="Cambria Math"/>
                      </a:rPr>
                      <m:t>3</m:t>
                    </m:r>
                    <m:r>
                      <a:rPr lang="ar-AE" altLang="ko-KR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ar-AE" altLang="ko-KR" i="1">
                        <a:solidFill>
                          <a:schemeClr val="tx1"/>
                        </a:solidFill>
                        <a:latin typeface="Cambria Math"/>
                      </a:rPr>
                      <m:t>129</m:t>
                    </m:r>
                    <m:r>
                      <a:rPr lang="ko-KR" altLang="ar-AE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ar-AE" altLang="ko-KR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ar-AE" altLang="ko-KR" i="1">
                        <a:solidFill>
                          <a:schemeClr val="tx1"/>
                        </a:solidFill>
                        <a:latin typeface="Cambria Math"/>
                      </a:rPr>
                      <m:t>8</m:t>
                    </m:r>
                    <m:sSup>
                      <m:sSup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ar-AE" altLang="ko-KR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ar-AE" altLang="ko-KR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ar-AE" altLang="ko-KR" i="1">
                        <a:solidFill>
                          <a:schemeClr val="tx1"/>
                        </a:solidFill>
                        <a:latin typeface="Cambria Math"/>
                      </a:rPr>
                      <m:t>134</m:t>
                    </m:r>
                    <m:sSup>
                      <m:sSup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ar-AE" altLang="ko-KR" i="1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ar-AE" altLang="ko-KR" i="1">
                        <a:solidFill>
                          <a:schemeClr val="tx1"/>
                        </a:solidFill>
                        <a:latin typeface="Cambria Math"/>
                      </a:rPr>
                      <m:t>≡</m:t>
                    </m:r>
                    <m:r>
                      <a:rPr lang="ar-AE" altLang="ko-KR" i="1">
                        <a:solidFill>
                          <a:schemeClr val="tx1"/>
                        </a:solidFill>
                        <a:latin typeface="Cambria Math"/>
                      </a:rPr>
                      <m:t>3</m:t>
                    </m:r>
                    <m:r>
                      <a:rPr lang="ar-AE" altLang="ko-KR" i="1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>
                      <a:rPr lang="ar-AE" altLang="ko-KR" i="1">
                        <a:solidFill>
                          <a:schemeClr val="tx1"/>
                        </a:solidFill>
                        <a:latin typeface="Cambria Math"/>
                      </a:rPr>
                      <m:t>8</m:t>
                    </m:r>
                    <m:r>
                      <a:rPr lang="ko-KR" altLang="ar-AE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ar-AE" altLang="ko-KR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ar-AE" altLang="ko-KR" i="1">
                        <a:solidFill>
                          <a:schemeClr val="tx1"/>
                        </a:solidFill>
                        <a:latin typeface="Cambria Math"/>
                      </a:rPr>
                      <m:t>8</m:t>
                    </m:r>
                    <m:sSup>
                      <m:sSup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ar-AE" altLang="ko-KR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ar-AE" altLang="ko-KR" i="1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>
                      <a:rPr lang="ar-AE" altLang="ko-KR" i="1">
                        <a:solidFill>
                          <a:schemeClr val="tx1"/>
                        </a:solidFill>
                        <a:latin typeface="Cambria Math"/>
                      </a:rPr>
                      <m:t>3</m:t>
                    </m:r>
                    <m:sSup>
                      <m:sSup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ar-AE" altLang="ko-KR" i="1">
                            <a:solidFill>
                              <a:schemeClr val="tx1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m:rPr>
                        <m:nor/>
                      </m:rPr>
                      <a:rPr lang="ar-AE" altLang="ko-KR" i="1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ar-AE" altLang="ko-KR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mod</m:t>
                    </m:r>
                    <m:r>
                      <m:rPr>
                        <m:nor/>
                      </m:rP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  <m: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137</m:t>
                    </m:r>
                    <m: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altLang="ko-KR" dirty="0">
                  <a:solidFill>
                    <a:schemeClr val="tx1"/>
                  </a:solidFill>
                </a:endParaRPr>
              </a:p>
              <a:p>
                <a:pPr marL="457200" lvl="1" indent="0">
                  <a:buNone/>
                </a:pPr>
                <a:r>
                  <a:rPr lang="ko-KR" altLang="en-US" dirty="0">
                    <a:solidFill>
                      <a:schemeClr val="tx1"/>
                    </a:solidFill>
                  </a:rPr>
                  <a:t>→ 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fg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 ∈ S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₈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(8 ≤ 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nη₁η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₂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= 4·2·2 = 16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이므로 상계를 만족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1E26260-854C-2447-F3F0-AAA1F1A761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844EB5-6283-D372-C451-ACE641585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491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99CCA-D3B1-EB6C-9B49-1653972FF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1A9DD-8700-1DC4-8017-310D4BAEA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증명 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4FE508B-7FFC-C268-7AFF-33ACAC4666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ar-AE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altLang="ko-KR" sz="2400" i="1"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ko-KR" altLang="ar-AE" sz="24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altLang="ko-KR" sz="2400" i="1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ar-AE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ar-AE" altLang="ko-KR" sz="24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2400" i="1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ko-KR" altLang="ar-AE" sz="24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altLang="ko-KR" sz="24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ar-AE" altLang="ko-KR" sz="24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2400" i="1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ko-KR" altLang="ar-AE" sz="240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ko-KR" altLang="ar-AE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ar-AE" altLang="ko-KR" sz="24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altLang="ko-KR" sz="2400" i="1">
                              <a:latin typeface="Cambria Math"/>
                            </a:rPr>
                            <m:t>+⋯+</m:t>
                          </m:r>
                          <m:sSub>
                            <m:sSubPr>
                              <m:ctrlPr>
                                <a:rPr lang="ar-AE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ko-KR" altLang="ar-AE" sz="24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2400" i="1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ar-AE" altLang="ko-KR" sz="24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  <m:e>
                          <m:r>
                            <a:rPr lang="ar-AE" altLang="ko-KR" sz="2400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ko-KR" altLang="ar-AE" sz="240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ar-AE" altLang="ko-KR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ar-AE" altLang="ko-KR" sz="24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2400" i="1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ko-KR" altLang="ar-AE" sz="24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ko-KR" altLang="ar-AE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ar-AE" altLang="ko-KR" sz="24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altLang="ko-KR" sz="2400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ko-KR" altLang="ar-AE" sz="240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ar-AE" altLang="ko-KR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ar-AE" altLang="ko-KR" sz="24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2400" i="1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ko-KR" altLang="ar-AE" sz="24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ko-KR" altLang="ar-AE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ar-AE" altLang="ko-KR" sz="24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altLang="ko-KR" sz="2400" i="1">
                              <a:latin typeface="Cambria Math"/>
                            </a:rPr>
                            <m:t>−⋯−</m:t>
                          </m:r>
                          <m:sSub>
                            <m:sSubPr>
                              <m:ctrlPr>
                                <a:rPr lang="ar-AE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ko-KR" altLang="ar-AE" sz="24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ko-KR" altLang="ar-AE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ar-AE" altLang="ko-KR" sz="24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ar-AE" sz="2400" i="1">
                                  <a:latin typeface="Cambria Math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ko-KR" altLang="ar-AE" sz="240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ar-AE" altLang="ko-KR" sz="24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ar-AE" altLang="ko-KR" sz="24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eqArr>
                    </m:oMath>
                  </m:oMathPara>
                </a14:m>
                <a:endParaRPr lang="ar-AE" altLang="ko-KR" sz="2400" dirty="0"/>
              </a:p>
              <a:p>
                <a:pPr>
                  <a:lnSpc>
                    <a:spcPct val="200000"/>
                  </a:lnSpc>
                </a:pPr>
                <a:r>
                  <a:rPr lang="ko-KR" altLang="en-US" dirty="0"/>
                  <a:t>앞쪽 그룹 </a:t>
                </a:r>
                <a:r>
                  <a:rPr lang="en-US" altLang="ko-KR" dirty="0"/>
                  <a:t>(</a:t>
                </a:r>
                <a:r>
                  <a:rPr lang="en-US" altLang="ko-KR" dirty="0" err="1"/>
                  <a:t>f₀g</a:t>
                </a:r>
                <a:r>
                  <a:rPr lang="en-US" altLang="ko-KR" baseline="-25000" dirty="0" err="1"/>
                  <a:t>i</a:t>
                </a:r>
                <a:r>
                  <a:rPr lang="en-US" altLang="ko-KR" dirty="0"/>
                  <a:t>, ..., f</a:t>
                </a:r>
                <a:r>
                  <a:rPr lang="en-US" altLang="ko-KR" baseline="-25000" dirty="0"/>
                  <a:t>i</a:t>
                </a:r>
                <a:r>
                  <a:rPr lang="en-US" altLang="ko-KR" dirty="0"/>
                  <a:t>g</a:t>
                </a:r>
                <a:r>
                  <a:rPr lang="ko-KR" altLang="en-US" dirty="0"/>
                  <a:t>₀ </a:t>
                </a:r>
                <a:r>
                  <a:rPr lang="en-US" altLang="ko-KR" dirty="0"/>
                  <a:t>— </a:t>
                </a:r>
                <a:r>
                  <a:rPr lang="ko-KR" altLang="en-US" dirty="0"/>
                  <a:t>총 </a:t>
                </a:r>
                <a:r>
                  <a:rPr lang="en-US" altLang="ko-KR" dirty="0"/>
                  <a:t>i+1</a:t>
                </a:r>
                <a:r>
                  <a:rPr lang="ko-KR" altLang="en-US" dirty="0"/>
                  <a:t>개 항</a:t>
                </a:r>
                <a:r>
                  <a:rPr lang="en-US" altLang="ko-KR" dirty="0"/>
                  <a:t>): </a:t>
                </a:r>
                <a:r>
                  <a:rPr lang="ko-KR" altLang="en-US" dirty="0"/>
                  <a:t>보통의 다항식 곱셈에서 </a:t>
                </a:r>
                <a:r>
                  <a:rPr lang="en-US" altLang="ko-KR" dirty="0"/>
                  <a:t>xⁱ </a:t>
                </a:r>
                <a:r>
                  <a:rPr lang="ko-KR" altLang="en-US" dirty="0"/>
                  <a:t>계수에 기여하는 항들</a:t>
                </a:r>
              </a:p>
              <a:p>
                <a:pPr>
                  <a:lnSpc>
                    <a:spcPct val="200000"/>
                  </a:lnSpc>
                </a:pPr>
                <a:r>
                  <a:rPr lang="ko-KR" altLang="en-US" dirty="0"/>
                  <a:t>뒤쪽 그룹 </a:t>
                </a:r>
                <a:r>
                  <a:rPr lang="en-US" altLang="ko-KR" dirty="0"/>
                  <a:t>(f</a:t>
                </a:r>
                <a:r>
                  <a:rPr lang="en-US" altLang="ko-KR" baseline="-25000" dirty="0"/>
                  <a:t>i+1</a:t>
                </a:r>
                <a:r>
                  <a:rPr lang="en-US" altLang="ko-KR" dirty="0"/>
                  <a:t>g</a:t>
                </a:r>
                <a:r>
                  <a:rPr lang="en-US" altLang="ko-KR" baseline="-25000" dirty="0"/>
                  <a:t>n-1</a:t>
                </a:r>
                <a:r>
                  <a:rPr lang="en-US" altLang="ko-KR" dirty="0"/>
                  <a:t>, ..., f</a:t>
                </a:r>
                <a:r>
                  <a:rPr lang="en-US" altLang="ko-KR" baseline="-25000" dirty="0"/>
                  <a:t>n-1</a:t>
                </a:r>
                <a:r>
                  <a:rPr lang="en-US" altLang="ko-KR" dirty="0"/>
                  <a:t>g</a:t>
                </a:r>
                <a:r>
                  <a:rPr lang="en-US" altLang="ko-KR" baseline="-25000" dirty="0"/>
                  <a:t>i+1</a:t>
                </a:r>
                <a:r>
                  <a:rPr lang="en-US" altLang="ko-KR" dirty="0"/>
                  <a:t> — </a:t>
                </a:r>
                <a:r>
                  <a:rPr lang="ko-KR" altLang="en-US" dirty="0"/>
                  <a:t>총 </a:t>
                </a:r>
                <a:r>
                  <a:rPr lang="en-US" altLang="ko-KR" dirty="0"/>
                  <a:t>n−1−i</a:t>
                </a:r>
                <a:r>
                  <a:rPr lang="ko-KR" altLang="en-US" dirty="0"/>
                  <a:t>개 항</a:t>
                </a:r>
                <a:r>
                  <a:rPr lang="en-US" altLang="ko-KR" dirty="0"/>
                  <a:t>): </a:t>
                </a:r>
                <a:r>
                  <a:rPr lang="en-US" altLang="ko-KR" dirty="0" err="1"/>
                  <a:t>x</a:t>
                </a:r>
                <a:r>
                  <a:rPr lang="en-US" altLang="ko-KR" baseline="30000" dirty="0" err="1"/>
                  <a:t>n+i</a:t>
                </a:r>
                <a:r>
                  <a:rPr lang="en-US" altLang="ko-KR" dirty="0"/>
                  <a:t>, ..., x</a:t>
                </a:r>
                <a:r>
                  <a:rPr lang="en-US" altLang="ko-KR" baseline="30000" dirty="0"/>
                  <a:t>2n-2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위치에 있다가 </a:t>
                </a:r>
                <a:r>
                  <a:rPr lang="en-US" altLang="ko-KR" dirty="0"/>
                  <a:t>xⁿ ≡ −1</a:t>
                </a:r>
                <a:r>
                  <a:rPr lang="ko-KR" altLang="en-US" dirty="0"/>
                  <a:t>로 환원되며 부호가 뒤집혀 </a:t>
                </a:r>
                <a:r>
                  <a:rPr lang="en-US" altLang="ko-KR" dirty="0"/>
                  <a:t>xⁱ </a:t>
                </a:r>
                <a:r>
                  <a:rPr lang="ko-KR" altLang="en-US" dirty="0"/>
                  <a:t>자리에 합쳐진 항들</a:t>
                </a:r>
              </a:p>
              <a:p>
                <a:pPr marL="0" indent="0">
                  <a:lnSpc>
                    <a:spcPct val="200000"/>
                  </a:lnSpc>
                  <a:buNone/>
                </a:pPr>
                <a:r>
                  <a:rPr lang="en-US" altLang="ko-KR" dirty="0"/>
                  <a:t>	</a:t>
                </a:r>
                <a:r>
                  <a:rPr lang="ko-KR" altLang="en-US" dirty="0"/>
                  <a:t>→ 두 그룹을 합치면 정확히 </a:t>
                </a:r>
                <a:r>
                  <a:rPr lang="en-US" altLang="ko-KR" dirty="0"/>
                  <a:t>n</a:t>
                </a:r>
                <a:r>
                  <a:rPr lang="ko-KR" altLang="en-US" dirty="0"/>
                  <a:t>개 항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4FE508B-7FFC-C268-7AFF-33ACAC4666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12E920-4A2F-EB98-33DE-BD2446D8B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361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F2801-B32C-4C80-71FE-713701F8F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43088D-265B-CD56-90D0-365CB5103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증명 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1B675A8-9E2F-048C-9089-55CE69EBCB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200000"/>
                  </a:lnSpc>
                </a:pPr>
                <a:r>
                  <a:rPr lang="ko-KR" altLang="en-US" dirty="0"/>
                  <a:t>각 항 </a:t>
                </a:r>
                <a:r>
                  <a:rPr lang="en-US" altLang="ko-KR" dirty="0" err="1"/>
                  <a:t>f</a:t>
                </a:r>
                <a:r>
                  <a:rPr lang="en-US" altLang="ko-KR" baseline="-25000" dirty="0" err="1"/>
                  <a:t>j</a:t>
                </a:r>
                <a:r>
                  <a:rPr lang="en-US" altLang="ko-KR" dirty="0" err="1"/>
                  <a:t>g</a:t>
                </a:r>
                <a:r>
                  <a:rPr lang="en-US" altLang="ko-KR" baseline="-25000" dirty="0" err="1"/>
                  <a:t>k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부호 무관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의 크기는</a:t>
                </a:r>
                <a:r>
                  <a:rPr lang="en-US" altLang="ko-KR" dirty="0"/>
                  <a:t>:</a:t>
                </a: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ko-KR" sz="2400" i="1">
                          <a:latin typeface="Cambria Math"/>
                        </a:rPr>
                        <m:t>‖</m:t>
                      </m:r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ko-KR" altLang="ar-AE" sz="2400" i="1">
                              <a:latin typeface="Cambria Math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ko-KR" sz="2400" i="1">
                              <a:latin typeface="Cambria Math"/>
                            </a:rPr>
                            <m:t>‖</m:t>
                          </m:r>
                        </m:e>
                        <m:sub>
                          <m:r>
                            <a:rPr lang="ar-AE" altLang="ko-KR" sz="2400" i="1">
                              <a:latin typeface="Cambria Math"/>
                            </a:rPr>
                            <m:t>∞</m:t>
                          </m:r>
                        </m:sub>
                      </m:sSub>
                      <m:r>
                        <a:rPr lang="ar-AE" altLang="ko-KR" sz="2400" i="1">
                          <a:latin typeface="Cambria Math"/>
                        </a:rPr>
                        <m:t>‖</m:t>
                      </m:r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2400" i="1">
                              <a:latin typeface="Cambria Math"/>
                            </a:rPr>
                            <m:t>𝑔</m:t>
                          </m:r>
                        </m:e>
                        <m:sub>
                          <m:r>
                            <a:rPr lang="ko-KR" altLang="ar-AE" sz="24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ko-KR" sz="2400" i="1">
                              <a:latin typeface="Cambria Math"/>
                            </a:rPr>
                            <m:t>‖</m:t>
                          </m:r>
                        </m:e>
                        <m:sub>
                          <m:r>
                            <a:rPr lang="ar-AE" altLang="ko-KR" sz="2400" i="1">
                              <a:latin typeface="Cambria Math"/>
                            </a:rPr>
                            <m:t>∞</m:t>
                          </m:r>
                        </m:sub>
                      </m:sSub>
                      <m:r>
                        <a:rPr lang="ar-AE" altLang="ko-KR" sz="2400" i="1">
                          <a:latin typeface="Cambria Math"/>
                        </a:rPr>
                        <m:t>≤</m:t>
                      </m:r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2400" i="1">
                              <a:latin typeface="Cambria Math"/>
                            </a:rPr>
                            <m:t>𝜂</m:t>
                          </m:r>
                        </m:e>
                        <m:sub>
                          <m:r>
                            <a:rPr lang="ar-AE" altLang="ko-KR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2400" i="1">
                              <a:latin typeface="Cambria Math"/>
                            </a:rPr>
                            <m:t>𝜂</m:t>
                          </m:r>
                        </m:e>
                        <m:sub>
                          <m:r>
                            <a:rPr lang="ar-AE" altLang="ko-KR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altLang="ko-KR" sz="2400" dirty="0"/>
              </a:p>
              <a:p>
                <a:pPr>
                  <a:lnSpc>
                    <a:spcPct val="200000"/>
                  </a:lnSpc>
                </a:pPr>
                <a:r>
                  <a:rPr lang="en-US" altLang="ko-KR" dirty="0"/>
                  <a:t>n</a:t>
                </a:r>
                <a:r>
                  <a:rPr lang="ko-KR" altLang="en-US" dirty="0"/>
                  <a:t>개 항의 합인 </a:t>
                </a:r>
                <a:r>
                  <a:rPr lang="en-US" altLang="ko-KR" dirty="0"/>
                  <a:t>hᵢ</a:t>
                </a:r>
                <a:r>
                  <a:rPr lang="ko-KR" altLang="en-US" dirty="0"/>
                  <a:t>는 </a:t>
                </a:r>
                <a:r>
                  <a:rPr lang="en-US" altLang="ko-KR" dirty="0"/>
                  <a:t>(</a:t>
                </a:r>
                <a:r>
                  <a:rPr lang="en-US" altLang="ko-KR" baseline="30000" dirty="0"/>
                  <a:t>∀</a:t>
                </a:r>
                <a:r>
                  <a:rPr lang="en-US" altLang="ko-KR" dirty="0" err="1"/>
                  <a:t>i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∈ </a:t>
                </a:r>
                <a:r>
                  <a:rPr lang="en-US" altLang="ko-KR" dirty="0"/>
                  <a:t>[0,n−1]):</a:t>
                </a: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ko-KR" sz="2400" i="1">
                          <a:latin typeface="Cambria Math"/>
                        </a:rPr>
                        <m:t>‖</m:t>
                      </m:r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ko-KR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ko-KR" altLang="ar-AE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ko-KR" sz="2400" i="1">
                              <a:latin typeface="Cambria Math"/>
                            </a:rPr>
                            <m:t>‖</m:t>
                          </m:r>
                        </m:e>
                        <m:sub>
                          <m:r>
                            <a:rPr lang="ar-AE" altLang="ko-KR" sz="2400" i="1">
                              <a:latin typeface="Cambria Math"/>
                            </a:rPr>
                            <m:t>∞</m:t>
                          </m:r>
                        </m:sub>
                      </m:sSub>
                      <m:r>
                        <a:rPr lang="ar-AE" altLang="ko-KR" sz="2400" i="1">
                          <a:latin typeface="Cambria Math"/>
                        </a:rPr>
                        <m:t>≤</m:t>
                      </m:r>
                      <m:r>
                        <a:rPr lang="ko-KR" altLang="ar-AE" sz="2400" i="1">
                          <a:latin typeface="Cambria Math"/>
                        </a:rPr>
                        <m:t>𝑛</m:t>
                      </m:r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2400" i="1">
                              <a:latin typeface="Cambria Math"/>
                            </a:rPr>
                            <m:t>𝜂</m:t>
                          </m:r>
                        </m:e>
                        <m:sub>
                          <m:r>
                            <a:rPr lang="ar-AE" altLang="ko-KR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2400" i="1">
                              <a:latin typeface="Cambria Math"/>
                            </a:rPr>
                            <m:t>𝜂</m:t>
                          </m:r>
                        </m:e>
                        <m:sub>
                          <m:r>
                            <a:rPr lang="ar-AE" altLang="ko-KR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altLang="ko-KR" sz="2400" dirty="0"/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ko-KR" sz="2400" i="1">
                          <a:latin typeface="Cambria Math"/>
                        </a:rPr>
                        <m:t>‖</m:t>
                      </m:r>
                      <m:r>
                        <a:rPr lang="ar-AE" altLang="ko-KR" sz="2400" i="1">
                          <a:latin typeface="Cambria Math"/>
                        </a:rPr>
                        <m:t>h</m:t>
                      </m:r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ko-KR" sz="2400" i="1">
                              <a:latin typeface="Cambria Math"/>
                            </a:rPr>
                            <m:t>‖</m:t>
                          </m:r>
                        </m:e>
                        <m:sub>
                          <m:r>
                            <a:rPr lang="ar-AE" altLang="ko-KR" sz="2400" i="1">
                              <a:latin typeface="Cambria Math"/>
                            </a:rPr>
                            <m:t>∞</m:t>
                          </m:r>
                        </m:sub>
                      </m:sSub>
                      <m:r>
                        <a:rPr lang="ar-AE" altLang="ko-KR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2400" i="1">
                              <a:latin typeface="Cambria Math"/>
                            </a:rPr>
                            <m:t>𝑚𝑎𝑥</m:t>
                          </m:r>
                        </m:e>
                        <m:sub>
                          <m:r>
                            <a:rPr lang="ko-KR" altLang="ar-AE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ar-AE" altLang="ko-KR" sz="2400" i="1">
                          <a:latin typeface="Cambria Math"/>
                        </a:rPr>
                        <m:t>‖</m:t>
                      </m:r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ko-KR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ko-KR" altLang="ar-AE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ko-KR" sz="2400" i="1">
                              <a:latin typeface="Cambria Math"/>
                            </a:rPr>
                            <m:t>‖</m:t>
                          </m:r>
                        </m:e>
                        <m:sub>
                          <m:r>
                            <a:rPr lang="ar-AE" altLang="ko-KR" sz="2400" i="1">
                              <a:latin typeface="Cambria Math"/>
                            </a:rPr>
                            <m:t>∞</m:t>
                          </m:r>
                        </m:sub>
                      </m:sSub>
                      <m:r>
                        <a:rPr lang="ar-AE" altLang="ko-KR" sz="2400" i="1">
                          <a:latin typeface="Cambria Math"/>
                        </a:rPr>
                        <m:t>≤</m:t>
                      </m:r>
                      <m:r>
                        <a:rPr lang="ko-KR" altLang="ar-AE" sz="2400" i="1">
                          <a:latin typeface="Cambria Math"/>
                        </a:rPr>
                        <m:t>𝑛</m:t>
                      </m:r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2400" i="1">
                              <a:latin typeface="Cambria Math"/>
                            </a:rPr>
                            <m:t>𝜂</m:t>
                          </m:r>
                        </m:e>
                        <m:sub>
                          <m:r>
                            <a:rPr lang="ar-AE" altLang="ko-KR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2400" i="1">
                              <a:latin typeface="Cambria Math"/>
                            </a:rPr>
                            <m:t>𝜂</m:t>
                          </m:r>
                        </m:e>
                        <m:sub>
                          <m:r>
                            <a:rPr lang="ar-AE" altLang="ko-KR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ar-AE" altLang="ko-KR" sz="2400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ar-AE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1B675A8-9E2F-048C-9089-55CE69EBCB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6D5F5F-6477-1504-A379-739D3613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7736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33923-D737-2052-A503-E0ABF1CAC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0D879E-3883-B966-81D0-205691762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모듈 </a:t>
            </a:r>
            <a:r>
              <a:rPr lang="en-US" altLang="ko-KR" dirty="0" err="1"/>
              <a:t>R</a:t>
            </a:r>
            <a:r>
              <a:rPr lang="en-US" altLang="ko-KR" baseline="-25000" dirty="0" err="1"/>
              <a:t>q</a:t>
            </a:r>
            <a:r>
              <a:rPr lang="en-US" altLang="ko-KR" baseline="30000" dirty="0" err="1"/>
              <a:t>k</a:t>
            </a:r>
            <a:endParaRPr lang="ko-KR" altLang="en-US" baseline="30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855844-C865-7853-EA76-83185B714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모듈 </a:t>
            </a:r>
            <a:r>
              <a:rPr lang="en-US" altLang="ko-KR" dirty="0" err="1"/>
              <a:t>R</a:t>
            </a:r>
            <a:r>
              <a:rPr lang="en-US" altLang="ko-KR" baseline="-25000" dirty="0" err="1"/>
              <a:t>q</a:t>
            </a:r>
            <a:r>
              <a:rPr lang="en-US" altLang="ko-KR" dirty="0"/>
              <a:t>ᵏ: </a:t>
            </a:r>
            <a:r>
              <a:rPr lang="ko-KR" altLang="en-US" dirty="0"/>
              <a:t>벡터공간의 스칼라 체를 링</a:t>
            </a:r>
            <a:r>
              <a:rPr lang="en-US" altLang="ko-KR" dirty="0"/>
              <a:t>(</a:t>
            </a:r>
            <a:r>
              <a:rPr lang="en-US" altLang="ko-KR" dirty="0" err="1"/>
              <a:t>R</a:t>
            </a:r>
            <a:r>
              <a:rPr lang="en-US" altLang="ko-KR" baseline="-25000" dirty="0" err="1"/>
              <a:t>q</a:t>
            </a:r>
            <a:r>
              <a:rPr lang="en-US" altLang="ko-KR" dirty="0"/>
              <a:t>)</a:t>
            </a:r>
            <a:r>
              <a:rPr lang="ko-KR" altLang="en-US" dirty="0"/>
              <a:t>으로 바꾼 구조</a:t>
            </a:r>
            <a:endParaRPr lang="en-US" altLang="ko-KR" dirty="0"/>
          </a:p>
          <a:p>
            <a:r>
              <a:rPr lang="ko-KR" altLang="en-US" dirty="0"/>
              <a:t>덧셈</a:t>
            </a:r>
            <a:r>
              <a:rPr lang="en-US" altLang="ko-KR" dirty="0"/>
              <a:t>·</a:t>
            </a:r>
            <a:r>
              <a:rPr lang="ko-KR" altLang="en-US" dirty="0"/>
              <a:t>뺄셈은 성분별</a:t>
            </a:r>
            <a:endParaRPr lang="en-US" altLang="ko-KR" dirty="0"/>
          </a:p>
          <a:p>
            <a:r>
              <a:rPr lang="ko-KR" altLang="en-US" dirty="0"/>
              <a:t>내적</a:t>
            </a:r>
            <a:r>
              <a:rPr lang="en-US" altLang="ko-KR" dirty="0"/>
              <a:t>(inner product)</a:t>
            </a:r>
            <a:r>
              <a:rPr lang="ko-KR" altLang="en-US" dirty="0"/>
              <a:t>은 </a:t>
            </a:r>
            <a:r>
              <a:rPr lang="en-US" altLang="ko-KR" dirty="0" err="1"/>
              <a:t>R</a:t>
            </a:r>
            <a:r>
              <a:rPr lang="en-US" altLang="ko-KR" baseline="-25000" dirty="0" err="1"/>
              <a:t>q</a:t>
            </a:r>
            <a:r>
              <a:rPr lang="ko-KR" altLang="en-US" dirty="0"/>
              <a:t>의 원소</a:t>
            </a:r>
            <a:r>
              <a:rPr lang="en-US" altLang="ko-KR" dirty="0"/>
              <a:t>(</a:t>
            </a:r>
            <a:r>
              <a:rPr lang="ko-KR" altLang="en-US" dirty="0"/>
              <a:t>다항식</a:t>
            </a:r>
            <a:r>
              <a:rPr lang="en-US" altLang="ko-KR" dirty="0"/>
              <a:t>) </a:t>
            </a:r>
            <a:r>
              <a:rPr lang="ko-KR" altLang="en-US" dirty="0"/>
              <a:t>하나</a:t>
            </a:r>
            <a:r>
              <a:rPr lang="en-US" altLang="ko-KR" dirty="0"/>
              <a:t>: </a:t>
            </a:r>
            <a:r>
              <a:rPr lang="en-US" altLang="ko-KR" dirty="0" err="1"/>
              <a:t>aᵀb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en-US" altLang="ko-KR" dirty="0" err="1"/>
              <a:t>a₁b</a:t>
            </a:r>
            <a:r>
              <a:rPr lang="ko-KR" altLang="en-US" dirty="0"/>
              <a:t>₁ </a:t>
            </a:r>
            <a:r>
              <a:rPr lang="en-US" altLang="ko-KR" dirty="0"/>
              <a:t>+ </a:t>
            </a:r>
            <a:r>
              <a:rPr lang="en-US" altLang="ko-KR" dirty="0" err="1"/>
              <a:t>a₂b</a:t>
            </a:r>
            <a:r>
              <a:rPr lang="ko-KR" altLang="en-US" dirty="0"/>
              <a:t>₂ </a:t>
            </a:r>
            <a:r>
              <a:rPr lang="en-US" altLang="ko-KR" dirty="0"/>
              <a:t>+ ... + </a:t>
            </a:r>
            <a:r>
              <a:rPr lang="en-US" altLang="ko-KR" dirty="0" err="1"/>
              <a:t>aₖb</a:t>
            </a:r>
            <a:r>
              <a:rPr lang="ko-KR" altLang="en-US" dirty="0"/>
              <a:t>ₖ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70AF1E-5C88-754F-96CC-1C84E8E64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811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BF6A1-A0EA-F2CD-E2E3-7AB4F4E47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D4CA94-E9BD-FD91-F128-D15C070D9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모듈 숫자 예제</a:t>
            </a:r>
            <a:r>
              <a:rPr lang="en-US" altLang="ko-KR" dirty="0"/>
              <a:t>: </a:t>
            </a:r>
            <a:r>
              <a:rPr lang="ko-KR" altLang="en-US" dirty="0"/>
              <a:t>덧셈</a:t>
            </a:r>
            <a:r>
              <a:rPr lang="en-US" altLang="ko-KR" dirty="0"/>
              <a:t>·</a:t>
            </a:r>
            <a:r>
              <a:rPr lang="ko-KR" altLang="en-US" dirty="0"/>
              <a:t>뺄셈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BCE44DF-3393-D553-2C27-FF8CD97AF9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48400" y="1447721"/>
                <a:ext cx="5257800" cy="4701089"/>
              </a:xfrm>
            </p:spPr>
            <p:txBody>
              <a:bodyPr/>
              <a:lstStyle/>
              <a:p>
                <a:pPr marL="0" indent="0">
                  <a:lnSpc>
                    <a:spcPct val="200000"/>
                  </a:lnSpc>
                  <a:buNone/>
                </a:pPr>
                <a:endParaRPr lang="pt-BR" altLang="ko-KR" dirty="0"/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i="1">
                          <a:latin typeface="Cambria Math"/>
                        </a:rPr>
                        <m:t>𝑏</m:t>
                      </m:r>
                      <m:r>
                        <a:rPr lang="ar-AE" altLang="ko-KR" i="1">
                          <a:latin typeface="Cambria Math"/>
                        </a:rPr>
                        <m:t>=[</m:t>
                      </m:r>
                      <m:eqArr>
                        <m:eqArr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ar-AE" altLang="ko-KR" i="1">
                              <a:latin typeface="Cambria Math"/>
                            </a:rPr>
                            <m:t>40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78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119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  <m:e>
                          <m:r>
                            <a:rPr lang="ar-AE" altLang="ko-KR" i="1">
                              <a:latin typeface="Cambria Math"/>
                            </a:rPr>
                            <m:t>11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31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57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90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  <m:e>
                          <m:r>
                            <a:rPr lang="ar-AE" altLang="ko-KR" i="1">
                              <a:latin typeface="Cambria Math"/>
                            </a:rPr>
                            <m:t>108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72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47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14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</m:eqArr>
                      <m:r>
                        <a:rPr lang="ar-AE" altLang="ko-KR" i="1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ar-AE" altLang="ko-KR" dirty="0"/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i="1">
                          <a:latin typeface="Cambria Math"/>
                        </a:rPr>
                        <m:t>𝑎</m:t>
                      </m:r>
                      <m:r>
                        <a:rPr lang="ko-KR" altLang="ar-AE" i="1">
                          <a:latin typeface="Cambria Math"/>
                        </a:rPr>
                        <m:t>−</m:t>
                      </m:r>
                      <m:r>
                        <a:rPr lang="ko-KR" altLang="ar-AE" i="1">
                          <a:latin typeface="Cambria Math"/>
                        </a:rPr>
                        <m:t>𝑏</m:t>
                      </m:r>
                      <m:r>
                        <a:rPr lang="ar-AE" altLang="ko-KR" i="1">
                          <a:latin typeface="Cambria Math"/>
                        </a:rPr>
                        <m:t>=[</m:t>
                      </m:r>
                      <m:eqArr>
                        <m:eqArr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ar-AE" altLang="ko-KR" i="1">
                              <a:latin typeface="Cambria Math"/>
                            </a:rPr>
                            <m:t>53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110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33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72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  <m:e>
                          <m:r>
                            <a:rPr lang="ar-AE" altLang="ko-KR" i="1">
                              <a:latin typeface="Cambria Math"/>
                            </a:rPr>
                            <m:t>16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56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24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53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  <m:e>
                          <m:r>
                            <a:rPr lang="ar-AE" altLang="ko-KR" i="1">
                              <a:latin typeface="Cambria Math"/>
                            </a:rPr>
                            <m:t>4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80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136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108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</m:eqArr>
                      <m:r>
                        <a:rPr lang="ar-AE" altLang="ko-KR" i="1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ar-AE" altLang="ko-KR" dirty="0"/>
              </a:p>
              <a:p>
                <a:pPr marL="0" indent="0">
                  <a:lnSpc>
                    <a:spcPct val="200000"/>
                  </a:lnSpc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BCE44DF-3393-D553-2C27-FF8CD97AF9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48400" y="1447721"/>
                <a:ext cx="5257800" cy="470108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D0AA71-5E13-0CC1-6CA7-16647BFDF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72EC6696-FA8D-E3FE-23F9-255B1A853B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1447722"/>
                <a:ext cx="5257800" cy="4701089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200000"/>
                  </a:lnSpc>
                </a:pPr>
                <a:r>
                  <a:rPr lang="pt-BR" altLang="ko-KR" dirty="0"/>
                  <a:t>q=137, n=4, k=3,  R</a:t>
                </a:r>
                <a:r>
                  <a:rPr lang="pt-BR" altLang="ko-KR" baseline="-25000" dirty="0"/>
                  <a:t>q</a:t>
                </a:r>
                <a:r>
                  <a:rPr lang="pt-BR" altLang="ko-KR" dirty="0"/>
                  <a:t>=ℤ</a:t>
                </a:r>
                <a:r>
                  <a:rPr lang="pt-BR" altLang="ko-KR" baseline="-25000" dirty="0"/>
                  <a:t>137</a:t>
                </a:r>
                <a:r>
                  <a:rPr lang="pt-BR" altLang="ko-KR" dirty="0"/>
                  <a:t>[x]/(x⁴+1)</a:t>
                </a: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i="1">
                          <a:latin typeface="Cambria Math"/>
                        </a:rPr>
                        <m:t>𝑎</m:t>
                      </m:r>
                      <m:r>
                        <a:rPr lang="ar-AE" altLang="ko-KR" i="1">
                          <a:latin typeface="Cambria Math"/>
                        </a:rPr>
                        <m:t>=[</m:t>
                      </m:r>
                      <m:eqArr>
                        <m:eqArr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ar-AE" altLang="ko-KR" i="1">
                              <a:latin typeface="Cambria Math"/>
                            </a:rPr>
                            <m:t>93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51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34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54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  <m:e>
                          <m:r>
                            <a:rPr lang="ar-AE" altLang="ko-KR" i="1">
                              <a:latin typeface="Cambria Math"/>
                            </a:rPr>
                            <m:t>27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87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81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6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  <m:e>
                          <m:r>
                            <a:rPr lang="ar-AE" altLang="ko-KR" i="1">
                              <a:latin typeface="Cambria Math"/>
                            </a:rPr>
                            <m:t>112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15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46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122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</m:eqArr>
                      <m:r>
                        <a:rPr lang="ar-AE" altLang="ko-KR" i="1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altLang="ko-KR" dirty="0"/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i="1">
                          <a:latin typeface="Cambria Math"/>
                        </a:rPr>
                        <m:t>𝑎</m:t>
                      </m:r>
                      <m:r>
                        <a:rPr lang="ar-AE" altLang="ko-KR" i="1">
                          <a:latin typeface="Cambria Math"/>
                        </a:rPr>
                        <m:t>+</m:t>
                      </m:r>
                      <m:r>
                        <a:rPr lang="ko-KR" altLang="ar-AE" i="1">
                          <a:latin typeface="Cambria Math"/>
                        </a:rPr>
                        <m:t>𝑏</m:t>
                      </m:r>
                      <m:r>
                        <a:rPr lang="ar-AE" altLang="ko-KR" i="1">
                          <a:latin typeface="Cambria Math"/>
                        </a:rPr>
                        <m:t>=[</m:t>
                      </m:r>
                      <m:eqArr>
                        <m:eqArr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ar-AE" altLang="ko-KR" i="1">
                              <a:latin typeface="Cambria Math"/>
                            </a:rPr>
                            <m:t>133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129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35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36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  <m:e>
                          <m:r>
                            <a:rPr lang="ar-AE" altLang="ko-KR" i="1">
                              <a:latin typeface="Cambria Math"/>
                            </a:rPr>
                            <m:t>38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118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96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  <m:e>
                          <m:r>
                            <a:rPr lang="ar-AE" altLang="ko-KR" i="1">
                              <a:latin typeface="Cambria Math"/>
                            </a:rPr>
                            <m:t>83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87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93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136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</m:eqArr>
                      <m:r>
                        <a:rPr lang="ar-AE" altLang="ko-KR" i="1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ar-AE" altLang="ko-KR" dirty="0"/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72EC6696-FA8D-E3FE-23F9-255B1A853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447722"/>
                <a:ext cx="5257800" cy="4701089"/>
              </a:xfrm>
              <a:prstGeom prst="rect">
                <a:avLst/>
              </a:prstGeom>
              <a:blipFill>
                <a:blip r:embed="rId3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75183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F8300-165E-D04E-A75D-619CA14B1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D11AB3-052E-B179-5889-7E62A73AB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모듈 숫자 예제</a:t>
            </a:r>
            <a:r>
              <a:rPr lang="en-US" altLang="ko-KR" dirty="0"/>
              <a:t>: </a:t>
            </a:r>
            <a:r>
              <a:rPr lang="ko-KR" altLang="en-US" dirty="0"/>
              <a:t>내적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B2F834-6CEA-B4D2-4A1D-59A4AAF48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4DFF5E17-B0C4-4866-79A9-542FF0A72D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48400" y="1447721"/>
                <a:ext cx="5257800" cy="4701089"/>
              </a:xfrm>
            </p:spPr>
            <p:txBody>
              <a:bodyPr/>
              <a:lstStyle/>
              <a:p>
                <a:pPr marL="0" indent="0">
                  <a:lnSpc>
                    <a:spcPct val="200000"/>
                  </a:lnSpc>
                  <a:buNone/>
                </a:pPr>
                <a:endParaRPr lang="pt-BR" altLang="ko-KR" dirty="0"/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i="1">
                          <a:latin typeface="Cambria Math"/>
                        </a:rPr>
                        <m:t>𝑏</m:t>
                      </m:r>
                      <m:r>
                        <a:rPr lang="ar-AE" altLang="ko-KR" i="1">
                          <a:latin typeface="Cambria Math"/>
                        </a:rPr>
                        <m:t>=[</m:t>
                      </m:r>
                      <m:eqArr>
                        <m:eqArr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ar-AE" altLang="ko-KR" i="1">
                              <a:latin typeface="Cambria Math"/>
                            </a:rPr>
                            <m:t>40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78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119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  <m:e>
                          <m:r>
                            <a:rPr lang="ar-AE" altLang="ko-KR" i="1">
                              <a:latin typeface="Cambria Math"/>
                            </a:rPr>
                            <m:t>11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31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57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90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  <m:e>
                          <m:r>
                            <a:rPr lang="ar-AE" altLang="ko-KR" i="1">
                              <a:latin typeface="Cambria Math"/>
                            </a:rPr>
                            <m:t>108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72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47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14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</m:eqArr>
                      <m:r>
                        <a:rPr lang="ar-AE" altLang="ko-KR" i="1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ar-AE" altLang="ko-KR" dirty="0"/>
              </a:p>
              <a:p>
                <a:pPr marL="0" indent="0">
                  <a:lnSpc>
                    <a:spcPct val="200000"/>
                  </a:lnSpc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7" name="내용 개체 틀 2">
                <a:extLst>
                  <a:ext uri="{FF2B5EF4-FFF2-40B4-BE49-F238E27FC236}">
                    <a16:creationId xmlns:a16="http://schemas.microsoft.com/office/drawing/2014/main" id="{4DFF5E17-B0C4-4866-79A9-542FF0A72D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48400" y="1447721"/>
                <a:ext cx="5257800" cy="470108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내용 개체 틀 2">
                <a:extLst>
                  <a:ext uri="{FF2B5EF4-FFF2-40B4-BE49-F238E27FC236}">
                    <a16:creationId xmlns:a16="http://schemas.microsoft.com/office/drawing/2014/main" id="{5B222F6C-099E-9798-A8F7-063A6CD2DF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1447722"/>
                <a:ext cx="5257800" cy="4701089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200000"/>
                  </a:lnSpc>
                </a:pPr>
                <a:r>
                  <a:rPr lang="pt-BR" altLang="ko-KR" dirty="0"/>
                  <a:t>q=137, n=4, k=3,  R</a:t>
                </a:r>
                <a:r>
                  <a:rPr lang="pt-BR" altLang="ko-KR" baseline="-25000" dirty="0"/>
                  <a:t>q</a:t>
                </a:r>
                <a:r>
                  <a:rPr lang="pt-BR" altLang="ko-KR" dirty="0"/>
                  <a:t>=ℤ</a:t>
                </a:r>
                <a:r>
                  <a:rPr lang="pt-BR" altLang="ko-KR" baseline="-25000" dirty="0"/>
                  <a:t>137</a:t>
                </a:r>
                <a:r>
                  <a:rPr lang="pt-BR" altLang="ko-KR" dirty="0"/>
                  <a:t>[x]/(x⁴+1)</a:t>
                </a: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ar-AE" i="1">
                          <a:latin typeface="Cambria Math"/>
                        </a:rPr>
                        <m:t>𝑎</m:t>
                      </m:r>
                      <m:r>
                        <a:rPr lang="ar-AE" altLang="ko-KR" i="1">
                          <a:latin typeface="Cambria Math"/>
                        </a:rPr>
                        <m:t>=[</m:t>
                      </m:r>
                      <m:eqArr>
                        <m:eqArr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ar-AE" altLang="ko-KR" i="1">
                              <a:latin typeface="Cambria Math"/>
                            </a:rPr>
                            <m:t>93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51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34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54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  <m:e>
                          <m:r>
                            <a:rPr lang="ar-AE" altLang="ko-KR" i="1">
                              <a:latin typeface="Cambria Math"/>
                            </a:rPr>
                            <m:t>27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87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81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6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  <m:e>
                          <m:r>
                            <a:rPr lang="ar-AE" altLang="ko-KR" i="1">
                              <a:latin typeface="Cambria Math"/>
                            </a:rPr>
                            <m:t>112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15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46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122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</m:eqArr>
                      <m:r>
                        <a:rPr lang="ar-AE" altLang="ko-KR" i="1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altLang="ko-KR" dirty="0"/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ar-AE" altLang="ko-KR" i="1">
                            <a:latin typeface="Cambria Math"/>
                          </a:rPr>
                          <m:t>⊤</m:t>
                        </m:r>
                      </m:sup>
                    </m:sSup>
                    <m:r>
                      <a:rPr lang="ko-KR" altLang="ar-AE" i="1">
                        <a:latin typeface="Cambria Math"/>
                      </a:rPr>
                      <m:t>𝑏</m:t>
                    </m:r>
                    <m:r>
                      <a:rPr lang="ar-AE" altLang="ko-KR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ar-AE" altLang="ko-KR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ar-AE" altLang="ko-K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ar-AE" altLang="ko-KR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ar-AE" altLang="ko-KR" i="1"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ar-AE" altLang="ko-KR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ar-AE" altLang="ko-KR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ar-AE" altLang="ko-KR" i="1">
                            <a:latin typeface="Cambria Math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ar-AE" altLang="ko-KR" i="1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endParaRPr lang="ar-AE" altLang="ko-KR" dirty="0"/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ar-AE" altLang="ko-KR" i="1">
                            <a:latin typeface="Cambria Math"/>
                          </a:rPr>
                          <m:t>⊤</m:t>
                        </m:r>
                      </m:sup>
                    </m:sSup>
                    <m:r>
                      <a:rPr lang="ko-KR" altLang="ar-AE" i="1">
                        <a:latin typeface="Cambria Math"/>
                      </a:rPr>
                      <m:t>𝑏</m:t>
                    </m:r>
                    <m:r>
                      <a:rPr lang="ar-AE" altLang="ko-KR" i="1">
                        <a:latin typeface="Cambria Math"/>
                      </a:rPr>
                      <m:t>=</m:t>
                    </m:r>
                    <m:r>
                      <a:rPr lang="ar-AE" altLang="ko-KR" i="1">
                        <a:latin typeface="Cambria Math"/>
                      </a:rPr>
                      <m:t>93</m:t>
                    </m:r>
                    <m:r>
                      <a:rPr lang="ar-AE" altLang="ko-KR" i="1">
                        <a:latin typeface="Cambria Math"/>
                      </a:rPr>
                      <m:t>+</m:t>
                    </m:r>
                    <m:r>
                      <a:rPr lang="ar-AE" altLang="ko-KR" i="1">
                        <a:latin typeface="Cambria Math"/>
                      </a:rPr>
                      <m:t>59</m:t>
                    </m:r>
                    <m:r>
                      <a:rPr lang="ko-KR" altLang="ar-AE" i="1">
                        <a:latin typeface="Cambria Math"/>
                      </a:rPr>
                      <m:t>𝑥</m:t>
                    </m:r>
                    <m:r>
                      <a:rPr lang="ar-AE" altLang="ko-KR" i="1">
                        <a:latin typeface="Cambria Math"/>
                      </a:rPr>
                      <m:t>+</m:t>
                    </m:r>
                    <m:r>
                      <a:rPr lang="ar-AE" altLang="ko-KR" i="1">
                        <a:latin typeface="Cambria Math"/>
                      </a:rPr>
                      <m:t>44</m:t>
                    </m:r>
                    <m:sSup>
                      <m:s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ar-AE" altLang="ko-KR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ar-AE" altLang="ko-KR" i="1">
                        <a:latin typeface="Cambria Math"/>
                      </a:rPr>
                      <m:t>+</m:t>
                    </m:r>
                    <m:r>
                      <a:rPr lang="ar-AE" altLang="ko-KR" i="1">
                        <a:latin typeface="Cambria Math"/>
                      </a:rPr>
                      <m:t>132</m:t>
                    </m:r>
                    <m:sSup>
                      <m:s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ar-AE" altLang="ko-KR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ar-AE" altLang="ko-KR" i="1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𝑞</m:t>
                        </m:r>
                      </m:sub>
                    </m:sSub>
                  </m:oMath>
                </a14:m>
                <a:endParaRPr lang="ar-AE" altLang="ko-KR" dirty="0"/>
              </a:p>
              <a:p>
                <a:pPr marL="0" indent="0">
                  <a:lnSpc>
                    <a:spcPct val="200000"/>
                  </a:lnSpc>
                  <a:buNone/>
                </a:pPr>
                <a:endParaRPr lang="ar-AE" altLang="ko-KR" dirty="0"/>
              </a:p>
            </p:txBody>
          </p:sp>
        </mc:Choice>
        <mc:Fallback xmlns="">
          <p:sp>
            <p:nvSpPr>
              <p:cNvPr id="8" name="내용 개체 틀 2">
                <a:extLst>
                  <a:ext uri="{FF2B5EF4-FFF2-40B4-BE49-F238E27FC236}">
                    <a16:creationId xmlns:a16="http://schemas.microsoft.com/office/drawing/2014/main" id="{5B222F6C-099E-9798-A8F7-063A6CD2D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447722"/>
                <a:ext cx="5257800" cy="4701089"/>
              </a:xfrm>
              <a:prstGeom prst="rect">
                <a:avLst/>
              </a:prstGeom>
              <a:blipFill>
                <a:blip r:embed="rId3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1850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B6657-112D-FDFF-FF12-F273996AC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DD858-97BA-F6D3-3CBE-DBFC40CC4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Module-LWE (MLWE)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51800F0-3C66-2A77-305B-F23C2804B9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ar-AE" i="1" smtClean="0">
                        <a:latin typeface="Cambria Math"/>
                      </a:rPr>
                      <m:t>𝐴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ko-KR" i="1">
                            <a:latin typeface="Cambria Math"/>
                          </a:rPr>
                          <m:t>∈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𝑅</m:t>
                        </m:r>
                      </m:sub>
                    </m:sSub>
                    <m:sSubSup>
                      <m:sSub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𝑞</m:t>
                        </m:r>
                      </m:sub>
                      <m:sup>
                        <m:r>
                          <a:rPr lang="ko-KR" altLang="ar-AE" i="1">
                            <a:latin typeface="Cambria Math"/>
                          </a:rPr>
                          <m:t>𝑘</m:t>
                        </m:r>
                        <m:r>
                          <a:rPr lang="ar-AE" altLang="ko-KR" i="1">
                            <a:latin typeface="Cambria Math"/>
                          </a:rPr>
                          <m:t>×</m:t>
                        </m:r>
                        <m:r>
                          <a:rPr lang="ar-AE" altLang="ko-KR" i="1">
                            <a:latin typeface="Cambria Math"/>
                          </a:rPr>
                          <m:t>ℓ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ko-KR" altLang="ar-AE" i="1">
                        <a:latin typeface="Cambria Math"/>
                      </a:rPr>
                      <m:t>𝑠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ko-KR" i="1">
                            <a:latin typeface="Cambria Math"/>
                          </a:rPr>
                          <m:t>∈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𝑅</m:t>
                        </m:r>
                      </m:sub>
                    </m:sSub>
                    <m:sSubSup>
                      <m:sSub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𝑞</m:t>
                        </m:r>
                      </m:sub>
                      <m:sup>
                        <m:r>
                          <a:rPr lang="ar-AE" altLang="ko-KR" i="1">
                            <a:latin typeface="Cambria Math"/>
                          </a:rPr>
                          <m:t>ℓ</m:t>
                        </m:r>
                      </m:sup>
                    </m:sSubSup>
                    <m:r>
                      <a:rPr lang="ar-AE" altLang="ko-KR" i="1"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ar-AE" altLang="ko-KR" i="1">
                        <a:latin typeface="Cambria Math"/>
                      </a:rPr>
                      <m:t> </m:t>
                    </m:r>
                    <m:r>
                      <a:rPr lang="ko-KR" altLang="ar-AE" i="1">
                        <a:latin typeface="Cambria Math"/>
                      </a:rPr>
                      <m:t>𝑒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ko-KR" i="1">
                            <a:latin typeface="Cambria Math"/>
                          </a:rPr>
                          <m:t>∈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𝑅</m:t>
                        </m:r>
                      </m:sub>
                    </m:sSub>
                    <m:sSubSup>
                      <m:sSub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ko-KR" altLang="ar-AE" i="1">
                            <a:latin typeface="Cambria Math"/>
                          </a:rPr>
                          <m:t>𝐵</m:t>
                        </m:r>
                      </m:sub>
                      <m:sup>
                        <m:r>
                          <a:rPr lang="ko-KR" altLang="ar-AE" i="1">
                            <a:latin typeface="Cambria Math"/>
                          </a:rPr>
                          <m:t>𝑘</m:t>
                        </m:r>
                      </m:sup>
                    </m:sSubSup>
                    <m:r>
                      <m:rPr>
                        <m:nor/>
                      </m:rPr>
                      <a:rPr lang="ar-AE" altLang="ko-KR" i="1">
                        <a:latin typeface="Cambria Math"/>
                      </a:rPr>
                      <m:t> </m:t>
                    </m:r>
                    <m:r>
                      <a:rPr lang="ar-AE" altLang="ko-KR" i="1">
                        <a:latin typeface="Cambria Math"/>
                      </a:rPr>
                      <m:t>(</m:t>
                    </m:r>
                    <m:r>
                      <a:rPr lang="ko-KR" altLang="ar-AE" i="1">
                        <a:latin typeface="Cambria Math"/>
                      </a:rPr>
                      <m:t>𝑘</m:t>
                    </m:r>
                    <m:r>
                      <a:rPr lang="ar-AE" altLang="ko-KR" i="1">
                        <a:latin typeface="Cambria Math"/>
                      </a:rPr>
                      <m:t>&gt;</m:t>
                    </m:r>
                    <m:r>
                      <a:rPr lang="ar-AE" altLang="ko-KR" i="1">
                        <a:latin typeface="Cambria Math"/>
                      </a:rPr>
                      <m:t>ℓ</m:t>
                    </m:r>
                    <m:r>
                      <a:rPr lang="ar-AE" altLang="ko-KR" i="1">
                        <a:latin typeface="Cambria Math"/>
                      </a:rPr>
                      <m:t>),</m:t>
                    </m:r>
                    <m:r>
                      <m:rPr>
                        <m:nor/>
                      </m:rPr>
                      <a:rPr lang="ar-AE" altLang="ko-KR" i="1">
                        <a:latin typeface="Cambria Math"/>
                      </a:rPr>
                      <m:t> </m:t>
                    </m:r>
                    <m:r>
                      <a:rPr lang="ko-KR" altLang="ar-AE" i="1">
                        <a:latin typeface="Cambria Math"/>
                      </a:rPr>
                      <m:t>𝑡</m:t>
                    </m:r>
                    <m:r>
                      <a:rPr lang="ar-AE" altLang="ko-KR" i="1">
                        <a:latin typeface="Cambria Math"/>
                      </a:rPr>
                      <m:t>=</m:t>
                    </m:r>
                    <m:r>
                      <a:rPr lang="ko-KR" altLang="ar-AE" i="1">
                        <a:latin typeface="Cambria Math"/>
                      </a:rPr>
                      <m:t>𝐴𝑠</m:t>
                    </m:r>
                    <m:r>
                      <a:rPr lang="ar-AE" altLang="ko-KR" i="1">
                        <a:latin typeface="Cambria Math"/>
                      </a:rPr>
                      <m:t>+</m:t>
                    </m:r>
                    <m:r>
                      <a:rPr lang="ko-KR" altLang="ar-AE" i="1">
                        <a:latin typeface="Cambria Math"/>
                      </a:rPr>
                      <m:t>𝑒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MLWE </a:t>
                </a:r>
                <a:r>
                  <a:rPr lang="ko-KR" altLang="en-US" dirty="0"/>
                  <a:t>문제</a:t>
                </a:r>
                <a:r>
                  <a:rPr lang="en-US" altLang="ko-KR" dirty="0"/>
                  <a:t>: A, t</a:t>
                </a:r>
                <a:r>
                  <a:rPr lang="ko-KR" altLang="en-US" dirty="0"/>
                  <a:t>가 주어졌을 때 </a:t>
                </a:r>
                <a:r>
                  <a:rPr lang="en-US" altLang="ko-KR" dirty="0"/>
                  <a:t>s</a:t>
                </a:r>
                <a:r>
                  <a:rPr lang="ko-KR" altLang="en-US" dirty="0"/>
                  <a:t>를 찾아라</a:t>
                </a:r>
                <a:endParaRPr lang="en-US" altLang="ko-KR" dirty="0"/>
              </a:p>
              <a:p>
                <a:r>
                  <a:rPr lang="ko-KR" altLang="en-US" dirty="0"/>
                  <a:t>행렬이 세로로 긴</a:t>
                </a:r>
                <a:r>
                  <a:rPr lang="en-US" altLang="ko-KR" dirty="0"/>
                  <a:t>(k&gt;ℓ) </a:t>
                </a:r>
                <a:r>
                  <a:rPr lang="ko-KR" altLang="en-US" dirty="0"/>
                  <a:t>이유</a:t>
                </a:r>
                <a:r>
                  <a:rPr lang="en-US" altLang="ko-KR" dirty="0"/>
                  <a:t>:</a:t>
                </a:r>
              </a:p>
              <a:p>
                <a:pPr marL="457200" lvl="1" indent="0">
                  <a:buNone/>
                </a:pPr>
                <a:r>
                  <a:rPr lang="en-US" altLang="ko-KR" dirty="0"/>
                  <a:t>- e=0</a:t>
                </a:r>
                <a:r>
                  <a:rPr lang="ko-KR" altLang="en-US" dirty="0"/>
                  <a:t>이면 </a:t>
                </a:r>
                <a:r>
                  <a:rPr lang="en-US" altLang="ko-KR" dirty="0"/>
                  <a:t>As=t</a:t>
                </a:r>
                <a:r>
                  <a:rPr lang="ko-KR" altLang="en-US" dirty="0"/>
                  <a:t>는 방정식이 미지수보다 많은 </a:t>
                </a:r>
                <a:r>
                  <a:rPr lang="ko-KR" altLang="en-US" dirty="0" err="1"/>
                  <a:t>선형계</a:t>
                </a:r>
                <a:r>
                  <a:rPr lang="ko-KR" altLang="en-US" dirty="0"/>
                  <a:t> → 가우스 소거로 </a:t>
                </a:r>
                <a:r>
                  <a:rPr lang="en-US" altLang="ko-KR" dirty="0"/>
                  <a:t>s</a:t>
                </a:r>
                <a:r>
                  <a:rPr lang="ko-KR" altLang="en-US" dirty="0"/>
                  <a:t>가 유일하게 결정됨</a:t>
                </a:r>
                <a:endParaRPr lang="en-US" altLang="ko-KR" dirty="0"/>
              </a:p>
              <a:p>
                <a:pPr marL="457200" lvl="1" indent="0">
                  <a:buNone/>
                </a:pPr>
                <a:r>
                  <a:rPr lang="en-US" altLang="ko-KR" dirty="0"/>
                  <a:t>- </a:t>
                </a:r>
                <a:r>
                  <a:rPr lang="ko-KR" altLang="en-US" dirty="0"/>
                  <a:t>오차 </a:t>
                </a:r>
                <a:r>
                  <a:rPr lang="en-US" altLang="ko-KR" dirty="0"/>
                  <a:t>e</a:t>
                </a:r>
                <a:r>
                  <a:rPr lang="ko-KR" altLang="en-US" dirty="0"/>
                  <a:t>가 섞이면 이 유일성 논증이 더 이상 성립하지 않고</a:t>
                </a:r>
                <a:r>
                  <a:rPr lang="en-US" altLang="ko-KR" dirty="0"/>
                  <a:t>, s</a:t>
                </a:r>
                <a:r>
                  <a:rPr lang="ko-KR" altLang="en-US" dirty="0"/>
                  <a:t>를 구하는 효율적 알고리즘이 알려져 있지 않음</a:t>
                </a:r>
                <a:r>
                  <a:rPr lang="en-US" altLang="ko-KR" dirty="0"/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51800F0-3C66-2A77-305B-F23C2804B9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9E4F38-B3B8-209E-52FF-FE494880A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2091E1C-2157-C230-A0CE-CAAB899FA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211" y="1249605"/>
            <a:ext cx="3653589" cy="161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9461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FFC75-2891-F944-0C9B-4E6755654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10479-5F3E-ED29-D770-DF1D32A0A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MLWE </a:t>
            </a:r>
            <a:r>
              <a:rPr lang="ko-KR" altLang="en-US" dirty="0"/>
              <a:t>숫자 예제 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970599E-2872-6D98-406C-ECC9186A45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q=541, n=4, k=3, ℓ=2, </a:t>
                </a:r>
                <a:r>
                  <a:rPr lang="el-GR" altLang="ko-KR" dirty="0"/>
                  <a:t>η₁=3, η₂=2,  </a:t>
                </a:r>
                <a:r>
                  <a:rPr lang="en-US" altLang="ko-KR" dirty="0" err="1"/>
                  <a:t>R</a:t>
                </a:r>
                <a:r>
                  <a:rPr lang="en-US" altLang="ko-KR" baseline="-25000" dirty="0" err="1"/>
                  <a:t>q</a:t>
                </a:r>
                <a:r>
                  <a:rPr lang="en-US" altLang="ko-KR" dirty="0"/>
                  <a:t>=ℤ</a:t>
                </a:r>
                <a:r>
                  <a:rPr lang="en-US" altLang="ko-KR" baseline="-25000" dirty="0"/>
                  <a:t>541</a:t>
                </a:r>
                <a:r>
                  <a:rPr lang="en-US" altLang="ko-KR" dirty="0"/>
                  <a:t>[x]/(x⁴+1)</a:t>
                </a:r>
              </a:p>
              <a:p>
                <a14:m>
                  <m:oMath xmlns:m="http://schemas.openxmlformats.org/officeDocument/2006/math">
                    <m:r>
                      <a:rPr lang="ko-KR" altLang="ar-AE" i="1">
                        <a:latin typeface="Cambria Math"/>
                      </a:rPr>
                      <m:t>𝐴</m:t>
                    </m:r>
                    <m:r>
                      <a:rPr lang="ar-AE" altLang="ko-KR" i="1">
                        <a:latin typeface="Cambria Math"/>
                      </a:rPr>
                      <m:t>=[</m:t>
                    </m:r>
                    <m:m>
                      <m:mPr>
                        <m:plcHide m:val="on"/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ar-AE" altLang="ko-KR" i="1">
                              <a:latin typeface="Cambria Math"/>
                            </a:rPr>
                            <m:t>442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502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513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15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  <m:e>
                          <m:r>
                            <a:rPr lang="ar-AE" altLang="ko-KR" i="1">
                              <a:latin typeface="Cambria Math"/>
                            </a:rPr>
                            <m:t>368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166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37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135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</m:mr>
                      <m:mr>
                        <m:e>
                          <m:r>
                            <a:rPr lang="ar-AE" altLang="ko-KR" i="1">
                              <a:latin typeface="Cambria Math"/>
                            </a:rPr>
                            <m:t>479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532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116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41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  <m:e>
                          <m:r>
                            <a:rPr lang="ar-AE" altLang="ko-KR" i="1">
                              <a:latin typeface="Cambria Math"/>
                            </a:rPr>
                            <m:t>12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139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385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409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</m:mr>
                      <m:mr>
                        <m:e>
                          <m:r>
                            <a:rPr lang="ar-AE" altLang="ko-KR" i="1">
                              <a:latin typeface="Cambria Math"/>
                            </a:rPr>
                            <m:t>29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394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503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389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  <m:e>
                          <m:r>
                            <a:rPr lang="ar-AE" altLang="ko-KR" i="1">
                              <a:latin typeface="Cambria Math"/>
                            </a:rPr>
                            <m:t>9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499</m:t>
                          </m:r>
                          <m:r>
                            <a:rPr lang="ko-KR" altLang="ar-AE" i="1">
                              <a:latin typeface="Cambria Math"/>
                            </a:rPr>
                            <m:t>𝑥</m:t>
                          </m:r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92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ko-KR" i="1">
                              <a:latin typeface="Cambria Math"/>
                            </a:rPr>
                            <m:t>+</m:t>
                          </m:r>
                          <m:r>
                            <a:rPr lang="ar-AE" altLang="ko-KR" i="1">
                              <a:latin typeface="Cambria Math"/>
                            </a:rPr>
                            <m:t>254</m:t>
                          </m:r>
                          <m:sSup>
                            <m:sSupPr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ar-AE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altLang="ko-KR" i="1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e>
                      </m:mr>
                    </m:m>
                    <m:r>
                      <a:rPr lang="ar-AE" altLang="ko-KR" i="1">
                        <a:latin typeface="Cambria Math"/>
                      </a:rPr>
                      <m:t>]</m:t>
                    </m:r>
                  </m:oMath>
                </a14:m>
                <a:endParaRPr lang="ar-AE" altLang="ko-KR" dirty="0"/>
              </a:p>
              <a:p>
                <a14:m>
                  <m:oMath xmlns:m="http://schemas.openxmlformats.org/officeDocument/2006/math">
                    <m:r>
                      <a:rPr lang="ko-KR" altLang="ar-AE" i="1">
                        <a:latin typeface="Cambria Math"/>
                      </a:rPr>
                      <m:t>𝑠</m:t>
                    </m:r>
                    <m:r>
                      <a:rPr lang="ar-AE" altLang="ko-KR" i="1">
                        <a:latin typeface="Cambria Math"/>
                      </a:rPr>
                      <m:t>=[</m:t>
                    </m:r>
                    <m:eqArr>
                      <m:eqArr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r>
                          <a:rPr lang="ar-AE" altLang="ko-KR" i="1">
                            <a:latin typeface="Cambria Math"/>
                          </a:rPr>
                          <m:t>2</m:t>
                        </m:r>
                        <m:r>
                          <a:rPr lang="ar-AE" altLang="ko-KR" i="1">
                            <a:latin typeface="Cambria Math"/>
                          </a:rPr>
                          <m:t>−</m:t>
                        </m:r>
                        <m:r>
                          <a:rPr lang="ar-AE" altLang="ko-KR" i="1">
                            <a:latin typeface="Cambria Math"/>
                          </a:rPr>
                          <m:t>2</m:t>
                        </m:r>
                        <m:r>
                          <a:rPr lang="ko-KR" altLang="ar-AE" i="1">
                            <a:latin typeface="Cambria Math"/>
                          </a:rPr>
                          <m:t>𝑥</m:t>
                        </m:r>
                        <m:r>
                          <a:rPr lang="ar-AE" altLang="ko-KR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>
                                <a:latin typeface="Cambria Math"/>
                              </a:rPr>
                              <m:t>3</m:t>
                            </m:r>
                          </m:sup>
                        </m:sSup>
                      </m:e>
                      <m:e>
                        <m:r>
                          <a:rPr lang="ar-AE" altLang="ko-KR" i="1">
                            <a:latin typeface="Cambria Math"/>
                          </a:rPr>
                          <m:t>3</m:t>
                        </m:r>
                        <m:r>
                          <a:rPr lang="ar-AE" altLang="ko-KR" i="1">
                            <a:latin typeface="Cambria Math"/>
                          </a:rPr>
                          <m:t>−</m:t>
                        </m:r>
                        <m:r>
                          <a:rPr lang="ar-AE" altLang="ko-KR" i="1">
                            <a:latin typeface="Cambria Math"/>
                          </a:rPr>
                          <m:t>2</m:t>
                        </m:r>
                        <m:r>
                          <a:rPr lang="ko-KR" altLang="ar-AE" i="1">
                            <a:latin typeface="Cambria Math"/>
                          </a:rPr>
                          <m:t>𝑥</m:t>
                        </m:r>
                        <m:r>
                          <a:rPr lang="ko-KR" altLang="ar-AE" i="1">
                            <a:latin typeface="Cambria Math"/>
                          </a:rPr>
                          <m:t>−</m:t>
                        </m:r>
                        <m:r>
                          <a:rPr lang="ar-AE" altLang="ko-KR" i="1">
                            <a:latin typeface="Cambria Math"/>
                          </a:rPr>
                          <m:t>2</m:t>
                        </m:r>
                        <m:sSup>
                          <m:sSup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ar-AE" altLang="ko-KR" i="1">
                            <a:latin typeface="Cambria Math"/>
                          </a:rPr>
                          <m:t>−</m:t>
                        </m:r>
                        <m:r>
                          <a:rPr lang="ar-AE" altLang="ko-KR" i="1">
                            <a:latin typeface="Cambria Math"/>
                          </a:rPr>
                          <m:t>2</m:t>
                        </m:r>
                        <m:sSup>
                          <m:sSup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>
                                <a:latin typeface="Cambria Math"/>
                              </a:rPr>
                              <m:t>3</m:t>
                            </m:r>
                          </m:sup>
                        </m:sSup>
                      </m:e>
                    </m:eqArr>
                    <m:r>
                      <a:rPr lang="ar-AE" altLang="ko-KR" i="1">
                        <a:latin typeface="Cambria Math"/>
                      </a:rPr>
                      <m:t>]∈</m:t>
                    </m:r>
                    <m:sSubSup>
                      <m:sSub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ar-AE" altLang="ko-KR" i="1">
                            <a:latin typeface="Cambria Math"/>
                          </a:rPr>
                          <m:t>3</m:t>
                        </m:r>
                      </m:sub>
                      <m:sup>
                        <m:r>
                          <a:rPr lang="ar-AE" altLang="ko-KR" i="1"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endParaRPr lang="ar-AE" altLang="ko-KR" dirty="0"/>
              </a:p>
              <a:p>
                <a14:m>
                  <m:oMath xmlns:m="http://schemas.openxmlformats.org/officeDocument/2006/math">
                    <m:r>
                      <a:rPr lang="ko-KR" altLang="ar-AE" i="1">
                        <a:latin typeface="Cambria Math"/>
                      </a:rPr>
                      <m:t>𝑒</m:t>
                    </m:r>
                    <m:r>
                      <a:rPr lang="ar-AE" altLang="ko-KR" i="1">
                        <a:latin typeface="Cambria Math"/>
                      </a:rPr>
                      <m:t>=[</m:t>
                    </m:r>
                    <m:eqArr>
                      <m:eqArr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r>
                          <a:rPr lang="ar-AE" altLang="ko-KR" i="1">
                            <a:latin typeface="Cambria Math"/>
                          </a:rPr>
                          <m:t>2</m:t>
                        </m:r>
                        <m:r>
                          <a:rPr lang="ar-AE" altLang="ko-KR" i="1">
                            <a:latin typeface="Cambria Math"/>
                          </a:rPr>
                          <m:t>−</m:t>
                        </m:r>
                        <m:r>
                          <a:rPr lang="ar-AE" altLang="ko-KR" i="1">
                            <a:latin typeface="Cambria Math"/>
                          </a:rPr>
                          <m:t>2</m:t>
                        </m:r>
                        <m:r>
                          <a:rPr lang="ko-KR" altLang="ar-AE" i="1">
                            <a:latin typeface="Cambria Math"/>
                          </a:rPr>
                          <m:t>𝑥</m:t>
                        </m:r>
                        <m:r>
                          <a:rPr lang="ko-KR" altLang="ar-AE" i="1">
                            <a:latin typeface="Cambria Math"/>
                          </a:rPr>
                          <m:t>−</m:t>
                        </m:r>
                        <m:sSup>
                          <m:sSup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  <m:e>
                        <m:r>
                          <a:rPr lang="ar-AE" altLang="ko-KR" i="1">
                            <a:latin typeface="Cambria Math"/>
                          </a:rPr>
                          <m:t>1</m:t>
                        </m:r>
                        <m:r>
                          <a:rPr lang="ar-AE" altLang="ko-KR" i="1">
                            <a:latin typeface="Cambria Math"/>
                          </a:rPr>
                          <m:t>+</m:t>
                        </m:r>
                        <m:r>
                          <a:rPr lang="ar-AE" altLang="ko-KR" i="1">
                            <a:latin typeface="Cambria Math"/>
                          </a:rPr>
                          <m:t>2</m:t>
                        </m:r>
                        <m:r>
                          <a:rPr lang="ko-KR" altLang="ar-AE" i="1">
                            <a:latin typeface="Cambria Math"/>
                          </a:rPr>
                          <m:t>𝑥</m:t>
                        </m:r>
                        <m:r>
                          <a:rPr lang="ar-AE" altLang="ko-KR" i="1">
                            <a:latin typeface="Cambria Math"/>
                          </a:rPr>
                          <m:t>+</m:t>
                        </m:r>
                        <m:r>
                          <a:rPr lang="ar-AE" altLang="ko-KR" i="1">
                            <a:latin typeface="Cambria Math"/>
                          </a:rPr>
                          <m:t>2</m:t>
                        </m:r>
                        <m:sSup>
                          <m:sSup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ar-AE" altLang="ko-KR" i="1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>
                                <a:latin typeface="Cambria Math"/>
                              </a:rPr>
                              <m:t>3</m:t>
                            </m:r>
                          </m:sup>
                        </m:sSup>
                      </m:e>
                      <m:e>
                        <m:r>
                          <a:rPr lang="ar-AE" altLang="ko-KR" i="1">
                            <a:latin typeface="Cambria Math"/>
                          </a:rPr>
                          <m:t>−</m:t>
                        </m:r>
                        <m:r>
                          <a:rPr lang="ar-AE" altLang="ko-KR" i="1">
                            <a:latin typeface="Cambria Math"/>
                          </a:rPr>
                          <m:t>2</m:t>
                        </m:r>
                        <m:r>
                          <a:rPr lang="ar-AE" altLang="ko-KR" i="1">
                            <a:latin typeface="Cambria Math"/>
                          </a:rPr>
                          <m:t>−</m:t>
                        </m:r>
                        <m:sSup>
                          <m:sSup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ar-AE" altLang="ko-KR" i="1">
                            <a:latin typeface="Cambria Math"/>
                          </a:rPr>
                          <m:t>−</m:t>
                        </m:r>
                        <m:r>
                          <a:rPr lang="ar-AE" altLang="ko-KR" i="1">
                            <a:latin typeface="Cambria Math"/>
                          </a:rPr>
                          <m:t>2</m:t>
                        </m:r>
                        <m:sSup>
                          <m:sSup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>
                                <a:latin typeface="Cambria Math"/>
                              </a:rPr>
                              <m:t>3</m:t>
                            </m:r>
                          </m:sup>
                        </m:sSup>
                      </m:e>
                    </m:eqArr>
                    <m:r>
                      <a:rPr lang="ar-AE" altLang="ko-KR" i="1">
                        <a:latin typeface="Cambria Math"/>
                      </a:rPr>
                      <m:t>]∈</m:t>
                    </m:r>
                    <m:sSubSup>
                      <m:sSub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ar-AE" altLang="ko-KR" i="1">
                            <a:latin typeface="Cambria Math"/>
                          </a:rPr>
                          <m:t>2</m:t>
                        </m:r>
                      </m:sub>
                      <m:sup>
                        <m:r>
                          <a:rPr lang="ar-AE" altLang="ko-KR" i="1">
                            <a:latin typeface="Cambria Math"/>
                          </a:rPr>
                          <m:t>3</m:t>
                        </m:r>
                      </m:sup>
                    </m:sSubSup>
                  </m:oMath>
                </a14:m>
                <a:endParaRPr lang="ar-AE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970599E-2872-6D98-406C-ECC9186A45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9C87F3-C863-8CBF-E69A-786C5924A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4959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EA104-ADE7-A93F-0F56-929A7A195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461D63-EA38-D4C6-00B7-F5AD247B0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MLWE </a:t>
            </a:r>
            <a:r>
              <a:rPr lang="ko-KR" altLang="en-US" dirty="0"/>
              <a:t>숫자 예제 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0E54BB8-F901-BE8F-644F-F5E2B9431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ko-KR" altLang="ar-AE" i="1">
                        <a:latin typeface="Cambria Math"/>
                      </a:rPr>
                      <m:t>𝑡</m:t>
                    </m:r>
                    <m:r>
                      <a:rPr lang="ar-AE" altLang="ko-KR" i="1">
                        <a:latin typeface="Cambria Math"/>
                      </a:rPr>
                      <m:t>=</m:t>
                    </m:r>
                    <m:r>
                      <a:rPr lang="ko-KR" altLang="ar-AE" i="1">
                        <a:latin typeface="Cambria Math"/>
                      </a:rPr>
                      <m:t>𝐴𝑠</m:t>
                    </m:r>
                    <m:r>
                      <a:rPr lang="ar-AE" altLang="ko-KR" i="1">
                        <a:latin typeface="Cambria Math"/>
                      </a:rPr>
                      <m:t>+</m:t>
                    </m:r>
                    <m:r>
                      <a:rPr lang="ko-KR" altLang="ar-AE" i="1">
                        <a:latin typeface="Cambria Math"/>
                      </a:rPr>
                      <m:t>𝑒</m:t>
                    </m:r>
                    <m:r>
                      <a:rPr lang="ar-AE" altLang="ko-KR" i="1">
                        <a:latin typeface="Cambria Math"/>
                      </a:rPr>
                      <m:t>=[</m:t>
                    </m:r>
                    <m:eqArr>
                      <m:eqArr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r>
                          <a:rPr lang="ar-AE" altLang="ko-KR" i="1">
                            <a:latin typeface="Cambria Math"/>
                          </a:rPr>
                          <m:t>30</m:t>
                        </m:r>
                        <m:r>
                          <a:rPr lang="ar-AE" altLang="ko-KR" i="1">
                            <a:latin typeface="Cambria Math"/>
                          </a:rPr>
                          <m:t>+</m:t>
                        </m:r>
                        <m:r>
                          <a:rPr lang="ar-AE" altLang="ko-KR" i="1">
                            <a:latin typeface="Cambria Math"/>
                          </a:rPr>
                          <m:t>252</m:t>
                        </m:r>
                        <m:r>
                          <a:rPr lang="ko-KR" altLang="ar-AE" i="1">
                            <a:latin typeface="Cambria Math"/>
                          </a:rPr>
                          <m:t>𝑥</m:t>
                        </m:r>
                        <m:r>
                          <a:rPr lang="ar-AE" altLang="ko-KR" i="1">
                            <a:latin typeface="Cambria Math"/>
                          </a:rPr>
                          <m:t>+</m:t>
                        </m:r>
                        <m:r>
                          <a:rPr lang="ar-AE" altLang="ko-KR" i="1">
                            <a:latin typeface="Cambria Math"/>
                          </a:rPr>
                          <m:t>401</m:t>
                        </m:r>
                        <m:sSup>
                          <m:sSup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ar-AE" altLang="ko-KR" i="1">
                            <a:latin typeface="Cambria Math"/>
                          </a:rPr>
                          <m:t>+</m:t>
                        </m:r>
                        <m:r>
                          <a:rPr lang="ar-AE" altLang="ko-KR" i="1">
                            <a:latin typeface="Cambria Math"/>
                          </a:rPr>
                          <m:t>332</m:t>
                        </m:r>
                        <m:sSup>
                          <m:sSup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>
                                <a:latin typeface="Cambria Math"/>
                              </a:rPr>
                              <m:t>3</m:t>
                            </m:r>
                          </m:sup>
                        </m:sSup>
                      </m:e>
                      <m:e>
                        <m:r>
                          <a:rPr lang="ar-AE" altLang="ko-KR" i="1">
                            <a:latin typeface="Cambria Math"/>
                          </a:rPr>
                          <m:t>247</m:t>
                        </m:r>
                        <m:r>
                          <a:rPr lang="ar-AE" altLang="ko-KR" i="1">
                            <a:latin typeface="Cambria Math"/>
                          </a:rPr>
                          <m:t>+</m:t>
                        </m:r>
                        <m:r>
                          <a:rPr lang="ar-AE" altLang="ko-KR" i="1">
                            <a:latin typeface="Cambria Math"/>
                          </a:rPr>
                          <m:t>350</m:t>
                        </m:r>
                        <m:r>
                          <a:rPr lang="ko-KR" altLang="ar-AE" i="1">
                            <a:latin typeface="Cambria Math"/>
                          </a:rPr>
                          <m:t>𝑥</m:t>
                        </m:r>
                        <m:r>
                          <a:rPr lang="ar-AE" altLang="ko-KR" i="1">
                            <a:latin typeface="Cambria Math"/>
                          </a:rPr>
                          <m:t>+</m:t>
                        </m:r>
                        <m:r>
                          <a:rPr lang="ar-AE" altLang="ko-KR" i="1">
                            <a:latin typeface="Cambria Math"/>
                          </a:rPr>
                          <m:t>259</m:t>
                        </m:r>
                        <m:sSup>
                          <m:sSup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ar-AE" altLang="ko-KR" i="1">
                            <a:latin typeface="Cambria Math"/>
                          </a:rPr>
                          <m:t>+</m:t>
                        </m:r>
                        <m:r>
                          <a:rPr lang="ar-AE" altLang="ko-KR" i="1">
                            <a:latin typeface="Cambria Math"/>
                          </a:rPr>
                          <m:t>485</m:t>
                        </m:r>
                        <m:sSup>
                          <m:sSup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>
                                <a:latin typeface="Cambria Math"/>
                              </a:rPr>
                              <m:t>3</m:t>
                            </m:r>
                          </m:sup>
                        </m:sSup>
                      </m:e>
                      <m:e>
                        <m:r>
                          <a:rPr lang="ar-AE" altLang="ko-KR" i="1">
                            <a:latin typeface="Cambria Math"/>
                          </a:rPr>
                          <m:t>534</m:t>
                        </m:r>
                        <m:r>
                          <a:rPr lang="ar-AE" altLang="ko-KR" i="1">
                            <a:latin typeface="Cambria Math"/>
                          </a:rPr>
                          <m:t>+</m:t>
                        </m:r>
                        <m:r>
                          <a:rPr lang="ar-AE" altLang="ko-KR" i="1">
                            <a:latin typeface="Cambria Math"/>
                          </a:rPr>
                          <m:t>234</m:t>
                        </m:r>
                        <m:r>
                          <a:rPr lang="ko-KR" altLang="ar-AE" i="1">
                            <a:latin typeface="Cambria Math"/>
                          </a:rPr>
                          <m:t>𝑥</m:t>
                        </m:r>
                        <m:r>
                          <a:rPr lang="ar-AE" altLang="ko-KR" i="1">
                            <a:latin typeface="Cambria Math"/>
                          </a:rPr>
                          <m:t>+</m:t>
                        </m:r>
                        <m:r>
                          <a:rPr lang="ar-AE" altLang="ko-KR" i="1">
                            <a:latin typeface="Cambria Math"/>
                          </a:rPr>
                          <m:t>137</m:t>
                        </m:r>
                        <m:sSup>
                          <m:sSup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ar-AE" altLang="ko-KR" i="1">
                            <a:latin typeface="Cambria Math"/>
                          </a:rPr>
                          <m:t>+</m:t>
                        </m:r>
                        <m:r>
                          <a:rPr lang="ar-AE" altLang="ko-KR" i="1">
                            <a:latin typeface="Cambria Math"/>
                          </a:rPr>
                          <m:t>443</m:t>
                        </m:r>
                        <m:sSup>
                          <m:sSup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ar-AE" i="1">
                                <a:latin typeface="Cambria Math"/>
                              </a:rPr>
                              <m:t>𝑥</m:t>
                            </m:r>
                          </m:e>
                          <m:sup>
                            <m:r>
                              <a:rPr lang="ar-AE" altLang="ko-KR" i="1">
                                <a:latin typeface="Cambria Math"/>
                              </a:rPr>
                              <m:t>3</m:t>
                            </m:r>
                          </m:sup>
                        </m:sSup>
                      </m:e>
                    </m:eqArr>
                    <m:r>
                      <a:rPr lang="ar-AE" altLang="ko-KR" i="1">
                        <a:latin typeface="Cambria Math"/>
                      </a:rPr>
                      <m:t>]</m:t>
                    </m:r>
                  </m:oMath>
                </a14:m>
                <a:endParaRPr lang="ar-AE" altLang="ko-KR" dirty="0"/>
              </a:p>
              <a:p>
                <a14:m>
                  <m:oMath xmlns:m="http://schemas.openxmlformats.org/officeDocument/2006/math">
                    <m:r>
                      <a:rPr lang="ar-AE" altLang="ko-KR" i="1">
                        <a:latin typeface="Cambria Math"/>
                      </a:rPr>
                      <m:t>‖</m:t>
                    </m:r>
                    <m:r>
                      <a:rPr lang="ko-KR" altLang="ar-AE" i="1">
                        <a:latin typeface="Cambria Math"/>
                      </a:rPr>
                      <m:t>𝑡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ko-KR" i="1"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ar-AE" altLang="ko-KR" i="1">
                            <a:latin typeface="Cambria Math"/>
                          </a:rPr>
                          <m:t>∞</m:t>
                        </m:r>
                      </m:sub>
                    </m:sSub>
                    <m:r>
                      <a:rPr lang="ar-AE" altLang="ko-KR" i="1">
                        <a:latin typeface="Cambria Math"/>
                      </a:rPr>
                      <m:t>=</m:t>
                    </m:r>
                    <m:r>
                      <a:rPr lang="ar-AE" altLang="ko-KR" i="1">
                        <a:latin typeface="Cambria Math"/>
                      </a:rPr>
                      <m:t>259</m:t>
                    </m:r>
                  </m:oMath>
                </a14:m>
                <a:endParaRPr lang="ar-AE" altLang="ko-KR" dirty="0"/>
              </a:p>
              <a:p>
                <a:r>
                  <a:rPr lang="en-US" altLang="ko-KR" dirty="0"/>
                  <a:t>‖t‖∞=259 ≈ q/2=270.5 </a:t>
                </a:r>
              </a:p>
              <a:p>
                <a:pPr marL="457200" lvl="1" indent="0">
                  <a:buNone/>
                </a:pPr>
                <a:r>
                  <a:rPr lang="en-US" altLang="ko-KR" dirty="0"/>
                  <a:t>- </a:t>
                </a:r>
                <a:r>
                  <a:rPr lang="ko-KR" altLang="en-US" dirty="0"/>
                  <a:t>사실상 무작위 벡터와 구별 불가능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오차 </a:t>
                </a:r>
                <a:r>
                  <a:rPr lang="en-US" altLang="ko-KR" dirty="0"/>
                  <a:t>e </a:t>
                </a:r>
                <a:r>
                  <a:rPr lang="ko-KR" altLang="en-US" dirty="0"/>
                  <a:t>덕분에 </a:t>
                </a:r>
                <a:r>
                  <a:rPr lang="en-US" altLang="ko-KR" dirty="0"/>
                  <a:t>t </a:t>
                </a:r>
                <a:r>
                  <a:rPr lang="ko-KR" altLang="en-US" dirty="0"/>
                  <a:t>자체는 작지 않음</a:t>
                </a:r>
                <a:r>
                  <a:rPr lang="en-US" altLang="ko-KR" dirty="0"/>
                  <a:t>)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0E54BB8-F901-BE8F-644F-F5E2B9431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F5EAE0-9BED-71BE-A8F7-32E23FA86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857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9D765-66C5-79A0-7E72-246160684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6D2DEC-C60D-A54D-DC70-6AA3788FF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Decisional MLWE (D-MLWE)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910959-3D02-F5B8-5A00-9AB7DAD51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∈</a:t>
            </a:r>
            <a:r>
              <a:rPr lang="en-US" altLang="ko-KR" baseline="-25000" dirty="0"/>
              <a:t>R</a:t>
            </a:r>
            <a:r>
              <a:rPr lang="en-US" altLang="ko-KR" dirty="0"/>
              <a:t> </a:t>
            </a:r>
            <a:r>
              <a:rPr lang="en-US" altLang="ko-KR" dirty="0" err="1"/>
              <a:t>R</a:t>
            </a:r>
            <a:r>
              <a:rPr lang="en-US" altLang="ko-KR" baseline="-25000" dirty="0" err="1"/>
              <a:t>q</a:t>
            </a:r>
            <a:r>
              <a:rPr lang="en-US" altLang="ko-KR" baseline="30000" dirty="0" err="1"/>
              <a:t>k</a:t>
            </a:r>
            <a:r>
              <a:rPr lang="en-US" altLang="ko-KR" baseline="30000" dirty="0"/>
              <a:t>×ℓ</a:t>
            </a:r>
            <a:r>
              <a:rPr lang="en-US" altLang="ko-KR" dirty="0"/>
              <a:t> </a:t>
            </a:r>
            <a:r>
              <a:rPr lang="ko-KR" altLang="en-US" dirty="0"/>
              <a:t>가 주어짐</a:t>
            </a:r>
          </a:p>
          <a:p>
            <a:r>
              <a:rPr lang="en-US" altLang="ko-KR" dirty="0"/>
              <a:t>z: </a:t>
            </a:r>
            <a:r>
              <a:rPr lang="ko-KR" altLang="en-US" dirty="0"/>
              <a:t>확률 </a:t>
            </a:r>
            <a:r>
              <a:rPr lang="en-US" altLang="ko-KR" dirty="0"/>
              <a:t>1/2</a:t>
            </a:r>
            <a:r>
              <a:rPr lang="ko-KR" altLang="en-US" dirty="0"/>
              <a:t>로 </a:t>
            </a:r>
            <a:r>
              <a:rPr lang="en-US" altLang="ko-KR" dirty="0"/>
              <a:t>MLWE </a:t>
            </a:r>
            <a:r>
              <a:rPr lang="ko-KR" altLang="en-US" dirty="0"/>
              <a:t>벡터 </a:t>
            </a:r>
            <a:r>
              <a:rPr lang="en-US" altLang="ko-KR" dirty="0"/>
              <a:t>t=</a:t>
            </a:r>
            <a:r>
              <a:rPr lang="en-US" altLang="ko-KR" dirty="0" err="1"/>
              <a:t>As+e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s,e</a:t>
            </a:r>
            <a:r>
              <a:rPr lang="ko-KR" altLang="en-US" dirty="0"/>
              <a:t>는 작은 벡터</a:t>
            </a:r>
            <a:r>
              <a:rPr lang="en-US" altLang="ko-KR" dirty="0"/>
              <a:t>), </a:t>
            </a:r>
            <a:r>
              <a:rPr lang="ko-KR" altLang="en-US" dirty="0"/>
              <a:t>확률 </a:t>
            </a:r>
            <a:r>
              <a:rPr lang="en-US" altLang="ko-KR" dirty="0"/>
              <a:t>1/2</a:t>
            </a:r>
            <a:r>
              <a:rPr lang="ko-KR" altLang="en-US" dirty="0"/>
              <a:t>로 완전 무작위인 </a:t>
            </a:r>
            <a:r>
              <a:rPr lang="en-US" altLang="ko-KR" dirty="0" err="1"/>
              <a:t>R</a:t>
            </a:r>
            <a:r>
              <a:rPr lang="en-US" altLang="ko-KR" baseline="-25000" dirty="0" err="1"/>
              <a:t>q</a:t>
            </a:r>
            <a:r>
              <a:rPr lang="en-US" altLang="ko-KR" dirty="0"/>
              <a:t>ᵏ </a:t>
            </a:r>
            <a:r>
              <a:rPr lang="ko-KR" altLang="en-US" dirty="0"/>
              <a:t>벡터</a:t>
            </a:r>
          </a:p>
          <a:p>
            <a:r>
              <a:rPr lang="ko-KR" altLang="en-US" dirty="0"/>
              <a:t>문제</a:t>
            </a:r>
            <a:r>
              <a:rPr lang="en-US" altLang="ko-KR" dirty="0"/>
              <a:t>: A, z</a:t>
            </a:r>
            <a:r>
              <a:rPr lang="ko-KR" altLang="en-US" dirty="0"/>
              <a:t>만 보고 </a:t>
            </a:r>
            <a:r>
              <a:rPr lang="en-US" altLang="ko-KR" dirty="0"/>
              <a:t>z</a:t>
            </a:r>
            <a:r>
              <a:rPr lang="ko-KR" altLang="en-US" dirty="0"/>
              <a:t>가 어느 쪽인지 구별하라</a:t>
            </a:r>
          </a:p>
          <a:p>
            <a:r>
              <a:rPr lang="en-US" altLang="ko-KR" dirty="0"/>
              <a:t>D-MLWE</a:t>
            </a:r>
            <a:r>
              <a:rPr lang="ko-KR" altLang="en-US" dirty="0"/>
              <a:t>가 어렵다면 → </a:t>
            </a:r>
            <a:r>
              <a:rPr lang="en-US" altLang="ko-KR" dirty="0"/>
              <a:t>A, t</a:t>
            </a:r>
            <a:r>
              <a:rPr lang="ko-KR" altLang="en-US" dirty="0"/>
              <a:t>만으로는 </a:t>
            </a:r>
            <a:r>
              <a:rPr lang="en-US" altLang="ko-KR" dirty="0"/>
              <a:t>s</a:t>
            </a:r>
            <a:r>
              <a:rPr lang="ko-KR" altLang="en-US" dirty="0"/>
              <a:t>에 대해 </a:t>
            </a:r>
            <a:r>
              <a:rPr lang="en-US" altLang="ko-KR" dirty="0"/>
              <a:t>(</a:t>
            </a:r>
            <a:r>
              <a:rPr lang="ko-KR" altLang="en-US" dirty="0"/>
              <a:t>무작위 벡터와 구별 안 될 정도로</a:t>
            </a:r>
            <a:r>
              <a:rPr lang="en-US" altLang="ko-KR" dirty="0"/>
              <a:t>) </a:t>
            </a:r>
            <a:r>
              <a:rPr lang="ko-KR" altLang="en-US" dirty="0"/>
              <a:t>아무 것도 알아낼 수 없음</a:t>
            </a:r>
          </a:p>
          <a:p>
            <a:pPr marL="457200" lvl="1" indent="0">
              <a:buNone/>
            </a:pPr>
            <a:r>
              <a:rPr lang="en-US" altLang="ko-KR" dirty="0"/>
              <a:t>- Kyber</a:t>
            </a:r>
            <a:r>
              <a:rPr lang="ko-KR" altLang="en-US" dirty="0"/>
              <a:t>의 </a:t>
            </a:r>
            <a:r>
              <a:rPr lang="en-US" altLang="ko-KR" dirty="0"/>
              <a:t>IND-CPA </a:t>
            </a:r>
            <a:r>
              <a:rPr lang="ko-KR" altLang="en-US" dirty="0"/>
              <a:t>안전성이 기대는 것이 이 성질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118F35-FC43-1E7B-15C8-1EF886189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5618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FA658-B780-1092-923D-5B5D3D636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6B5D0F-89B9-C092-AE1E-AE9054947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MLWE vs D-MLWE</a:t>
            </a:r>
            <a:endParaRPr lang="ko-KR" altLang="en-US" dirty="0"/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E70224F7-AFB0-6FE6-C501-1FDCD2BA99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5056315"/>
              </p:ext>
            </p:extLst>
          </p:nvPr>
        </p:nvGraphicFramePr>
        <p:xfrm>
          <a:off x="838198" y="1295399"/>
          <a:ext cx="10515600" cy="4287255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257928">
                  <a:extLst>
                    <a:ext uri="{9D8B030D-6E8A-4147-A177-3AD203B41FA5}">
                      <a16:colId xmlns:a16="http://schemas.microsoft.com/office/drawing/2014/main" val="4024193442"/>
                    </a:ext>
                  </a:extLst>
                </a:gridCol>
                <a:gridCol w="4219074">
                  <a:extLst>
                    <a:ext uri="{9D8B030D-6E8A-4147-A177-3AD203B41FA5}">
                      <a16:colId xmlns:a16="http://schemas.microsoft.com/office/drawing/2014/main" val="726330240"/>
                    </a:ext>
                  </a:extLst>
                </a:gridCol>
                <a:gridCol w="4038598">
                  <a:extLst>
                    <a:ext uri="{9D8B030D-6E8A-4147-A177-3AD203B41FA5}">
                      <a16:colId xmlns:a16="http://schemas.microsoft.com/office/drawing/2014/main" val="1742417777"/>
                    </a:ext>
                  </a:extLst>
                </a:gridCol>
              </a:tblGrid>
              <a:tr h="857451">
                <a:tc>
                  <a:txBody>
                    <a:bodyPr/>
                    <a:lstStyle/>
                    <a:p>
                      <a:pPr algn="ctr" latinLnBrk="1"/>
                      <a:endParaRPr lang="ko-KR" altLang="en-US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/>
                        <a:t>MLWE (</a:t>
                      </a:r>
                      <a:r>
                        <a:rPr lang="ko-KR" altLang="en-US" sz="1800" b="0" dirty="0"/>
                        <a:t>탐색</a:t>
                      </a:r>
                      <a:r>
                        <a:rPr lang="en-US" altLang="ko-KR" sz="1800" b="0" dirty="0"/>
                        <a:t>)</a:t>
                      </a:r>
                      <a:endParaRPr lang="ko-KR" altLang="en-US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/>
                        <a:t>D-MLWE (</a:t>
                      </a:r>
                      <a:r>
                        <a:rPr lang="ko-KR" altLang="en-US" sz="1800" b="0" dirty="0"/>
                        <a:t>결정</a:t>
                      </a:r>
                      <a:r>
                        <a:rPr lang="en-US" altLang="ko-KR" sz="1800" b="0" dirty="0"/>
                        <a:t>)</a:t>
                      </a:r>
                      <a:endParaRPr lang="ko-KR" altLang="en-US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2562666"/>
                  </a:ext>
                </a:extLst>
              </a:tr>
              <a:tr h="8574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dirty="0"/>
                        <a:t>주어지는 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A, t = </a:t>
                      </a:r>
                      <a:r>
                        <a:rPr lang="en-US" altLang="ko-KR" sz="1800" b="0" dirty="0" err="1">
                          <a:solidFill>
                            <a:srgbClr val="000000"/>
                          </a:solidFill>
                          <a:latin typeface="+mn-lt"/>
                        </a:rPr>
                        <a:t>As+e</a:t>
                      </a:r>
                      <a:endParaRPr lang="en-US" altLang="ko-KR" sz="18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A, 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3051539"/>
                  </a:ext>
                </a:extLst>
              </a:tr>
              <a:tr h="8574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dirty="0"/>
                        <a:t>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s </a:t>
                      </a:r>
                      <a:r>
                        <a:rPr lang="ko-KR" altLang="en-US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자체를 복원</a:t>
                      </a:r>
                      <a:endParaRPr lang="ko-KR" altLang="en-US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z</a:t>
                      </a:r>
                      <a:r>
                        <a:rPr lang="ko-KR" altLang="en-US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가 </a:t>
                      </a:r>
                      <a:r>
                        <a:rPr lang="en-US" altLang="ko-KR" sz="1800" b="0" dirty="0" err="1">
                          <a:solidFill>
                            <a:srgbClr val="000000"/>
                          </a:solidFill>
                          <a:latin typeface="+mn-lt"/>
                        </a:rPr>
                        <a:t>As+e</a:t>
                      </a:r>
                      <a:r>
                        <a:rPr lang="ko-KR" altLang="en-US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 형태인지 </a:t>
                      </a:r>
                      <a:endParaRPr lang="en-US" altLang="ko-KR" sz="18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완전 무작위인지 구별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384708"/>
                  </a:ext>
                </a:extLst>
              </a:tr>
              <a:tr h="8574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dirty="0"/>
                        <a:t>어려움의 근거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worst-case to average-case </a:t>
                      </a:r>
                      <a:r>
                        <a:rPr lang="ko-KR" altLang="en-US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환원</a:t>
                      </a:r>
                      <a:endParaRPr lang="ko-KR" altLang="en-US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decision-to-search </a:t>
                      </a: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환원</a:t>
                      </a:r>
                      <a:endParaRPr lang="ko-KR" altLang="en-US" sz="18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579425"/>
                  </a:ext>
                </a:extLst>
              </a:tr>
              <a:tr h="8574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dirty="0"/>
                        <a:t>파라미터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 ∈</a:t>
                      </a:r>
                      <a:r>
                        <a:rPr kumimoji="0" lang="en-US" altLang="ko-KR" sz="18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kumimoji="0" lang="en-US" altLang="ko-KR" sz="1800" b="0" i="0" u="none" strike="noStrike" kern="1200" cap="none" spc="0" normalizeH="0" baseline="-25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en-US" altLang="ko-KR" sz="1800" b="0" i="0" u="none" strike="noStrike" kern="1200" cap="none" spc="0" normalizeH="0" baseline="30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r>
                        <a:rPr kumimoji="0" lang="en-US" altLang="ko-KR" sz="1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×ℓ</a:t>
                      </a: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s ∈ S</a:t>
                      </a:r>
                      <a:r>
                        <a:rPr kumimoji="0" lang="el-GR" altLang="ko-KR" sz="18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η₁</a:t>
                      </a:r>
                      <a:r>
                        <a:rPr kumimoji="0" lang="el-GR" altLang="ko-KR" sz="1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ℓ</a:t>
                      </a:r>
                      <a:r>
                        <a:rPr kumimoji="0" lang="el-GR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 ∈ S</a:t>
                      </a:r>
                      <a:r>
                        <a:rPr kumimoji="0" lang="el-GR" altLang="ko-KR" sz="18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η₂</a:t>
                      </a:r>
                      <a:r>
                        <a:rPr kumimoji="0" lang="en-US" altLang="ko-KR" sz="1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k&gt;ℓ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 ∈</a:t>
                      </a:r>
                      <a:r>
                        <a:rPr kumimoji="0" lang="en-US" altLang="ko-KR" sz="18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kumimoji="0" lang="en-US" altLang="ko-KR" sz="1800" b="0" i="0" u="none" strike="noStrike" kern="1200" cap="none" spc="0" normalizeH="0" baseline="-25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</a:t>
                      </a:r>
                      <a:r>
                        <a:rPr kumimoji="0" lang="en-US" altLang="ko-KR" sz="1800" b="0" i="0" u="none" strike="noStrike" kern="1200" cap="none" spc="0" normalizeH="0" baseline="3000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r>
                        <a:rPr kumimoji="0" lang="en-US" altLang="ko-KR" sz="1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×ℓ</a:t>
                      </a: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s ∈ S</a:t>
                      </a:r>
                      <a:r>
                        <a:rPr kumimoji="0" lang="el-GR" altLang="ko-KR" sz="18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η₁</a:t>
                      </a:r>
                      <a:r>
                        <a:rPr kumimoji="0" lang="el-GR" altLang="ko-KR" sz="1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ℓ</a:t>
                      </a:r>
                      <a:r>
                        <a:rPr kumimoji="0" lang="el-GR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 ∈ S</a:t>
                      </a:r>
                      <a:r>
                        <a:rPr kumimoji="0" lang="el-GR" altLang="ko-KR" sz="18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η₂</a:t>
                      </a:r>
                      <a:r>
                        <a:rPr kumimoji="0" lang="en-US" altLang="ko-KR" sz="18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k&gt;ℓ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693484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2AF4C5-9A56-7E24-D25E-714F49167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5641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9D026-9FD2-ADCF-3A47-893201EEE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7F1650-DF34-BC75-EEF6-B0CE9C0E9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MLWE</a:t>
            </a:r>
            <a:r>
              <a:rPr lang="ko-KR" altLang="en-US" dirty="0"/>
              <a:t>가 격자 문제로 불리는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886160-E2A4-1FD7-F59B-ED425F585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이유 </a:t>
            </a:r>
            <a:r>
              <a:rPr lang="en-US" altLang="ko-KR" dirty="0"/>
              <a:t>1: Worst-case to average-case </a:t>
            </a:r>
            <a:r>
              <a:rPr lang="ko-KR" altLang="en-US" dirty="0"/>
              <a:t>환원</a:t>
            </a:r>
          </a:p>
          <a:p>
            <a:r>
              <a:rPr lang="en-US" altLang="ko-KR" dirty="0"/>
              <a:t>Langlois-</a:t>
            </a:r>
            <a:r>
              <a:rPr lang="en-US" altLang="ko-KR" dirty="0" err="1"/>
              <a:t>Stehlé</a:t>
            </a:r>
            <a:r>
              <a:rPr lang="en-US" altLang="ko-KR" dirty="0"/>
              <a:t>(2012): MLWE·D-MLWE·MSIS</a:t>
            </a:r>
            <a:r>
              <a:rPr lang="ko-KR" altLang="en-US" dirty="0"/>
              <a:t>의 평균 케이스 어려움이 모듈 격자의 최악 케이스 양자 어려움만큼 보장됨을 증명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이 보장은 매우 </a:t>
            </a:r>
            <a:r>
              <a:rPr lang="ko-KR" altLang="en-US" dirty="0" err="1"/>
              <a:t>점근적</a:t>
            </a:r>
            <a:r>
              <a:rPr lang="en-US" altLang="ko-KR" dirty="0"/>
              <a:t> — </a:t>
            </a:r>
            <a:r>
              <a:rPr lang="ko-KR" altLang="en-US" dirty="0"/>
              <a:t>실전 파라미터에서 실제 안전성 수준은 분명하지 않음</a:t>
            </a:r>
            <a:endParaRPr lang="en-US" altLang="ko-KR" dirty="0"/>
          </a:p>
          <a:p>
            <a:r>
              <a:rPr lang="ko-KR" altLang="en-US" dirty="0"/>
              <a:t>이유 </a:t>
            </a:r>
            <a:r>
              <a:rPr lang="en-US" altLang="ko-KR" dirty="0"/>
              <a:t>2: </a:t>
            </a:r>
            <a:r>
              <a:rPr lang="ko-KR" altLang="en-US" dirty="0"/>
              <a:t>명시적 재정식화</a:t>
            </a:r>
          </a:p>
          <a:p>
            <a:r>
              <a:rPr lang="en-US" altLang="ko-KR" dirty="0"/>
              <a:t>A</a:t>
            </a:r>
            <a:r>
              <a:rPr lang="ko-KR" altLang="en-US" dirty="0"/>
              <a:t>가 </a:t>
            </a:r>
            <a:r>
              <a:rPr lang="en-US" altLang="ko-KR" dirty="0"/>
              <a:t>anti-circulant </a:t>
            </a:r>
            <a:r>
              <a:rPr lang="ko-KR" altLang="en-US" dirty="0"/>
              <a:t>블록으로 이루어진 행렬</a:t>
            </a:r>
            <a:r>
              <a:rPr lang="en-US" altLang="ko-KR" dirty="0"/>
              <a:t>-</a:t>
            </a:r>
            <a:r>
              <a:rPr lang="ko-KR" altLang="en-US" dirty="0"/>
              <a:t>벡터 방정식으로 다시 쓸 수 있음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이 재정식화 자체가 자연스러운 격자 문제</a:t>
            </a:r>
            <a:r>
              <a:rPr lang="en-US" altLang="ko-KR" dirty="0"/>
              <a:t>(BDD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에 대응</a:t>
            </a:r>
          </a:p>
          <a:p>
            <a:pPr lvl="1">
              <a:buFontTx/>
              <a:buChar char="-"/>
            </a:pPr>
            <a:r>
              <a:rPr lang="ko-KR" altLang="en-US" dirty="0"/>
              <a:t>이 격자 문제들에 대한 최선의 공격이 실전에서 </a:t>
            </a:r>
            <a:r>
              <a:rPr lang="en-US" altLang="ko-KR" dirty="0"/>
              <a:t>MLWE·D-MLWE·MSIS</a:t>
            </a:r>
            <a:r>
              <a:rPr lang="ko-KR" altLang="en-US" dirty="0"/>
              <a:t>의 안전 파라미터를 정당화하는 데 쓰임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B364D8-1BA2-3D23-FF46-D9D0AFABA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5149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5AE1D-B2E7-7295-920E-F8207252E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26AD4B-E668-B3BF-89F7-E9A1F7F81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MLWE</a:t>
            </a:r>
            <a:r>
              <a:rPr lang="ko-KR" altLang="en-US" dirty="0"/>
              <a:t>가 격자 문제로 불리는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3F6BA1-3DD2-0B3C-565C-7E7E7EB0B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이유 </a:t>
            </a:r>
            <a:r>
              <a:rPr lang="en-US" altLang="ko-KR" dirty="0"/>
              <a:t>1: Worst-case to average-case </a:t>
            </a:r>
            <a:r>
              <a:rPr lang="ko-KR" altLang="en-US" dirty="0"/>
              <a:t>환원</a:t>
            </a:r>
          </a:p>
          <a:p>
            <a:r>
              <a:rPr lang="en-US" altLang="ko-KR" dirty="0"/>
              <a:t>Langlois-</a:t>
            </a:r>
            <a:r>
              <a:rPr lang="en-US" altLang="ko-KR" dirty="0" err="1"/>
              <a:t>Stehlé</a:t>
            </a:r>
            <a:r>
              <a:rPr lang="en-US" altLang="ko-KR" dirty="0"/>
              <a:t>(2012): MLWE·D-MLWE·MSIS</a:t>
            </a:r>
            <a:r>
              <a:rPr lang="ko-KR" altLang="en-US" dirty="0"/>
              <a:t>의 평균 케이스 어려움이 모듈 격자의 최악 케이스 양자 어려움만큼 보장됨을 증명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이 보장은 매우 </a:t>
            </a:r>
            <a:r>
              <a:rPr lang="ko-KR" altLang="en-US" dirty="0" err="1"/>
              <a:t>점근적</a:t>
            </a:r>
            <a:r>
              <a:rPr lang="en-US" altLang="ko-KR" dirty="0"/>
              <a:t> — </a:t>
            </a:r>
            <a:r>
              <a:rPr lang="ko-KR" altLang="en-US" dirty="0"/>
              <a:t>실전 파라미터에서 실제 안전성 수준은 분명하지 않음</a:t>
            </a:r>
            <a:endParaRPr lang="en-US" altLang="ko-KR" dirty="0"/>
          </a:p>
          <a:p>
            <a:r>
              <a:rPr lang="ko-KR" altLang="en-US" dirty="0"/>
              <a:t>이유 </a:t>
            </a:r>
            <a:r>
              <a:rPr lang="en-US" altLang="ko-KR" dirty="0"/>
              <a:t>2: </a:t>
            </a:r>
            <a:r>
              <a:rPr lang="ko-KR" altLang="en-US" dirty="0"/>
              <a:t>명시적 재정식화</a:t>
            </a:r>
          </a:p>
          <a:p>
            <a:r>
              <a:rPr lang="en-US" altLang="ko-KR" dirty="0"/>
              <a:t>A</a:t>
            </a:r>
            <a:r>
              <a:rPr lang="ko-KR" altLang="en-US" dirty="0"/>
              <a:t>가 </a:t>
            </a:r>
            <a:r>
              <a:rPr lang="en-US" altLang="ko-KR" dirty="0"/>
              <a:t>anti-circulant </a:t>
            </a:r>
            <a:r>
              <a:rPr lang="ko-KR" altLang="en-US" dirty="0"/>
              <a:t>블록으로 이루어진 행렬</a:t>
            </a:r>
            <a:r>
              <a:rPr lang="en-US" altLang="ko-KR" dirty="0"/>
              <a:t>-</a:t>
            </a:r>
            <a:r>
              <a:rPr lang="ko-KR" altLang="en-US" dirty="0"/>
              <a:t>벡터 방정식으로 다시 쓸 수 있음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이 재정식화 자체가 자연스러운 격자 문제</a:t>
            </a:r>
            <a:r>
              <a:rPr lang="en-US" altLang="ko-KR" dirty="0"/>
              <a:t>(BDD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에 대응</a:t>
            </a:r>
          </a:p>
          <a:p>
            <a:pPr lvl="1">
              <a:buFontTx/>
              <a:buChar char="-"/>
            </a:pPr>
            <a:r>
              <a:rPr lang="ko-KR" altLang="en-US" dirty="0"/>
              <a:t>이 격자 문제들에 대한 최선의 공격이 실전에서 </a:t>
            </a:r>
            <a:r>
              <a:rPr lang="en-US" altLang="ko-KR" dirty="0"/>
              <a:t>MLWE·D-MLWE·MSIS</a:t>
            </a:r>
            <a:r>
              <a:rPr lang="ko-KR" altLang="en-US" dirty="0"/>
              <a:t>의 안전 파라미터를 정당화하는 데 쓰임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12FFCD-2211-AF65-A03F-81792110B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908A93-6F31-E51A-1704-003826010B1A}"/>
              </a:ext>
            </a:extLst>
          </p:cNvPr>
          <p:cNvSpPr/>
          <p:nvPr/>
        </p:nvSpPr>
        <p:spPr>
          <a:xfrm>
            <a:off x="838199" y="2339918"/>
            <a:ext cx="10515601" cy="2101516"/>
          </a:xfrm>
          <a:prstGeom prst="rect">
            <a:avLst/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b="1" dirty="0"/>
              <a:t>결론</a:t>
            </a:r>
            <a:r>
              <a:rPr lang="en-US" altLang="ko-KR" sz="2400" b="1" dirty="0"/>
              <a:t>: anti-circulant </a:t>
            </a:r>
            <a:r>
              <a:rPr lang="ko-KR" altLang="en-US" sz="2400" b="1" dirty="0"/>
              <a:t>구조를 이용하는</a:t>
            </a:r>
            <a:r>
              <a:rPr lang="en-US" altLang="ko-KR" sz="2400" b="1" dirty="0"/>
              <a:t>,</a:t>
            </a:r>
          </a:p>
          <a:p>
            <a:pPr algn="ctr">
              <a:lnSpc>
                <a:spcPct val="150000"/>
              </a:lnSpc>
            </a:pPr>
            <a:r>
              <a:rPr lang="en-US" altLang="ko-KR" sz="2400" b="1" dirty="0"/>
              <a:t>SIS/LWE</a:t>
            </a:r>
            <a:r>
              <a:rPr lang="ko-KR" altLang="en-US" sz="2400" b="1" dirty="0"/>
              <a:t>보다 빠른 공격은 알려져 있지 않음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1466329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3936</TotalTime>
  <Words>2430</Words>
  <Application>Microsoft Office PowerPoint</Application>
  <PresentationFormat>와이드스크린</PresentationFormat>
  <Paragraphs>271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5" baseType="lpstr">
      <vt:lpstr>맑은 고딕</vt:lpstr>
      <vt:lpstr>Arial</vt:lpstr>
      <vt:lpstr>Cambria Math</vt:lpstr>
      <vt:lpstr>Office 테마</vt:lpstr>
      <vt:lpstr>Post-Quantum Cryptography</vt:lpstr>
      <vt:lpstr>Plan</vt:lpstr>
      <vt:lpstr>양자컴퓨터</vt:lpstr>
      <vt:lpstr>Shor 알고리즘 (1994)</vt:lpstr>
      <vt:lpstr>Grover 알고리즘 (1996)</vt:lpstr>
      <vt:lpstr>Grover 공격</vt:lpstr>
      <vt:lpstr>양자컴퓨터 구현 현황</vt:lpstr>
      <vt:lpstr>양자컴퓨터 구현 현황</vt:lpstr>
      <vt:lpstr>PQC 표준화의 역사</vt:lpstr>
      <vt:lpstr>NSA의 개입: CNSA 2.0</vt:lpstr>
      <vt:lpstr>배포 현황</vt:lpstr>
      <vt:lpstr>정수 링 ℤq와 다항식 링 Rq</vt:lpstr>
      <vt:lpstr>Rq에서의 다항식 곱셈</vt:lpstr>
      <vt:lpstr>크기(Size)와 대칭 mod: 홀수 모듈러스</vt:lpstr>
      <vt:lpstr>홀수 모듈러스 예제 (q = 17)</vt:lpstr>
      <vt:lpstr>크기와 대칭 mod: 짝수 모듈러스</vt:lpstr>
      <vt:lpstr>짝수 모듈러스 계산 예제 (q = 18)</vt:lpstr>
      <vt:lpstr>크기와 작은 다항식의 집합</vt:lpstr>
      <vt:lpstr>작은 다항식의 곱은 여전히 작다</vt:lpstr>
      <vt:lpstr>증명 (1/2)</vt:lpstr>
      <vt:lpstr>증명 (2/2)</vt:lpstr>
      <vt:lpstr>모듈 Rqk</vt:lpstr>
      <vt:lpstr>모듈 숫자 예제: 덧셈·뺄셈</vt:lpstr>
      <vt:lpstr>모듈 숫자 예제: 내적</vt:lpstr>
      <vt:lpstr>Module-LWE (MLWE)</vt:lpstr>
      <vt:lpstr>MLWE 숫자 예제 (1/2)</vt:lpstr>
      <vt:lpstr>MLWE 숫자 예제 (2/2)</vt:lpstr>
      <vt:lpstr>Decisional MLWE (D-MLWE)</vt:lpstr>
      <vt:lpstr>MLWE vs D-MLWE</vt:lpstr>
      <vt:lpstr>MLWE가 격자 문제로 불리는 이유</vt:lpstr>
      <vt:lpstr>MLWE가 격자 문제로 불리는 이유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규빈 박</dc:creator>
  <cp:lastModifiedBy>규빈 박</cp:lastModifiedBy>
  <cp:revision>1245</cp:revision>
  <dcterms:created xsi:type="dcterms:W3CDTF">2026-03-17T05:07:50Z</dcterms:created>
  <dcterms:modified xsi:type="dcterms:W3CDTF">2026-07-30T06:49:56Z</dcterms:modified>
</cp:coreProperties>
</file>